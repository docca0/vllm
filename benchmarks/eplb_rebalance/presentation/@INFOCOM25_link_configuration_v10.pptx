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modernComment_A42_FB33A486.xml" ContentType="application/vnd.ms-powerpoint.comments+xml"/>
  <Override PartName="/ppt/notesSlides/notesSlide2.xml" ContentType="application/vnd.openxmlformats-officedocument.presentationml.notesSlide+xml"/>
  <Override PartName="/ppt/comments/modernComment_7F3E8C42_AEFF9F2C.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3E8C3E_CC7300EE.xml" ContentType="application/vnd.ms-powerpoint.comments+xml"/>
  <Override PartName="/ppt/notesSlides/notesSlide7.xml" ContentType="application/vnd.openxmlformats-officedocument.presentationml.notesSlide+xml"/>
  <Override PartName="/ppt/comments/modernComment_7F3E8C58_1C1FCF83.xml" ContentType="application/vnd.ms-powerpoint.comments+xml"/>
  <Override PartName="/ppt/notesSlides/notesSlide8.xml" ContentType="application/vnd.openxmlformats-officedocument.presentationml.notesSlide+xml"/>
  <Override PartName="/ppt/comments/modernComment_7F3E8C5B_F0F8731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3E8C53_766885CB.xml" ContentType="application/vnd.ms-powerpoint.comments+xml"/>
  <Override PartName="/ppt/comments/modernComment_7F3E8C5F_1B087C56.xml" ContentType="application/vnd.ms-powerpoint.comments+xml"/>
  <Override PartName="/ppt/notesSlides/notesSlide11.xml" ContentType="application/vnd.openxmlformats-officedocument.presentationml.notesSlide+xml"/>
  <Override PartName="/ppt/comments/modernComment_7F3E8C70_EAC20A28.xml" ContentType="application/vnd.ms-powerpoint.comments+xml"/>
  <Override PartName="/ppt/comments/modernComment_7F3E8C6F_92E66BC4.xml" ContentType="application/vnd.ms-powerpoint.comments+xml"/>
  <Override PartName="/ppt/comments/modernComment_7F3E8C6A_7F42DD3E.xml" ContentType="application/vnd.ms-powerpoint.comments+xml"/>
  <Override PartName="/ppt/comments/modernComment_7F3E8C6D_7032369E.xml" ContentType="application/vnd.ms-powerpoint.comments+xml"/>
  <Override PartName="/ppt/comments/modernComment_7F3E8C56_41ABEDBF.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5" r:id="rId5"/>
    <p:sldMasterId id="2147483697" r:id="rId6"/>
  </p:sldMasterIdLst>
  <p:notesMasterIdLst>
    <p:notesMasterId r:id="rId43"/>
  </p:notesMasterIdLst>
  <p:handoutMasterIdLst>
    <p:handoutMasterId r:id="rId44"/>
  </p:handoutMasterIdLst>
  <p:sldIdLst>
    <p:sldId id="2626" r:id="rId7"/>
    <p:sldId id="2134805580" r:id="rId8"/>
    <p:sldId id="2134805584" r:id="rId9"/>
    <p:sldId id="2134805570" r:id="rId10"/>
    <p:sldId id="2134805577" r:id="rId11"/>
    <p:sldId id="2134805568" r:id="rId12"/>
    <p:sldId id="2134805583" r:id="rId13"/>
    <p:sldId id="2134805585" r:id="rId14"/>
    <p:sldId id="2134805566" r:id="rId15"/>
    <p:sldId id="2134805592" r:id="rId16"/>
    <p:sldId id="2134805586" r:id="rId17"/>
    <p:sldId id="2134805594" r:id="rId18"/>
    <p:sldId id="2134805595" r:id="rId19"/>
    <p:sldId id="2134805597" r:id="rId20"/>
    <p:sldId id="2134805574" r:id="rId21"/>
    <p:sldId id="2134805587" r:id="rId22"/>
    <p:sldId id="2134805593" r:id="rId23"/>
    <p:sldId id="2134805604" r:id="rId24"/>
    <p:sldId id="2134805588" r:id="rId25"/>
    <p:sldId id="2134805599" r:id="rId26"/>
    <p:sldId id="2134805616" r:id="rId27"/>
    <p:sldId id="2134805615" r:id="rId28"/>
    <p:sldId id="2134805606" r:id="rId29"/>
    <p:sldId id="2134805607" r:id="rId30"/>
    <p:sldId id="2134805608" r:id="rId31"/>
    <p:sldId id="2134805609" r:id="rId32"/>
    <p:sldId id="2134805610" r:id="rId33"/>
    <p:sldId id="2134805600" r:id="rId34"/>
    <p:sldId id="2134805614" r:id="rId35"/>
    <p:sldId id="2134805613" r:id="rId36"/>
    <p:sldId id="2134805589" r:id="rId37"/>
    <p:sldId id="2134805590" r:id="rId38"/>
    <p:sldId id="2697" r:id="rId39"/>
    <p:sldId id="2134805603" r:id="rId40"/>
    <p:sldId id="358" r:id="rId41"/>
    <p:sldId id="213480561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8241B8-8C48-8A27-C889-C5E19FB1ABB0}" name="Massimo Tornatore" initials="MT" userId="S::10163279@polimi.it::9d12521c-d3bf-45f3-b194-0c6f82f9e58e" providerId="AD"/>
  <p188:author id="{66DF34EE-6A81-1782-FA05-8415B55127A9}" name="Qiaolun Zhang" initials="QZ" userId="S::10653427@polimi.it::08ce0c54-1845-4dc2-a643-121fe94b02d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CBD4F"/>
    <a:srgbClr val="6DA4BC"/>
    <a:srgbClr val="6DA4BB"/>
    <a:srgbClr val="4183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6D8FA-68B4-4DDE-8000-B0E57F01D1E4}" v="639" dt="2025-05-21T13:48:19.307"/>
    <p1510:client id="{D3767F37-B96E-4515-AAFA-16A505CF8024}" v="14" dt="2025-05-22T06:34:21.848"/>
    <p1510:client id="{FD65E2BD-B35A-483F-A857-53B089BE61FA}" v="317" dt="2025-05-21T22:46:21.7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61" autoAdjust="0"/>
    <p:restoredTop sz="76883" autoAdjust="0"/>
  </p:normalViewPr>
  <p:slideViewPr>
    <p:cSldViewPr snapToGrid="0">
      <p:cViewPr varScale="1">
        <p:scale>
          <a:sx n="84" d="100"/>
          <a:sy n="84" d="100"/>
        </p:scale>
        <p:origin x="1736"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omments/modernComment_7F3E8C3E_CC7300EE.xml><?xml version="1.0" encoding="utf-8"?>
<p188:cmLst xmlns:a="http://schemas.openxmlformats.org/drawingml/2006/main" xmlns:r="http://schemas.openxmlformats.org/officeDocument/2006/relationships" xmlns:p188="http://schemas.microsoft.com/office/powerpoint/2018/8/main">
  <p188:cm id="{14A465EA-FCD9-43F0-8494-8893598FB246}" authorId="{258241B8-8C48-8A27-C889-C5E19FB1ABB0}" status="resolved" created="2025-05-21T15:14:16.854" complete="100000">
    <ac:txMkLst xmlns:ac="http://schemas.microsoft.com/office/drawing/2013/main/command">
      <pc:docMk xmlns:pc="http://schemas.microsoft.com/office/powerpoint/2013/main/command"/>
      <pc:sldMk xmlns:pc="http://schemas.microsoft.com/office/powerpoint/2013/main/command" cId="3430088942" sldId="2134805566"/>
      <ac:graphicFrameMk id="9" creationId="{E4BA53CF-BBC6-E073-7E39-F2F557513684}"/>
      <ac:tblMk/>
      <ac:tcMk rowId="2357024251" colId="1237534935"/>
      <ac:txMk cp="43">
        <ac:context len="44" hash="4255086243"/>
      </ac:txMk>
    </ac:txMkLst>
    <p188:pos x="4514999" y="956775"/>
    <p188:txBody>
      <a:bodyPr/>
      <a:lstStyle/>
      <a:p>
        <a:r>
          <a:rPr lang="en-US"/>
          <a:t>??</a:t>
        </a:r>
      </a:p>
    </p188:txBody>
  </p188:cm>
</p188:cmLst>
</file>

<file path=ppt/comments/modernComment_7F3E8C5B_F0F87310.xml><?xml version="1.0" encoding="utf-8"?>
<p188:cmLst xmlns:a="http://schemas.openxmlformats.org/drawingml/2006/main" xmlns:r="http://schemas.openxmlformats.org/officeDocument/2006/relationships" xmlns:p188="http://schemas.microsoft.com/office/powerpoint/2018/8/main">
  <p188:cm id="{3C34DBB7-F397-4296-BF36-0882992FECD7}" authorId="{258241B8-8C48-8A27-C889-C5E19FB1ABB0}" created="2025-05-21T15:20:42.348">
    <ac:txMkLst xmlns:ac="http://schemas.microsoft.com/office/drawing/2013/main/command">
      <pc:docMk xmlns:pc="http://schemas.microsoft.com/office/powerpoint/2013/main/command"/>
      <pc:sldMk xmlns:pc="http://schemas.microsoft.com/office/powerpoint/2013/main/command" cId="4042814224" sldId="2134805595"/>
      <ac:spMk id="9" creationId="{4443A870-9E23-0D3C-042A-ED6824474E98}"/>
      <ac:txMk cp="44" len="26">
        <ac:context len="74" hash="3803026900"/>
      </ac:txMk>
    </ac:txMkLst>
    <p188:pos x="3391057" y="1021618"/>
    <p188:replyLst>
      <p188:reply id="{E45D7BBB-C442-4299-BD7C-8CECDA1544E4}" authorId="{66DF34EE-6A81-1782-FA05-8415B55127A9}" created="2025-05-21T22:31:29.569">
        <p188:txBody>
          <a:bodyPr/>
          <a:lstStyle/>
          <a:p>
            <a:r>
              <a:rPr lang="en-GB"/>
              <a:t>6.5 is on the left of the figure and 20 is the remaining EPR pair after serving (1,2). I will introduce it in detail with words </a:t>
            </a:r>
          </a:p>
        </p188:txBody>
      </p188:reply>
    </p188:replyLst>
    <p188:txBody>
      <a:bodyPr/>
      <a:lstStyle/>
      <a:p>
        <a:r>
          <a:rPr lang="en-US"/>
          <a:t>Not sure this has ever been introduced!</a:t>
        </a:r>
      </a:p>
    </p188:txBody>
  </p188:cm>
</p188:cmLst>
</file>

<file path=ppt/comments/modernComment_7F3E8C5F_1B087C56.xml><?xml version="1.0" encoding="utf-8"?>
<p188:cmLst xmlns:a="http://schemas.openxmlformats.org/drawingml/2006/main" xmlns:r="http://schemas.openxmlformats.org/officeDocument/2006/relationships" xmlns:p188="http://schemas.microsoft.com/office/powerpoint/2018/8/main">
  <p188:cm id="{3E28D83F-2807-4835-B9AC-2FC89654D044}" authorId="{258241B8-8C48-8A27-C889-C5E19FB1ABB0}" created="2025-05-21T15:25:02.694">
    <ac:txMkLst xmlns:ac="http://schemas.microsoft.com/office/drawing/2013/main/command">
      <pc:docMk xmlns:pc="http://schemas.microsoft.com/office/powerpoint/2013/main/command"/>
      <pc:sldMk xmlns:pc="http://schemas.microsoft.com/office/powerpoint/2013/main/command" cId="453540950" sldId="2134805599"/>
      <ac:spMk id="5" creationId="{2CAAD708-31BC-7C20-D43A-17A5CCF6A79B}"/>
      <ac:txMk cp="15" len="83">
        <ac:context len="100" hash="2117361134"/>
      </ac:txMk>
    </ac:txMkLst>
    <p188:pos x="6464604" y="627803"/>
    <p188:replyLst>
      <p188:reply id="{5A7DC9BD-B8B2-43E9-88AA-FE0199EFDAED}" authorId="{66DF34EE-6A81-1782-FA05-8415B55127A9}" created="2025-05-21T22:47:18.940">
        <p188:txBody>
          <a:bodyPr/>
          <a:lstStyle/>
          <a:p>
            <a:r>
              <a:rPr lang="en-GB"/>
              <a:t>I do not enforce any link length. I will define the link capacity in the next slide, which is related to the system inefficiency and link length</a:t>
            </a:r>
          </a:p>
        </p188:txBody>
      </p188:reply>
    </p188:replyLst>
    <p188:txBody>
      <a:bodyPr/>
      <a:lstStyle/>
      <a:p>
        <a:r>
          <a:rPr lang="en-US"/>
          <a:t>ADD PICTURES of TOPOLOGIES! Are they shrunk down? IF so, say it clearly!!</a:t>
        </a:r>
      </a:p>
    </p188:txBody>
  </p188:cm>
  <p188:cm id="{490E5A77-AC9F-48EB-B644-7FD2ACD7274C}" authorId="{258241B8-8C48-8A27-C889-C5E19FB1ABB0}" status="resolved" created="2025-05-21T15:38:32.772" complete="100000">
    <ac:txMkLst xmlns:ac="http://schemas.microsoft.com/office/drawing/2013/main/command">
      <pc:docMk xmlns:pc="http://schemas.microsoft.com/office/powerpoint/2013/main/command"/>
      <pc:sldMk xmlns:pc="http://schemas.microsoft.com/office/powerpoint/2013/main/command" cId="453540950" sldId="2134805599"/>
      <ac:spMk id="5" creationId="{2CAAD708-31BC-7C20-D43A-17A5CCF6A79B}"/>
      <ac:txMk cp="99">
        <ac:context len="100" hash="2117361134"/>
      </ac:txMk>
    </ac:txMkLst>
    <p188:pos x="9218078" y="1912072"/>
    <p188:txBody>
      <a:bodyPr/>
      <a:lstStyle/>
      <a:p>
        <a:r>
          <a:rPr lang="en-US"/>
          <a:t>Confusing, can you put the table?</a:t>
        </a:r>
      </a:p>
    </p188:txBody>
  </p188:cm>
  <p188:cm id="{DD8D39C1-DE20-4E32-A49A-9DA7F766D845}" authorId="{258241B8-8C48-8A27-C889-C5E19FB1ABB0}" status="resolved" created="2025-05-21T15:39:57.820" complete="100000">
    <ac:txMkLst xmlns:ac="http://schemas.microsoft.com/office/drawing/2013/main/command">
      <pc:docMk xmlns:pc="http://schemas.microsoft.com/office/powerpoint/2013/main/command"/>
      <pc:sldMk xmlns:pc="http://schemas.microsoft.com/office/powerpoint/2013/main/command" cId="453540950" sldId="2134805599"/>
      <ac:spMk id="5" creationId="{2CAAD708-31BC-7C20-D43A-17A5CCF6A79B}"/>
      <ac:txMk cp="99">
        <ac:context len="100" hash="2117361134"/>
      </ac:txMk>
    </ac:txMkLst>
    <p188:pos x="2241925" y="3607308"/>
    <p188:txBody>
      <a:bodyPr/>
      <a:lstStyle/>
      <a:p>
        <a:r>
          <a:rPr lang="en-US"/>
          <a:t>Duration of what?</a:t>
        </a:r>
      </a:p>
    </p188:txBody>
  </p188:cm>
</p188:cmLst>
</file>

<file path=ppt/comments/modernComment_7F3E8C6A_7F42DD3E.xml><?xml version="1.0" encoding="utf-8"?>
<p188:cmLst xmlns:a="http://schemas.openxmlformats.org/drawingml/2006/main" xmlns:r="http://schemas.openxmlformats.org/officeDocument/2006/relationships" xmlns:p188="http://schemas.microsoft.com/office/powerpoint/2018/8/main">
  <p188:cm id="{D646403E-0596-43B2-952B-3201EC94E28E}" authorId="{258241B8-8C48-8A27-C889-C5E19FB1ABB0}" status="resolved" created="2025-05-21T15:46:57.557" complete="100000">
    <pc:sldMkLst xmlns:pc="http://schemas.microsoft.com/office/powerpoint/2013/main/command">
      <pc:docMk/>
      <pc:sldMk cId="2135088446" sldId="2134805610"/>
    </pc:sldMkLst>
    <p188:txBody>
      <a:bodyPr/>
      <a:lstStyle/>
      <a:p>
        <a:r>
          <a:rPr lang="en-US"/>
          <a:t>Great slide</a:t>
        </a:r>
      </a:p>
    </p188:txBody>
  </p188:cm>
</p188:cmLst>
</file>

<file path=ppt/comments/modernComment_7F3E8C6D_7032369E.xml><?xml version="1.0" encoding="utf-8"?>
<p188:cmLst xmlns:a="http://schemas.openxmlformats.org/drawingml/2006/main" xmlns:r="http://schemas.openxmlformats.org/officeDocument/2006/relationships" xmlns:p188="http://schemas.microsoft.com/office/powerpoint/2018/8/main">
  <p188:cm id="{589D9207-BEAB-452C-B32C-739C01D27E46}" authorId="{258241B8-8C48-8A27-C889-C5E19FB1ABB0}" status="resolved" created="2025-05-21T15:48:40.732" complete="100000">
    <ac:txMkLst xmlns:ac="http://schemas.microsoft.com/office/drawing/2013/main/command">
      <pc:docMk xmlns:pc="http://schemas.microsoft.com/office/powerpoint/2013/main/command"/>
      <pc:sldMk xmlns:pc="http://schemas.microsoft.com/office/powerpoint/2013/main/command" cId="1882338974" sldId="2134805613"/>
      <ac:spMk id="5" creationId="{D6C758FB-5A05-8DD1-B66B-83C46A1914AE}"/>
      <ac:txMk cp="123" len="7">
        <ac:context len="175" hash="1437978676"/>
      </ac:txMk>
    </ac:txMkLst>
    <p188:pos x="3062895" y="1952783"/>
    <p188:replyLst>
      <p188:reply id="{13385E56-E4C4-4A5A-9148-63B025B877C6}" authorId="{66DF34EE-6A81-1782-FA05-8415B55127A9}" created="2025-05-21T22:10:03.551">
        <p188:txBody>
          <a:bodyPr/>
          <a:lstStyle/>
          <a:p>
            <a:r>
              <a:rPr lang="en-GB"/>
              <a:t>OK</a:t>
            </a:r>
          </a:p>
        </p188:txBody>
      </p188:reply>
    </p188:replyLst>
    <p188:txBody>
      <a:bodyPr/>
      <a:lstStyle/>
      <a:p>
        <a:r>
          <a:rPr lang="en-US"/>
          <a:t>Would be easier if you use percentage decrease of fidelity</a:t>
        </a:r>
      </a:p>
    </p188:txBody>
  </p188:cm>
</p188:cmLst>
</file>

<file path=ppt/comments/modernComment_7F3E8C6F_92E66BC4.xml><?xml version="1.0" encoding="utf-8"?>
<p188:cmLst xmlns:a="http://schemas.openxmlformats.org/drawingml/2006/main" xmlns:r="http://schemas.openxmlformats.org/officeDocument/2006/relationships" xmlns:p188="http://schemas.microsoft.com/office/powerpoint/2018/8/main">
  <p188:cm id="{C074F035-93A2-402A-9BCF-4214CF1CE01D}" authorId="{258241B8-8C48-8A27-C889-C5E19FB1ABB0}" status="resolved" created="2025-05-21T15:44:36.595" complete="100000">
    <ac:txMkLst xmlns:ac="http://schemas.microsoft.com/office/drawing/2013/main/command">
      <pc:docMk xmlns:pc="http://schemas.microsoft.com/office/powerpoint/2013/main/command"/>
      <pc:sldMk xmlns:pc="http://schemas.microsoft.com/office/powerpoint/2013/main/command" cId="2464574404" sldId="2134805615"/>
      <ac:graphicFrameMk id="6" creationId="{CC3E99E3-5BF9-7E2A-7647-721C2D76F62C}"/>
      <ac:tblMk/>
      <ac:tcMk rowId="2739784358" colId="3464701665"/>
      <ac:txMk cp="0">
        <ac:context len="1" hash="13"/>
      </ac:txMk>
    </ac:txMkLst>
    <p188:pos x="2182456" y="283691"/>
    <p188:txBody>
      <a:bodyPr/>
      <a:lstStyle/>
      <a:p>
        <a:r>
          <a:rPr lang="en-US"/>
          <a:t>Divide in two triangles: below “added functionality”, above: starting baseline </a:t>
        </a:r>
      </a:p>
    </p188:txBody>
  </p188:cm>
  <p188:cm id="{80133D88-0D66-47BF-9866-10271019B550}" authorId="{258241B8-8C48-8A27-C889-C5E19FB1ABB0}" status="resolved" created="2025-05-21T15:45:53.742" complete="100000">
    <ac:txMkLst xmlns:ac="http://schemas.microsoft.com/office/drawing/2013/main/command">
      <pc:docMk xmlns:pc="http://schemas.microsoft.com/office/powerpoint/2013/main/command"/>
      <pc:sldMk xmlns:pc="http://schemas.microsoft.com/office/powerpoint/2013/main/command" cId="2464574404" sldId="2134805615"/>
      <ac:spMk id="3" creationId="{9C401392-BE68-D870-95CD-2B02F6B10652}"/>
      <ac:txMk cp="96">
        <ac:context len="395" hash="941122933"/>
      </ac:txMk>
    </ac:txMkLst>
    <p188:pos x="10370906" y="620845"/>
    <p188:txBody>
      <a:bodyPr/>
      <a:lstStyle/>
      <a:p>
        <a:r>
          <a:rPr lang="en-US"/>
          <a:t>“same fidelity on each link”</a:t>
        </a:r>
      </a:p>
    </p188:txBody>
  </p188:cm>
</p188:cmLst>
</file>

<file path=ppt/comments/modernComment_7F3E8C42_AEFF9F2C.xml><?xml version="1.0" encoding="utf-8"?>
<p188:cmLst xmlns:a="http://schemas.openxmlformats.org/drawingml/2006/main" xmlns:r="http://schemas.openxmlformats.org/officeDocument/2006/relationships" xmlns:p188="http://schemas.microsoft.com/office/powerpoint/2018/8/main">
  <p188:cm id="{1AE7F143-E1E4-4197-8844-04EDFB18A8E4}" authorId="{258241B8-8C48-8A27-C889-C5E19FB1ABB0}" status="resolved" created="2025-05-21T14:04:04.510" complete="100000">
    <pc:sldMkLst xmlns:pc="http://schemas.microsoft.com/office/powerpoint/2013/main/command">
      <pc:docMk/>
      <pc:sldMk cId="2935988012" sldId="2134805570"/>
    </pc:sldMkLst>
    <p188:txBody>
      <a:bodyPr/>
      <a:lstStyle/>
      <a:p>
        <a:r>
          <a:rPr lang="en-US"/>
          <a:t>Measure-&gt;measuring</a:t>
        </a:r>
      </a:p>
    </p188:txBody>
  </p188:cm>
</p188:cmLst>
</file>

<file path=ppt/comments/modernComment_7F3E8C53_766885CB.xml><?xml version="1.0" encoding="utf-8"?>
<p188:cmLst xmlns:a="http://schemas.openxmlformats.org/drawingml/2006/main" xmlns:r="http://schemas.openxmlformats.org/officeDocument/2006/relationships" xmlns:p188="http://schemas.microsoft.com/office/powerpoint/2018/8/main">
  <p188:cm id="{781B4FAF-6006-4E11-8865-7398169401C2}" authorId="{258241B8-8C48-8A27-C889-C5E19FB1ABB0}" status="resolved" created="2025-05-21T15:23:51.470" complete="100000">
    <pc:sldMkLst xmlns:pc="http://schemas.microsoft.com/office/powerpoint/2013/main/command">
      <pc:docMk/>
      <pc:sldMk cId="1986561483" sldId="2134805587"/>
    </pc:sldMkLst>
    <p188:replyLst>
      <p188:reply id="{E3FA18C8-8320-4208-9DCD-9E86F265377E}" authorId="{66DF34EE-6A81-1782-FA05-8415B55127A9}" created="2025-05-21T22:28:24.820">
        <p188:txBody>
          <a:bodyPr/>
          <a:lstStyle/>
          <a:p>
            <a:r>
              <a:rPr lang="en-GB"/>
              <a:t>I will introduce the name later because there are multiple algorithms</a:t>
            </a:r>
          </a:p>
        </p188:txBody>
      </p188:reply>
    </p188:replyLst>
    <p188:txBody>
      <a:bodyPr/>
      <a:lstStyle/>
      <a:p>
        <a:r>
          <a:rPr lang="en-US"/>
          <a:t>MILP and algorithm in p18 do the same thing? Are they going to be compared? Give a easy-to-remember name to the algorithm in p18!</a:t>
        </a:r>
      </a:p>
    </p188:txBody>
  </p188:cm>
</p188:cmLst>
</file>

<file path=ppt/comments/modernComment_7F3E8C56_41ABEDBF.xml><?xml version="1.0" encoding="utf-8"?>
<p188:cmLst xmlns:a="http://schemas.openxmlformats.org/drawingml/2006/main" xmlns:r="http://schemas.openxmlformats.org/officeDocument/2006/relationships" xmlns:p188="http://schemas.microsoft.com/office/powerpoint/2018/8/main">
  <p188:cm id="{900710FD-1B73-4E8C-B0A0-84AD19F8F192}" authorId="{258241B8-8C48-8A27-C889-C5E19FB1ABB0}" status="resolved" created="2025-05-21T15:50:58.121" complete="100000">
    <ac:txMkLst xmlns:ac="http://schemas.microsoft.com/office/drawing/2013/main/command">
      <pc:docMk xmlns:pc="http://schemas.microsoft.com/office/powerpoint/2013/main/command"/>
      <pc:sldMk xmlns:pc="http://schemas.microsoft.com/office/powerpoint/2013/main/command" cId="1101786559" sldId="2134805590"/>
      <ac:spMk id="9" creationId="{99028059-D71B-68B8-2929-DA3E36317817}"/>
      <ac:txMk cp="182" len="19">
        <ac:context len="509" hash="1148014655"/>
      </ac:txMk>
    </ac:txMkLst>
    <p188:pos x="8392330" y="1480871"/>
    <p188:txBody>
      <a:bodyPr/>
      <a:lstStyle/>
      <a:p>
        <a:r>
          <a:rPr lang="en-US"/>
          <a:t>No entanglement routing?</a:t>
        </a:r>
      </a:p>
    </p188:txBody>
  </p188:cm>
  <p188:cm id="{3FC491B6-F9EB-472A-A303-7305CFAD6599}" authorId="{258241B8-8C48-8A27-C889-C5E19FB1ABB0}" status="resolved" created="2025-05-21T15:51:33.506" complete="100000">
    <ac:txMkLst xmlns:ac="http://schemas.microsoft.com/office/drawing/2013/main/command">
      <pc:docMk xmlns:pc="http://schemas.microsoft.com/office/powerpoint/2013/main/command"/>
      <pc:sldMk xmlns:pc="http://schemas.microsoft.com/office/powerpoint/2013/main/command" cId="1101786559" sldId="2134805590"/>
      <ac:spMk id="9" creationId="{99028059-D71B-68B8-2929-DA3E36317817}"/>
      <ac:txMk cp="269" len="19">
        <ac:context len="509" hash="1148014655"/>
      </ac:txMk>
    </ac:txMkLst>
    <p188:pos x="5484744" y="2456916"/>
    <p188:replyLst>
      <p188:reply id="{20237D22-7D38-42BE-BAE4-B193705F8CE9}" authorId="{66DF34EE-6A81-1782-FA05-8415B55127A9}" created="2025-05-21T22:13:12.514">
        <p188:txBody>
          <a:bodyPr/>
          <a:lstStyle/>
          <a:p>
            <a:r>
              <a:rPr lang="en-GB"/>
              <a:t>OK</a:t>
            </a:r>
          </a:p>
        </p188:txBody>
      </p188:reply>
    </p188:replyLst>
    <p188:txBody>
      <a:bodyPr/>
      <a:lstStyle/>
      <a:p>
        <a:r>
          <a:rPr lang="en-US"/>
          <a:t>Same ?
Isn’t it more correct to say “entanglement routing with link configuration”</a:t>
        </a:r>
      </a:p>
    </p188:txBody>
  </p188:cm>
  <p188:cm id="{6416D528-61E1-4428-98FE-0D3A3757632E}" authorId="{258241B8-8C48-8A27-C889-C5E19FB1ABB0}" status="resolved" created="2025-05-21T15:52:34.309" complete="100000">
    <ac:txMkLst xmlns:ac="http://schemas.microsoft.com/office/drawing/2013/main/command">
      <pc:docMk xmlns:pc="http://schemas.microsoft.com/office/powerpoint/2013/main/command"/>
      <pc:sldMk xmlns:pc="http://schemas.microsoft.com/office/powerpoint/2013/main/command" cId="1101786559" sldId="2134805590"/>
      <ac:spMk id="9" creationId="{99028059-D71B-68B8-2929-DA3E36317817}"/>
      <ac:txMk cp="387" len="9">
        <ac:context len="509" hash="1148014655"/>
      </ac:txMk>
    </ac:txMkLst>
    <p188:pos x="8022461" y="3905572"/>
    <p188:txBody>
      <a:bodyPr/>
      <a:lstStyle/>
      <a:p>
        <a:r>
          <a:rPr lang="en-US"/>
          <a:t>It is always good to show both sides of the coin. What about increase of computational time wrt to SPFD or Qleap etc..</a:t>
        </a:r>
      </a:p>
    </p188:txBody>
  </p188:cm>
</p188:cmLst>
</file>

<file path=ppt/comments/modernComment_7F3E8C58_1C1FCF83.xml><?xml version="1.0" encoding="utf-8"?>
<p188:cmLst xmlns:a="http://schemas.openxmlformats.org/drawingml/2006/main" xmlns:r="http://schemas.openxmlformats.org/officeDocument/2006/relationships" xmlns:p188="http://schemas.microsoft.com/office/powerpoint/2018/8/main">
  <p188:cm id="{72300B41-52C7-40DA-9032-47F11B782B76}" authorId="{258241B8-8C48-8A27-C889-C5E19FB1ABB0}" status="resolved" created="2025-05-21T15:15:46.638" complete="100000">
    <ac:deMkLst xmlns:ac="http://schemas.microsoft.com/office/drawing/2013/main/command">
      <pc:docMk xmlns:pc="http://schemas.microsoft.com/office/powerpoint/2013/main/command"/>
      <pc:sldMk xmlns:pc="http://schemas.microsoft.com/office/powerpoint/2013/main/command" cId="471846787" sldId="2134805592"/>
      <ac:spMk id="23" creationId="{D2B0DB27-D58E-73F2-B0A4-0D7C5CF078D7}"/>
    </ac:deMkLst>
    <p188:txBody>
      <a:bodyPr/>
      <a:lstStyle/>
      <a:p>
        <a:r>
          <a:rPr lang="en-US"/>
          <a:t>I moved the symbols closer to definition</a:t>
        </a:r>
      </a:p>
    </p188:txBody>
  </p188:cm>
  <p188:cm id="{529FC520-9AFC-43F9-B481-7CFF7D0E6B4B}" authorId="{258241B8-8C48-8A27-C889-C5E19FB1ABB0}" status="resolved" created="2025-05-21T15:17:13.703" complete="100000">
    <ac:txMkLst xmlns:ac="http://schemas.microsoft.com/office/drawing/2013/main/command">
      <pc:docMk xmlns:pc="http://schemas.microsoft.com/office/powerpoint/2013/main/command"/>
      <pc:sldMk xmlns:pc="http://schemas.microsoft.com/office/powerpoint/2013/main/command" cId="471846787" sldId="2134805592"/>
      <ac:spMk id="10" creationId="{3018CF11-776B-3BF0-FA58-37EADB5349CD}"/>
      <ac:txMk cp="59" len="15">
        <ac:context len="178" hash="239734603"/>
      </ac:txMk>
    </ac:txMkLst>
    <p188:pos x="1971235" y="616984"/>
    <p188:txBody>
      <a:bodyPr/>
      <a:lstStyle/>
      <a:p>
        <a:r>
          <a:rPr lang="en-US"/>
          <a:t>I fixed the equation</a:t>
        </a:r>
      </a:p>
    </p188:txBody>
  </p188:cm>
</p188:cmLst>
</file>

<file path=ppt/comments/modernComment_7F3E8C70_EAC20A28.xml><?xml version="1.0" encoding="utf-8"?>
<p188:cmLst xmlns:a="http://schemas.openxmlformats.org/drawingml/2006/main" xmlns:r="http://schemas.openxmlformats.org/officeDocument/2006/relationships" xmlns:p188="http://schemas.microsoft.com/office/powerpoint/2018/8/main">
  <p188:cm id="{8626C722-D01F-4FE3-9D62-D17228094CAB}" authorId="{258241B8-8C48-8A27-C889-C5E19FB1ABB0}" status="resolved" created="2025-05-21T15:25:02.694" complete="100000">
    <ac:txMkLst xmlns:ac="http://schemas.microsoft.com/office/drawing/2013/main/command">
      <pc:docMk xmlns:pc="http://schemas.microsoft.com/office/powerpoint/2013/main/command"/>
      <pc:sldMk xmlns:pc="http://schemas.microsoft.com/office/powerpoint/2013/main/command" cId="3938585128" sldId="2134805616"/>
      <ac:spMk id="5" creationId="{587B50D8-6090-4136-4119-79A5F2C9488C}"/>
      <ac:txMk cp="0">
        <ac:context len="319" hash="363158308"/>
      </ac:txMk>
    </ac:txMkLst>
    <p188:pos x="6464604" y="627803"/>
    <p188:txBody>
      <a:bodyPr/>
      <a:lstStyle/>
      <a:p>
        <a:r>
          <a:rPr lang="en-US"/>
          <a:t>ADD PICTURES of TOPOLOGIES! Are they shrunk down? IF so, say it clearly!!</a:t>
        </a:r>
      </a:p>
    </p188:txBody>
  </p188:cm>
  <p188:cm id="{71259B27-9FFB-424A-9C94-A1B017063D1C}" authorId="{258241B8-8C48-8A27-C889-C5E19FB1ABB0}" status="resolved" created="2025-05-21T15:38:32.772" complete="100000">
    <ac:txMkLst xmlns:ac="http://schemas.microsoft.com/office/drawing/2013/main/command">
      <pc:docMk xmlns:pc="http://schemas.microsoft.com/office/powerpoint/2013/main/command"/>
      <pc:sldMk xmlns:pc="http://schemas.microsoft.com/office/powerpoint/2013/main/command" cId="3938585128" sldId="2134805616"/>
      <ac:spMk id="5" creationId="{587B50D8-6090-4136-4119-79A5F2C9488C}"/>
      <ac:txMk cp="16" len="138">
        <ac:context len="319" hash="363158308"/>
      </ac:txMk>
    </ac:txMkLst>
    <p188:pos x="9218078" y="1912072"/>
    <p188:txBody>
      <a:bodyPr/>
      <a:lstStyle/>
      <a:p>
        <a:r>
          <a:rPr lang="en-US"/>
          <a:t>Confusing, can you put the table?</a:t>
        </a:r>
      </a:p>
    </p188:txBody>
  </p188:cm>
  <p188:cm id="{3B4ED4AD-DE87-43C9-81D7-B1F96119F813}" authorId="{258241B8-8C48-8A27-C889-C5E19FB1ABB0}" status="resolved" created="2025-05-21T15:39:57.820">
    <ac:txMkLst xmlns:ac="http://schemas.microsoft.com/office/drawing/2013/main/command">
      <pc:docMk xmlns:pc="http://schemas.microsoft.com/office/powerpoint/2013/main/command"/>
      <pc:sldMk xmlns:pc="http://schemas.microsoft.com/office/powerpoint/2013/main/command" cId="3938585128" sldId="2134805616"/>
      <ac:spMk id="5" creationId="{587B50D8-6090-4136-4119-79A5F2C9488C}"/>
      <ac:txMk cp="200" len="14">
        <ac:context len="319" hash="363158308"/>
      </ac:txMk>
    </ac:txMkLst>
    <p188:pos x="2241925" y="3607308"/>
    <p188:txBody>
      <a:bodyPr/>
      <a:lstStyle/>
      <a:p>
        <a:r>
          <a:rPr lang="en-US"/>
          <a:t>Duration of what?</a:t>
        </a:r>
      </a:p>
    </p188:txBody>
  </p188:cm>
</p188:cmLst>
</file>

<file path=ppt/comments/modernComment_A42_FB33A486.xml><?xml version="1.0" encoding="utf-8"?>
<p188:cmLst xmlns:a="http://schemas.openxmlformats.org/drawingml/2006/main" xmlns:r="http://schemas.openxmlformats.org/officeDocument/2006/relationships" xmlns:p188="http://schemas.microsoft.com/office/powerpoint/2018/8/main">
  <p188:cm id="{2D949946-80DE-4E52-8472-DC45B03284D7}" authorId="{258241B8-8C48-8A27-C889-C5E19FB1ABB0}" status="resolved" created="2025-05-21T15:03:40.520" complete="100000">
    <ac:txMkLst xmlns:ac="http://schemas.microsoft.com/office/drawing/2013/main/command">
      <pc:docMk xmlns:pc="http://schemas.microsoft.com/office/powerpoint/2013/main/command"/>
      <pc:sldMk xmlns:pc="http://schemas.microsoft.com/office/powerpoint/2013/main/command" cId="4214465670" sldId="2626"/>
      <ac:spMk id="3" creationId="{00000000-0000-0000-0000-000000000000}"/>
      <ac:txMk cp="127" len="82">
        <ac:context len="229" hash="1091783875"/>
      </ac:txMk>
    </ac:txMkLst>
    <p188:pos x="10346076" y="1097649"/>
    <p188:replyLst>
      <p188:reply id="{08F921A2-9D11-4F20-97A2-FB27B2AAB562}" authorId="{66DF34EE-6A81-1782-FA05-8415B55127A9}" created="2025-05-21T21:47:05.046">
        <p188:txBody>
          <a:bodyPr/>
          <a:lstStyle/>
          <a:p>
            <a:r>
              <a:rPr lang="en-GB"/>
              <a:t>OK</a:t>
            </a:r>
          </a:p>
        </p188:txBody>
      </p188:reply>
    </p188:replyLst>
    <p188:txBody>
      <a:bodyPr/>
      <a:lstStyle/>
      <a:p>
        <a:r>
          <a:rPr lang="en-US"/>
          <a:t>I used different font size for affilaitions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D14ED0-9C78-4FB9-8EF8-41D4F0DC52E6}" type="datetimeFigureOut">
              <a:rPr lang="en-US" smtClean="0"/>
              <a:t>8/31/26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1945C0-DD78-4A38-B479-ABD580BB8025}" type="slidenum">
              <a:rPr lang="en-US" smtClean="0"/>
              <a:t>‹#›</a:t>
            </a:fld>
            <a:endParaRPr lang="en-US"/>
          </a:p>
        </p:txBody>
      </p:sp>
    </p:spTree>
    <p:extLst>
      <p:ext uri="{BB962C8B-B14F-4D97-AF65-F5344CB8AC3E}">
        <p14:creationId xmlns:p14="http://schemas.microsoft.com/office/powerpoint/2010/main" val="143507194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A11BE-5985-4958-B7BF-A4CE01A95E7F}" type="datetimeFigureOut">
              <a:rPr lang="en-US" smtClean="0"/>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06C8C-44A2-4D7E-9A55-28D9B6052089}" type="slidenum">
              <a:rPr lang="en-US" smtClean="0"/>
              <a:t>‹#›</a:t>
            </a:fld>
            <a:endParaRPr lang="en-US"/>
          </a:p>
        </p:txBody>
      </p:sp>
    </p:spTree>
    <p:extLst>
      <p:ext uri="{BB962C8B-B14F-4D97-AF65-F5344CB8AC3E}">
        <p14:creationId xmlns:p14="http://schemas.microsoft.com/office/powerpoint/2010/main" val="1902403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Increase </a:t>
            </a:r>
          </a:p>
        </p:txBody>
      </p:sp>
      <p:sp>
        <p:nvSpPr>
          <p:cNvPr id="4" name="Segnaposto piè di pagina 3"/>
          <p:cNvSpPr>
            <a:spLocks noGrp="1"/>
          </p:cNvSpPr>
          <p:nvPr>
            <p:ph type="ftr" sz="quarter" idx="4"/>
          </p:nvPr>
        </p:nvSpPr>
        <p:spPr/>
        <p:txBody>
          <a:bodyPr/>
          <a:lstStyle/>
          <a:p>
            <a:endParaRPr lang="en-US"/>
          </a:p>
        </p:txBody>
      </p:sp>
      <p:sp>
        <p:nvSpPr>
          <p:cNvPr id="5" name="Segnaposto numero diapositiva 4"/>
          <p:cNvSpPr>
            <a:spLocks noGrp="1"/>
          </p:cNvSpPr>
          <p:nvPr>
            <p:ph type="sldNum" sz="quarter" idx="5"/>
          </p:nvPr>
        </p:nvSpPr>
        <p:spPr/>
        <p:txBody>
          <a:bodyPr/>
          <a:lstStyle/>
          <a:p>
            <a:fld id="{56006C8C-44A2-4D7E-9A55-28D9B6052089}" type="slidenum">
              <a:rPr lang="en-US" smtClean="0"/>
              <a:t>1</a:t>
            </a:fld>
            <a:endParaRPr lang="en-US"/>
          </a:p>
        </p:txBody>
      </p:sp>
    </p:spTree>
    <p:extLst>
      <p:ext uri="{BB962C8B-B14F-4D97-AF65-F5344CB8AC3E}">
        <p14:creationId xmlns:p14="http://schemas.microsoft.com/office/powerpoint/2010/main" val="3258557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1016E-61FD-AA8B-C632-A45488D82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57AFB-EE9D-C4C8-F9D1-545CE5BED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93EB2-6801-60BD-C5AE-2742EA5A107C}"/>
              </a:ext>
            </a:extLst>
          </p:cNvPr>
          <p:cNvSpPr>
            <a:spLocks noGrp="1"/>
          </p:cNvSpPr>
          <p:nvPr>
            <p:ph type="body" idx="1"/>
          </p:nvPr>
        </p:nvSpPr>
        <p:spPr/>
        <p:txBody>
          <a:bodyPr/>
          <a:lstStyle/>
          <a:p>
            <a:r>
              <a:rPr lang="en-IT" dirty="0"/>
              <a:t>Where does th</a:t>
            </a:r>
            <a:r>
              <a:rPr lang="en-GB" dirty="0"/>
              <a:t>is</a:t>
            </a:r>
            <a:r>
              <a:rPr lang="en-IT" dirty="0"/>
              <a:t> communication overhead come from? </a:t>
            </a:r>
          </a:p>
          <a:p>
            <a:endParaRPr lang="en-IT" dirty="0"/>
          </a:p>
          <a:p>
            <a:r>
              <a:rPr lang="en-IT" dirty="0"/>
              <a:t>routing and scheduling without fixing a logical topology</a:t>
            </a:r>
          </a:p>
          <a:p>
            <a:endParaRPr lang="en-IT"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Distributed TensorFlow is an extension of the TensorFlow framework, designed to scale up the training of deep neural networks by distributing computations across multiple GPUs or machines. This allows for handling larger models and datasets that would otherwise be too large or slow to process on a single GPU or machine.</a:t>
            </a:r>
          </a:p>
          <a:p>
            <a:endParaRPr lang="en-IT" dirty="0"/>
          </a:p>
        </p:txBody>
      </p:sp>
      <p:sp>
        <p:nvSpPr>
          <p:cNvPr id="4" name="Footer Placeholder 3">
            <a:extLst>
              <a:ext uri="{FF2B5EF4-FFF2-40B4-BE49-F238E27FC236}">
                <a16:creationId xmlns:a16="http://schemas.microsoft.com/office/drawing/2014/main" id="{2532B969-C2E1-DA71-9307-D990173F3758}"/>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5B1B8A17-8A49-DF10-0F40-844E7C1C4061}"/>
              </a:ext>
            </a:extLst>
          </p:cNvPr>
          <p:cNvSpPr>
            <a:spLocks noGrp="1"/>
          </p:cNvSpPr>
          <p:nvPr>
            <p:ph type="sldNum" sz="quarter" idx="5"/>
          </p:nvPr>
        </p:nvSpPr>
        <p:spPr/>
        <p:txBody>
          <a:bodyPr/>
          <a:lstStyle/>
          <a:p>
            <a:fld id="{56006C8C-44A2-4D7E-9A55-28D9B6052089}" type="slidenum">
              <a:rPr lang="en-US" smtClean="0"/>
              <a:t>4</a:t>
            </a:fld>
            <a:endParaRPr lang="en-US"/>
          </a:p>
        </p:txBody>
      </p:sp>
    </p:spTree>
    <p:extLst>
      <p:ext uri="{BB962C8B-B14F-4D97-AF65-F5344CB8AC3E}">
        <p14:creationId xmlns:p14="http://schemas.microsoft.com/office/powerpoint/2010/main" val="3592755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1EB26-875E-370E-E890-1F67ED551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02698-86CA-A916-C2B7-C8ACCDC0F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F8D99-77A8-E17B-AD6A-6D919CDA271E}"/>
              </a:ext>
            </a:extLst>
          </p:cNvPr>
          <p:cNvSpPr>
            <a:spLocks noGrp="1"/>
          </p:cNvSpPr>
          <p:nvPr>
            <p:ph type="body" idx="1"/>
          </p:nvPr>
        </p:nvSpPr>
        <p:spPr/>
        <p:txBody>
          <a:bodyPr/>
          <a:lstStyle/>
          <a:p>
            <a:r>
              <a:rPr lang="en-IT" dirty="0"/>
              <a:t>Where does th</a:t>
            </a:r>
            <a:r>
              <a:rPr lang="en-GB" dirty="0"/>
              <a:t>is</a:t>
            </a:r>
            <a:r>
              <a:rPr lang="en-IT" dirty="0"/>
              <a:t> communication overhead come from? </a:t>
            </a:r>
          </a:p>
          <a:p>
            <a:endParaRPr lang="en-IT" dirty="0"/>
          </a:p>
          <a:p>
            <a:r>
              <a:rPr lang="en-IT" dirty="0"/>
              <a:t>routing and scheduling without fixing a logical topology</a:t>
            </a:r>
          </a:p>
          <a:p>
            <a:endParaRPr lang="en-IT"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Distributed TensorFlow is an extension of the TensorFlow framework, designed to scale up the training of deep neural networks by distributing computations across multiple GPUs or machines. This allows for handling larger models and datasets that would otherwise be too large or slow to process on a single GPU or machine.</a:t>
            </a:r>
          </a:p>
          <a:p>
            <a:endParaRPr lang="en-IT" dirty="0"/>
          </a:p>
        </p:txBody>
      </p:sp>
      <p:sp>
        <p:nvSpPr>
          <p:cNvPr id="4" name="Footer Placeholder 3">
            <a:extLst>
              <a:ext uri="{FF2B5EF4-FFF2-40B4-BE49-F238E27FC236}">
                <a16:creationId xmlns:a16="http://schemas.microsoft.com/office/drawing/2014/main" id="{781E9001-8BC9-39E0-33D5-BAFB933F0DB9}"/>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CE9EE278-A42E-A32E-EF7F-BFC1296090F2}"/>
              </a:ext>
            </a:extLst>
          </p:cNvPr>
          <p:cNvSpPr>
            <a:spLocks noGrp="1"/>
          </p:cNvSpPr>
          <p:nvPr>
            <p:ph type="sldNum" sz="quarter" idx="5"/>
          </p:nvPr>
        </p:nvSpPr>
        <p:spPr/>
        <p:txBody>
          <a:bodyPr/>
          <a:lstStyle/>
          <a:p>
            <a:fld id="{56006C8C-44A2-4D7E-9A55-28D9B6052089}" type="slidenum">
              <a:rPr lang="en-US" smtClean="0"/>
              <a:t>5</a:t>
            </a:fld>
            <a:endParaRPr lang="en-US"/>
          </a:p>
        </p:txBody>
      </p:sp>
    </p:spTree>
    <p:extLst>
      <p:ext uri="{BB962C8B-B14F-4D97-AF65-F5344CB8AC3E}">
        <p14:creationId xmlns:p14="http://schemas.microsoft.com/office/powerpoint/2010/main" val="1764055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Entanglement generation and also link configuration</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6</a:t>
            </a:fld>
            <a:endParaRPr lang="en-US"/>
          </a:p>
        </p:txBody>
      </p:sp>
    </p:spTree>
    <p:extLst>
      <p:ext uri="{BB962C8B-B14F-4D97-AF65-F5344CB8AC3E}">
        <p14:creationId xmlns:p14="http://schemas.microsoft.com/office/powerpoint/2010/main" val="205194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40 * 15/10</a:t>
                </a:r>
              </a:p>
              <a:p>
                <a:endParaRPr lang="en-GB" dirty="0"/>
              </a:p>
              <a:p>
                <a:r>
                  <a:rPr lang="en-GB" dirty="0"/>
                  <a:t>Show a table</a:t>
                </a:r>
              </a:p>
              <a:p>
                <a:endParaRPr lang="en-GB" dirty="0"/>
              </a:p>
              <a:p>
                <a:r>
                  <a:rPr lang="en-GB" dirty="0"/>
                  <a:t>For each link, we can introduce a table for each link and fidelity</a:t>
                </a:r>
              </a:p>
              <a:p>
                <a:endParaRPr lang="en-GB" dirty="0"/>
              </a:p>
              <a:p>
                <a:pPr lvl="1"/>
                <a:r>
                  <a:rPr lang="en-GB" sz="1200" dirty="0"/>
                  <a:t>Fidelity: F = </a:t>
                </a:r>
                <a14:m>
                  <m:oMath xmlns:m="http://schemas.openxmlformats.org/officeDocument/2006/math">
                    <m:f>
                      <m:fPr>
                        <m:ctrlPr>
                          <a:rPr lang="en-GB" sz="1200" i="1" dirty="0" smtClean="0">
                            <a:solidFill>
                              <a:schemeClr val="tx1"/>
                            </a:solidFill>
                            <a:latin typeface="Cambria Math" panose="02040503050406030204" pitchFamily="18" charset="0"/>
                          </a:rPr>
                        </m:ctrlPr>
                      </m:fPr>
                      <m:num>
                        <m:r>
                          <a:rPr lang="en-GB" sz="1200" b="0" i="0" dirty="0" smtClean="0">
                            <a:solidFill>
                              <a:schemeClr val="tx1"/>
                            </a:solidFill>
                            <a:latin typeface="Cambria Math" panose="02040503050406030204" pitchFamily="18" charset="0"/>
                          </a:rPr>
                          <m:t>3</m:t>
                        </m:r>
                        <m:r>
                          <m:rPr>
                            <m:sty m:val="p"/>
                          </m:rPr>
                          <a:rPr lang="el-GR" sz="1200" dirty="0">
                            <a:solidFill>
                              <a:schemeClr val="tx1"/>
                            </a:solidFill>
                            <a:latin typeface="Cambria Math" panose="02040503050406030204" pitchFamily="18" charset="0"/>
                          </a:rPr>
                          <m:t>ω</m:t>
                        </m:r>
                        <m:r>
                          <a:rPr lang="en-GB" sz="1200" b="0" i="1" dirty="0" smtClean="0">
                            <a:solidFill>
                              <a:schemeClr val="tx1"/>
                            </a:solidFill>
                            <a:latin typeface="Cambria Math" panose="02040503050406030204" pitchFamily="18" charset="0"/>
                          </a:rPr>
                          <m:t>+1</m:t>
                        </m:r>
                      </m:num>
                      <m:den>
                        <m:r>
                          <a:rPr lang="en-GB" sz="1200" b="0" i="0" dirty="0" smtClean="0">
                            <a:solidFill>
                              <a:schemeClr val="tx1"/>
                            </a:solidFill>
                            <a:latin typeface="Cambria Math" panose="02040503050406030204" pitchFamily="18" charset="0"/>
                          </a:rPr>
                          <m:t>4</m:t>
                        </m:r>
                      </m:den>
                    </m:f>
                    <m:r>
                      <m:rPr>
                        <m:nor/>
                      </m:rPr>
                      <a:rPr lang="en-GB" sz="1200" b="0" i="0" dirty="0" smtClean="0">
                        <a:solidFill>
                          <a:schemeClr val="tx1"/>
                        </a:solidFill>
                        <a:latin typeface="Cambria Math" panose="02040503050406030204" pitchFamily="18" charset="0"/>
                      </a:rPr>
                      <m:t>=</m:t>
                    </m:r>
                    <m:r>
                      <m:rPr>
                        <m:nor/>
                      </m:rPr>
                      <a:rPr lang="en-GB" sz="1200" dirty="0"/>
                      <m:t>1</m:t>
                    </m:r>
                    <m:r>
                      <m:rPr>
                        <m:nor/>
                      </m:rPr>
                      <a:rPr lang="en-GB" sz="1200" b="0" i="0" dirty="0" smtClean="0"/>
                      <m:t> </m:t>
                    </m:r>
                    <m:r>
                      <m:rPr>
                        <m:nor/>
                      </m:rPr>
                      <a:rPr lang="en-GB" sz="1200" dirty="0"/>
                      <m:t>− </m:t>
                    </m:r>
                    <m:r>
                      <m:rPr>
                        <m:nor/>
                      </m:rPr>
                      <a:rPr lang="el-GR" sz="1200" dirty="0"/>
                      <m:t>α</m:t>
                    </m:r>
                    <m:r>
                      <m:rPr>
                        <m:nor/>
                      </m:rPr>
                      <a:rPr lang="en-GB" sz="1200" dirty="0"/>
                      <m:t> </m:t>
                    </m:r>
                  </m:oMath>
                </a14:m>
                <a:endParaRPr lang="en-GB" sz="1200" dirty="0"/>
              </a:p>
              <a:p>
                <a:pPr lvl="1"/>
                <a:r>
                  <a:rPr lang="en-GB" sz="1200" dirty="0"/>
                  <a:t>Entanglement generation rate: </a:t>
                </a:r>
                <a14:m>
                  <m:oMath xmlns:m="http://schemas.openxmlformats.org/officeDocument/2006/math">
                    <m:r>
                      <m:rPr>
                        <m:sty m:val="p"/>
                      </m:rPr>
                      <a:rPr lang="en-GB" sz="1200" b="0" i="0" dirty="0" smtClean="0">
                        <a:latin typeface="Cambria Math" panose="02040503050406030204" pitchFamily="18" charset="0"/>
                      </a:rPr>
                      <m:t>R</m:t>
                    </m:r>
                    <m:r>
                      <a:rPr lang="en-GB" sz="1200" b="0" i="0" dirty="0" smtClean="0">
                        <a:latin typeface="Cambria Math" panose="02040503050406030204" pitchFamily="18" charset="0"/>
                      </a:rPr>
                      <m:t>=</m:t>
                    </m:r>
                    <m:f>
                      <m:fPr>
                        <m:ctrlPr>
                          <a:rPr lang="en-GB" sz="1200" i="1" dirty="0">
                            <a:solidFill>
                              <a:srgbClr val="836967"/>
                            </a:solidFill>
                            <a:latin typeface="Cambria Math" panose="02040503050406030204" pitchFamily="18" charset="0"/>
                          </a:rPr>
                        </m:ctrlPr>
                      </m:fPr>
                      <m:num>
                        <m:r>
                          <a:rPr lang="en-GB" sz="1200" dirty="0">
                            <a:latin typeface="Cambria Math" panose="02040503050406030204" pitchFamily="18" charset="0"/>
                          </a:rPr>
                          <m:t>4</m:t>
                        </m:r>
                      </m:num>
                      <m:den>
                        <m:r>
                          <a:rPr lang="en-GB" sz="1200" dirty="0">
                            <a:latin typeface="Cambria Math" panose="02040503050406030204" pitchFamily="18" charset="0"/>
                          </a:rPr>
                          <m:t>3</m:t>
                        </m:r>
                      </m:den>
                    </m:f>
                    <m:r>
                      <a:rPr lang="en-GB" sz="1200" i="0" dirty="0" smtClean="0">
                        <a:latin typeface="Cambria Math" panose="02040503050406030204" pitchFamily="18" charset="0"/>
                      </a:rPr>
                      <m:t>ⅆ</m:t>
                    </m:r>
                    <m:r>
                      <a:rPr lang="en-GB" sz="1200" i="1" dirty="0" smtClean="0">
                        <a:latin typeface="Cambria Math" panose="02040503050406030204" pitchFamily="18" charset="0"/>
                      </a:rPr>
                      <m:t>𝛼</m:t>
                    </m:r>
                    <m:r>
                      <a:rPr lang="en-GB" sz="1200" b="0" i="1" dirty="0" smtClean="0">
                        <a:latin typeface="Cambria Math" panose="02040503050406030204" pitchFamily="18" charset="0"/>
                      </a:rPr>
                      <m:t>, </m:t>
                    </m:r>
                  </m:oMath>
                </a14:m>
                <a:r>
                  <a:rPr lang="en-GB" sz="1200" dirty="0"/>
                  <a:t>where d is a constant related to </a:t>
                </a:r>
              </a:p>
              <a:p>
                <a:endParaRPr lang="en-GB" dirty="0"/>
              </a:p>
            </p:txBody>
          </p:sp>
        </mc:Choice>
        <mc:Fallback xmlns="">
          <p:sp>
            <p:nvSpPr>
              <p:cNvPr id="3" name="Notes Placeholder 2"/>
              <p:cNvSpPr>
                <a:spLocks noGrp="1"/>
              </p:cNvSpPr>
              <p:nvPr>
                <p:ph type="body" idx="1"/>
              </p:nvPr>
            </p:nvSpPr>
            <p:spPr/>
            <p:txBody>
              <a:bodyPr/>
              <a:lstStyle/>
              <a:p>
                <a:r>
                  <a:rPr lang="en-GB" dirty="0"/>
                  <a:t>Show a table</a:t>
                </a:r>
              </a:p>
              <a:p>
                <a:endParaRPr lang="en-GB" dirty="0"/>
              </a:p>
              <a:p>
                <a:r>
                  <a:rPr lang="en-GB" dirty="0"/>
                  <a:t>For each link, we can introduce a table for each link and fidelity</a:t>
                </a:r>
              </a:p>
              <a:p>
                <a:endParaRPr lang="en-GB" dirty="0"/>
              </a:p>
              <a:p>
                <a:pPr lvl="1"/>
                <a:r>
                  <a:rPr lang="en-GB" sz="1200" dirty="0"/>
                  <a:t>Fidelity: F = </a:t>
                </a:r>
                <a:r>
                  <a:rPr lang="en-GB" sz="1200" i="0" dirty="0">
                    <a:solidFill>
                      <a:schemeClr val="tx1"/>
                    </a:solidFill>
                    <a:latin typeface="Cambria Math" panose="02040503050406030204" pitchFamily="18" charset="0"/>
                  </a:rPr>
                  <a:t>(</a:t>
                </a:r>
                <a:r>
                  <a:rPr lang="en-GB" sz="1200" b="0" i="0" dirty="0">
                    <a:solidFill>
                      <a:schemeClr val="tx1"/>
                    </a:solidFill>
                    <a:latin typeface="Cambria Math" panose="02040503050406030204" pitchFamily="18" charset="0"/>
                  </a:rPr>
                  <a:t>3</a:t>
                </a:r>
                <a:r>
                  <a:rPr lang="el-GR" sz="1200" i="0" dirty="0">
                    <a:solidFill>
                      <a:schemeClr val="tx1"/>
                    </a:solidFill>
                    <a:latin typeface="Cambria Math" panose="02040503050406030204" pitchFamily="18" charset="0"/>
                  </a:rPr>
                  <a:t>ω</a:t>
                </a:r>
                <a:r>
                  <a:rPr lang="en-GB" sz="1200" b="0" i="0" dirty="0">
                    <a:solidFill>
                      <a:schemeClr val="tx1"/>
                    </a:solidFill>
                    <a:latin typeface="Cambria Math" panose="02040503050406030204" pitchFamily="18" charset="0"/>
                  </a:rPr>
                  <a:t>+1)/4 "=</a:t>
                </a:r>
                <a:r>
                  <a:rPr lang="en-GB" sz="1200" i="0" dirty="0">
                    <a:latin typeface="Cambria Math" panose="02040503050406030204" pitchFamily="18" charset="0"/>
                  </a:rPr>
                  <a:t>1</a:t>
                </a:r>
                <a:r>
                  <a:rPr lang="en-GB" sz="1200" b="0" i="0" dirty="0">
                    <a:latin typeface="Cambria Math" panose="02040503050406030204" pitchFamily="18" charset="0"/>
                  </a:rPr>
                  <a:t> </a:t>
                </a:r>
                <a:r>
                  <a:rPr lang="en-GB" sz="1200" i="0" dirty="0">
                    <a:latin typeface="Cambria Math" panose="02040503050406030204" pitchFamily="18" charset="0"/>
                  </a:rPr>
                  <a:t>− </a:t>
                </a:r>
                <a:r>
                  <a:rPr lang="el-GR" sz="1200" i="0" dirty="0">
                    <a:latin typeface="Cambria Math" panose="02040503050406030204" pitchFamily="18" charset="0"/>
                  </a:rPr>
                  <a:t>α</a:t>
                </a:r>
                <a:r>
                  <a:rPr lang="en-GB" sz="1200" i="0" dirty="0">
                    <a:latin typeface="Cambria Math" panose="02040503050406030204" pitchFamily="18" charset="0"/>
                  </a:rPr>
                  <a:t> </a:t>
                </a:r>
                <a:r>
                  <a:rPr lang="en-GB" sz="1200" i="0" dirty="0"/>
                  <a:t>"</a:t>
                </a:r>
                <a:endParaRPr lang="en-GB" sz="1200" dirty="0"/>
              </a:p>
              <a:p>
                <a:pPr lvl="1"/>
                <a:r>
                  <a:rPr lang="en-GB" sz="1200" dirty="0"/>
                  <a:t>Entanglement generation rate: </a:t>
                </a:r>
                <a:r>
                  <a:rPr lang="en-GB" sz="1200" b="0" i="0" dirty="0">
                    <a:latin typeface="Cambria Math" panose="02040503050406030204" pitchFamily="18" charset="0"/>
                  </a:rPr>
                  <a:t>R=</a:t>
                </a:r>
                <a:r>
                  <a:rPr lang="en-GB" sz="1200" i="0" dirty="0">
                    <a:latin typeface="Cambria Math" panose="02040503050406030204" pitchFamily="18" charset="0"/>
                  </a:rPr>
                  <a:t>4</a:t>
                </a:r>
                <a:r>
                  <a:rPr lang="en-GB" sz="1200" i="0" dirty="0">
                    <a:solidFill>
                      <a:srgbClr val="836967"/>
                    </a:solidFill>
                    <a:latin typeface="Cambria Math" panose="02040503050406030204" pitchFamily="18" charset="0"/>
                  </a:rPr>
                  <a:t>/</a:t>
                </a:r>
                <a:r>
                  <a:rPr lang="en-GB" sz="1200" i="0" dirty="0">
                    <a:latin typeface="Cambria Math" panose="02040503050406030204" pitchFamily="18" charset="0"/>
                  </a:rPr>
                  <a:t>3 ⅆ𝛼</a:t>
                </a:r>
                <a:r>
                  <a:rPr lang="en-GB" sz="1200" b="0" i="0" dirty="0">
                    <a:latin typeface="Cambria Math" panose="02040503050406030204" pitchFamily="18" charset="0"/>
                  </a:rPr>
                  <a:t>, </a:t>
                </a:r>
                <a:r>
                  <a:rPr lang="en-GB" sz="1200" dirty="0"/>
                  <a:t>where d is a constant related to </a:t>
                </a:r>
              </a:p>
              <a:p>
                <a:endParaRPr lang="en-GB" dirty="0"/>
              </a:p>
            </p:txBody>
          </p:sp>
        </mc:Fallback>
      </mc:AlternateContent>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7</a:t>
            </a:fld>
            <a:endParaRPr lang="en-US"/>
          </a:p>
        </p:txBody>
      </p:sp>
    </p:spTree>
    <p:extLst>
      <p:ext uri="{BB962C8B-B14F-4D97-AF65-F5344CB8AC3E}">
        <p14:creationId xmlns:p14="http://schemas.microsoft.com/office/powerpoint/2010/main" val="187715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sz="2800" dirty="0"/>
              <a:t>Fidelity: </a:t>
            </a:r>
            <a:r>
              <a:rPr lang="en-GB" sz="2800" kern="0" dirty="0"/>
              <a:t>quality of entanglements</a:t>
            </a:r>
          </a:p>
          <a:p>
            <a:pPr lvl="1"/>
            <a:r>
              <a:rPr lang="en-GB" sz="2800" kern="0" dirty="0"/>
              <a:t>Value between 0 and 1, higher value </a:t>
            </a:r>
            <a:r>
              <a:rPr lang="en-GB" sz="2800" kern="0" dirty="0">
                <a:sym typeface="Wingdings" pitchFamily="2" charset="2"/>
              </a:rPr>
              <a:t> better quality</a:t>
            </a:r>
            <a:endParaRPr lang="en-GB" sz="2800" kern="0"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9</a:t>
            </a:fld>
            <a:endParaRPr lang="en-US"/>
          </a:p>
        </p:txBody>
      </p:sp>
    </p:spTree>
    <p:extLst>
      <p:ext uri="{BB962C8B-B14F-4D97-AF65-F5344CB8AC3E}">
        <p14:creationId xmlns:p14="http://schemas.microsoft.com/office/powerpoint/2010/main" val="3965497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10</a:t>
            </a:fld>
            <a:endParaRPr lang="en-US"/>
          </a:p>
        </p:txBody>
      </p:sp>
    </p:spTree>
    <p:extLst>
      <p:ext uri="{BB962C8B-B14F-4D97-AF65-F5344CB8AC3E}">
        <p14:creationId xmlns:p14="http://schemas.microsoft.com/office/powerpoint/2010/main" val="3600992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 and log(w)</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12</a:t>
            </a:fld>
            <a:endParaRPr lang="en-US"/>
          </a:p>
        </p:txBody>
      </p:sp>
    </p:spTree>
    <p:extLst>
      <p:ext uri="{BB962C8B-B14F-4D97-AF65-F5344CB8AC3E}">
        <p14:creationId xmlns:p14="http://schemas.microsoft.com/office/powerpoint/2010/main" val="339506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dirty="0"/>
              <a:t>rate = 20 EPR pair/s, fidelity = 0.9, </a:t>
            </a:r>
            <a:r>
              <a:rPr lang="el-GR" sz="1200" i="1" dirty="0"/>
              <a:t>π</a:t>
            </a:r>
            <a:r>
              <a:rPr lang="en-GB" sz="1200" i="1" dirty="0"/>
              <a:t>=-0.14</a:t>
            </a:r>
            <a:endParaRPr lang="en-GB"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14</a:t>
            </a:fld>
            <a:endParaRPr lang="en-US"/>
          </a:p>
        </p:txBody>
      </p:sp>
    </p:spTree>
    <p:extLst>
      <p:ext uri="{BB962C8B-B14F-4D97-AF65-F5344CB8AC3E}">
        <p14:creationId xmlns:p14="http://schemas.microsoft.com/office/powerpoint/2010/main" val="1245816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17D1A-CFC9-C4CA-678C-CA331FDBA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5F19C-9E92-A223-9319-C71B8C5A6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FE328-9E90-DA5C-3095-2FD98EF570CB}"/>
              </a:ext>
            </a:extLst>
          </p:cNvPr>
          <p:cNvSpPr>
            <a:spLocks noGrp="1"/>
          </p:cNvSpPr>
          <p:nvPr>
            <p:ph type="body" idx="1"/>
          </p:nvPr>
        </p:nvSpPr>
        <p:spPr/>
        <p:txBody>
          <a:bodyPr/>
          <a:lstStyle/>
          <a:p>
            <a:r>
              <a:rPr lang="en-IT" dirty="0"/>
              <a:t>Show an example of doing entanglement routing, how to select the route, how many entanglements are needed</a:t>
            </a:r>
          </a:p>
        </p:txBody>
      </p:sp>
      <p:sp>
        <p:nvSpPr>
          <p:cNvPr id="4" name="Footer Placeholder 3">
            <a:extLst>
              <a:ext uri="{FF2B5EF4-FFF2-40B4-BE49-F238E27FC236}">
                <a16:creationId xmlns:a16="http://schemas.microsoft.com/office/drawing/2014/main" id="{1DF36227-3B37-CAB6-9A6D-286DBC715C72}"/>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AEDC52B9-3844-42EE-AC00-98B191EB8FE7}"/>
              </a:ext>
            </a:extLst>
          </p:cNvPr>
          <p:cNvSpPr>
            <a:spLocks noGrp="1"/>
          </p:cNvSpPr>
          <p:nvPr>
            <p:ph type="sldNum" sz="quarter" idx="5"/>
          </p:nvPr>
        </p:nvSpPr>
        <p:spPr/>
        <p:txBody>
          <a:bodyPr/>
          <a:lstStyle/>
          <a:p>
            <a:fld id="{56006C8C-44A2-4D7E-9A55-28D9B6052089}" type="slidenum">
              <a:rPr lang="en-US" smtClean="0"/>
              <a:t>15</a:t>
            </a:fld>
            <a:endParaRPr lang="en-US"/>
          </a:p>
        </p:txBody>
      </p:sp>
    </p:spTree>
    <p:extLst>
      <p:ext uri="{BB962C8B-B14F-4D97-AF65-F5344CB8AC3E}">
        <p14:creationId xmlns:p14="http://schemas.microsoft.com/office/powerpoint/2010/main" val="2661464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500 / 0.2 = x / 0.3</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21</a:t>
            </a:fld>
            <a:endParaRPr lang="en-US"/>
          </a:p>
        </p:txBody>
      </p:sp>
    </p:spTree>
    <p:extLst>
      <p:ext uri="{BB962C8B-B14F-4D97-AF65-F5344CB8AC3E}">
        <p14:creationId xmlns:p14="http://schemas.microsoft.com/office/powerpoint/2010/main" val="4255073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How to re-deploy a new implementation</a:t>
            </a:r>
          </a:p>
          <a:p>
            <a:pPr marL="228600" indent="-228600">
              <a:buAutoNum type="arabicPeriod"/>
            </a:pPr>
            <a:r>
              <a:rPr lang="en-IT" dirty="0"/>
              <a:t>Offline: do it never touch it</a:t>
            </a:r>
          </a:p>
          <a:p>
            <a:pPr marL="228600" indent="-228600">
              <a:buAutoNum type="arabicPeriod"/>
            </a:pPr>
            <a:r>
              <a:rPr lang="en-IT" dirty="0"/>
              <a:t>Online: update peiodically, we adjust when the network condition changes, update routing and scheduling to adapt to the new network condition</a:t>
            </a:r>
          </a:p>
          <a:p>
            <a:pPr marL="228600" indent="-228600">
              <a:buAutoNum type="arabicPeriod"/>
            </a:pPr>
            <a:endParaRPr lang="en-IT" dirty="0"/>
          </a:p>
          <a:p>
            <a:pPr marL="0" indent="0">
              <a:buFontTx/>
              <a:buNone/>
            </a:pPr>
            <a:r>
              <a:rPr lang="en-IT" b="1" dirty="0"/>
              <a:t>Define the use cases considering use cases</a:t>
            </a:r>
          </a:p>
          <a:p>
            <a:pPr marL="228600" indent="-228600">
              <a:buAutoNum type="arabicPeriod"/>
            </a:pPr>
            <a:endParaRPr lang="en-IT" dirty="0"/>
          </a:p>
          <a:p>
            <a:pPr marL="0" indent="0">
              <a:buFontTx/>
              <a:buNone/>
            </a:pPr>
            <a:endParaRPr lang="en-IT" dirty="0"/>
          </a:p>
          <a:p>
            <a:pPr marL="228600" indent="-228600">
              <a:buAutoNum type="arabicPeriod"/>
            </a:pPr>
            <a:endParaRPr lang="en-IT"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006C8C-44A2-4D7E-9A55-28D9B6052089}" type="slidenum">
              <a:rPr lang="en-US" smtClean="0"/>
              <a:t>33</a:t>
            </a:fld>
            <a:endParaRPr lang="en-US"/>
          </a:p>
        </p:txBody>
      </p:sp>
    </p:spTree>
    <p:extLst>
      <p:ext uri="{BB962C8B-B14F-4D97-AF65-F5344CB8AC3E}">
        <p14:creationId xmlns:p14="http://schemas.microsoft.com/office/powerpoint/2010/main" val="2167597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sz="1200" dirty="0"/>
              <a:t>Repetition time (defined as the time between entanglement generation attempts)</a:t>
            </a:r>
          </a:p>
          <a:p>
            <a:endParaRPr lang="en-IT" dirty="0"/>
          </a:p>
        </p:txBody>
      </p:sp>
      <p:sp>
        <p:nvSpPr>
          <p:cNvPr id="4" name="Slide Number Placeholder 3"/>
          <p:cNvSpPr>
            <a:spLocks noGrp="1"/>
          </p:cNvSpPr>
          <p:nvPr>
            <p:ph type="sldNum" sz="quarter" idx="5"/>
          </p:nvPr>
        </p:nvSpPr>
        <p:spPr/>
        <p:txBody>
          <a:bodyPr/>
          <a:lstStyle/>
          <a:p>
            <a:fld id="{B1663430-36AD-426E-AC83-7A61CBFF3609}" type="slidenum">
              <a:rPr lang="it-IT" altLang="en-US" smtClean="0"/>
              <a:pPr/>
              <a:t>34</a:t>
            </a:fld>
            <a:endParaRPr lang="it-IT" altLang="en-US"/>
          </a:p>
        </p:txBody>
      </p:sp>
    </p:spTree>
    <p:extLst>
      <p:ext uri="{BB962C8B-B14F-4D97-AF65-F5344CB8AC3E}">
        <p14:creationId xmlns:p14="http://schemas.microsoft.com/office/powerpoint/2010/main" val="2069792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AD57376C-363D-469E-84C5-539B3F8B9B5B}" type="datetime1">
              <a:rPr lang="it-IT" smtClean="0"/>
              <a:t>31/08/26</a:t>
            </a:fld>
            <a:endParaRPr lang="en-US"/>
          </a:p>
        </p:txBody>
      </p:sp>
      <p:sp>
        <p:nvSpPr>
          <p:cNvPr id="5" name="Footer Placeholder 4"/>
          <p:cNvSpPr>
            <a:spLocks noGrp="1"/>
          </p:cNvSpPr>
          <p:nvPr>
            <p:ph type="ftr" sz="quarter" idx="11"/>
          </p:nvPr>
        </p:nvSpPr>
        <p:spPr/>
        <p:txBody>
          <a:bodyPr/>
          <a:lstStyle/>
          <a:p>
            <a:r>
              <a:rPr lang="en-GB"/>
              <a:t>Q. Zhang, Link Configuration for Fidelity-Constrained Entanglement Routing</a:t>
            </a:r>
            <a:endParaRPr lang="en-US"/>
          </a:p>
        </p:txBody>
      </p:sp>
      <p:sp>
        <p:nvSpPr>
          <p:cNvPr id="6" name="Slide Number Placeholder 5"/>
          <p:cNvSpPr>
            <a:spLocks noGrp="1"/>
          </p:cNvSpPr>
          <p:nvPr>
            <p:ph type="sldNum" sz="quarter" idx="12"/>
          </p:nvPr>
        </p:nvSpPr>
        <p:spPr/>
        <p:txBody>
          <a:bodyPr/>
          <a:lstStyle>
            <a:lvl1pPr>
              <a:defRPr>
                <a:solidFill>
                  <a:srgbClr val="6DA4BB"/>
                </a:solidFill>
              </a:defRPr>
            </a:lvl1pPr>
          </a:lstStyle>
          <a:p>
            <a:fld id="{5AFE0081-1ED4-41E0-88AB-D26DBE160EA6}" type="slidenum">
              <a:rPr lang="en-US" smtClean="0"/>
              <a:pPr/>
              <a:t>‹#›</a:t>
            </a:fld>
            <a:endParaRPr lang="en-US" dirty="0"/>
          </a:p>
        </p:txBody>
      </p:sp>
      <p:sp>
        <p:nvSpPr>
          <p:cNvPr id="12" name="TextBox 11">
            <a:extLst>
              <a:ext uri="{FF2B5EF4-FFF2-40B4-BE49-F238E27FC236}">
                <a16:creationId xmlns:a16="http://schemas.microsoft.com/office/drawing/2014/main" id="{62560595-9B37-6E72-89A9-FA54E72EC950}"/>
              </a:ext>
            </a:extLst>
          </p:cNvPr>
          <p:cNvSpPr txBox="1"/>
          <p:nvPr userDrawn="1"/>
        </p:nvSpPr>
        <p:spPr>
          <a:xfrm>
            <a:off x="777992" y="1364655"/>
            <a:ext cx="410350" cy="365126"/>
          </a:xfrm>
          <a:prstGeom prst="rect">
            <a:avLst/>
          </a:prstGeom>
          <a:noFill/>
        </p:spPr>
        <p:txBody>
          <a:bodyPr wrap="square" rtlCol="0">
            <a:spAutoFit/>
          </a:bodyPr>
          <a:lstStyle/>
          <a:p>
            <a:endParaRPr lang="en-IT" dirty="0"/>
          </a:p>
        </p:txBody>
      </p:sp>
      <p:sp>
        <p:nvSpPr>
          <p:cNvPr id="15" name="Title 14">
            <a:extLst>
              <a:ext uri="{FF2B5EF4-FFF2-40B4-BE49-F238E27FC236}">
                <a16:creationId xmlns:a16="http://schemas.microsoft.com/office/drawing/2014/main" id="{5E8B610F-BEE2-07E1-192A-D1504575E034}"/>
              </a:ext>
            </a:extLst>
          </p:cNvPr>
          <p:cNvSpPr>
            <a:spLocks noGrp="1"/>
          </p:cNvSpPr>
          <p:nvPr>
            <p:ph type="title"/>
          </p:nvPr>
        </p:nvSpPr>
        <p:spPr/>
        <p:txBody>
          <a:bodyPr/>
          <a:lstStyle/>
          <a:p>
            <a:r>
              <a:rPr lang="en-GB"/>
              <a:t>Click to edit Master title style</a:t>
            </a:r>
            <a:endParaRPr lang="en-IT"/>
          </a:p>
        </p:txBody>
      </p:sp>
    </p:spTree>
    <p:extLst>
      <p:ext uri="{BB962C8B-B14F-4D97-AF65-F5344CB8AC3E}">
        <p14:creationId xmlns:p14="http://schemas.microsoft.com/office/powerpoint/2010/main" val="1043290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no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CBD80A1-E0E7-4375-B374-5493553A7556}" type="datetime1">
              <a:rPr lang="it-IT" smtClean="0"/>
              <a:t>31/08/26</a:t>
            </a:fld>
            <a:endParaRPr lang="en-US" dirty="0"/>
          </a:p>
        </p:txBody>
      </p:sp>
      <p:sp>
        <p:nvSpPr>
          <p:cNvPr id="5" name="Footer Placeholder 4"/>
          <p:cNvSpPr>
            <a:spLocks noGrp="1"/>
          </p:cNvSpPr>
          <p:nvPr>
            <p:ph type="ftr" sz="quarter" idx="11"/>
          </p:nvPr>
        </p:nvSpPr>
        <p:spPr>
          <a:xfrm>
            <a:off x="3180807" y="6356350"/>
            <a:ext cx="5819502" cy="365125"/>
          </a:xfrm>
        </p:spPr>
        <p:txBody>
          <a:bodyPr/>
          <a:lstStyle/>
          <a:p>
            <a:r>
              <a:rPr lang="en-GB"/>
              <a:t>Q. Zhang, Link Configuration for Fidelity-Constrained Entanglement Routing</a:t>
            </a:r>
            <a:endParaRPr lang="en-US"/>
          </a:p>
        </p:txBody>
      </p:sp>
      <p:sp>
        <p:nvSpPr>
          <p:cNvPr id="6" name="Slide Number Placeholder 5"/>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696342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36E5CE-72DA-4C70-A7FF-789B4D98C9B1}" type="datetime1">
              <a:rPr lang="it-IT" smtClean="0"/>
              <a:t>31/08/26</a:t>
            </a:fld>
            <a:endParaRPr lang="en-US"/>
          </a:p>
        </p:txBody>
      </p:sp>
      <p:sp>
        <p:nvSpPr>
          <p:cNvPr id="5" name="Footer Placeholder 4"/>
          <p:cNvSpPr>
            <a:spLocks noGrp="1"/>
          </p:cNvSpPr>
          <p:nvPr>
            <p:ph type="ftr" sz="quarter" idx="11"/>
          </p:nvPr>
        </p:nvSpPr>
        <p:spPr/>
        <p:txBody>
          <a:bodyPr/>
          <a:lstStyle/>
          <a:p>
            <a:r>
              <a:rPr lang="en-GB"/>
              <a:t>Q. Zhang, Link Configuration for Fidelity-Constrained Entanglement Routing</a:t>
            </a:r>
            <a:endParaRPr lang="en-US"/>
          </a:p>
        </p:txBody>
      </p:sp>
      <p:sp>
        <p:nvSpPr>
          <p:cNvPr id="6" name="Slide Number Placeholder 5"/>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1475827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41EAC6D-5FC2-4274-9F91-BD61D8B98353}" type="datetime1">
              <a:rPr lang="it-IT" smtClean="0"/>
              <a:t>31/08/26</a:t>
            </a:fld>
            <a:endParaRPr lang="en-US"/>
          </a:p>
        </p:txBody>
      </p:sp>
      <p:sp>
        <p:nvSpPr>
          <p:cNvPr id="6" name="Footer Placeholder 5"/>
          <p:cNvSpPr>
            <a:spLocks noGrp="1"/>
          </p:cNvSpPr>
          <p:nvPr>
            <p:ph type="ftr" sz="quarter" idx="11"/>
          </p:nvPr>
        </p:nvSpPr>
        <p:spPr/>
        <p:txBody>
          <a:bodyPr/>
          <a:lstStyle/>
          <a:p>
            <a:r>
              <a:rPr lang="en-GB"/>
              <a:t>Q. Zhang, Link Configuration for Fidelity-Constrained Entanglement Routing</a:t>
            </a:r>
            <a:endParaRPr lang="en-US"/>
          </a:p>
        </p:txBody>
      </p:sp>
      <p:sp>
        <p:nvSpPr>
          <p:cNvPr id="7" name="Slide Number Placeholder 6"/>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1293222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1AAB763-4B79-4129-A3E6-4D6A1B176E62}" type="datetime1">
              <a:rPr lang="it-IT" smtClean="0"/>
              <a:t>31/08/26</a:t>
            </a:fld>
            <a:endParaRPr lang="en-US"/>
          </a:p>
        </p:txBody>
      </p:sp>
      <p:sp>
        <p:nvSpPr>
          <p:cNvPr id="8" name="Footer Placeholder 7"/>
          <p:cNvSpPr>
            <a:spLocks noGrp="1"/>
          </p:cNvSpPr>
          <p:nvPr>
            <p:ph type="ftr" sz="quarter" idx="11"/>
          </p:nvPr>
        </p:nvSpPr>
        <p:spPr/>
        <p:txBody>
          <a:bodyPr/>
          <a:lstStyle/>
          <a:p>
            <a:r>
              <a:rPr lang="en-GB"/>
              <a:t>Q. Zhang, Link Configuration for Fidelity-Constrained Entanglement Routing</a:t>
            </a:r>
            <a:endParaRPr lang="en-US"/>
          </a:p>
        </p:txBody>
      </p:sp>
      <p:sp>
        <p:nvSpPr>
          <p:cNvPr id="9" name="Slide Number Placeholder 8"/>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2801453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BB26BD-C721-4598-B59B-6D9AF0D8170C}" type="datetime1">
              <a:rPr lang="it-IT" smtClean="0"/>
              <a:t>31/08/26</a:t>
            </a:fld>
            <a:endParaRPr lang="en-US"/>
          </a:p>
        </p:txBody>
      </p:sp>
      <p:sp>
        <p:nvSpPr>
          <p:cNvPr id="4" name="Footer Placeholder 3"/>
          <p:cNvSpPr>
            <a:spLocks noGrp="1"/>
          </p:cNvSpPr>
          <p:nvPr>
            <p:ph type="ftr" sz="quarter" idx="11"/>
          </p:nvPr>
        </p:nvSpPr>
        <p:spPr/>
        <p:txBody>
          <a:bodyPr/>
          <a:lstStyle/>
          <a:p>
            <a:r>
              <a:rPr lang="en-GB"/>
              <a:t>Q. Zhang, Link Configuration for Fidelity-Constrained Entanglement Routing</a:t>
            </a:r>
            <a:endParaRPr lang="en-US"/>
          </a:p>
        </p:txBody>
      </p:sp>
      <p:sp>
        <p:nvSpPr>
          <p:cNvPr id="5" name="Slide Number Placeholder 4"/>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58419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C87800-22C5-4877-89BE-0BEE60931FF2}" type="datetime1">
              <a:rPr lang="it-IT" smtClean="0"/>
              <a:t>31/08/26</a:t>
            </a:fld>
            <a:endParaRPr lang="en-US"/>
          </a:p>
        </p:txBody>
      </p:sp>
      <p:sp>
        <p:nvSpPr>
          <p:cNvPr id="3" name="Footer Placeholder 2"/>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266798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ED3E99B-AFD2-4512-A238-B60FB0495C45}" type="datetime1">
              <a:rPr lang="it-IT" smtClean="0"/>
              <a:t>31/08/26</a:t>
            </a:fld>
            <a:endParaRPr lang="en-US"/>
          </a:p>
        </p:txBody>
      </p:sp>
      <p:sp>
        <p:nvSpPr>
          <p:cNvPr id="6" name="Footer Placeholder 5"/>
          <p:cNvSpPr>
            <a:spLocks noGrp="1"/>
          </p:cNvSpPr>
          <p:nvPr>
            <p:ph type="ftr" sz="quarter" idx="11"/>
          </p:nvPr>
        </p:nvSpPr>
        <p:spPr/>
        <p:txBody>
          <a:bodyPr/>
          <a:lstStyle/>
          <a:p>
            <a:r>
              <a:rPr lang="en-GB"/>
              <a:t>Q. Zhang, Link Configuration for Fidelity-Constrained Entanglement Routing</a:t>
            </a:r>
            <a:endParaRPr lang="en-US"/>
          </a:p>
        </p:txBody>
      </p:sp>
      <p:sp>
        <p:nvSpPr>
          <p:cNvPr id="7" name="Slide Number Placeholder 6"/>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3470793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BF38D21-702E-43B7-B8EE-47552713E341}" type="datetime1">
              <a:rPr lang="it-IT" smtClean="0"/>
              <a:t>31/08/26</a:t>
            </a:fld>
            <a:endParaRPr lang="en-US"/>
          </a:p>
        </p:txBody>
      </p:sp>
      <p:sp>
        <p:nvSpPr>
          <p:cNvPr id="6" name="Footer Placeholder 5"/>
          <p:cNvSpPr>
            <a:spLocks noGrp="1"/>
          </p:cNvSpPr>
          <p:nvPr>
            <p:ph type="ftr" sz="quarter" idx="11"/>
          </p:nvPr>
        </p:nvSpPr>
        <p:spPr/>
        <p:txBody>
          <a:bodyPr/>
          <a:lstStyle/>
          <a:p>
            <a:r>
              <a:rPr lang="en-GB"/>
              <a:t>Q. Zhang, Link Configuration for Fidelity-Constrained Entanglement Routing</a:t>
            </a:r>
            <a:endParaRPr lang="en-US"/>
          </a:p>
        </p:txBody>
      </p:sp>
      <p:sp>
        <p:nvSpPr>
          <p:cNvPr id="7" name="Slide Number Placeholder 6"/>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1262124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CD11B3-CE02-4D9F-9C5A-39361F96ADB5}" type="datetime1">
              <a:rPr lang="it-IT" smtClean="0"/>
              <a:t>31/08/26</a:t>
            </a:fld>
            <a:endParaRPr lang="en-US"/>
          </a:p>
        </p:txBody>
      </p:sp>
      <p:sp>
        <p:nvSpPr>
          <p:cNvPr id="5" name="Footer Placeholder 4"/>
          <p:cNvSpPr>
            <a:spLocks noGrp="1"/>
          </p:cNvSpPr>
          <p:nvPr>
            <p:ph type="ftr" sz="quarter" idx="11"/>
          </p:nvPr>
        </p:nvSpPr>
        <p:spPr/>
        <p:txBody>
          <a:bodyPr/>
          <a:lstStyle/>
          <a:p>
            <a:r>
              <a:rPr lang="en-GB"/>
              <a:t>Q. Zhang, Link Configuration for Fidelity-Constrained Entanglement Routing</a:t>
            </a:r>
            <a:endParaRPr lang="en-US"/>
          </a:p>
        </p:txBody>
      </p:sp>
      <p:sp>
        <p:nvSpPr>
          <p:cNvPr id="6" name="Slide Number Placeholder 5"/>
          <p:cNvSpPr>
            <a:spLocks noGrp="1"/>
          </p:cNvSpPr>
          <p:nvPr>
            <p:ph type="sldNum" sz="quarter" idx="12"/>
          </p:nvPr>
        </p:nvSpPr>
        <p:spPr/>
        <p:txBody>
          <a:bodyPr/>
          <a:lstStyle/>
          <a:p>
            <a:fld id="{5AFE0081-1ED4-41E0-88AB-D26DBE160EA6}" type="slidenum">
              <a:rPr lang="en-US" smtClean="0"/>
              <a:t>‹#›</a:t>
            </a:fld>
            <a:endParaRPr lang="en-US"/>
          </a:p>
        </p:txBody>
      </p:sp>
    </p:spTree>
    <p:extLst>
      <p:ext uri="{BB962C8B-B14F-4D97-AF65-F5344CB8AC3E}">
        <p14:creationId xmlns:p14="http://schemas.microsoft.com/office/powerpoint/2010/main" val="465119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EFCB0-6CEB-CC45-AD2E-958D9FB6C85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04438E82-C7F0-9FE6-DB38-F68B23E98C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720036B5-0949-522D-A305-4D121865207B}"/>
              </a:ext>
            </a:extLst>
          </p:cNvPr>
          <p:cNvSpPr>
            <a:spLocks noGrp="1"/>
          </p:cNvSpPr>
          <p:nvPr>
            <p:ph type="dt" sz="half" idx="10"/>
          </p:nvPr>
        </p:nvSpPr>
        <p:spPr/>
        <p:txBody>
          <a:bodyPr/>
          <a:lstStyle/>
          <a:p>
            <a:fld id="{4532B11F-8E9B-4C3E-8FD1-DF3A5D647F4F}" type="datetime1">
              <a:rPr lang="it-IT" smtClean="0"/>
              <a:t>31/08/26</a:t>
            </a:fld>
            <a:endParaRPr lang="en-IT"/>
          </a:p>
        </p:txBody>
      </p:sp>
      <p:sp>
        <p:nvSpPr>
          <p:cNvPr id="5" name="Footer Placeholder 4">
            <a:extLst>
              <a:ext uri="{FF2B5EF4-FFF2-40B4-BE49-F238E27FC236}">
                <a16:creationId xmlns:a16="http://schemas.microsoft.com/office/drawing/2014/main" id="{8CD4DEFA-41C5-9B9B-947D-E612D6E7E9C3}"/>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192256CE-934D-725D-CB7A-DA82ACDADC74}"/>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2905777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2DAA4-2920-CF50-163D-453DC1978C59}"/>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D2B0E570-12DE-382F-D7C8-100BAFD12D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9353E70A-BDEC-0AFF-4A34-A24313CB6F60}"/>
              </a:ext>
            </a:extLst>
          </p:cNvPr>
          <p:cNvSpPr>
            <a:spLocks noGrp="1"/>
          </p:cNvSpPr>
          <p:nvPr>
            <p:ph type="dt" sz="half" idx="10"/>
          </p:nvPr>
        </p:nvSpPr>
        <p:spPr/>
        <p:txBody>
          <a:bodyPr/>
          <a:lstStyle/>
          <a:p>
            <a:fld id="{ECA2C19E-3C8A-4903-A255-19A3418E3738}" type="datetime1">
              <a:rPr lang="it-IT" smtClean="0"/>
              <a:t>31/08/26</a:t>
            </a:fld>
            <a:endParaRPr lang="en-IT"/>
          </a:p>
        </p:txBody>
      </p:sp>
      <p:sp>
        <p:nvSpPr>
          <p:cNvPr id="5" name="Footer Placeholder 4">
            <a:extLst>
              <a:ext uri="{FF2B5EF4-FFF2-40B4-BE49-F238E27FC236}">
                <a16:creationId xmlns:a16="http://schemas.microsoft.com/office/drawing/2014/main" id="{89F97255-1299-BBD3-C645-559C40C95721}"/>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B7662AEE-B6C5-3EC4-52AC-242873DF87DC}"/>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487319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769F-EFD2-62BC-7853-A4D048231F4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B219C775-45DA-BA7E-FA5B-4D9DE11F25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2CA2D68-9964-E80B-4C18-B37099AD624C}"/>
              </a:ext>
            </a:extLst>
          </p:cNvPr>
          <p:cNvSpPr>
            <a:spLocks noGrp="1"/>
          </p:cNvSpPr>
          <p:nvPr>
            <p:ph type="dt" sz="half" idx="10"/>
          </p:nvPr>
        </p:nvSpPr>
        <p:spPr/>
        <p:txBody>
          <a:bodyPr/>
          <a:lstStyle/>
          <a:p>
            <a:fld id="{C586A85B-48D0-42A5-A514-A863925FF91E}" type="datetime1">
              <a:rPr lang="it-IT" smtClean="0"/>
              <a:t>31/08/26</a:t>
            </a:fld>
            <a:endParaRPr lang="en-IT"/>
          </a:p>
        </p:txBody>
      </p:sp>
      <p:sp>
        <p:nvSpPr>
          <p:cNvPr id="5" name="Footer Placeholder 4">
            <a:extLst>
              <a:ext uri="{FF2B5EF4-FFF2-40B4-BE49-F238E27FC236}">
                <a16:creationId xmlns:a16="http://schemas.microsoft.com/office/drawing/2014/main" id="{AC737FE3-993A-EC51-26B1-0412A0253945}"/>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6764815C-050D-9E37-680A-5FF0214A3A5C}"/>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414761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76E8-CC63-A55F-E4A6-19E9ED244EDE}"/>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C28291BB-3FB2-DA80-9486-49F4631E8EA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38519AD2-7CB1-1610-4923-350006BCEC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979A4D5-E36A-A5DA-AE71-0AB97A2ABACD}"/>
              </a:ext>
            </a:extLst>
          </p:cNvPr>
          <p:cNvSpPr>
            <a:spLocks noGrp="1"/>
          </p:cNvSpPr>
          <p:nvPr>
            <p:ph type="dt" sz="half" idx="10"/>
          </p:nvPr>
        </p:nvSpPr>
        <p:spPr/>
        <p:txBody>
          <a:bodyPr/>
          <a:lstStyle/>
          <a:p>
            <a:fld id="{9153BB87-250F-4296-AE15-5B5BF274D9BD}" type="datetime1">
              <a:rPr lang="it-IT" smtClean="0"/>
              <a:t>31/08/26</a:t>
            </a:fld>
            <a:endParaRPr lang="en-IT"/>
          </a:p>
        </p:txBody>
      </p:sp>
      <p:sp>
        <p:nvSpPr>
          <p:cNvPr id="6" name="Footer Placeholder 5">
            <a:extLst>
              <a:ext uri="{FF2B5EF4-FFF2-40B4-BE49-F238E27FC236}">
                <a16:creationId xmlns:a16="http://schemas.microsoft.com/office/drawing/2014/main" id="{605E63D1-3289-C285-736C-92705AE50A7C}"/>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7" name="Slide Number Placeholder 6">
            <a:extLst>
              <a:ext uri="{FF2B5EF4-FFF2-40B4-BE49-F238E27FC236}">
                <a16:creationId xmlns:a16="http://schemas.microsoft.com/office/drawing/2014/main" id="{58FC877E-4BD1-24E9-B439-593CF4ABCABA}"/>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388464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B070-3A93-70AD-ACA2-7452FF1C5EBF}"/>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2CD4B395-C3C2-F3B6-5C2A-B16F357B08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5E2B9E7-657A-79CE-EDCE-2E7CBBDAFA7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D608B49F-214A-C454-A14A-E103FBEC3C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EA070D-522D-F9C5-DBA9-EB7A1EBB4E0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1FBB19BB-D323-BE4E-4DE9-D43A81C99997}"/>
              </a:ext>
            </a:extLst>
          </p:cNvPr>
          <p:cNvSpPr>
            <a:spLocks noGrp="1"/>
          </p:cNvSpPr>
          <p:nvPr>
            <p:ph type="dt" sz="half" idx="10"/>
          </p:nvPr>
        </p:nvSpPr>
        <p:spPr/>
        <p:txBody>
          <a:bodyPr/>
          <a:lstStyle/>
          <a:p>
            <a:fld id="{30712225-FC31-4A70-8587-B7FFD9A2514E}" type="datetime1">
              <a:rPr lang="it-IT" smtClean="0"/>
              <a:t>31/08/26</a:t>
            </a:fld>
            <a:endParaRPr lang="en-IT"/>
          </a:p>
        </p:txBody>
      </p:sp>
      <p:sp>
        <p:nvSpPr>
          <p:cNvPr id="8" name="Footer Placeholder 7">
            <a:extLst>
              <a:ext uri="{FF2B5EF4-FFF2-40B4-BE49-F238E27FC236}">
                <a16:creationId xmlns:a16="http://schemas.microsoft.com/office/drawing/2014/main" id="{C1D1E773-80A2-77CC-251A-B7C8F56D103B}"/>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9" name="Slide Number Placeholder 8">
            <a:extLst>
              <a:ext uri="{FF2B5EF4-FFF2-40B4-BE49-F238E27FC236}">
                <a16:creationId xmlns:a16="http://schemas.microsoft.com/office/drawing/2014/main" id="{D669E95C-C07D-4D3C-54F3-971F911FF946}"/>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826608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294DD-94CB-C94E-0305-E27BC1ECAB9E}"/>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27AD1E59-5767-0037-5A69-65F04F096F64}"/>
              </a:ext>
            </a:extLst>
          </p:cNvPr>
          <p:cNvSpPr>
            <a:spLocks noGrp="1"/>
          </p:cNvSpPr>
          <p:nvPr>
            <p:ph type="dt" sz="half" idx="10"/>
          </p:nvPr>
        </p:nvSpPr>
        <p:spPr/>
        <p:txBody>
          <a:bodyPr/>
          <a:lstStyle/>
          <a:p>
            <a:fld id="{CF7D7A35-39AC-4D7E-9776-4E417209A1F9}" type="datetime1">
              <a:rPr lang="it-IT" smtClean="0"/>
              <a:t>31/08/26</a:t>
            </a:fld>
            <a:endParaRPr lang="en-IT"/>
          </a:p>
        </p:txBody>
      </p:sp>
      <p:sp>
        <p:nvSpPr>
          <p:cNvPr id="4" name="Footer Placeholder 3">
            <a:extLst>
              <a:ext uri="{FF2B5EF4-FFF2-40B4-BE49-F238E27FC236}">
                <a16:creationId xmlns:a16="http://schemas.microsoft.com/office/drawing/2014/main" id="{4BFF07F0-B43C-6ECA-A583-93F493E7E48E}"/>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5" name="Slide Number Placeholder 4">
            <a:extLst>
              <a:ext uri="{FF2B5EF4-FFF2-40B4-BE49-F238E27FC236}">
                <a16:creationId xmlns:a16="http://schemas.microsoft.com/office/drawing/2014/main" id="{801651D6-9C1E-7A66-05FB-93FFD6A4FF2A}"/>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444184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283F49-59F0-950B-E81A-1E26E663058B}"/>
              </a:ext>
            </a:extLst>
          </p:cNvPr>
          <p:cNvSpPr>
            <a:spLocks noGrp="1"/>
          </p:cNvSpPr>
          <p:nvPr>
            <p:ph type="dt" sz="half" idx="10"/>
          </p:nvPr>
        </p:nvSpPr>
        <p:spPr/>
        <p:txBody>
          <a:bodyPr/>
          <a:lstStyle/>
          <a:p>
            <a:fld id="{3B3BDFEA-3D6B-48FB-A1B1-89AEBAE79733}" type="datetime1">
              <a:rPr lang="it-IT" smtClean="0"/>
              <a:t>31/08/26</a:t>
            </a:fld>
            <a:endParaRPr lang="en-IT"/>
          </a:p>
        </p:txBody>
      </p:sp>
      <p:sp>
        <p:nvSpPr>
          <p:cNvPr id="3" name="Footer Placeholder 2">
            <a:extLst>
              <a:ext uri="{FF2B5EF4-FFF2-40B4-BE49-F238E27FC236}">
                <a16:creationId xmlns:a16="http://schemas.microsoft.com/office/drawing/2014/main" id="{D367D4F5-534E-D3E5-7AC4-D61D11E71D4E}"/>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4" name="Slide Number Placeholder 3">
            <a:extLst>
              <a:ext uri="{FF2B5EF4-FFF2-40B4-BE49-F238E27FC236}">
                <a16:creationId xmlns:a16="http://schemas.microsoft.com/office/drawing/2014/main" id="{E05ED2FF-E942-D239-E657-F10F2A35ACF3}"/>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135528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3B30-DCDB-2E67-F209-F28B643496E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8BF14294-0841-44F0-FDB3-CC85AEA221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816EA5B1-541A-2BBC-5E8C-7A1BAAF74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3E3E2A-BB75-C3FA-06FC-982CDAD1A5E3}"/>
              </a:ext>
            </a:extLst>
          </p:cNvPr>
          <p:cNvSpPr>
            <a:spLocks noGrp="1"/>
          </p:cNvSpPr>
          <p:nvPr>
            <p:ph type="dt" sz="half" idx="10"/>
          </p:nvPr>
        </p:nvSpPr>
        <p:spPr/>
        <p:txBody>
          <a:bodyPr/>
          <a:lstStyle/>
          <a:p>
            <a:fld id="{84841448-4698-444D-8D92-21CF4D982BDF}" type="datetime1">
              <a:rPr lang="it-IT" smtClean="0"/>
              <a:t>31/08/26</a:t>
            </a:fld>
            <a:endParaRPr lang="en-IT"/>
          </a:p>
        </p:txBody>
      </p:sp>
      <p:sp>
        <p:nvSpPr>
          <p:cNvPr id="6" name="Footer Placeholder 5">
            <a:extLst>
              <a:ext uri="{FF2B5EF4-FFF2-40B4-BE49-F238E27FC236}">
                <a16:creationId xmlns:a16="http://schemas.microsoft.com/office/drawing/2014/main" id="{F3E47A5D-5142-21B5-BC69-41950A193B26}"/>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7" name="Slide Number Placeholder 6">
            <a:extLst>
              <a:ext uri="{FF2B5EF4-FFF2-40B4-BE49-F238E27FC236}">
                <a16:creationId xmlns:a16="http://schemas.microsoft.com/office/drawing/2014/main" id="{9AC6EBE9-6825-4102-0C7F-474A995C1FBC}"/>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182766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88A84-9B4A-16D9-ACC8-E7615732970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91E13C50-9238-C699-C5E7-FA26E12F7F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95F0F348-B8F0-D355-F7BB-BF38A40EB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D715114-A83B-3CC1-DEDD-86B05E022F37}"/>
              </a:ext>
            </a:extLst>
          </p:cNvPr>
          <p:cNvSpPr>
            <a:spLocks noGrp="1"/>
          </p:cNvSpPr>
          <p:nvPr>
            <p:ph type="dt" sz="half" idx="10"/>
          </p:nvPr>
        </p:nvSpPr>
        <p:spPr/>
        <p:txBody>
          <a:bodyPr/>
          <a:lstStyle/>
          <a:p>
            <a:fld id="{12F53F23-E568-4136-A357-EE5C62066345}" type="datetime1">
              <a:rPr lang="it-IT" smtClean="0"/>
              <a:t>31/08/26</a:t>
            </a:fld>
            <a:endParaRPr lang="en-IT"/>
          </a:p>
        </p:txBody>
      </p:sp>
      <p:sp>
        <p:nvSpPr>
          <p:cNvPr id="6" name="Footer Placeholder 5">
            <a:extLst>
              <a:ext uri="{FF2B5EF4-FFF2-40B4-BE49-F238E27FC236}">
                <a16:creationId xmlns:a16="http://schemas.microsoft.com/office/drawing/2014/main" id="{2ECD9681-999A-FDEB-B9A7-95F86C005D0E}"/>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7" name="Slide Number Placeholder 6">
            <a:extLst>
              <a:ext uri="{FF2B5EF4-FFF2-40B4-BE49-F238E27FC236}">
                <a16:creationId xmlns:a16="http://schemas.microsoft.com/office/drawing/2014/main" id="{8BE8A49A-D2F7-1A9E-A1B7-A93C9C29CBE4}"/>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3683894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73F5-0C21-E347-F8A5-1EDEF0A74F87}"/>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BCD6B7F3-9D37-B7BE-44A7-6497C89FEB4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4457FAB3-D9C1-0ACE-AC01-6421218AAD09}"/>
              </a:ext>
            </a:extLst>
          </p:cNvPr>
          <p:cNvSpPr>
            <a:spLocks noGrp="1"/>
          </p:cNvSpPr>
          <p:nvPr>
            <p:ph type="dt" sz="half" idx="10"/>
          </p:nvPr>
        </p:nvSpPr>
        <p:spPr/>
        <p:txBody>
          <a:bodyPr/>
          <a:lstStyle/>
          <a:p>
            <a:fld id="{DCD80C01-3E46-4032-9F25-131289E54D85}" type="datetime1">
              <a:rPr lang="it-IT" smtClean="0"/>
              <a:t>31/08/26</a:t>
            </a:fld>
            <a:endParaRPr lang="en-IT"/>
          </a:p>
        </p:txBody>
      </p:sp>
      <p:sp>
        <p:nvSpPr>
          <p:cNvPr id="5" name="Footer Placeholder 4">
            <a:extLst>
              <a:ext uri="{FF2B5EF4-FFF2-40B4-BE49-F238E27FC236}">
                <a16:creationId xmlns:a16="http://schemas.microsoft.com/office/drawing/2014/main" id="{E595090A-62E4-D9BC-0CE3-6D1EFDE1B734}"/>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40B0AF8F-0CE7-7050-F011-D20F59972CD8}"/>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645135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9F5E4B-31DD-30F3-0BF7-4DB7E342393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6979F73D-5DC9-D686-59E7-896A3F1C1D4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475DE8CA-D0C2-E24B-905C-FC485A6CED25}"/>
              </a:ext>
            </a:extLst>
          </p:cNvPr>
          <p:cNvSpPr>
            <a:spLocks noGrp="1"/>
          </p:cNvSpPr>
          <p:nvPr>
            <p:ph type="dt" sz="half" idx="10"/>
          </p:nvPr>
        </p:nvSpPr>
        <p:spPr/>
        <p:txBody>
          <a:bodyPr/>
          <a:lstStyle/>
          <a:p>
            <a:fld id="{952ED3E7-4CF5-4E39-8281-342CF1275AD2}" type="datetime1">
              <a:rPr lang="it-IT" smtClean="0"/>
              <a:t>31/08/26</a:t>
            </a:fld>
            <a:endParaRPr lang="en-IT"/>
          </a:p>
        </p:txBody>
      </p:sp>
      <p:sp>
        <p:nvSpPr>
          <p:cNvPr id="5" name="Footer Placeholder 4">
            <a:extLst>
              <a:ext uri="{FF2B5EF4-FFF2-40B4-BE49-F238E27FC236}">
                <a16:creationId xmlns:a16="http://schemas.microsoft.com/office/drawing/2014/main" id="{4D68E803-BA97-3C70-2070-218BC9012320}"/>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7C1B3044-F5ED-6580-6BFE-7EF011EB9A5F}"/>
              </a:ext>
            </a:extLst>
          </p:cNvPr>
          <p:cNvSpPr>
            <a:spLocks noGrp="1"/>
          </p:cNvSpPr>
          <p:nvPr>
            <p:ph type="sldNum" sz="quarter" idx="12"/>
          </p:nvPr>
        </p:nvSpPr>
        <p:spPr/>
        <p:txBody>
          <a:bodyPr/>
          <a:lstStyle/>
          <a:p>
            <a:fld id="{19B27476-17BF-C344-813E-3FD0A10925D2}" type="slidenum">
              <a:rPr lang="en-IT" smtClean="0"/>
              <a:t>‹#›</a:t>
            </a:fld>
            <a:endParaRPr lang="en-IT"/>
          </a:p>
        </p:txBody>
      </p:sp>
    </p:spTree>
    <p:extLst>
      <p:ext uri="{BB962C8B-B14F-4D97-AF65-F5344CB8AC3E}">
        <p14:creationId xmlns:p14="http://schemas.microsoft.com/office/powerpoint/2010/main" val="1897794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9B06-D75B-37CF-0101-7E20AD04A83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867213CF-F559-D5A7-4C6D-74AB9C500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024EDEC0-7CA5-526C-FDE5-C5F000375D49}"/>
              </a:ext>
            </a:extLst>
          </p:cNvPr>
          <p:cNvSpPr>
            <a:spLocks noGrp="1"/>
          </p:cNvSpPr>
          <p:nvPr>
            <p:ph type="dt" sz="half" idx="10"/>
          </p:nvPr>
        </p:nvSpPr>
        <p:spPr/>
        <p:txBody>
          <a:bodyPr/>
          <a:lstStyle/>
          <a:p>
            <a:fld id="{8D9B88A3-1E1F-43E8-8590-84033594BBF7}" type="datetime1">
              <a:rPr lang="it-IT" smtClean="0"/>
              <a:t>31/08/26</a:t>
            </a:fld>
            <a:endParaRPr lang="en-IT"/>
          </a:p>
        </p:txBody>
      </p:sp>
      <p:sp>
        <p:nvSpPr>
          <p:cNvPr id="5" name="Footer Placeholder 4">
            <a:extLst>
              <a:ext uri="{FF2B5EF4-FFF2-40B4-BE49-F238E27FC236}">
                <a16:creationId xmlns:a16="http://schemas.microsoft.com/office/drawing/2014/main" id="{41DC4667-A380-89CF-DBF8-CDA663543C03}"/>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32BDF29C-BEF8-CA15-672D-427C14D7348C}"/>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1539394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F07C8-D6E2-5490-6DBA-8F646214FE3F}"/>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B9F9D7CA-67FC-2B1F-2626-8779BDF0EB9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37C53A4-402B-9D8A-6E17-D747D3A0510C}"/>
              </a:ext>
            </a:extLst>
          </p:cNvPr>
          <p:cNvSpPr>
            <a:spLocks noGrp="1"/>
          </p:cNvSpPr>
          <p:nvPr>
            <p:ph type="dt" sz="half" idx="10"/>
          </p:nvPr>
        </p:nvSpPr>
        <p:spPr/>
        <p:txBody>
          <a:bodyPr/>
          <a:lstStyle/>
          <a:p>
            <a:fld id="{9E53DA88-7DF0-4F2B-96A1-F81C037E49F5}" type="datetime1">
              <a:rPr lang="it-IT" smtClean="0"/>
              <a:t>31/08/26</a:t>
            </a:fld>
            <a:endParaRPr lang="en-IT"/>
          </a:p>
        </p:txBody>
      </p:sp>
      <p:sp>
        <p:nvSpPr>
          <p:cNvPr id="5" name="Footer Placeholder 4">
            <a:extLst>
              <a:ext uri="{FF2B5EF4-FFF2-40B4-BE49-F238E27FC236}">
                <a16:creationId xmlns:a16="http://schemas.microsoft.com/office/drawing/2014/main" id="{7BB7E5D8-B041-4B1E-D249-BC0F9AA55743}"/>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4D85C5E5-EDF7-B72B-0690-D79DD8C30AEE}"/>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38422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C98D0-EED2-E46D-5FB3-702BC081FA8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DA8F4792-E6BE-63A8-A5ED-E9B174BD0F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E199476-3831-5FC2-839C-AB4D767EA28D}"/>
              </a:ext>
            </a:extLst>
          </p:cNvPr>
          <p:cNvSpPr>
            <a:spLocks noGrp="1"/>
          </p:cNvSpPr>
          <p:nvPr>
            <p:ph type="dt" sz="half" idx="10"/>
          </p:nvPr>
        </p:nvSpPr>
        <p:spPr/>
        <p:txBody>
          <a:bodyPr/>
          <a:lstStyle/>
          <a:p>
            <a:fld id="{9A2AD31F-75C8-432D-8183-49B9DF1F1C16}" type="datetime1">
              <a:rPr lang="it-IT" smtClean="0"/>
              <a:t>31/08/26</a:t>
            </a:fld>
            <a:endParaRPr lang="en-IT"/>
          </a:p>
        </p:txBody>
      </p:sp>
      <p:sp>
        <p:nvSpPr>
          <p:cNvPr id="5" name="Footer Placeholder 4">
            <a:extLst>
              <a:ext uri="{FF2B5EF4-FFF2-40B4-BE49-F238E27FC236}">
                <a16:creationId xmlns:a16="http://schemas.microsoft.com/office/drawing/2014/main" id="{1B53708B-CDF9-868B-D7D5-FB23B9ADB4C7}"/>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C451A438-C61E-47A2-53B6-B0E8AC12A2A6}"/>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25546799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E1EC7-5865-2EEB-FC4F-F831C8F49273}"/>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C3F19918-4D5F-142D-F172-8145FFED3B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A4515458-99AB-DC3A-B358-81F911F1C29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D46B8B27-9C27-3440-0F5B-4626FEDB3F91}"/>
              </a:ext>
            </a:extLst>
          </p:cNvPr>
          <p:cNvSpPr>
            <a:spLocks noGrp="1"/>
          </p:cNvSpPr>
          <p:nvPr>
            <p:ph type="dt" sz="half" idx="10"/>
          </p:nvPr>
        </p:nvSpPr>
        <p:spPr/>
        <p:txBody>
          <a:bodyPr/>
          <a:lstStyle/>
          <a:p>
            <a:fld id="{30C2ACE4-0CCA-4F46-AC6E-0C0960F28FC9}" type="datetime1">
              <a:rPr lang="it-IT" smtClean="0"/>
              <a:t>31/08/26</a:t>
            </a:fld>
            <a:endParaRPr lang="en-IT"/>
          </a:p>
        </p:txBody>
      </p:sp>
      <p:sp>
        <p:nvSpPr>
          <p:cNvPr id="6" name="Footer Placeholder 5">
            <a:extLst>
              <a:ext uri="{FF2B5EF4-FFF2-40B4-BE49-F238E27FC236}">
                <a16:creationId xmlns:a16="http://schemas.microsoft.com/office/drawing/2014/main" id="{F0A5785B-E11E-3009-A332-9FBA85CFDA00}"/>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7" name="Slide Number Placeholder 6">
            <a:extLst>
              <a:ext uri="{FF2B5EF4-FFF2-40B4-BE49-F238E27FC236}">
                <a16:creationId xmlns:a16="http://schemas.microsoft.com/office/drawing/2014/main" id="{34CDC007-17FC-C337-D1FF-B238FE9DFF63}"/>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2027817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5682-9047-92F1-EA6D-EA42EC07FCF7}"/>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70A09F94-1D3E-093F-B666-227BE32CB2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8F146A-95B1-D4FA-E393-42792D7A657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E96000B3-D274-8308-7465-9AC090AA09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38BF522-3428-8E2D-8C72-54430991799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49C98F29-DFD1-4F8B-9585-6A24060F216D}"/>
              </a:ext>
            </a:extLst>
          </p:cNvPr>
          <p:cNvSpPr>
            <a:spLocks noGrp="1"/>
          </p:cNvSpPr>
          <p:nvPr>
            <p:ph type="dt" sz="half" idx="10"/>
          </p:nvPr>
        </p:nvSpPr>
        <p:spPr/>
        <p:txBody>
          <a:bodyPr/>
          <a:lstStyle/>
          <a:p>
            <a:fld id="{4EF191DE-BACA-41F5-9606-31DFE6F6493B}" type="datetime1">
              <a:rPr lang="it-IT" smtClean="0"/>
              <a:t>31/08/26</a:t>
            </a:fld>
            <a:endParaRPr lang="en-IT"/>
          </a:p>
        </p:txBody>
      </p:sp>
      <p:sp>
        <p:nvSpPr>
          <p:cNvPr id="8" name="Footer Placeholder 7">
            <a:extLst>
              <a:ext uri="{FF2B5EF4-FFF2-40B4-BE49-F238E27FC236}">
                <a16:creationId xmlns:a16="http://schemas.microsoft.com/office/drawing/2014/main" id="{DB1B3BD9-DAC3-5573-E534-8D96F546D3B6}"/>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9" name="Slide Number Placeholder 8">
            <a:extLst>
              <a:ext uri="{FF2B5EF4-FFF2-40B4-BE49-F238E27FC236}">
                <a16:creationId xmlns:a16="http://schemas.microsoft.com/office/drawing/2014/main" id="{23C4581D-4F89-57C8-B22E-37702911AD16}"/>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11351423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88F87-33C6-D892-7E0B-5A04F6E210F7}"/>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45DBD15D-8493-58EA-F5A0-CFC59B6602A5}"/>
              </a:ext>
            </a:extLst>
          </p:cNvPr>
          <p:cNvSpPr>
            <a:spLocks noGrp="1"/>
          </p:cNvSpPr>
          <p:nvPr>
            <p:ph type="dt" sz="half" idx="10"/>
          </p:nvPr>
        </p:nvSpPr>
        <p:spPr/>
        <p:txBody>
          <a:bodyPr/>
          <a:lstStyle/>
          <a:p>
            <a:fld id="{FA26A227-7F6C-4E8B-BCC2-65D1DB597A8A}" type="datetime1">
              <a:rPr lang="it-IT" smtClean="0"/>
              <a:t>31/08/26</a:t>
            </a:fld>
            <a:endParaRPr lang="en-IT"/>
          </a:p>
        </p:txBody>
      </p:sp>
      <p:sp>
        <p:nvSpPr>
          <p:cNvPr id="4" name="Footer Placeholder 3">
            <a:extLst>
              <a:ext uri="{FF2B5EF4-FFF2-40B4-BE49-F238E27FC236}">
                <a16:creationId xmlns:a16="http://schemas.microsoft.com/office/drawing/2014/main" id="{B23D4D4A-9664-C230-828E-BE11A9527030}"/>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5" name="Slide Number Placeholder 4">
            <a:extLst>
              <a:ext uri="{FF2B5EF4-FFF2-40B4-BE49-F238E27FC236}">
                <a16:creationId xmlns:a16="http://schemas.microsoft.com/office/drawing/2014/main" id="{0835BCDC-4B56-475B-3BD6-46D6F0E67B3C}"/>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4183375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6B1ECF-78FE-916F-4473-2D007472AD51}"/>
              </a:ext>
            </a:extLst>
          </p:cNvPr>
          <p:cNvSpPr>
            <a:spLocks noGrp="1"/>
          </p:cNvSpPr>
          <p:nvPr>
            <p:ph type="dt" sz="half" idx="10"/>
          </p:nvPr>
        </p:nvSpPr>
        <p:spPr/>
        <p:txBody>
          <a:bodyPr/>
          <a:lstStyle/>
          <a:p>
            <a:fld id="{B4433097-9AD3-4B7A-A840-84DFD828A1F6}" type="datetime1">
              <a:rPr lang="it-IT" smtClean="0"/>
              <a:t>31/08/26</a:t>
            </a:fld>
            <a:endParaRPr lang="en-IT"/>
          </a:p>
        </p:txBody>
      </p:sp>
      <p:sp>
        <p:nvSpPr>
          <p:cNvPr id="3" name="Footer Placeholder 2">
            <a:extLst>
              <a:ext uri="{FF2B5EF4-FFF2-40B4-BE49-F238E27FC236}">
                <a16:creationId xmlns:a16="http://schemas.microsoft.com/office/drawing/2014/main" id="{A94B88B6-3B7A-5448-0A48-41BFDE77A534}"/>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4" name="Slide Number Placeholder 3">
            <a:extLst>
              <a:ext uri="{FF2B5EF4-FFF2-40B4-BE49-F238E27FC236}">
                <a16:creationId xmlns:a16="http://schemas.microsoft.com/office/drawing/2014/main" id="{0DECDE13-08FF-F456-F6A9-9201DCAC25FE}"/>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28867280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69BB7-8D19-FFDF-E640-6FB9BB1CDD5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A5A88961-561C-AD15-8F3D-C72239F4EA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90C8C4CD-148C-3167-5A53-179A27CCA8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6A6927-4BFA-18E1-4F9A-FCF0D2DC6FEF}"/>
              </a:ext>
            </a:extLst>
          </p:cNvPr>
          <p:cNvSpPr>
            <a:spLocks noGrp="1"/>
          </p:cNvSpPr>
          <p:nvPr>
            <p:ph type="dt" sz="half" idx="10"/>
          </p:nvPr>
        </p:nvSpPr>
        <p:spPr/>
        <p:txBody>
          <a:bodyPr/>
          <a:lstStyle/>
          <a:p>
            <a:fld id="{9C1B6450-B851-4B30-971E-E58CC0321D81}" type="datetime1">
              <a:rPr lang="it-IT" smtClean="0"/>
              <a:t>31/08/26</a:t>
            </a:fld>
            <a:endParaRPr lang="en-IT"/>
          </a:p>
        </p:txBody>
      </p:sp>
      <p:sp>
        <p:nvSpPr>
          <p:cNvPr id="6" name="Footer Placeholder 5">
            <a:extLst>
              <a:ext uri="{FF2B5EF4-FFF2-40B4-BE49-F238E27FC236}">
                <a16:creationId xmlns:a16="http://schemas.microsoft.com/office/drawing/2014/main" id="{5387F3E5-433C-E1CA-59C6-773628CC3469}"/>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7" name="Slide Number Placeholder 6">
            <a:extLst>
              <a:ext uri="{FF2B5EF4-FFF2-40B4-BE49-F238E27FC236}">
                <a16:creationId xmlns:a16="http://schemas.microsoft.com/office/drawing/2014/main" id="{4AB0BF77-6C1D-6DEF-9CC5-89143E8F7249}"/>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3371375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9583E-B94B-4DB6-5DE8-2B967A8287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1FD2FBEC-DE28-3910-0331-EE911130B0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DD9CD389-D0A5-B303-DFE5-8CC33B37FA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9BBB79-6D43-9C2D-D21F-E52FB1AB76A6}"/>
              </a:ext>
            </a:extLst>
          </p:cNvPr>
          <p:cNvSpPr>
            <a:spLocks noGrp="1"/>
          </p:cNvSpPr>
          <p:nvPr>
            <p:ph type="dt" sz="half" idx="10"/>
          </p:nvPr>
        </p:nvSpPr>
        <p:spPr/>
        <p:txBody>
          <a:bodyPr/>
          <a:lstStyle/>
          <a:p>
            <a:fld id="{66E55352-BC9F-48E1-ADC3-3FE63A0EEE88}" type="datetime1">
              <a:rPr lang="it-IT" smtClean="0"/>
              <a:t>31/08/26</a:t>
            </a:fld>
            <a:endParaRPr lang="en-IT"/>
          </a:p>
        </p:txBody>
      </p:sp>
      <p:sp>
        <p:nvSpPr>
          <p:cNvPr id="6" name="Footer Placeholder 5">
            <a:extLst>
              <a:ext uri="{FF2B5EF4-FFF2-40B4-BE49-F238E27FC236}">
                <a16:creationId xmlns:a16="http://schemas.microsoft.com/office/drawing/2014/main" id="{E98E52ED-37B4-E6E8-DA0E-9FDBD8EAC6BB}"/>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7" name="Slide Number Placeholder 6">
            <a:extLst>
              <a:ext uri="{FF2B5EF4-FFF2-40B4-BE49-F238E27FC236}">
                <a16:creationId xmlns:a16="http://schemas.microsoft.com/office/drawing/2014/main" id="{681AC037-A622-BDB5-7CA6-0892F91BD1FB}"/>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2966503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B054E-0D62-0592-78D0-4772E920478F}"/>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B848FDAC-20F5-17D2-751F-4F8A8FBC25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65FF693-16FB-F5D5-BFC2-5D5CE7AD5179}"/>
              </a:ext>
            </a:extLst>
          </p:cNvPr>
          <p:cNvSpPr>
            <a:spLocks noGrp="1"/>
          </p:cNvSpPr>
          <p:nvPr>
            <p:ph type="dt" sz="half" idx="10"/>
          </p:nvPr>
        </p:nvSpPr>
        <p:spPr/>
        <p:txBody>
          <a:bodyPr/>
          <a:lstStyle/>
          <a:p>
            <a:fld id="{8FC2B37B-CCC4-49F8-8130-35899A4637AB}" type="datetime1">
              <a:rPr lang="it-IT" smtClean="0"/>
              <a:t>31/08/26</a:t>
            </a:fld>
            <a:endParaRPr lang="en-IT"/>
          </a:p>
        </p:txBody>
      </p:sp>
      <p:sp>
        <p:nvSpPr>
          <p:cNvPr id="5" name="Footer Placeholder 4">
            <a:extLst>
              <a:ext uri="{FF2B5EF4-FFF2-40B4-BE49-F238E27FC236}">
                <a16:creationId xmlns:a16="http://schemas.microsoft.com/office/drawing/2014/main" id="{8FF62B72-132C-C2A4-4C23-F1B61642EF9C}"/>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98F37C56-BD1A-CE46-FC42-1506295A55CC}"/>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3384180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1E7F96-EC48-DAEB-9B6B-88F2DB98BDD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1DFE8EBA-1B71-34C7-5204-BCA38CA40A5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4871F8F-FA43-32A4-1F23-CCBCEDF79CA0}"/>
              </a:ext>
            </a:extLst>
          </p:cNvPr>
          <p:cNvSpPr>
            <a:spLocks noGrp="1"/>
          </p:cNvSpPr>
          <p:nvPr>
            <p:ph type="dt" sz="half" idx="10"/>
          </p:nvPr>
        </p:nvSpPr>
        <p:spPr/>
        <p:txBody>
          <a:bodyPr/>
          <a:lstStyle/>
          <a:p>
            <a:fld id="{5AE76340-C953-4A91-B176-84F6E4685CF0}" type="datetime1">
              <a:rPr lang="it-IT" smtClean="0"/>
              <a:t>31/08/26</a:t>
            </a:fld>
            <a:endParaRPr lang="en-IT"/>
          </a:p>
        </p:txBody>
      </p:sp>
      <p:sp>
        <p:nvSpPr>
          <p:cNvPr id="5" name="Footer Placeholder 4">
            <a:extLst>
              <a:ext uri="{FF2B5EF4-FFF2-40B4-BE49-F238E27FC236}">
                <a16:creationId xmlns:a16="http://schemas.microsoft.com/office/drawing/2014/main" id="{9F291757-CA7C-78DF-2416-9D788890576F}"/>
              </a:ext>
            </a:extLst>
          </p:cNvPr>
          <p:cNvSpPr>
            <a:spLocks noGrp="1"/>
          </p:cNvSpPr>
          <p:nvPr>
            <p:ph type="ftr" sz="quarter" idx="11"/>
          </p:nvPr>
        </p:nvSpPr>
        <p:spPr/>
        <p:txBody>
          <a:body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940DF12B-33A2-DB2B-8043-6B405BCBED6F}"/>
              </a:ext>
            </a:extLst>
          </p:cNvPr>
          <p:cNvSpPr>
            <a:spLocks noGrp="1"/>
          </p:cNvSpPr>
          <p:nvPr>
            <p:ph type="sldNum" sz="quarter" idx="12"/>
          </p:nvPr>
        </p:nvSpPr>
        <p:spPr/>
        <p:txBody>
          <a:bodyPr/>
          <a:lstStyle/>
          <a:p>
            <a:fld id="{F72FE74D-A242-2A42-8CB3-538A816AF917}" type="slidenum">
              <a:rPr lang="en-IT" smtClean="0"/>
              <a:t>‹#›</a:t>
            </a:fld>
            <a:endParaRPr lang="en-IT"/>
          </a:p>
        </p:txBody>
      </p:sp>
    </p:spTree>
    <p:extLst>
      <p:ext uri="{BB962C8B-B14F-4D97-AF65-F5344CB8AC3E}">
        <p14:creationId xmlns:p14="http://schemas.microsoft.com/office/powerpoint/2010/main" val="6763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8255"/>
            <a:ext cx="10515600" cy="1325563"/>
          </a:xfrm>
          <a:prstGeom prst="rect">
            <a:avLst/>
          </a:prstGeom>
        </p:spPr>
        <p:txBody>
          <a:bodyPr vert="horz" lIns="91440" tIns="45720" rIns="91440" bIns="45720" rtlCol="0" anchor="ctr">
            <a:noAutofit/>
          </a:bodyPr>
          <a:lstStyle/>
          <a:p>
            <a:r>
              <a:rPr lang="en-US" dirty="0"/>
              <a:t>Click to edit title</a:t>
            </a:r>
          </a:p>
        </p:txBody>
      </p:sp>
      <p:sp>
        <p:nvSpPr>
          <p:cNvPr id="3" name="Text Placeholder 2"/>
          <p:cNvSpPr>
            <a:spLocks noGrp="1"/>
          </p:cNvSpPr>
          <p:nvPr>
            <p:ph type="body" idx="1"/>
          </p:nvPr>
        </p:nvSpPr>
        <p:spPr>
          <a:xfrm>
            <a:off x="838200" y="1351793"/>
            <a:ext cx="10515600" cy="4915191"/>
          </a:xfrm>
          <a:prstGeom prst="rect">
            <a:avLst/>
          </a:prstGeom>
        </p:spPr>
        <p:txBody>
          <a:bodyPr vert="horz" lIns="91440" tIns="45720" rIns="91440" bIns="45720" rtlCol="0">
            <a:no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543C59-DCF9-411A-B9B2-13A25F7B9A51}" type="datetime1">
              <a:rPr lang="it-IT" smtClean="0"/>
              <a:t>31/08/26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Q. Zhang, Link Configuration for Fidelity-Constrained Entanglement Routing</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6DA4BB"/>
                </a:solidFill>
              </a:defRPr>
            </a:lvl1pPr>
          </a:lstStyle>
          <a:p>
            <a:fld id="{5AFE0081-1ED4-41E0-88AB-D26DBE160EA6}" type="slidenum">
              <a:rPr lang="en-US" smtClean="0"/>
              <a:pPr/>
              <a:t>‹#›</a:t>
            </a:fld>
            <a:endParaRPr lang="en-US" dirty="0"/>
          </a:p>
        </p:txBody>
      </p:sp>
      <p:cxnSp>
        <p:nvCxnSpPr>
          <p:cNvPr id="8" name="Straight Connector 7">
            <a:extLst>
              <a:ext uri="{FF2B5EF4-FFF2-40B4-BE49-F238E27FC236}">
                <a16:creationId xmlns:a16="http://schemas.microsoft.com/office/drawing/2014/main" id="{4402B122-BE13-02CF-0AE6-3DED054CF94D}"/>
              </a:ext>
            </a:extLst>
          </p:cNvPr>
          <p:cNvCxnSpPr/>
          <p:nvPr userDrawn="1"/>
        </p:nvCxnSpPr>
        <p:spPr>
          <a:xfrm>
            <a:off x="838200" y="1351793"/>
            <a:ext cx="10515600"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B25CD1F-2EEC-A5C5-B207-6AE1A75702D5}"/>
              </a:ext>
            </a:extLst>
          </p:cNvPr>
          <p:cNvPicPr>
            <a:picLocks noChangeAspect="1"/>
          </p:cNvPicPr>
          <p:nvPr userDrawn="1"/>
        </p:nvPicPr>
        <p:blipFill rotWithShape="1">
          <a:blip r:embed="rId12" cstate="print">
            <a:extLst>
              <a:ext uri="{28A0092B-C50C-407E-A947-70E740481C1C}">
                <a14:useLocalDpi xmlns:a14="http://schemas.microsoft.com/office/drawing/2010/main" val="0"/>
              </a:ext>
            </a:extLst>
          </a:blip>
          <a:srcRect l="10734" r="11300"/>
          <a:stretch/>
        </p:blipFill>
        <p:spPr>
          <a:xfrm>
            <a:off x="10634134" y="18255"/>
            <a:ext cx="1557866" cy="1110074"/>
          </a:xfrm>
          <a:prstGeom prst="rect">
            <a:avLst/>
          </a:prstGeom>
        </p:spPr>
      </p:pic>
    </p:spTree>
    <p:extLst>
      <p:ext uri="{BB962C8B-B14F-4D97-AF65-F5344CB8AC3E}">
        <p14:creationId xmlns:p14="http://schemas.microsoft.com/office/powerpoint/2010/main" val="1301832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14C241-5CE8-27FB-7573-267D78E1F6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413FAA68-D942-4A75-2B1A-7BCED88A0B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44836293-E7ED-3513-F78C-440468FCBF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9EC755-C797-4BF0-9AC8-E3A8FE5B0F89}" type="datetime1">
              <a:rPr lang="it-IT" smtClean="0"/>
              <a:t>31/08/26</a:t>
            </a:fld>
            <a:endParaRPr lang="en-IT"/>
          </a:p>
        </p:txBody>
      </p:sp>
      <p:sp>
        <p:nvSpPr>
          <p:cNvPr id="5" name="Footer Placeholder 4">
            <a:extLst>
              <a:ext uri="{FF2B5EF4-FFF2-40B4-BE49-F238E27FC236}">
                <a16:creationId xmlns:a16="http://schemas.microsoft.com/office/drawing/2014/main" id="{5FB1BCB5-4A15-1807-C2F4-4199ABB9E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D383B95F-DF87-0022-BCE5-A1017AA6F0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27476-17BF-C344-813E-3FD0A10925D2}" type="slidenum">
              <a:rPr lang="en-IT" smtClean="0"/>
              <a:t>‹#›</a:t>
            </a:fld>
            <a:endParaRPr lang="en-IT"/>
          </a:p>
        </p:txBody>
      </p:sp>
    </p:spTree>
    <p:extLst>
      <p:ext uri="{BB962C8B-B14F-4D97-AF65-F5344CB8AC3E}">
        <p14:creationId xmlns:p14="http://schemas.microsoft.com/office/powerpoint/2010/main" val="345406526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0819A1-8F81-C4F4-B2B9-CB5F1C44E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DAEA8954-3652-E8E6-9D3D-8FE75FF1D0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B6F1B5A1-E80A-AB6F-B7FF-B0D3A56932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F5E8D-D97E-4FA2-B413-FD03D5B782A4}" type="datetime1">
              <a:rPr lang="it-IT" smtClean="0"/>
              <a:t>31/08/26</a:t>
            </a:fld>
            <a:endParaRPr lang="en-IT"/>
          </a:p>
        </p:txBody>
      </p:sp>
      <p:sp>
        <p:nvSpPr>
          <p:cNvPr id="5" name="Footer Placeholder 4">
            <a:extLst>
              <a:ext uri="{FF2B5EF4-FFF2-40B4-BE49-F238E27FC236}">
                <a16:creationId xmlns:a16="http://schemas.microsoft.com/office/drawing/2014/main" id="{D9633101-C2EA-141B-EDC3-1741ED9CFA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Q. Zhang, Link Configuration for Fidelity-Constrained Entanglement Routing</a:t>
            </a:r>
            <a:endParaRPr lang="en-IT"/>
          </a:p>
        </p:txBody>
      </p:sp>
      <p:sp>
        <p:nvSpPr>
          <p:cNvPr id="6" name="Slide Number Placeholder 5">
            <a:extLst>
              <a:ext uri="{FF2B5EF4-FFF2-40B4-BE49-F238E27FC236}">
                <a16:creationId xmlns:a16="http://schemas.microsoft.com/office/drawing/2014/main" id="{E026F638-1B1A-A302-E9C0-A0D8DCF044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FE74D-A242-2A42-8CB3-538A816AF917}" type="slidenum">
              <a:rPr lang="en-IT" smtClean="0"/>
              <a:t>‹#›</a:t>
            </a:fld>
            <a:endParaRPr lang="en-IT"/>
          </a:p>
        </p:txBody>
      </p:sp>
    </p:spTree>
    <p:extLst>
      <p:ext uri="{BB962C8B-B14F-4D97-AF65-F5344CB8AC3E}">
        <p14:creationId xmlns:p14="http://schemas.microsoft.com/office/powerpoint/2010/main" val="405797125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A42_FB33A486.xm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7F3E8C42_AEFF9F2C.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3E8C3E_CC7300EE.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18/10/relationships/comments" Target="../comments/modernComment_7F3E8C58_1C1FCF83.xml"/><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1.png"/><Relationship Id="rId2" Type="http://schemas.microsoft.com/office/2018/10/relationships/comments" Target="../comments/modernComment_7F3E8C5B_F0F873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7F3E8C53_766885CB.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7F3E8C5F_1B087C5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7F3E8C70_EAC20A28.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7F3E8C6F_92E66BC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7F3E8C6A_7F42DD3E.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8/10/relationships/comments" Target="../comments/modernComment_7F3E8C6D_7032369E.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microsoft.com/office/2018/10/relationships/comments" Target="../comments/modernComment_7F3E8C56_41ABEDBF.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2672080"/>
            <a:ext cx="12191999" cy="1174984"/>
          </a:xfrm>
        </p:spPr>
        <p:txBody>
          <a:bodyPr anchor="t">
            <a:normAutofit/>
          </a:bodyPr>
          <a:lstStyle/>
          <a:p>
            <a:pPr algn="ctr">
              <a:spcBef>
                <a:spcPts val="0"/>
              </a:spcBef>
            </a:pPr>
            <a:r>
              <a:rPr lang="en-US" sz="3900" dirty="0"/>
              <a:t>Link Configuration for Fidelity-Constrained </a:t>
            </a:r>
            <a:br>
              <a:rPr lang="en-US" sz="3900" dirty="0"/>
            </a:br>
            <a:r>
              <a:rPr lang="en-US" sz="3900" dirty="0"/>
              <a:t>Entanglement Routing in Quantum Networks</a:t>
            </a:r>
            <a:endParaRPr lang="en-US" sz="3200" dirty="0"/>
          </a:p>
        </p:txBody>
      </p:sp>
      <p:sp>
        <p:nvSpPr>
          <p:cNvPr id="3" name="Subtitle 2"/>
          <p:cNvSpPr>
            <a:spLocks noGrp="1"/>
          </p:cNvSpPr>
          <p:nvPr>
            <p:ph type="subTitle" idx="1"/>
          </p:nvPr>
        </p:nvSpPr>
        <p:spPr>
          <a:xfrm>
            <a:off x="0" y="4162720"/>
            <a:ext cx="12192000" cy="2285563"/>
          </a:xfrm>
        </p:spPr>
        <p:txBody>
          <a:bodyPr>
            <a:noAutofit/>
          </a:bodyPr>
          <a:lstStyle/>
          <a:p>
            <a:r>
              <a:rPr lang="en-US" sz="2500" dirty="0">
                <a:solidFill>
                  <a:schemeClr val="tx1">
                    <a:lumMod val="65000"/>
                    <a:lumOff val="35000"/>
                  </a:schemeClr>
                </a:solidFill>
                <a:latin typeface="+mj-lt"/>
              </a:rPr>
              <a:t>Qiaolun Zhang</a:t>
            </a:r>
            <a:r>
              <a:rPr lang="en-US" sz="2500" baseline="30000" dirty="0">
                <a:solidFill>
                  <a:schemeClr val="tx1">
                    <a:lumMod val="65000"/>
                    <a:lumOff val="35000"/>
                  </a:schemeClr>
                </a:solidFill>
                <a:latin typeface="+mj-lt"/>
              </a:rPr>
              <a:t>1</a:t>
            </a:r>
            <a:r>
              <a:rPr lang="en-US" sz="2500" dirty="0">
                <a:solidFill>
                  <a:schemeClr val="tx1">
                    <a:lumMod val="65000"/>
                    <a:lumOff val="35000"/>
                  </a:schemeClr>
                </a:solidFill>
                <a:latin typeface="+mj-lt"/>
              </a:rPr>
              <a:t>, Nicola Di Cicco</a:t>
            </a:r>
            <a:r>
              <a:rPr lang="en-US" sz="2500" baseline="30000" dirty="0">
                <a:solidFill>
                  <a:schemeClr val="tx1">
                    <a:lumMod val="65000"/>
                    <a:lumOff val="35000"/>
                  </a:schemeClr>
                </a:solidFill>
                <a:latin typeface="+mj-lt"/>
              </a:rPr>
              <a:t>1</a:t>
            </a:r>
            <a:r>
              <a:rPr lang="en-US" sz="2500" dirty="0">
                <a:solidFill>
                  <a:schemeClr val="tx1">
                    <a:lumMod val="65000"/>
                    <a:lumOff val="35000"/>
                  </a:schemeClr>
                </a:solidFill>
                <a:latin typeface="+mj-lt"/>
              </a:rPr>
              <a:t>, </a:t>
            </a:r>
            <a:r>
              <a:rPr lang="en-US" sz="2500" dirty="0" err="1">
                <a:solidFill>
                  <a:schemeClr val="tx1">
                    <a:lumMod val="65000"/>
                    <a:lumOff val="35000"/>
                  </a:schemeClr>
                </a:solidFill>
                <a:latin typeface="+mj-lt"/>
              </a:rPr>
              <a:t>Memedhe</a:t>
            </a:r>
            <a:r>
              <a:rPr lang="en-US" sz="2500" dirty="0">
                <a:solidFill>
                  <a:schemeClr val="tx1">
                    <a:lumMod val="65000"/>
                    <a:lumOff val="35000"/>
                  </a:schemeClr>
                </a:solidFill>
                <a:latin typeface="+mj-lt"/>
              </a:rPr>
              <a:t> Ibrahimi</a:t>
            </a:r>
            <a:r>
              <a:rPr lang="en-US" sz="2500" baseline="30000" dirty="0">
                <a:solidFill>
                  <a:schemeClr val="tx1">
                    <a:lumMod val="65000"/>
                    <a:lumOff val="35000"/>
                  </a:schemeClr>
                </a:solidFill>
                <a:latin typeface="+mj-lt"/>
              </a:rPr>
              <a:t>1</a:t>
            </a:r>
            <a:r>
              <a:rPr lang="en-US" sz="2500" dirty="0">
                <a:solidFill>
                  <a:schemeClr val="tx1">
                    <a:lumMod val="65000"/>
                    <a:lumOff val="35000"/>
                  </a:schemeClr>
                </a:solidFill>
                <a:latin typeface="+mj-lt"/>
              </a:rPr>
              <a:t>, Raul Almeida Júnior</a:t>
            </a:r>
            <a:r>
              <a:rPr lang="en-US" sz="2500" baseline="30000" dirty="0">
                <a:solidFill>
                  <a:schemeClr val="tx1">
                    <a:lumMod val="65000"/>
                    <a:lumOff val="35000"/>
                  </a:schemeClr>
                </a:solidFill>
                <a:latin typeface="+mj-lt"/>
              </a:rPr>
              <a:t>2</a:t>
            </a:r>
            <a:r>
              <a:rPr lang="en-US" sz="2500" dirty="0">
                <a:solidFill>
                  <a:schemeClr val="tx1">
                    <a:lumMod val="65000"/>
                    <a:lumOff val="35000"/>
                  </a:schemeClr>
                </a:solidFill>
                <a:latin typeface="+mj-lt"/>
              </a:rPr>
              <a:t>, </a:t>
            </a:r>
          </a:p>
          <a:p>
            <a:r>
              <a:rPr lang="en-US" sz="2500" dirty="0">
                <a:solidFill>
                  <a:schemeClr val="tx1">
                    <a:lumMod val="65000"/>
                    <a:lumOff val="35000"/>
                  </a:schemeClr>
                </a:solidFill>
                <a:latin typeface="+mj-lt"/>
              </a:rPr>
              <a:t>Alberto Gatto</a:t>
            </a:r>
            <a:r>
              <a:rPr lang="en-US" sz="2500" baseline="30000" dirty="0">
                <a:solidFill>
                  <a:schemeClr val="tx1">
                    <a:lumMod val="65000"/>
                    <a:lumOff val="35000"/>
                  </a:schemeClr>
                </a:solidFill>
                <a:latin typeface="+mj-lt"/>
              </a:rPr>
              <a:t>1</a:t>
            </a:r>
            <a:r>
              <a:rPr lang="en-US" sz="2500" dirty="0">
                <a:solidFill>
                  <a:schemeClr val="tx1">
                    <a:lumMod val="65000"/>
                    <a:lumOff val="35000"/>
                  </a:schemeClr>
                </a:solidFill>
                <a:latin typeface="+mj-lt"/>
              </a:rPr>
              <a:t>, Raouf Boutaba</a:t>
            </a:r>
            <a:r>
              <a:rPr lang="en-US" sz="2500" baseline="30000" dirty="0">
                <a:solidFill>
                  <a:schemeClr val="tx1">
                    <a:lumMod val="65000"/>
                    <a:lumOff val="35000"/>
                  </a:schemeClr>
                </a:solidFill>
                <a:latin typeface="+mj-lt"/>
              </a:rPr>
              <a:t>3</a:t>
            </a:r>
            <a:r>
              <a:rPr lang="en-US" sz="2500" dirty="0">
                <a:solidFill>
                  <a:schemeClr val="tx1">
                    <a:lumMod val="65000"/>
                    <a:lumOff val="35000"/>
                  </a:schemeClr>
                </a:solidFill>
                <a:latin typeface="+mj-lt"/>
              </a:rPr>
              <a:t>, Massimo Tornatore</a:t>
            </a:r>
            <a:r>
              <a:rPr lang="en-US" sz="2500" baseline="30000" dirty="0">
                <a:solidFill>
                  <a:schemeClr val="tx1">
                    <a:lumMod val="65000"/>
                    <a:lumOff val="35000"/>
                  </a:schemeClr>
                </a:solidFill>
                <a:latin typeface="+mj-lt"/>
              </a:rPr>
              <a:t>1</a:t>
            </a:r>
          </a:p>
          <a:p>
            <a:r>
              <a:rPr lang="en-US" sz="2000" baseline="30000" dirty="0">
                <a:solidFill>
                  <a:schemeClr val="tx1">
                    <a:lumMod val="65000"/>
                    <a:lumOff val="35000"/>
                  </a:schemeClr>
                </a:solidFill>
                <a:latin typeface="+mj-lt"/>
              </a:rPr>
              <a:t>1</a:t>
            </a:r>
            <a:r>
              <a:rPr lang="en-US" sz="2000" dirty="0">
                <a:solidFill>
                  <a:schemeClr val="tx1">
                    <a:lumMod val="65000"/>
                    <a:lumOff val="35000"/>
                  </a:schemeClr>
                </a:solidFill>
                <a:latin typeface="+mj-lt"/>
              </a:rPr>
              <a:t>Politecnico di Milano, </a:t>
            </a:r>
            <a:r>
              <a:rPr lang="en-US" sz="2000" baseline="30000" dirty="0">
                <a:solidFill>
                  <a:schemeClr val="tx1">
                    <a:lumMod val="65000"/>
                    <a:lumOff val="35000"/>
                  </a:schemeClr>
                </a:solidFill>
                <a:latin typeface="+mj-lt"/>
              </a:rPr>
              <a:t>2</a:t>
            </a:r>
            <a:r>
              <a:rPr lang="en-US" sz="2000" dirty="0">
                <a:solidFill>
                  <a:schemeClr val="tx1">
                    <a:lumMod val="65000"/>
                    <a:lumOff val="35000"/>
                  </a:schemeClr>
                </a:solidFill>
                <a:latin typeface="+mj-lt"/>
              </a:rPr>
              <a:t>Federal University of Pernambuco, </a:t>
            </a:r>
            <a:r>
              <a:rPr lang="en-US" sz="2000" baseline="30000" dirty="0">
                <a:solidFill>
                  <a:schemeClr val="tx1">
                    <a:lumMod val="65000"/>
                    <a:lumOff val="35000"/>
                  </a:schemeClr>
                </a:solidFill>
                <a:latin typeface="+mj-lt"/>
              </a:rPr>
              <a:t>3</a:t>
            </a:r>
            <a:r>
              <a:rPr lang="en-US" sz="2000" dirty="0">
                <a:solidFill>
                  <a:schemeClr val="tx1">
                    <a:lumMod val="65000"/>
                    <a:lumOff val="35000"/>
                  </a:schemeClr>
                </a:solidFill>
                <a:latin typeface="+mj-lt"/>
              </a:rPr>
              <a:t>University of Waterloo</a:t>
            </a:r>
          </a:p>
          <a:p>
            <a:r>
              <a:rPr lang="en-US" sz="1000" dirty="0">
                <a:solidFill>
                  <a:schemeClr val="tx1">
                    <a:lumMod val="65000"/>
                    <a:lumOff val="35000"/>
                  </a:schemeClr>
                </a:solidFill>
                <a:latin typeface="+mj-lt"/>
              </a:rPr>
              <a:t> </a:t>
            </a:r>
          </a:p>
          <a:p>
            <a:r>
              <a:rPr lang="en-US" altLang="zh-CN" dirty="0">
                <a:solidFill>
                  <a:schemeClr val="tx1">
                    <a:lumMod val="65000"/>
                    <a:lumOff val="35000"/>
                  </a:schemeClr>
                </a:solidFill>
                <a:latin typeface="+mj-lt"/>
              </a:rPr>
              <a:t>May</a:t>
            </a:r>
            <a:r>
              <a:rPr lang="en-US" dirty="0">
                <a:solidFill>
                  <a:schemeClr val="tx1">
                    <a:lumMod val="65000"/>
                    <a:lumOff val="35000"/>
                  </a:schemeClr>
                </a:solidFill>
                <a:latin typeface="+mj-lt"/>
              </a:rPr>
              <a:t> 22</a:t>
            </a:r>
            <a:r>
              <a:rPr lang="en-US" baseline="30000" dirty="0">
                <a:solidFill>
                  <a:schemeClr val="tx1">
                    <a:lumMod val="65000"/>
                    <a:lumOff val="35000"/>
                  </a:schemeClr>
                </a:solidFill>
                <a:latin typeface="+mj-lt"/>
              </a:rPr>
              <a:t>nd</a:t>
            </a:r>
            <a:r>
              <a:rPr lang="en-US" dirty="0">
                <a:solidFill>
                  <a:schemeClr val="tx1">
                    <a:lumMod val="65000"/>
                    <a:lumOff val="35000"/>
                  </a:schemeClr>
                </a:solidFill>
                <a:latin typeface="+mj-lt"/>
              </a:rPr>
              <a:t>, 2025</a:t>
            </a:r>
          </a:p>
          <a:p>
            <a:endParaRPr lang="en-US" sz="3200" dirty="0"/>
          </a:p>
          <a:p>
            <a:endParaRPr lang="en-US" sz="3200" dirty="0"/>
          </a:p>
        </p:txBody>
      </p:sp>
      <p:sp>
        <p:nvSpPr>
          <p:cNvPr id="6" name="Slide Number Placeholder 5">
            <a:extLst>
              <a:ext uri="{FF2B5EF4-FFF2-40B4-BE49-F238E27FC236}">
                <a16:creationId xmlns:a16="http://schemas.microsoft.com/office/drawing/2014/main" id="{292BD859-3493-73A3-E54A-02C5575BBFF6}"/>
              </a:ext>
            </a:extLst>
          </p:cNvPr>
          <p:cNvSpPr>
            <a:spLocks noGrp="1"/>
          </p:cNvSpPr>
          <p:nvPr>
            <p:ph type="sldNum" sz="quarter" idx="12"/>
          </p:nvPr>
        </p:nvSpPr>
        <p:spPr/>
        <p:txBody>
          <a:bodyPr/>
          <a:lstStyle/>
          <a:p>
            <a:fld id="{19B27476-17BF-C344-813E-3FD0A10925D2}" type="slidenum">
              <a:rPr lang="en-IT" smtClean="0"/>
              <a:t>1</a:t>
            </a:fld>
            <a:endParaRPr lang="en-IT"/>
          </a:p>
        </p:txBody>
      </p:sp>
      <p:pic>
        <p:nvPicPr>
          <p:cNvPr id="7" name="Picture 6" descr="A logo of the university of waterloo&#10;&#10;AI-generated content may be incorrect.">
            <a:extLst>
              <a:ext uri="{FF2B5EF4-FFF2-40B4-BE49-F238E27FC236}">
                <a16:creationId xmlns:a16="http://schemas.microsoft.com/office/drawing/2014/main" id="{42083F4F-C529-F60A-2004-9E40F1BCA498}"/>
              </a:ext>
            </a:extLst>
          </p:cNvPr>
          <p:cNvPicPr>
            <a:picLocks noChangeAspect="1"/>
          </p:cNvPicPr>
          <p:nvPr/>
        </p:nvPicPr>
        <p:blipFill>
          <a:blip r:embed="rId4" cstate="print">
            <a:alphaModFix amt="50000"/>
            <a:extLst>
              <a:ext uri="{28A0092B-C50C-407E-A947-70E740481C1C}">
                <a14:useLocalDpi xmlns:a14="http://schemas.microsoft.com/office/drawing/2010/main" val="0"/>
              </a:ext>
            </a:extLst>
          </a:blip>
          <a:srcRect l="14919" t="14690" r="15657" b="13888"/>
          <a:stretch/>
        </p:blipFill>
        <p:spPr>
          <a:xfrm>
            <a:off x="2595345" y="1389188"/>
            <a:ext cx="1790700" cy="1195261"/>
          </a:xfrm>
          <a:prstGeom prst="rect">
            <a:avLst/>
          </a:prstGeom>
        </p:spPr>
      </p:pic>
      <p:pic>
        <p:nvPicPr>
          <p:cNvPr id="4" name="Picture 3">
            <a:extLst>
              <a:ext uri="{FF2B5EF4-FFF2-40B4-BE49-F238E27FC236}">
                <a16:creationId xmlns:a16="http://schemas.microsoft.com/office/drawing/2014/main" id="{A7BC174F-C424-41DE-46EB-97B21CFD0B26}"/>
              </a:ext>
            </a:extLst>
          </p:cNvPr>
          <p:cNvPicPr>
            <a:picLocks noChangeAspect="1"/>
          </p:cNvPicPr>
          <p:nvPr/>
        </p:nvPicPr>
        <p:blipFill>
          <a:blip r:embed="rId5"/>
          <a:srcRect t="5430" b="1"/>
          <a:stretch/>
        </p:blipFill>
        <p:spPr>
          <a:xfrm>
            <a:off x="0" y="-7494"/>
            <a:ext cx="12192000" cy="1112862"/>
          </a:xfrm>
          <a:prstGeom prst="rect">
            <a:avLst/>
          </a:prstGeom>
        </p:spPr>
      </p:pic>
      <p:pic>
        <p:nvPicPr>
          <p:cNvPr id="1028" name="Picture 4" descr="undefined">
            <a:extLst>
              <a:ext uri="{FF2B5EF4-FFF2-40B4-BE49-F238E27FC236}">
                <a16:creationId xmlns:a16="http://schemas.microsoft.com/office/drawing/2014/main" id="{ACFF6645-49D1-31A6-E224-B7767D7ECD6D}"/>
              </a:ext>
            </a:extLst>
          </p:cNvPr>
          <p:cNvPicPr>
            <a:picLocks noChangeAspect="1" noChangeArrowheads="1"/>
          </p:cNvPicPr>
          <p:nvPr/>
        </p:nvPicPr>
        <p:blipFill>
          <a:blip r:embed="rId6" cstate="print">
            <a:alphaModFix amt="50000"/>
            <a:extLst>
              <a:ext uri="{28A0092B-C50C-407E-A947-70E740481C1C}">
                <a14:useLocalDpi xmlns:a14="http://schemas.microsoft.com/office/drawing/2010/main" val="0"/>
              </a:ext>
            </a:extLst>
          </a:blip>
          <a:srcRect/>
          <a:stretch>
            <a:fillRect/>
          </a:stretch>
        </p:blipFill>
        <p:spPr bwMode="auto">
          <a:xfrm>
            <a:off x="8409224" y="1333609"/>
            <a:ext cx="842289" cy="125083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679B968-70A6-7162-999F-DDEA6116D32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94403" y="1317711"/>
            <a:ext cx="2280126" cy="1266738"/>
          </a:xfrm>
          <a:prstGeom prst="rect">
            <a:avLst/>
          </a:prstGeom>
          <a:effectLst>
            <a:glow>
              <a:schemeClr val="accent1"/>
            </a:glow>
          </a:effectLst>
        </p:spPr>
      </p:pic>
      <p:sp>
        <p:nvSpPr>
          <p:cNvPr id="9" name="Footer Placeholder 3">
            <a:extLst>
              <a:ext uri="{FF2B5EF4-FFF2-40B4-BE49-F238E27FC236}">
                <a16:creationId xmlns:a16="http://schemas.microsoft.com/office/drawing/2014/main" id="{7D538009-C131-311C-2F4F-5353967825B6}"/>
              </a:ext>
            </a:extLst>
          </p:cNvPr>
          <p:cNvSpPr>
            <a:spLocks noGrp="1"/>
          </p:cNvSpPr>
          <p:nvPr>
            <p:ph type="ftr" sz="quarter" idx="11"/>
          </p:nvPr>
        </p:nvSpPr>
        <p:spPr>
          <a:xfrm>
            <a:off x="3180807" y="6356350"/>
            <a:ext cx="5819502"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4465670"/>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0515600" cy="4711459"/>
          </a:xfrm>
        </p:spPr>
        <p:txBody>
          <a:bodyPr/>
          <a:lstStyle/>
          <a:p>
            <a:pPr>
              <a:buFont typeface="Wingdings" pitchFamily="2" charset="2"/>
              <a:buChar char="§"/>
            </a:pPr>
            <a:r>
              <a:rPr lang="en-US" sz="2800" dirty="0"/>
              <a:t>Introduction and Motivation</a:t>
            </a:r>
          </a:p>
          <a:p>
            <a:pPr lvl="4">
              <a:buFont typeface="Wingdings" pitchFamily="2" charset="2"/>
              <a:buChar char="§"/>
            </a:pPr>
            <a:endParaRPr lang="en-IT" dirty="0"/>
          </a:p>
          <a:p>
            <a:pPr>
              <a:buFont typeface="Wingdings" pitchFamily="2" charset="2"/>
              <a:buChar char="§"/>
            </a:pPr>
            <a:r>
              <a:rPr lang="en-US" altLang="zh-CN" sz="2800" dirty="0"/>
              <a:t>System Model and Problem Statement</a:t>
            </a:r>
          </a:p>
          <a:p>
            <a:pPr lvl="1">
              <a:buFont typeface="Wingdings" pitchFamily="2" charset="2"/>
              <a:buChar char="§"/>
            </a:pPr>
            <a:r>
              <a:rPr lang="en-GB" sz="2600" dirty="0"/>
              <a:t>Technical Preliminaries on Quantum Networks</a:t>
            </a:r>
          </a:p>
          <a:p>
            <a:pPr lvl="1">
              <a:buFont typeface="Wingdings" pitchFamily="2" charset="2"/>
              <a:buChar char="§"/>
            </a:pPr>
            <a:r>
              <a:rPr lang="en-GB" sz="2600"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dirty="0"/>
              <a:t>Integer Linear Programming Model and Link Configuration Algorithm</a:t>
            </a:r>
          </a:p>
          <a:p>
            <a:pPr marL="1828800" lvl="4" indent="0">
              <a:buNone/>
            </a:pPr>
            <a:endParaRPr lang="en-IT" sz="1600" dirty="0"/>
          </a:p>
          <a:p>
            <a:pPr>
              <a:buFont typeface="Wingdings" pitchFamily="2" charset="2"/>
              <a:buChar char="§"/>
            </a:pPr>
            <a:r>
              <a:rPr lang="en-GB" sz="2800" dirty="0"/>
              <a:t>Numerical Results</a:t>
            </a:r>
          </a:p>
          <a:p>
            <a:pPr lvl="4">
              <a:buFont typeface="Wingdings" pitchFamily="2" charset="2"/>
              <a:buChar char="§"/>
            </a:pPr>
            <a:endParaRPr lang="en-GB" sz="1600" dirty="0"/>
          </a:p>
          <a:p>
            <a:pPr>
              <a:buFont typeface="Wingdings" pitchFamily="2" charset="2"/>
              <a:buChar char="§"/>
            </a:pPr>
            <a:r>
              <a:rPr lang="en-GB" sz="2800" dirty="0"/>
              <a:t>Conclusion</a:t>
            </a:r>
            <a:endParaRPr lang="en-IT" sz="2800"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6057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0515600" cy="4711459"/>
          </a:xfrm>
        </p:spPr>
        <p:txBody>
          <a:bodyPr/>
          <a:lstStyle/>
          <a:p>
            <a:pPr>
              <a:buFont typeface="Wingdings" pitchFamily="2" charset="2"/>
              <a:buChar char="§"/>
            </a:pPr>
            <a:r>
              <a:rPr lang="en-US" sz="2800" b="1" dirty="0"/>
              <a:t>Introduction and Motivation</a:t>
            </a:r>
          </a:p>
          <a:p>
            <a:pPr lvl="4">
              <a:buFont typeface="Wingdings" pitchFamily="2" charset="2"/>
              <a:buChar char="§"/>
            </a:pPr>
            <a:endParaRPr lang="en-IT" dirty="0"/>
          </a:p>
          <a:p>
            <a:pPr>
              <a:buFont typeface="Wingdings" pitchFamily="2" charset="2"/>
              <a:buChar char="§"/>
            </a:pPr>
            <a:r>
              <a:rPr lang="en-US" altLang="zh-CN" sz="2800" dirty="0"/>
              <a:t>System Model and Problem Statement</a:t>
            </a:r>
          </a:p>
          <a:p>
            <a:pPr lvl="1">
              <a:buFont typeface="Wingdings" pitchFamily="2" charset="2"/>
              <a:buChar char="§"/>
            </a:pPr>
            <a:r>
              <a:rPr lang="en-GB" sz="2600" dirty="0"/>
              <a:t>Technical Preliminaries on Quantum Networks</a:t>
            </a:r>
          </a:p>
          <a:p>
            <a:pPr lvl="1">
              <a:buFont typeface="Wingdings" pitchFamily="2" charset="2"/>
              <a:buChar char="§"/>
            </a:pPr>
            <a:r>
              <a:rPr lang="en-GB" sz="2600"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dirty="0"/>
              <a:t>Integer Linear Programming Model and Link Configuration Algorithm</a:t>
            </a:r>
          </a:p>
          <a:p>
            <a:pPr marL="1828800" lvl="4" indent="0">
              <a:buNone/>
            </a:pPr>
            <a:endParaRPr lang="en-IT" sz="1600" dirty="0"/>
          </a:p>
          <a:p>
            <a:pPr>
              <a:buFont typeface="Wingdings" pitchFamily="2" charset="2"/>
              <a:buChar char="§"/>
            </a:pPr>
            <a:r>
              <a:rPr lang="en-GB" sz="2800" dirty="0"/>
              <a:t>Numerical Results</a:t>
            </a:r>
          </a:p>
          <a:p>
            <a:pPr lvl="4">
              <a:buFont typeface="Wingdings" pitchFamily="2" charset="2"/>
              <a:buChar char="§"/>
            </a:pPr>
            <a:endParaRPr lang="en-GB" sz="1600" dirty="0"/>
          </a:p>
          <a:p>
            <a:pPr>
              <a:buFont typeface="Wingdings" pitchFamily="2" charset="2"/>
              <a:buChar char="§"/>
            </a:pPr>
            <a:r>
              <a:rPr lang="en-GB" sz="2800" dirty="0"/>
              <a:t>Conclusion</a:t>
            </a:r>
            <a:endParaRPr lang="en-IT" sz="2800"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49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EFF80-9BC8-8CC0-822E-FD24621A5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774D0-4FE0-10EE-33E4-95AEF4CB5B6F}"/>
              </a:ext>
            </a:extLst>
          </p:cNvPr>
          <p:cNvSpPr>
            <a:spLocks noGrp="1"/>
          </p:cNvSpPr>
          <p:nvPr>
            <p:ph type="title"/>
          </p:nvPr>
        </p:nvSpPr>
        <p:spPr/>
        <p:txBody>
          <a:bodyPr/>
          <a:lstStyle/>
          <a:p>
            <a:r>
              <a:rPr lang="en-GB" dirty="0"/>
              <a:t>Quantum Entanglement</a:t>
            </a:r>
            <a:endParaRPr lang="en-IT" dirty="0"/>
          </a:p>
        </p:txBody>
      </p:sp>
      <p:sp>
        <p:nvSpPr>
          <p:cNvPr id="5" name="Footer Placeholder 4">
            <a:extLst>
              <a:ext uri="{FF2B5EF4-FFF2-40B4-BE49-F238E27FC236}">
                <a16:creationId xmlns:a16="http://schemas.microsoft.com/office/drawing/2014/main" id="{835AF4CB-76C8-23F4-C93F-E5E798BE715D}"/>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6" name="Slide Number Placeholder 5">
            <a:extLst>
              <a:ext uri="{FF2B5EF4-FFF2-40B4-BE49-F238E27FC236}">
                <a16:creationId xmlns:a16="http://schemas.microsoft.com/office/drawing/2014/main" id="{FCEB30DB-8010-0858-9A96-5E0838DBDF4D}"/>
              </a:ext>
            </a:extLst>
          </p:cNvPr>
          <p:cNvSpPr>
            <a:spLocks noGrp="1"/>
          </p:cNvSpPr>
          <p:nvPr>
            <p:ph type="sldNum" sz="quarter" idx="12"/>
          </p:nvPr>
        </p:nvSpPr>
        <p:spPr/>
        <p:txBody>
          <a:bodyPr/>
          <a:lstStyle/>
          <a:p>
            <a:fld id="{5AFE0081-1ED4-41E0-88AB-D26DBE160EA6}" type="slidenum">
              <a:rPr lang="en-US" smtClean="0"/>
              <a:t>4</a:t>
            </a:fld>
            <a:endParaRPr lang="en-US"/>
          </a:p>
        </p:txBody>
      </p:sp>
      <p:sp>
        <p:nvSpPr>
          <p:cNvPr id="4" name="Content Placeholder 2">
            <a:extLst>
              <a:ext uri="{FF2B5EF4-FFF2-40B4-BE49-F238E27FC236}">
                <a16:creationId xmlns:a16="http://schemas.microsoft.com/office/drawing/2014/main" id="{A5357ECA-48B9-0861-B7FC-3F0DFDCA1F7D}"/>
              </a:ext>
            </a:extLst>
          </p:cNvPr>
          <p:cNvSpPr>
            <a:spLocks noGrp="1"/>
          </p:cNvSpPr>
          <p:nvPr>
            <p:ph idx="1"/>
          </p:nvPr>
        </p:nvSpPr>
        <p:spPr>
          <a:xfrm>
            <a:off x="838200" y="1544225"/>
            <a:ext cx="10841181" cy="1226684"/>
          </a:xfrm>
        </p:spPr>
        <p:txBody>
          <a:bodyPr/>
          <a:lstStyle/>
          <a:p>
            <a:r>
              <a:rPr lang="en-US" altLang="zh-CN" sz="2800" dirty="0"/>
              <a:t>Quantum entanglement: strong s</a:t>
            </a:r>
            <a:r>
              <a:rPr lang="en-US" sz="2800" dirty="0"/>
              <a:t>tate correlation of two qubits</a:t>
            </a:r>
          </a:p>
          <a:p>
            <a:pPr lvl="1"/>
            <a:r>
              <a:rPr lang="en-US" altLang="zh-CN" sz="2600" dirty="0"/>
              <a:t>Measuring one qubit can reveal the value of the other</a:t>
            </a:r>
          </a:p>
        </p:txBody>
      </p:sp>
      <p:sp>
        <p:nvSpPr>
          <p:cNvPr id="3" name="Oval 2">
            <a:extLst>
              <a:ext uri="{FF2B5EF4-FFF2-40B4-BE49-F238E27FC236}">
                <a16:creationId xmlns:a16="http://schemas.microsoft.com/office/drawing/2014/main" id="{F0B7A933-05DA-5E2F-0A12-69DF20F95308}"/>
              </a:ext>
            </a:extLst>
          </p:cNvPr>
          <p:cNvSpPr/>
          <p:nvPr/>
        </p:nvSpPr>
        <p:spPr>
          <a:xfrm>
            <a:off x="2667000" y="3229235"/>
            <a:ext cx="1037044" cy="1014149"/>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1</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C4CD49A4-4A21-FBEF-5ED7-366B252D0A5F}"/>
              </a:ext>
            </a:extLst>
          </p:cNvPr>
          <p:cNvSpPr/>
          <p:nvPr/>
        </p:nvSpPr>
        <p:spPr>
          <a:xfrm>
            <a:off x="2667000" y="3206340"/>
            <a:ext cx="1037044" cy="1037044"/>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0</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F1BB44FE-3991-0A20-C3A3-E1DDCA6D086B}"/>
              </a:ext>
            </a:extLst>
          </p:cNvPr>
          <p:cNvSpPr/>
          <p:nvPr/>
        </p:nvSpPr>
        <p:spPr>
          <a:xfrm>
            <a:off x="7450914" y="3229235"/>
            <a:ext cx="1037044" cy="1014149"/>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1</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5520076F-44C9-1C3C-2662-96CBDC8A7033}"/>
              </a:ext>
            </a:extLst>
          </p:cNvPr>
          <p:cNvSpPr/>
          <p:nvPr/>
        </p:nvSpPr>
        <p:spPr>
          <a:xfrm>
            <a:off x="7450914" y="3206340"/>
            <a:ext cx="1037044" cy="1037044"/>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0</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598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0"/>
                                        <p:tgtEl>
                                          <p:spTgt spid="3"/>
                                        </p:tgtEl>
                                      </p:cBhvr>
                                    </p:animEffect>
                                    <p:anim calcmode="lin" valueType="num">
                                      <p:cBhvr>
                                        <p:cTn id="8" dur="3000" fill="hold"/>
                                        <p:tgtEl>
                                          <p:spTgt spid="3"/>
                                        </p:tgtEl>
                                        <p:attrNameLst>
                                          <p:attrName>ppt_w</p:attrName>
                                        </p:attrNameLst>
                                      </p:cBhvr>
                                      <p:tavLst>
                                        <p:tav tm="0" fmla="#ppt_w*sin(2.5*pi*$)">
                                          <p:val>
                                            <p:fltVal val="0"/>
                                          </p:val>
                                        </p:tav>
                                        <p:tav tm="100000">
                                          <p:val>
                                            <p:fltVal val="1"/>
                                          </p:val>
                                        </p:tav>
                                      </p:tavLst>
                                    </p:anim>
                                    <p:anim calcmode="lin" valueType="num">
                                      <p:cBhvr>
                                        <p:cTn id="9" dur="3000" fill="hold"/>
                                        <p:tgtEl>
                                          <p:spTgt spid="3"/>
                                        </p:tgtEl>
                                        <p:attrNameLst>
                                          <p:attrName>ppt_h</p:attrName>
                                        </p:attrNameLst>
                                      </p:cBhvr>
                                      <p:tavLst>
                                        <p:tav tm="0">
                                          <p:val>
                                            <p:strVal val="#ppt_h"/>
                                          </p:val>
                                        </p:tav>
                                        <p:tav tm="100000">
                                          <p:val>
                                            <p:strVal val="#ppt_h"/>
                                          </p:val>
                                        </p:tav>
                                      </p:tavLst>
                                    </p:anim>
                                  </p:childTnLst>
                                </p:cTn>
                              </p:par>
                              <p:par>
                                <p:cTn id="10" presetID="1" presetClass="exit" presetSubtype="0" fill="hold" grpId="1" nodeType="withEffect">
                                  <p:stCondLst>
                                    <p:cond delay="1000"/>
                                  </p:stCondLst>
                                  <p:childTnLst>
                                    <p:set>
                                      <p:cBhvr>
                                        <p:cTn id="11" dur="1" fill="hold">
                                          <p:stCondLst>
                                            <p:cond delay="0"/>
                                          </p:stCondLst>
                                        </p:cTn>
                                        <p:tgtEl>
                                          <p:spTgt spid="3"/>
                                        </p:tgtEl>
                                        <p:attrNameLst>
                                          <p:attrName>style.visibility</p:attrName>
                                        </p:attrNameLst>
                                      </p:cBhvr>
                                      <p:to>
                                        <p:strVal val="hidden"/>
                                      </p:to>
                                    </p:set>
                                  </p:childTnLst>
                                </p:cTn>
                              </p:par>
                              <p:par>
                                <p:cTn id="12" presetID="45" presetClass="entr" presetSubtype="0" fill="hold" grpId="0" nodeType="withEffect">
                                  <p:stCondLst>
                                    <p:cond delay="10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000"/>
                                        <p:tgtEl>
                                          <p:spTgt spid="7"/>
                                        </p:tgtEl>
                                      </p:cBhvr>
                                    </p:animEffect>
                                    <p:anim calcmode="lin" valueType="num">
                                      <p:cBhvr>
                                        <p:cTn id="15" dur="3000" fill="hold"/>
                                        <p:tgtEl>
                                          <p:spTgt spid="7"/>
                                        </p:tgtEl>
                                        <p:attrNameLst>
                                          <p:attrName>ppt_w</p:attrName>
                                        </p:attrNameLst>
                                      </p:cBhvr>
                                      <p:tavLst>
                                        <p:tav tm="0" fmla="#ppt_w*sin(2.5*pi*$)">
                                          <p:val>
                                            <p:fltVal val="0"/>
                                          </p:val>
                                        </p:tav>
                                        <p:tav tm="100000">
                                          <p:val>
                                            <p:fltVal val="1"/>
                                          </p:val>
                                        </p:tav>
                                      </p:tavLst>
                                    </p:anim>
                                    <p:anim calcmode="lin" valueType="num">
                                      <p:cBhvr>
                                        <p:cTn id="16" dur="3000" fill="hold"/>
                                        <p:tgtEl>
                                          <p:spTgt spid="7"/>
                                        </p:tgtEl>
                                        <p:attrNameLst>
                                          <p:attrName>ppt_h</p:attrName>
                                        </p:attrNameLst>
                                      </p:cBhvr>
                                      <p:tavLst>
                                        <p:tav tm="0">
                                          <p:val>
                                            <p:strVal val="#ppt_h"/>
                                          </p:val>
                                        </p:tav>
                                        <p:tav tm="100000">
                                          <p:val>
                                            <p:strVal val="#ppt_h"/>
                                          </p:val>
                                        </p:tav>
                                      </p:tavLst>
                                    </p:anim>
                                  </p:childTnLst>
                                </p:cTn>
                              </p:par>
                              <p:par>
                                <p:cTn id="17" presetID="1" presetClass="exit" presetSubtype="0" fill="hold" grpId="1" nodeType="withEffect">
                                  <p:stCondLst>
                                    <p:cond delay="2000"/>
                                  </p:stCondLst>
                                  <p:childTnLst>
                                    <p:set>
                                      <p:cBhvr>
                                        <p:cTn id="18" dur="1" fill="hold">
                                          <p:stCondLst>
                                            <p:cond delay="0"/>
                                          </p:stCondLst>
                                        </p:cTn>
                                        <p:tgtEl>
                                          <p:spTgt spid="7"/>
                                        </p:tgtEl>
                                        <p:attrNameLst>
                                          <p:attrName>style.visibility</p:attrName>
                                        </p:attrNameLst>
                                      </p:cBhvr>
                                      <p:to>
                                        <p:strVal val="hidden"/>
                                      </p:to>
                                    </p:set>
                                  </p:childTnLst>
                                </p:cTn>
                              </p:par>
                              <p:par>
                                <p:cTn id="19" presetID="45" presetClass="entr" presetSubtype="0" fill="hold" grpId="2" nodeType="withEffect">
                                  <p:stCondLst>
                                    <p:cond delay="20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3000"/>
                                        <p:tgtEl>
                                          <p:spTgt spid="3"/>
                                        </p:tgtEl>
                                      </p:cBhvr>
                                    </p:animEffect>
                                    <p:anim calcmode="lin" valueType="num">
                                      <p:cBhvr>
                                        <p:cTn id="22" dur="3000" fill="hold"/>
                                        <p:tgtEl>
                                          <p:spTgt spid="3"/>
                                        </p:tgtEl>
                                        <p:attrNameLst>
                                          <p:attrName>ppt_w</p:attrName>
                                        </p:attrNameLst>
                                      </p:cBhvr>
                                      <p:tavLst>
                                        <p:tav tm="0" fmla="#ppt_w*sin(2.5*pi*$)">
                                          <p:val>
                                            <p:fltVal val="0"/>
                                          </p:val>
                                        </p:tav>
                                        <p:tav tm="100000">
                                          <p:val>
                                            <p:fltVal val="1"/>
                                          </p:val>
                                        </p:tav>
                                      </p:tavLst>
                                    </p:anim>
                                    <p:anim calcmode="lin" valueType="num">
                                      <p:cBhvr>
                                        <p:cTn id="23" dur="3000" fill="hold"/>
                                        <p:tgtEl>
                                          <p:spTgt spid="3"/>
                                        </p:tgtEl>
                                        <p:attrNameLst>
                                          <p:attrName>ppt_h</p:attrName>
                                        </p:attrNameLst>
                                      </p:cBhvr>
                                      <p:tavLst>
                                        <p:tav tm="0">
                                          <p:val>
                                            <p:strVal val="#ppt_h"/>
                                          </p:val>
                                        </p:tav>
                                        <p:tav tm="100000">
                                          <p:val>
                                            <p:strVal val="#ppt_h"/>
                                          </p:val>
                                        </p:tav>
                                      </p:tavLst>
                                    </p:anim>
                                  </p:childTnLst>
                                </p:cTn>
                              </p:par>
                              <p:par>
                                <p:cTn id="24" presetID="1" presetClass="exit" presetSubtype="0" fill="hold" grpId="3" nodeType="withEffect">
                                  <p:stCondLst>
                                    <p:cond delay="3000"/>
                                  </p:stCondLst>
                                  <p:childTnLst>
                                    <p:set>
                                      <p:cBhvr>
                                        <p:cTn id="25" dur="1" fill="hold">
                                          <p:stCondLst>
                                            <p:cond delay="0"/>
                                          </p:stCondLst>
                                        </p:cTn>
                                        <p:tgtEl>
                                          <p:spTgt spid="3"/>
                                        </p:tgtEl>
                                        <p:attrNameLst>
                                          <p:attrName>style.visibility</p:attrName>
                                        </p:attrNameLst>
                                      </p:cBhvr>
                                      <p:to>
                                        <p:strVal val="hidden"/>
                                      </p:to>
                                    </p:set>
                                  </p:childTnLst>
                                </p:cTn>
                              </p:par>
                              <p:par>
                                <p:cTn id="26" presetID="45" presetClass="entr" presetSubtype="0" fill="hold" grpId="2" nodeType="withEffect">
                                  <p:stCondLst>
                                    <p:cond delay="30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3000"/>
                                        <p:tgtEl>
                                          <p:spTgt spid="7"/>
                                        </p:tgtEl>
                                      </p:cBhvr>
                                    </p:animEffect>
                                    <p:anim calcmode="lin" valueType="num">
                                      <p:cBhvr>
                                        <p:cTn id="29" dur="3000" fill="hold"/>
                                        <p:tgtEl>
                                          <p:spTgt spid="7"/>
                                        </p:tgtEl>
                                        <p:attrNameLst>
                                          <p:attrName>ppt_w</p:attrName>
                                        </p:attrNameLst>
                                      </p:cBhvr>
                                      <p:tavLst>
                                        <p:tav tm="0" fmla="#ppt_w*sin(2.5*pi*$)">
                                          <p:val>
                                            <p:fltVal val="0"/>
                                          </p:val>
                                        </p:tav>
                                        <p:tav tm="100000">
                                          <p:val>
                                            <p:fltVal val="1"/>
                                          </p:val>
                                        </p:tav>
                                      </p:tavLst>
                                    </p:anim>
                                    <p:anim calcmode="lin" valueType="num">
                                      <p:cBhvr>
                                        <p:cTn id="30" dur="3000" fill="hold"/>
                                        <p:tgtEl>
                                          <p:spTgt spid="7"/>
                                        </p:tgtEl>
                                        <p:attrNameLst>
                                          <p:attrName>ppt_h</p:attrName>
                                        </p:attrNameLst>
                                      </p:cBhvr>
                                      <p:tavLst>
                                        <p:tav tm="0">
                                          <p:val>
                                            <p:strVal val="#ppt_h"/>
                                          </p:val>
                                        </p:tav>
                                        <p:tav tm="100000">
                                          <p:val>
                                            <p:strVal val="#ppt_h"/>
                                          </p:val>
                                        </p:tav>
                                      </p:tavLst>
                                    </p:anim>
                                  </p:childTnLst>
                                </p:cTn>
                              </p:par>
                              <p:par>
                                <p:cTn id="31" presetID="1" presetClass="exit" presetSubtype="0" fill="hold" grpId="3" nodeType="withEffect">
                                  <p:stCondLst>
                                    <p:cond delay="4000"/>
                                  </p:stCondLst>
                                  <p:childTnLst>
                                    <p:set>
                                      <p:cBhvr>
                                        <p:cTn id="32" dur="1" fill="hold">
                                          <p:stCondLst>
                                            <p:cond delay="0"/>
                                          </p:stCondLst>
                                        </p:cTn>
                                        <p:tgtEl>
                                          <p:spTgt spid="7"/>
                                        </p:tgtEl>
                                        <p:attrNameLst>
                                          <p:attrName>style.visibility</p:attrName>
                                        </p:attrNameLst>
                                      </p:cBhvr>
                                      <p:to>
                                        <p:strVal val="hidden"/>
                                      </p:to>
                                    </p:set>
                                  </p:childTnLst>
                                </p:cTn>
                              </p:par>
                              <p:par>
                                <p:cTn id="33" presetID="45" presetClass="entr" presetSubtype="0" fill="hold" grpId="4" nodeType="withEffect">
                                  <p:stCondLst>
                                    <p:cond delay="400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3000"/>
                                        <p:tgtEl>
                                          <p:spTgt spid="3"/>
                                        </p:tgtEl>
                                      </p:cBhvr>
                                    </p:animEffect>
                                    <p:anim calcmode="lin" valueType="num">
                                      <p:cBhvr>
                                        <p:cTn id="36" dur="3000" fill="hold"/>
                                        <p:tgtEl>
                                          <p:spTgt spid="3"/>
                                        </p:tgtEl>
                                        <p:attrNameLst>
                                          <p:attrName>ppt_w</p:attrName>
                                        </p:attrNameLst>
                                      </p:cBhvr>
                                      <p:tavLst>
                                        <p:tav tm="0" fmla="#ppt_w*sin(2.5*pi*$)">
                                          <p:val>
                                            <p:fltVal val="0"/>
                                          </p:val>
                                        </p:tav>
                                        <p:tav tm="100000">
                                          <p:val>
                                            <p:fltVal val="1"/>
                                          </p:val>
                                        </p:tav>
                                      </p:tavLst>
                                    </p:anim>
                                    <p:anim calcmode="lin" valueType="num">
                                      <p:cBhvr>
                                        <p:cTn id="37" dur="3000" fill="hold"/>
                                        <p:tgtEl>
                                          <p:spTgt spid="3"/>
                                        </p:tgtEl>
                                        <p:attrNameLst>
                                          <p:attrName>ppt_h</p:attrName>
                                        </p:attrNameLst>
                                      </p:cBhvr>
                                      <p:tavLst>
                                        <p:tav tm="0">
                                          <p:val>
                                            <p:strVal val="#ppt_h"/>
                                          </p:val>
                                        </p:tav>
                                        <p:tav tm="100000">
                                          <p:val>
                                            <p:strVal val="#ppt_h"/>
                                          </p:val>
                                        </p:tav>
                                      </p:tavLst>
                                    </p:anim>
                                  </p:childTnLst>
                                </p:cTn>
                              </p:par>
                              <p:par>
                                <p:cTn id="38" presetID="1" presetClass="exit" presetSubtype="0" fill="hold" grpId="5" nodeType="withEffect">
                                  <p:stCondLst>
                                    <p:cond delay="5000"/>
                                  </p:stCondLst>
                                  <p:childTnLst>
                                    <p:set>
                                      <p:cBhvr>
                                        <p:cTn id="39" dur="1" fill="hold">
                                          <p:stCondLst>
                                            <p:cond delay="0"/>
                                          </p:stCondLst>
                                        </p:cTn>
                                        <p:tgtEl>
                                          <p:spTgt spid="3"/>
                                        </p:tgtEl>
                                        <p:attrNameLst>
                                          <p:attrName>style.visibility</p:attrName>
                                        </p:attrNameLst>
                                      </p:cBhvr>
                                      <p:to>
                                        <p:strVal val="hidden"/>
                                      </p:to>
                                    </p:set>
                                  </p:childTnLst>
                                </p:cTn>
                              </p:par>
                              <p:par>
                                <p:cTn id="40" presetID="45" presetClass="entr" presetSubtype="0" fill="hold" grpId="4" nodeType="withEffect">
                                  <p:stCondLst>
                                    <p:cond delay="500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3000"/>
                                        <p:tgtEl>
                                          <p:spTgt spid="7"/>
                                        </p:tgtEl>
                                      </p:cBhvr>
                                    </p:animEffect>
                                    <p:anim calcmode="lin" valueType="num">
                                      <p:cBhvr>
                                        <p:cTn id="43" dur="3000" fill="hold"/>
                                        <p:tgtEl>
                                          <p:spTgt spid="7"/>
                                        </p:tgtEl>
                                        <p:attrNameLst>
                                          <p:attrName>ppt_w</p:attrName>
                                        </p:attrNameLst>
                                      </p:cBhvr>
                                      <p:tavLst>
                                        <p:tav tm="0" fmla="#ppt_w*sin(2.5*pi*$)">
                                          <p:val>
                                            <p:fltVal val="0"/>
                                          </p:val>
                                        </p:tav>
                                        <p:tav tm="100000">
                                          <p:val>
                                            <p:fltVal val="1"/>
                                          </p:val>
                                        </p:tav>
                                      </p:tavLst>
                                    </p:anim>
                                    <p:anim calcmode="lin" valueType="num">
                                      <p:cBhvr>
                                        <p:cTn id="44" dur="3000" fill="hold"/>
                                        <p:tgtEl>
                                          <p:spTgt spid="7"/>
                                        </p:tgtEl>
                                        <p:attrNameLst>
                                          <p:attrName>ppt_h</p:attrName>
                                        </p:attrNameLst>
                                      </p:cBhvr>
                                      <p:tavLst>
                                        <p:tav tm="0">
                                          <p:val>
                                            <p:strVal val="#ppt_h"/>
                                          </p:val>
                                        </p:tav>
                                        <p:tav tm="100000">
                                          <p:val>
                                            <p:strVal val="#ppt_h"/>
                                          </p:val>
                                        </p:tav>
                                      </p:tavLst>
                                    </p:anim>
                                  </p:childTnLst>
                                </p:cTn>
                              </p:par>
                              <p:par>
                                <p:cTn id="45" presetID="1" presetClass="exit" presetSubtype="0" fill="hold" grpId="5" nodeType="withEffect">
                                  <p:stCondLst>
                                    <p:cond delay="6000"/>
                                  </p:stCondLst>
                                  <p:childTnLst>
                                    <p:set>
                                      <p:cBhvr>
                                        <p:cTn id="46" dur="1" fill="hold">
                                          <p:stCondLst>
                                            <p:cond delay="0"/>
                                          </p:stCondLst>
                                        </p:cTn>
                                        <p:tgtEl>
                                          <p:spTgt spid="7"/>
                                        </p:tgtEl>
                                        <p:attrNameLst>
                                          <p:attrName>style.visibility</p:attrName>
                                        </p:attrNameLst>
                                      </p:cBhvr>
                                      <p:to>
                                        <p:strVal val="hidden"/>
                                      </p:to>
                                    </p:set>
                                  </p:childTnLst>
                                </p:cTn>
                              </p:par>
                              <p:par>
                                <p:cTn id="47" presetID="45" presetClass="entr" presetSubtype="0" fill="hold" grpId="6" nodeType="withEffect">
                                  <p:stCondLst>
                                    <p:cond delay="600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3000"/>
                                        <p:tgtEl>
                                          <p:spTgt spid="3"/>
                                        </p:tgtEl>
                                      </p:cBhvr>
                                    </p:animEffect>
                                    <p:anim calcmode="lin" valueType="num">
                                      <p:cBhvr>
                                        <p:cTn id="50" dur="3000" fill="hold"/>
                                        <p:tgtEl>
                                          <p:spTgt spid="3"/>
                                        </p:tgtEl>
                                        <p:attrNameLst>
                                          <p:attrName>ppt_w</p:attrName>
                                        </p:attrNameLst>
                                      </p:cBhvr>
                                      <p:tavLst>
                                        <p:tav tm="0" fmla="#ppt_w*sin(2.5*pi*$)">
                                          <p:val>
                                            <p:fltVal val="0"/>
                                          </p:val>
                                        </p:tav>
                                        <p:tav tm="100000">
                                          <p:val>
                                            <p:fltVal val="1"/>
                                          </p:val>
                                        </p:tav>
                                      </p:tavLst>
                                    </p:anim>
                                    <p:anim calcmode="lin" valueType="num">
                                      <p:cBhvr>
                                        <p:cTn id="51" dur="3000" fill="hold"/>
                                        <p:tgtEl>
                                          <p:spTgt spid="3"/>
                                        </p:tgtEl>
                                        <p:attrNameLst>
                                          <p:attrName>ppt_h</p:attrName>
                                        </p:attrNameLst>
                                      </p:cBhvr>
                                      <p:tavLst>
                                        <p:tav tm="0">
                                          <p:val>
                                            <p:strVal val="#ppt_h"/>
                                          </p:val>
                                        </p:tav>
                                        <p:tav tm="100000">
                                          <p:val>
                                            <p:strVal val="#ppt_h"/>
                                          </p:val>
                                        </p:tav>
                                      </p:tavLst>
                                    </p:anim>
                                  </p:childTnLst>
                                </p:cTn>
                              </p:par>
                              <p:par>
                                <p:cTn id="52" presetID="1" presetClass="exit" presetSubtype="0" fill="hold" grpId="7" nodeType="withEffect">
                                  <p:stCondLst>
                                    <p:cond delay="7000"/>
                                  </p:stCondLst>
                                  <p:childTnLst>
                                    <p:set>
                                      <p:cBhvr>
                                        <p:cTn id="53" dur="1" fill="hold">
                                          <p:stCondLst>
                                            <p:cond delay="0"/>
                                          </p:stCondLst>
                                        </p:cTn>
                                        <p:tgtEl>
                                          <p:spTgt spid="3"/>
                                        </p:tgtEl>
                                        <p:attrNameLst>
                                          <p:attrName>style.visibility</p:attrName>
                                        </p:attrNameLst>
                                      </p:cBhvr>
                                      <p:to>
                                        <p:strVal val="hidden"/>
                                      </p:to>
                                    </p:set>
                                  </p:childTnLst>
                                </p:cTn>
                              </p:par>
                              <p:par>
                                <p:cTn id="54" presetID="45" presetClass="entr" presetSubtype="0" fill="hold" grpId="6" nodeType="withEffect">
                                  <p:stCondLst>
                                    <p:cond delay="700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3000"/>
                                        <p:tgtEl>
                                          <p:spTgt spid="7"/>
                                        </p:tgtEl>
                                      </p:cBhvr>
                                    </p:animEffect>
                                    <p:anim calcmode="lin" valueType="num">
                                      <p:cBhvr>
                                        <p:cTn id="57" dur="3000" fill="hold"/>
                                        <p:tgtEl>
                                          <p:spTgt spid="7"/>
                                        </p:tgtEl>
                                        <p:attrNameLst>
                                          <p:attrName>ppt_w</p:attrName>
                                        </p:attrNameLst>
                                      </p:cBhvr>
                                      <p:tavLst>
                                        <p:tav tm="0" fmla="#ppt_w*sin(2.5*pi*$)">
                                          <p:val>
                                            <p:fltVal val="0"/>
                                          </p:val>
                                        </p:tav>
                                        <p:tav tm="100000">
                                          <p:val>
                                            <p:fltVal val="1"/>
                                          </p:val>
                                        </p:tav>
                                      </p:tavLst>
                                    </p:anim>
                                    <p:anim calcmode="lin" valueType="num">
                                      <p:cBhvr>
                                        <p:cTn id="58" dur="3000" fill="hold"/>
                                        <p:tgtEl>
                                          <p:spTgt spid="7"/>
                                        </p:tgtEl>
                                        <p:attrNameLst>
                                          <p:attrName>ppt_h</p:attrName>
                                        </p:attrNameLst>
                                      </p:cBhvr>
                                      <p:tavLst>
                                        <p:tav tm="0">
                                          <p:val>
                                            <p:strVal val="#ppt_h"/>
                                          </p:val>
                                        </p:tav>
                                        <p:tav tm="100000">
                                          <p:val>
                                            <p:strVal val="#ppt_h"/>
                                          </p:val>
                                        </p:tav>
                                      </p:tavLst>
                                    </p:anim>
                                  </p:childTnLst>
                                </p:cTn>
                              </p:par>
                              <p:par>
                                <p:cTn id="59" presetID="1" presetClass="exit" presetSubtype="0" fill="hold" grpId="7" nodeType="withEffect">
                                  <p:stCondLst>
                                    <p:cond delay="8000"/>
                                  </p:stCondLst>
                                  <p:childTnLst>
                                    <p:set>
                                      <p:cBhvr>
                                        <p:cTn id="60" dur="1" fill="hold">
                                          <p:stCondLst>
                                            <p:cond delay="0"/>
                                          </p:stCondLst>
                                        </p:cTn>
                                        <p:tgtEl>
                                          <p:spTgt spid="7"/>
                                        </p:tgtEl>
                                        <p:attrNameLst>
                                          <p:attrName>style.visibility</p:attrName>
                                        </p:attrNameLst>
                                      </p:cBhvr>
                                      <p:to>
                                        <p:strVal val="hidden"/>
                                      </p:to>
                                    </p:set>
                                  </p:childTnLst>
                                </p:cTn>
                              </p:par>
                              <p:par>
                                <p:cTn id="61" presetID="45" presetClass="entr" presetSubtype="0" fill="hold" grpId="8" nodeType="withEffect">
                                  <p:stCondLst>
                                    <p:cond delay="800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3000"/>
                                        <p:tgtEl>
                                          <p:spTgt spid="3"/>
                                        </p:tgtEl>
                                      </p:cBhvr>
                                    </p:animEffect>
                                    <p:anim calcmode="lin" valueType="num">
                                      <p:cBhvr>
                                        <p:cTn id="64" dur="3000" fill="hold"/>
                                        <p:tgtEl>
                                          <p:spTgt spid="3"/>
                                        </p:tgtEl>
                                        <p:attrNameLst>
                                          <p:attrName>ppt_w</p:attrName>
                                        </p:attrNameLst>
                                      </p:cBhvr>
                                      <p:tavLst>
                                        <p:tav tm="0" fmla="#ppt_w*sin(2.5*pi*$)">
                                          <p:val>
                                            <p:fltVal val="0"/>
                                          </p:val>
                                        </p:tav>
                                        <p:tav tm="100000">
                                          <p:val>
                                            <p:fltVal val="1"/>
                                          </p:val>
                                        </p:tav>
                                      </p:tavLst>
                                    </p:anim>
                                    <p:anim calcmode="lin" valueType="num">
                                      <p:cBhvr>
                                        <p:cTn id="65" dur="3000" fill="hold"/>
                                        <p:tgtEl>
                                          <p:spTgt spid="3"/>
                                        </p:tgtEl>
                                        <p:attrNameLst>
                                          <p:attrName>ppt_h</p:attrName>
                                        </p:attrNameLst>
                                      </p:cBhvr>
                                      <p:tavLst>
                                        <p:tav tm="0">
                                          <p:val>
                                            <p:strVal val="#ppt_h"/>
                                          </p:val>
                                        </p:tav>
                                        <p:tav tm="100000">
                                          <p:val>
                                            <p:strVal val="#ppt_h"/>
                                          </p:val>
                                        </p:tav>
                                      </p:tavLst>
                                    </p:anim>
                                  </p:childTnLst>
                                </p:cTn>
                              </p:par>
                              <p:par>
                                <p:cTn id="66" presetID="1" presetClass="exit" presetSubtype="0" fill="hold" grpId="9" nodeType="withEffect">
                                  <p:stCondLst>
                                    <p:cond delay="9000"/>
                                  </p:stCondLst>
                                  <p:childTnLst>
                                    <p:set>
                                      <p:cBhvr>
                                        <p:cTn id="67" dur="1" fill="hold">
                                          <p:stCondLst>
                                            <p:cond delay="0"/>
                                          </p:stCondLst>
                                        </p:cTn>
                                        <p:tgtEl>
                                          <p:spTgt spid="3"/>
                                        </p:tgtEl>
                                        <p:attrNameLst>
                                          <p:attrName>style.visibility</p:attrName>
                                        </p:attrNameLst>
                                      </p:cBhvr>
                                      <p:to>
                                        <p:strVal val="hidden"/>
                                      </p:to>
                                    </p:set>
                                  </p:childTnLst>
                                </p:cTn>
                              </p:par>
                              <p:par>
                                <p:cTn id="68" presetID="45" presetClass="entr" presetSubtype="0" fill="hold" grpId="8" nodeType="withEffect">
                                  <p:stCondLst>
                                    <p:cond delay="9000"/>
                                  </p:stCondLst>
                                  <p:childTnLst>
                                    <p:set>
                                      <p:cBhvr>
                                        <p:cTn id="69" dur="1" fill="hold">
                                          <p:stCondLst>
                                            <p:cond delay="0"/>
                                          </p:stCondLst>
                                        </p:cTn>
                                        <p:tgtEl>
                                          <p:spTgt spid="7"/>
                                        </p:tgtEl>
                                        <p:attrNameLst>
                                          <p:attrName>style.visibility</p:attrName>
                                        </p:attrNameLst>
                                      </p:cBhvr>
                                      <p:to>
                                        <p:strVal val="visible"/>
                                      </p:to>
                                    </p:set>
                                    <p:animEffect transition="in" filter="fade">
                                      <p:cBhvr>
                                        <p:cTn id="70" dur="3000"/>
                                        <p:tgtEl>
                                          <p:spTgt spid="7"/>
                                        </p:tgtEl>
                                      </p:cBhvr>
                                    </p:animEffect>
                                    <p:anim calcmode="lin" valueType="num">
                                      <p:cBhvr>
                                        <p:cTn id="71" dur="3000" fill="hold"/>
                                        <p:tgtEl>
                                          <p:spTgt spid="7"/>
                                        </p:tgtEl>
                                        <p:attrNameLst>
                                          <p:attrName>ppt_w</p:attrName>
                                        </p:attrNameLst>
                                      </p:cBhvr>
                                      <p:tavLst>
                                        <p:tav tm="0" fmla="#ppt_w*sin(2.5*pi*$)">
                                          <p:val>
                                            <p:fltVal val="0"/>
                                          </p:val>
                                        </p:tav>
                                        <p:tav tm="100000">
                                          <p:val>
                                            <p:fltVal val="1"/>
                                          </p:val>
                                        </p:tav>
                                      </p:tavLst>
                                    </p:anim>
                                    <p:anim calcmode="lin" valueType="num">
                                      <p:cBhvr>
                                        <p:cTn id="72" dur="3000" fill="hold"/>
                                        <p:tgtEl>
                                          <p:spTgt spid="7"/>
                                        </p:tgtEl>
                                        <p:attrNameLst>
                                          <p:attrName>ppt_h</p:attrName>
                                        </p:attrNameLst>
                                      </p:cBhvr>
                                      <p:tavLst>
                                        <p:tav tm="0">
                                          <p:val>
                                            <p:strVal val="#ppt_h"/>
                                          </p:val>
                                        </p:tav>
                                        <p:tav tm="100000">
                                          <p:val>
                                            <p:strVal val="#ppt_h"/>
                                          </p:val>
                                        </p:tav>
                                      </p:tavLst>
                                    </p:anim>
                                  </p:childTnLst>
                                </p:cTn>
                              </p:par>
                              <p:par>
                                <p:cTn id="73" presetID="1" presetClass="exit" presetSubtype="0" fill="hold" grpId="9" nodeType="withEffect">
                                  <p:stCondLst>
                                    <p:cond delay="10000"/>
                                  </p:stCondLst>
                                  <p:childTnLst>
                                    <p:set>
                                      <p:cBhvr>
                                        <p:cTn id="74" dur="1" fill="hold">
                                          <p:stCondLst>
                                            <p:cond delay="0"/>
                                          </p:stCondLst>
                                        </p:cTn>
                                        <p:tgtEl>
                                          <p:spTgt spid="7"/>
                                        </p:tgtEl>
                                        <p:attrNameLst>
                                          <p:attrName>style.visibility</p:attrName>
                                        </p:attrNameLst>
                                      </p:cBhvr>
                                      <p:to>
                                        <p:strVal val="hidden"/>
                                      </p:to>
                                    </p:set>
                                  </p:childTnLst>
                                </p:cTn>
                              </p:par>
                              <p:par>
                                <p:cTn id="75" presetID="45" presetClass="entr" presetSubtype="0"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fade">
                                      <p:cBhvr>
                                        <p:cTn id="77" dur="3000"/>
                                        <p:tgtEl>
                                          <p:spTgt spid="8"/>
                                        </p:tgtEl>
                                      </p:cBhvr>
                                    </p:animEffect>
                                    <p:anim calcmode="lin" valueType="num">
                                      <p:cBhvr>
                                        <p:cTn id="78" dur="3000" fill="hold"/>
                                        <p:tgtEl>
                                          <p:spTgt spid="8"/>
                                        </p:tgtEl>
                                        <p:attrNameLst>
                                          <p:attrName>ppt_w</p:attrName>
                                        </p:attrNameLst>
                                      </p:cBhvr>
                                      <p:tavLst>
                                        <p:tav tm="0" fmla="#ppt_w*sin(2.5*pi*$)">
                                          <p:val>
                                            <p:fltVal val="0"/>
                                          </p:val>
                                        </p:tav>
                                        <p:tav tm="100000">
                                          <p:val>
                                            <p:fltVal val="1"/>
                                          </p:val>
                                        </p:tav>
                                      </p:tavLst>
                                    </p:anim>
                                    <p:anim calcmode="lin" valueType="num">
                                      <p:cBhvr>
                                        <p:cTn id="79" dur="3000" fill="hold"/>
                                        <p:tgtEl>
                                          <p:spTgt spid="8"/>
                                        </p:tgtEl>
                                        <p:attrNameLst>
                                          <p:attrName>ppt_h</p:attrName>
                                        </p:attrNameLst>
                                      </p:cBhvr>
                                      <p:tavLst>
                                        <p:tav tm="0">
                                          <p:val>
                                            <p:strVal val="#ppt_h"/>
                                          </p:val>
                                        </p:tav>
                                        <p:tav tm="100000">
                                          <p:val>
                                            <p:strVal val="#ppt_h"/>
                                          </p:val>
                                        </p:tav>
                                      </p:tavLst>
                                    </p:anim>
                                  </p:childTnLst>
                                </p:cTn>
                              </p:par>
                              <p:par>
                                <p:cTn id="80" presetID="1" presetClass="exit" presetSubtype="0" fill="hold" grpId="1" nodeType="withEffect">
                                  <p:stCondLst>
                                    <p:cond delay="1000"/>
                                  </p:stCondLst>
                                  <p:childTnLst>
                                    <p:set>
                                      <p:cBhvr>
                                        <p:cTn id="81" dur="1" fill="hold">
                                          <p:stCondLst>
                                            <p:cond delay="0"/>
                                          </p:stCondLst>
                                        </p:cTn>
                                        <p:tgtEl>
                                          <p:spTgt spid="8"/>
                                        </p:tgtEl>
                                        <p:attrNameLst>
                                          <p:attrName>style.visibility</p:attrName>
                                        </p:attrNameLst>
                                      </p:cBhvr>
                                      <p:to>
                                        <p:strVal val="hidden"/>
                                      </p:to>
                                    </p:set>
                                  </p:childTnLst>
                                </p:cTn>
                              </p:par>
                              <p:par>
                                <p:cTn id="82" presetID="45" presetClass="entr" presetSubtype="0" fill="hold" grpId="0" nodeType="withEffect">
                                  <p:stCondLst>
                                    <p:cond delay="1000"/>
                                  </p:stCondLst>
                                  <p:childTnLst>
                                    <p:set>
                                      <p:cBhvr>
                                        <p:cTn id="83" dur="1" fill="hold">
                                          <p:stCondLst>
                                            <p:cond delay="0"/>
                                          </p:stCondLst>
                                        </p:cTn>
                                        <p:tgtEl>
                                          <p:spTgt spid="9"/>
                                        </p:tgtEl>
                                        <p:attrNameLst>
                                          <p:attrName>style.visibility</p:attrName>
                                        </p:attrNameLst>
                                      </p:cBhvr>
                                      <p:to>
                                        <p:strVal val="visible"/>
                                      </p:to>
                                    </p:set>
                                    <p:animEffect transition="in" filter="fade">
                                      <p:cBhvr>
                                        <p:cTn id="84" dur="3000"/>
                                        <p:tgtEl>
                                          <p:spTgt spid="9"/>
                                        </p:tgtEl>
                                      </p:cBhvr>
                                    </p:animEffect>
                                    <p:anim calcmode="lin" valueType="num">
                                      <p:cBhvr>
                                        <p:cTn id="85" dur="3000" fill="hold"/>
                                        <p:tgtEl>
                                          <p:spTgt spid="9"/>
                                        </p:tgtEl>
                                        <p:attrNameLst>
                                          <p:attrName>ppt_w</p:attrName>
                                        </p:attrNameLst>
                                      </p:cBhvr>
                                      <p:tavLst>
                                        <p:tav tm="0" fmla="#ppt_w*sin(2.5*pi*$)">
                                          <p:val>
                                            <p:fltVal val="0"/>
                                          </p:val>
                                        </p:tav>
                                        <p:tav tm="100000">
                                          <p:val>
                                            <p:fltVal val="1"/>
                                          </p:val>
                                        </p:tav>
                                      </p:tavLst>
                                    </p:anim>
                                    <p:anim calcmode="lin" valueType="num">
                                      <p:cBhvr>
                                        <p:cTn id="86" dur="3000" fill="hold"/>
                                        <p:tgtEl>
                                          <p:spTgt spid="9"/>
                                        </p:tgtEl>
                                        <p:attrNameLst>
                                          <p:attrName>ppt_h</p:attrName>
                                        </p:attrNameLst>
                                      </p:cBhvr>
                                      <p:tavLst>
                                        <p:tav tm="0">
                                          <p:val>
                                            <p:strVal val="#ppt_h"/>
                                          </p:val>
                                        </p:tav>
                                        <p:tav tm="100000">
                                          <p:val>
                                            <p:strVal val="#ppt_h"/>
                                          </p:val>
                                        </p:tav>
                                      </p:tavLst>
                                    </p:anim>
                                  </p:childTnLst>
                                </p:cTn>
                              </p:par>
                              <p:par>
                                <p:cTn id="87" presetID="1" presetClass="exit" presetSubtype="0" fill="hold" grpId="1" nodeType="withEffect">
                                  <p:stCondLst>
                                    <p:cond delay="2000"/>
                                  </p:stCondLst>
                                  <p:childTnLst>
                                    <p:set>
                                      <p:cBhvr>
                                        <p:cTn id="88" dur="1" fill="hold">
                                          <p:stCondLst>
                                            <p:cond delay="0"/>
                                          </p:stCondLst>
                                        </p:cTn>
                                        <p:tgtEl>
                                          <p:spTgt spid="9"/>
                                        </p:tgtEl>
                                        <p:attrNameLst>
                                          <p:attrName>style.visibility</p:attrName>
                                        </p:attrNameLst>
                                      </p:cBhvr>
                                      <p:to>
                                        <p:strVal val="hidden"/>
                                      </p:to>
                                    </p:set>
                                  </p:childTnLst>
                                </p:cTn>
                              </p:par>
                              <p:par>
                                <p:cTn id="89" presetID="45" presetClass="entr" presetSubtype="0" fill="hold" grpId="2" nodeType="withEffect">
                                  <p:stCondLst>
                                    <p:cond delay="2000"/>
                                  </p:stCondLst>
                                  <p:childTnLst>
                                    <p:set>
                                      <p:cBhvr>
                                        <p:cTn id="90" dur="1" fill="hold">
                                          <p:stCondLst>
                                            <p:cond delay="0"/>
                                          </p:stCondLst>
                                        </p:cTn>
                                        <p:tgtEl>
                                          <p:spTgt spid="8"/>
                                        </p:tgtEl>
                                        <p:attrNameLst>
                                          <p:attrName>style.visibility</p:attrName>
                                        </p:attrNameLst>
                                      </p:cBhvr>
                                      <p:to>
                                        <p:strVal val="visible"/>
                                      </p:to>
                                    </p:set>
                                    <p:animEffect transition="in" filter="fade">
                                      <p:cBhvr>
                                        <p:cTn id="91" dur="3000"/>
                                        <p:tgtEl>
                                          <p:spTgt spid="8"/>
                                        </p:tgtEl>
                                      </p:cBhvr>
                                    </p:animEffect>
                                    <p:anim calcmode="lin" valueType="num">
                                      <p:cBhvr>
                                        <p:cTn id="92" dur="3000" fill="hold"/>
                                        <p:tgtEl>
                                          <p:spTgt spid="8"/>
                                        </p:tgtEl>
                                        <p:attrNameLst>
                                          <p:attrName>ppt_w</p:attrName>
                                        </p:attrNameLst>
                                      </p:cBhvr>
                                      <p:tavLst>
                                        <p:tav tm="0" fmla="#ppt_w*sin(2.5*pi*$)">
                                          <p:val>
                                            <p:fltVal val="0"/>
                                          </p:val>
                                        </p:tav>
                                        <p:tav tm="100000">
                                          <p:val>
                                            <p:fltVal val="1"/>
                                          </p:val>
                                        </p:tav>
                                      </p:tavLst>
                                    </p:anim>
                                    <p:anim calcmode="lin" valueType="num">
                                      <p:cBhvr>
                                        <p:cTn id="93" dur="3000" fill="hold"/>
                                        <p:tgtEl>
                                          <p:spTgt spid="8"/>
                                        </p:tgtEl>
                                        <p:attrNameLst>
                                          <p:attrName>ppt_h</p:attrName>
                                        </p:attrNameLst>
                                      </p:cBhvr>
                                      <p:tavLst>
                                        <p:tav tm="0">
                                          <p:val>
                                            <p:strVal val="#ppt_h"/>
                                          </p:val>
                                        </p:tav>
                                        <p:tav tm="100000">
                                          <p:val>
                                            <p:strVal val="#ppt_h"/>
                                          </p:val>
                                        </p:tav>
                                      </p:tavLst>
                                    </p:anim>
                                  </p:childTnLst>
                                </p:cTn>
                              </p:par>
                              <p:par>
                                <p:cTn id="94" presetID="1" presetClass="exit" presetSubtype="0" fill="hold" grpId="3" nodeType="withEffect">
                                  <p:stCondLst>
                                    <p:cond delay="3000"/>
                                  </p:stCondLst>
                                  <p:childTnLst>
                                    <p:set>
                                      <p:cBhvr>
                                        <p:cTn id="95" dur="1" fill="hold">
                                          <p:stCondLst>
                                            <p:cond delay="0"/>
                                          </p:stCondLst>
                                        </p:cTn>
                                        <p:tgtEl>
                                          <p:spTgt spid="8"/>
                                        </p:tgtEl>
                                        <p:attrNameLst>
                                          <p:attrName>style.visibility</p:attrName>
                                        </p:attrNameLst>
                                      </p:cBhvr>
                                      <p:to>
                                        <p:strVal val="hidden"/>
                                      </p:to>
                                    </p:set>
                                  </p:childTnLst>
                                </p:cTn>
                              </p:par>
                              <p:par>
                                <p:cTn id="96" presetID="45" presetClass="entr" presetSubtype="0" fill="hold" grpId="2" nodeType="withEffect">
                                  <p:stCondLst>
                                    <p:cond delay="3000"/>
                                  </p:stCondLst>
                                  <p:childTnLst>
                                    <p:set>
                                      <p:cBhvr>
                                        <p:cTn id="97" dur="1" fill="hold">
                                          <p:stCondLst>
                                            <p:cond delay="0"/>
                                          </p:stCondLst>
                                        </p:cTn>
                                        <p:tgtEl>
                                          <p:spTgt spid="9"/>
                                        </p:tgtEl>
                                        <p:attrNameLst>
                                          <p:attrName>style.visibility</p:attrName>
                                        </p:attrNameLst>
                                      </p:cBhvr>
                                      <p:to>
                                        <p:strVal val="visible"/>
                                      </p:to>
                                    </p:set>
                                    <p:animEffect transition="in" filter="fade">
                                      <p:cBhvr>
                                        <p:cTn id="98" dur="3000"/>
                                        <p:tgtEl>
                                          <p:spTgt spid="9"/>
                                        </p:tgtEl>
                                      </p:cBhvr>
                                    </p:animEffect>
                                    <p:anim calcmode="lin" valueType="num">
                                      <p:cBhvr>
                                        <p:cTn id="99" dur="3000" fill="hold"/>
                                        <p:tgtEl>
                                          <p:spTgt spid="9"/>
                                        </p:tgtEl>
                                        <p:attrNameLst>
                                          <p:attrName>ppt_w</p:attrName>
                                        </p:attrNameLst>
                                      </p:cBhvr>
                                      <p:tavLst>
                                        <p:tav tm="0" fmla="#ppt_w*sin(2.5*pi*$)">
                                          <p:val>
                                            <p:fltVal val="0"/>
                                          </p:val>
                                        </p:tav>
                                        <p:tav tm="100000">
                                          <p:val>
                                            <p:fltVal val="1"/>
                                          </p:val>
                                        </p:tav>
                                      </p:tavLst>
                                    </p:anim>
                                    <p:anim calcmode="lin" valueType="num">
                                      <p:cBhvr>
                                        <p:cTn id="100" dur="3000" fill="hold"/>
                                        <p:tgtEl>
                                          <p:spTgt spid="9"/>
                                        </p:tgtEl>
                                        <p:attrNameLst>
                                          <p:attrName>ppt_h</p:attrName>
                                        </p:attrNameLst>
                                      </p:cBhvr>
                                      <p:tavLst>
                                        <p:tav tm="0">
                                          <p:val>
                                            <p:strVal val="#ppt_h"/>
                                          </p:val>
                                        </p:tav>
                                        <p:tav tm="100000">
                                          <p:val>
                                            <p:strVal val="#ppt_h"/>
                                          </p:val>
                                        </p:tav>
                                      </p:tavLst>
                                    </p:anim>
                                  </p:childTnLst>
                                </p:cTn>
                              </p:par>
                              <p:par>
                                <p:cTn id="101" presetID="1" presetClass="exit" presetSubtype="0" fill="hold" grpId="3" nodeType="withEffect">
                                  <p:stCondLst>
                                    <p:cond delay="4000"/>
                                  </p:stCondLst>
                                  <p:childTnLst>
                                    <p:set>
                                      <p:cBhvr>
                                        <p:cTn id="102" dur="1" fill="hold">
                                          <p:stCondLst>
                                            <p:cond delay="0"/>
                                          </p:stCondLst>
                                        </p:cTn>
                                        <p:tgtEl>
                                          <p:spTgt spid="9"/>
                                        </p:tgtEl>
                                        <p:attrNameLst>
                                          <p:attrName>style.visibility</p:attrName>
                                        </p:attrNameLst>
                                      </p:cBhvr>
                                      <p:to>
                                        <p:strVal val="hidden"/>
                                      </p:to>
                                    </p:set>
                                  </p:childTnLst>
                                </p:cTn>
                              </p:par>
                              <p:par>
                                <p:cTn id="103" presetID="45" presetClass="entr" presetSubtype="0" fill="hold" grpId="4" nodeType="withEffect">
                                  <p:stCondLst>
                                    <p:cond delay="4000"/>
                                  </p:stCondLst>
                                  <p:childTnLst>
                                    <p:set>
                                      <p:cBhvr>
                                        <p:cTn id="104" dur="1" fill="hold">
                                          <p:stCondLst>
                                            <p:cond delay="0"/>
                                          </p:stCondLst>
                                        </p:cTn>
                                        <p:tgtEl>
                                          <p:spTgt spid="8"/>
                                        </p:tgtEl>
                                        <p:attrNameLst>
                                          <p:attrName>style.visibility</p:attrName>
                                        </p:attrNameLst>
                                      </p:cBhvr>
                                      <p:to>
                                        <p:strVal val="visible"/>
                                      </p:to>
                                    </p:set>
                                    <p:animEffect transition="in" filter="fade">
                                      <p:cBhvr>
                                        <p:cTn id="105" dur="3000"/>
                                        <p:tgtEl>
                                          <p:spTgt spid="8"/>
                                        </p:tgtEl>
                                      </p:cBhvr>
                                    </p:animEffect>
                                    <p:anim calcmode="lin" valueType="num">
                                      <p:cBhvr>
                                        <p:cTn id="106" dur="3000" fill="hold"/>
                                        <p:tgtEl>
                                          <p:spTgt spid="8"/>
                                        </p:tgtEl>
                                        <p:attrNameLst>
                                          <p:attrName>ppt_w</p:attrName>
                                        </p:attrNameLst>
                                      </p:cBhvr>
                                      <p:tavLst>
                                        <p:tav tm="0" fmla="#ppt_w*sin(2.5*pi*$)">
                                          <p:val>
                                            <p:fltVal val="0"/>
                                          </p:val>
                                        </p:tav>
                                        <p:tav tm="100000">
                                          <p:val>
                                            <p:fltVal val="1"/>
                                          </p:val>
                                        </p:tav>
                                      </p:tavLst>
                                    </p:anim>
                                    <p:anim calcmode="lin" valueType="num">
                                      <p:cBhvr>
                                        <p:cTn id="107" dur="3000" fill="hold"/>
                                        <p:tgtEl>
                                          <p:spTgt spid="8"/>
                                        </p:tgtEl>
                                        <p:attrNameLst>
                                          <p:attrName>ppt_h</p:attrName>
                                        </p:attrNameLst>
                                      </p:cBhvr>
                                      <p:tavLst>
                                        <p:tav tm="0">
                                          <p:val>
                                            <p:strVal val="#ppt_h"/>
                                          </p:val>
                                        </p:tav>
                                        <p:tav tm="100000">
                                          <p:val>
                                            <p:strVal val="#ppt_h"/>
                                          </p:val>
                                        </p:tav>
                                      </p:tavLst>
                                    </p:anim>
                                  </p:childTnLst>
                                </p:cTn>
                              </p:par>
                              <p:par>
                                <p:cTn id="108" presetID="1" presetClass="exit" presetSubtype="0" fill="hold" grpId="5" nodeType="withEffect">
                                  <p:stCondLst>
                                    <p:cond delay="5000"/>
                                  </p:stCondLst>
                                  <p:childTnLst>
                                    <p:set>
                                      <p:cBhvr>
                                        <p:cTn id="109" dur="1" fill="hold">
                                          <p:stCondLst>
                                            <p:cond delay="0"/>
                                          </p:stCondLst>
                                        </p:cTn>
                                        <p:tgtEl>
                                          <p:spTgt spid="8"/>
                                        </p:tgtEl>
                                        <p:attrNameLst>
                                          <p:attrName>style.visibility</p:attrName>
                                        </p:attrNameLst>
                                      </p:cBhvr>
                                      <p:to>
                                        <p:strVal val="hidden"/>
                                      </p:to>
                                    </p:set>
                                  </p:childTnLst>
                                </p:cTn>
                              </p:par>
                              <p:par>
                                <p:cTn id="110" presetID="45" presetClass="entr" presetSubtype="0" fill="hold" grpId="4" nodeType="withEffect">
                                  <p:stCondLst>
                                    <p:cond delay="500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3000"/>
                                        <p:tgtEl>
                                          <p:spTgt spid="9"/>
                                        </p:tgtEl>
                                      </p:cBhvr>
                                    </p:animEffect>
                                    <p:anim calcmode="lin" valueType="num">
                                      <p:cBhvr>
                                        <p:cTn id="113" dur="3000" fill="hold"/>
                                        <p:tgtEl>
                                          <p:spTgt spid="9"/>
                                        </p:tgtEl>
                                        <p:attrNameLst>
                                          <p:attrName>ppt_w</p:attrName>
                                        </p:attrNameLst>
                                      </p:cBhvr>
                                      <p:tavLst>
                                        <p:tav tm="0" fmla="#ppt_w*sin(2.5*pi*$)">
                                          <p:val>
                                            <p:fltVal val="0"/>
                                          </p:val>
                                        </p:tav>
                                        <p:tav tm="100000">
                                          <p:val>
                                            <p:fltVal val="1"/>
                                          </p:val>
                                        </p:tav>
                                      </p:tavLst>
                                    </p:anim>
                                    <p:anim calcmode="lin" valueType="num">
                                      <p:cBhvr>
                                        <p:cTn id="114" dur="3000" fill="hold"/>
                                        <p:tgtEl>
                                          <p:spTgt spid="9"/>
                                        </p:tgtEl>
                                        <p:attrNameLst>
                                          <p:attrName>ppt_h</p:attrName>
                                        </p:attrNameLst>
                                      </p:cBhvr>
                                      <p:tavLst>
                                        <p:tav tm="0">
                                          <p:val>
                                            <p:strVal val="#ppt_h"/>
                                          </p:val>
                                        </p:tav>
                                        <p:tav tm="100000">
                                          <p:val>
                                            <p:strVal val="#ppt_h"/>
                                          </p:val>
                                        </p:tav>
                                      </p:tavLst>
                                    </p:anim>
                                  </p:childTnLst>
                                </p:cTn>
                              </p:par>
                              <p:par>
                                <p:cTn id="115" presetID="1" presetClass="exit" presetSubtype="0" fill="hold" grpId="5" nodeType="withEffect">
                                  <p:stCondLst>
                                    <p:cond delay="6000"/>
                                  </p:stCondLst>
                                  <p:childTnLst>
                                    <p:set>
                                      <p:cBhvr>
                                        <p:cTn id="116" dur="1" fill="hold">
                                          <p:stCondLst>
                                            <p:cond delay="0"/>
                                          </p:stCondLst>
                                        </p:cTn>
                                        <p:tgtEl>
                                          <p:spTgt spid="9"/>
                                        </p:tgtEl>
                                        <p:attrNameLst>
                                          <p:attrName>style.visibility</p:attrName>
                                        </p:attrNameLst>
                                      </p:cBhvr>
                                      <p:to>
                                        <p:strVal val="hidden"/>
                                      </p:to>
                                    </p:set>
                                  </p:childTnLst>
                                </p:cTn>
                              </p:par>
                              <p:par>
                                <p:cTn id="117" presetID="45" presetClass="entr" presetSubtype="0" fill="hold" grpId="6" nodeType="withEffect">
                                  <p:stCondLst>
                                    <p:cond delay="6000"/>
                                  </p:stCondLst>
                                  <p:childTnLst>
                                    <p:set>
                                      <p:cBhvr>
                                        <p:cTn id="118" dur="1" fill="hold">
                                          <p:stCondLst>
                                            <p:cond delay="0"/>
                                          </p:stCondLst>
                                        </p:cTn>
                                        <p:tgtEl>
                                          <p:spTgt spid="8"/>
                                        </p:tgtEl>
                                        <p:attrNameLst>
                                          <p:attrName>style.visibility</p:attrName>
                                        </p:attrNameLst>
                                      </p:cBhvr>
                                      <p:to>
                                        <p:strVal val="visible"/>
                                      </p:to>
                                    </p:set>
                                    <p:animEffect transition="in" filter="fade">
                                      <p:cBhvr>
                                        <p:cTn id="119" dur="3000"/>
                                        <p:tgtEl>
                                          <p:spTgt spid="8"/>
                                        </p:tgtEl>
                                      </p:cBhvr>
                                    </p:animEffect>
                                    <p:anim calcmode="lin" valueType="num">
                                      <p:cBhvr>
                                        <p:cTn id="120" dur="3000" fill="hold"/>
                                        <p:tgtEl>
                                          <p:spTgt spid="8"/>
                                        </p:tgtEl>
                                        <p:attrNameLst>
                                          <p:attrName>ppt_w</p:attrName>
                                        </p:attrNameLst>
                                      </p:cBhvr>
                                      <p:tavLst>
                                        <p:tav tm="0" fmla="#ppt_w*sin(2.5*pi*$)">
                                          <p:val>
                                            <p:fltVal val="0"/>
                                          </p:val>
                                        </p:tav>
                                        <p:tav tm="100000">
                                          <p:val>
                                            <p:fltVal val="1"/>
                                          </p:val>
                                        </p:tav>
                                      </p:tavLst>
                                    </p:anim>
                                    <p:anim calcmode="lin" valueType="num">
                                      <p:cBhvr>
                                        <p:cTn id="121" dur="3000" fill="hold"/>
                                        <p:tgtEl>
                                          <p:spTgt spid="8"/>
                                        </p:tgtEl>
                                        <p:attrNameLst>
                                          <p:attrName>ppt_h</p:attrName>
                                        </p:attrNameLst>
                                      </p:cBhvr>
                                      <p:tavLst>
                                        <p:tav tm="0">
                                          <p:val>
                                            <p:strVal val="#ppt_h"/>
                                          </p:val>
                                        </p:tav>
                                        <p:tav tm="100000">
                                          <p:val>
                                            <p:strVal val="#ppt_h"/>
                                          </p:val>
                                        </p:tav>
                                      </p:tavLst>
                                    </p:anim>
                                  </p:childTnLst>
                                </p:cTn>
                              </p:par>
                              <p:par>
                                <p:cTn id="122" presetID="1" presetClass="exit" presetSubtype="0" fill="hold" grpId="7" nodeType="withEffect">
                                  <p:stCondLst>
                                    <p:cond delay="7000"/>
                                  </p:stCondLst>
                                  <p:childTnLst>
                                    <p:set>
                                      <p:cBhvr>
                                        <p:cTn id="123" dur="1" fill="hold">
                                          <p:stCondLst>
                                            <p:cond delay="0"/>
                                          </p:stCondLst>
                                        </p:cTn>
                                        <p:tgtEl>
                                          <p:spTgt spid="8"/>
                                        </p:tgtEl>
                                        <p:attrNameLst>
                                          <p:attrName>style.visibility</p:attrName>
                                        </p:attrNameLst>
                                      </p:cBhvr>
                                      <p:to>
                                        <p:strVal val="hidden"/>
                                      </p:to>
                                    </p:set>
                                  </p:childTnLst>
                                </p:cTn>
                              </p:par>
                              <p:par>
                                <p:cTn id="124" presetID="45" presetClass="entr" presetSubtype="0" fill="hold" grpId="6" nodeType="withEffect">
                                  <p:stCondLst>
                                    <p:cond delay="7000"/>
                                  </p:stCondLst>
                                  <p:childTnLst>
                                    <p:set>
                                      <p:cBhvr>
                                        <p:cTn id="125" dur="1" fill="hold">
                                          <p:stCondLst>
                                            <p:cond delay="0"/>
                                          </p:stCondLst>
                                        </p:cTn>
                                        <p:tgtEl>
                                          <p:spTgt spid="9"/>
                                        </p:tgtEl>
                                        <p:attrNameLst>
                                          <p:attrName>style.visibility</p:attrName>
                                        </p:attrNameLst>
                                      </p:cBhvr>
                                      <p:to>
                                        <p:strVal val="visible"/>
                                      </p:to>
                                    </p:set>
                                    <p:animEffect transition="in" filter="fade">
                                      <p:cBhvr>
                                        <p:cTn id="126" dur="3000"/>
                                        <p:tgtEl>
                                          <p:spTgt spid="9"/>
                                        </p:tgtEl>
                                      </p:cBhvr>
                                    </p:animEffect>
                                    <p:anim calcmode="lin" valueType="num">
                                      <p:cBhvr>
                                        <p:cTn id="127" dur="3000" fill="hold"/>
                                        <p:tgtEl>
                                          <p:spTgt spid="9"/>
                                        </p:tgtEl>
                                        <p:attrNameLst>
                                          <p:attrName>ppt_w</p:attrName>
                                        </p:attrNameLst>
                                      </p:cBhvr>
                                      <p:tavLst>
                                        <p:tav tm="0" fmla="#ppt_w*sin(2.5*pi*$)">
                                          <p:val>
                                            <p:fltVal val="0"/>
                                          </p:val>
                                        </p:tav>
                                        <p:tav tm="100000">
                                          <p:val>
                                            <p:fltVal val="1"/>
                                          </p:val>
                                        </p:tav>
                                      </p:tavLst>
                                    </p:anim>
                                    <p:anim calcmode="lin" valueType="num">
                                      <p:cBhvr>
                                        <p:cTn id="128" dur="3000" fill="hold"/>
                                        <p:tgtEl>
                                          <p:spTgt spid="9"/>
                                        </p:tgtEl>
                                        <p:attrNameLst>
                                          <p:attrName>ppt_h</p:attrName>
                                        </p:attrNameLst>
                                      </p:cBhvr>
                                      <p:tavLst>
                                        <p:tav tm="0">
                                          <p:val>
                                            <p:strVal val="#ppt_h"/>
                                          </p:val>
                                        </p:tav>
                                        <p:tav tm="100000">
                                          <p:val>
                                            <p:strVal val="#ppt_h"/>
                                          </p:val>
                                        </p:tav>
                                      </p:tavLst>
                                    </p:anim>
                                  </p:childTnLst>
                                </p:cTn>
                              </p:par>
                              <p:par>
                                <p:cTn id="129" presetID="1" presetClass="exit" presetSubtype="0" fill="hold" grpId="7" nodeType="withEffect">
                                  <p:stCondLst>
                                    <p:cond delay="8000"/>
                                  </p:stCondLst>
                                  <p:childTnLst>
                                    <p:set>
                                      <p:cBhvr>
                                        <p:cTn id="130" dur="1" fill="hold">
                                          <p:stCondLst>
                                            <p:cond delay="0"/>
                                          </p:stCondLst>
                                        </p:cTn>
                                        <p:tgtEl>
                                          <p:spTgt spid="9"/>
                                        </p:tgtEl>
                                        <p:attrNameLst>
                                          <p:attrName>style.visibility</p:attrName>
                                        </p:attrNameLst>
                                      </p:cBhvr>
                                      <p:to>
                                        <p:strVal val="hidden"/>
                                      </p:to>
                                    </p:set>
                                  </p:childTnLst>
                                </p:cTn>
                              </p:par>
                              <p:par>
                                <p:cTn id="131" presetID="45" presetClass="entr" presetSubtype="0" fill="hold" grpId="8" nodeType="withEffect">
                                  <p:stCondLst>
                                    <p:cond delay="8000"/>
                                  </p:stCondLst>
                                  <p:childTnLst>
                                    <p:set>
                                      <p:cBhvr>
                                        <p:cTn id="132" dur="1" fill="hold">
                                          <p:stCondLst>
                                            <p:cond delay="0"/>
                                          </p:stCondLst>
                                        </p:cTn>
                                        <p:tgtEl>
                                          <p:spTgt spid="8"/>
                                        </p:tgtEl>
                                        <p:attrNameLst>
                                          <p:attrName>style.visibility</p:attrName>
                                        </p:attrNameLst>
                                      </p:cBhvr>
                                      <p:to>
                                        <p:strVal val="visible"/>
                                      </p:to>
                                    </p:set>
                                    <p:animEffect transition="in" filter="fade">
                                      <p:cBhvr>
                                        <p:cTn id="133" dur="3000"/>
                                        <p:tgtEl>
                                          <p:spTgt spid="8"/>
                                        </p:tgtEl>
                                      </p:cBhvr>
                                    </p:animEffect>
                                    <p:anim calcmode="lin" valueType="num">
                                      <p:cBhvr>
                                        <p:cTn id="134" dur="3000" fill="hold"/>
                                        <p:tgtEl>
                                          <p:spTgt spid="8"/>
                                        </p:tgtEl>
                                        <p:attrNameLst>
                                          <p:attrName>ppt_w</p:attrName>
                                        </p:attrNameLst>
                                      </p:cBhvr>
                                      <p:tavLst>
                                        <p:tav tm="0" fmla="#ppt_w*sin(2.5*pi*$)">
                                          <p:val>
                                            <p:fltVal val="0"/>
                                          </p:val>
                                        </p:tav>
                                        <p:tav tm="100000">
                                          <p:val>
                                            <p:fltVal val="1"/>
                                          </p:val>
                                        </p:tav>
                                      </p:tavLst>
                                    </p:anim>
                                    <p:anim calcmode="lin" valueType="num">
                                      <p:cBhvr>
                                        <p:cTn id="135" dur="3000" fill="hold"/>
                                        <p:tgtEl>
                                          <p:spTgt spid="8"/>
                                        </p:tgtEl>
                                        <p:attrNameLst>
                                          <p:attrName>ppt_h</p:attrName>
                                        </p:attrNameLst>
                                      </p:cBhvr>
                                      <p:tavLst>
                                        <p:tav tm="0">
                                          <p:val>
                                            <p:strVal val="#ppt_h"/>
                                          </p:val>
                                        </p:tav>
                                        <p:tav tm="100000">
                                          <p:val>
                                            <p:strVal val="#ppt_h"/>
                                          </p:val>
                                        </p:tav>
                                      </p:tavLst>
                                    </p:anim>
                                  </p:childTnLst>
                                </p:cTn>
                              </p:par>
                              <p:par>
                                <p:cTn id="136" presetID="1" presetClass="exit" presetSubtype="0" fill="hold" grpId="9" nodeType="withEffect">
                                  <p:stCondLst>
                                    <p:cond delay="9000"/>
                                  </p:stCondLst>
                                  <p:childTnLst>
                                    <p:set>
                                      <p:cBhvr>
                                        <p:cTn id="137" dur="1" fill="hold">
                                          <p:stCondLst>
                                            <p:cond delay="0"/>
                                          </p:stCondLst>
                                        </p:cTn>
                                        <p:tgtEl>
                                          <p:spTgt spid="8"/>
                                        </p:tgtEl>
                                        <p:attrNameLst>
                                          <p:attrName>style.visibility</p:attrName>
                                        </p:attrNameLst>
                                      </p:cBhvr>
                                      <p:to>
                                        <p:strVal val="hidden"/>
                                      </p:to>
                                    </p:set>
                                  </p:childTnLst>
                                </p:cTn>
                              </p:par>
                              <p:par>
                                <p:cTn id="138" presetID="45" presetClass="entr" presetSubtype="0" fill="hold" grpId="8" nodeType="withEffect">
                                  <p:stCondLst>
                                    <p:cond delay="9000"/>
                                  </p:stCondLst>
                                  <p:childTnLst>
                                    <p:set>
                                      <p:cBhvr>
                                        <p:cTn id="139" dur="1" fill="hold">
                                          <p:stCondLst>
                                            <p:cond delay="0"/>
                                          </p:stCondLst>
                                        </p:cTn>
                                        <p:tgtEl>
                                          <p:spTgt spid="9"/>
                                        </p:tgtEl>
                                        <p:attrNameLst>
                                          <p:attrName>style.visibility</p:attrName>
                                        </p:attrNameLst>
                                      </p:cBhvr>
                                      <p:to>
                                        <p:strVal val="visible"/>
                                      </p:to>
                                    </p:set>
                                    <p:animEffect transition="in" filter="fade">
                                      <p:cBhvr>
                                        <p:cTn id="140" dur="3000"/>
                                        <p:tgtEl>
                                          <p:spTgt spid="9"/>
                                        </p:tgtEl>
                                      </p:cBhvr>
                                    </p:animEffect>
                                    <p:anim calcmode="lin" valueType="num">
                                      <p:cBhvr>
                                        <p:cTn id="141" dur="3000" fill="hold"/>
                                        <p:tgtEl>
                                          <p:spTgt spid="9"/>
                                        </p:tgtEl>
                                        <p:attrNameLst>
                                          <p:attrName>ppt_w</p:attrName>
                                        </p:attrNameLst>
                                      </p:cBhvr>
                                      <p:tavLst>
                                        <p:tav tm="0" fmla="#ppt_w*sin(2.5*pi*$)">
                                          <p:val>
                                            <p:fltVal val="0"/>
                                          </p:val>
                                        </p:tav>
                                        <p:tav tm="100000">
                                          <p:val>
                                            <p:fltVal val="1"/>
                                          </p:val>
                                        </p:tav>
                                      </p:tavLst>
                                    </p:anim>
                                    <p:anim calcmode="lin" valueType="num">
                                      <p:cBhvr>
                                        <p:cTn id="142" dur="3000" fill="hold"/>
                                        <p:tgtEl>
                                          <p:spTgt spid="9"/>
                                        </p:tgtEl>
                                        <p:attrNameLst>
                                          <p:attrName>ppt_h</p:attrName>
                                        </p:attrNameLst>
                                      </p:cBhvr>
                                      <p:tavLst>
                                        <p:tav tm="0">
                                          <p:val>
                                            <p:strVal val="#ppt_h"/>
                                          </p:val>
                                        </p:tav>
                                        <p:tav tm="100000">
                                          <p:val>
                                            <p:strVal val="#ppt_h"/>
                                          </p:val>
                                        </p:tav>
                                      </p:tavLst>
                                    </p:anim>
                                  </p:childTnLst>
                                </p:cTn>
                              </p:par>
                              <p:par>
                                <p:cTn id="143" presetID="1" presetClass="exit" presetSubtype="0" fill="hold" grpId="9" nodeType="withEffect">
                                  <p:stCondLst>
                                    <p:cond delay="10000"/>
                                  </p:stCondLst>
                                  <p:childTnLst>
                                    <p:set>
                                      <p:cBhvr>
                                        <p:cTn id="14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P spid="3" grpId="4" animBg="1"/>
      <p:bldP spid="3" grpId="5" animBg="1"/>
      <p:bldP spid="3" grpId="6" animBg="1"/>
      <p:bldP spid="3" grpId="7" animBg="1"/>
      <p:bldP spid="3" grpId="8" animBg="1"/>
      <p:bldP spid="3" grpId="9" animBg="1"/>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9" grpId="0" animBg="1"/>
      <p:bldP spid="9" grpId="1" animBg="1"/>
      <p:bldP spid="9" grpId="2" animBg="1"/>
      <p:bldP spid="9" grpId="3" animBg="1"/>
      <p:bldP spid="9" grpId="4" animBg="1"/>
      <p:bldP spid="9" grpId="5" animBg="1"/>
      <p:bldP spid="9" grpId="6" animBg="1"/>
      <p:bldP spid="9" grpId="7" animBg="1"/>
      <p:bldP spid="9" grpId="8" animBg="1"/>
      <p:bldP spid="9" grpId="9" animBg="1"/>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16FD9-CA4C-0D44-6808-313A7513F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6A261-745A-2E99-0116-123B4A4B367B}"/>
              </a:ext>
            </a:extLst>
          </p:cNvPr>
          <p:cNvSpPr>
            <a:spLocks noGrp="1"/>
          </p:cNvSpPr>
          <p:nvPr>
            <p:ph type="title"/>
          </p:nvPr>
        </p:nvSpPr>
        <p:spPr/>
        <p:txBody>
          <a:bodyPr/>
          <a:lstStyle/>
          <a:p>
            <a:r>
              <a:rPr lang="en-GB" dirty="0"/>
              <a:t>Quantum Entanglement</a:t>
            </a:r>
            <a:endParaRPr lang="en-IT" dirty="0"/>
          </a:p>
        </p:txBody>
      </p:sp>
      <p:sp>
        <p:nvSpPr>
          <p:cNvPr id="5" name="Footer Placeholder 4">
            <a:extLst>
              <a:ext uri="{FF2B5EF4-FFF2-40B4-BE49-F238E27FC236}">
                <a16:creationId xmlns:a16="http://schemas.microsoft.com/office/drawing/2014/main" id="{3B137D2D-AB0A-D229-00C3-6F631C9B77D7}"/>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6" name="Slide Number Placeholder 5">
            <a:extLst>
              <a:ext uri="{FF2B5EF4-FFF2-40B4-BE49-F238E27FC236}">
                <a16:creationId xmlns:a16="http://schemas.microsoft.com/office/drawing/2014/main" id="{228DEB05-1637-7C5D-F3A9-970F40703FA2}"/>
              </a:ext>
            </a:extLst>
          </p:cNvPr>
          <p:cNvSpPr>
            <a:spLocks noGrp="1"/>
          </p:cNvSpPr>
          <p:nvPr>
            <p:ph type="sldNum" sz="quarter" idx="12"/>
          </p:nvPr>
        </p:nvSpPr>
        <p:spPr/>
        <p:txBody>
          <a:bodyPr/>
          <a:lstStyle/>
          <a:p>
            <a:fld id="{5AFE0081-1ED4-41E0-88AB-D26DBE160EA6}" type="slidenum">
              <a:rPr lang="en-US" smtClean="0"/>
              <a:t>5</a:t>
            </a:fld>
            <a:endParaRPr lang="en-US"/>
          </a:p>
        </p:txBody>
      </p:sp>
      <p:sp>
        <p:nvSpPr>
          <p:cNvPr id="4" name="Content Placeholder 2">
            <a:extLst>
              <a:ext uri="{FF2B5EF4-FFF2-40B4-BE49-F238E27FC236}">
                <a16:creationId xmlns:a16="http://schemas.microsoft.com/office/drawing/2014/main" id="{CE163854-3DF8-B190-7CC5-3B057B98563B}"/>
              </a:ext>
            </a:extLst>
          </p:cNvPr>
          <p:cNvSpPr>
            <a:spLocks noGrp="1"/>
          </p:cNvSpPr>
          <p:nvPr>
            <p:ph idx="1"/>
          </p:nvPr>
        </p:nvSpPr>
        <p:spPr>
          <a:xfrm>
            <a:off x="838200" y="1544225"/>
            <a:ext cx="10841181" cy="1226684"/>
          </a:xfrm>
        </p:spPr>
        <p:txBody>
          <a:bodyPr/>
          <a:lstStyle/>
          <a:p>
            <a:r>
              <a:rPr lang="en-US" altLang="zh-CN" sz="2800" dirty="0"/>
              <a:t>Quantum entanglement: strong s</a:t>
            </a:r>
            <a:r>
              <a:rPr lang="en-US" sz="2800" dirty="0"/>
              <a:t>tate correlation of two qubits</a:t>
            </a:r>
          </a:p>
          <a:p>
            <a:pPr lvl="1"/>
            <a:r>
              <a:rPr lang="en-US" altLang="zh-CN" sz="2600" dirty="0"/>
              <a:t>Measuring one qubit can reveal the value of the other</a:t>
            </a:r>
          </a:p>
          <a:p>
            <a:pPr lvl="1"/>
            <a:r>
              <a:rPr lang="en-GB" sz="2600" dirty="0">
                <a:solidFill>
                  <a:srgbClr val="FF0000"/>
                </a:solidFill>
              </a:rPr>
              <a:t>Fidelity</a:t>
            </a:r>
            <a:r>
              <a:rPr lang="en-GB" sz="2600" dirty="0"/>
              <a:t>: measures entanglement quality, ranges from 0 to 1</a:t>
            </a:r>
          </a:p>
          <a:p>
            <a:pPr lvl="1"/>
            <a:r>
              <a:rPr lang="en-GB" sz="2600" dirty="0"/>
              <a:t>Entangled states: known as Einstein-Podolsky-Rosen pairs, or </a:t>
            </a:r>
            <a:r>
              <a:rPr lang="en-GB" sz="2600" dirty="0">
                <a:solidFill>
                  <a:srgbClr val="FF0000"/>
                </a:solidFill>
              </a:rPr>
              <a:t>EPR pairs</a:t>
            </a:r>
            <a:endParaRPr lang="en-IT" sz="2600" dirty="0">
              <a:solidFill>
                <a:srgbClr val="FF0000"/>
              </a:solidFill>
            </a:endParaRPr>
          </a:p>
          <a:p>
            <a:pPr lvl="1"/>
            <a:endParaRPr lang="en-US" altLang="zh-CN" sz="2600" dirty="0"/>
          </a:p>
        </p:txBody>
      </p:sp>
      <p:grpSp>
        <p:nvGrpSpPr>
          <p:cNvPr id="19" name="Group 18">
            <a:extLst>
              <a:ext uri="{FF2B5EF4-FFF2-40B4-BE49-F238E27FC236}">
                <a16:creationId xmlns:a16="http://schemas.microsoft.com/office/drawing/2014/main" id="{63989D14-48C0-890F-BE6B-51D8B843140F}"/>
              </a:ext>
            </a:extLst>
          </p:cNvPr>
          <p:cNvGrpSpPr/>
          <p:nvPr/>
        </p:nvGrpSpPr>
        <p:grpSpPr>
          <a:xfrm>
            <a:off x="0" y="5313775"/>
            <a:ext cx="12162940" cy="763845"/>
            <a:chOff x="-1777217" y="2202665"/>
            <a:chExt cx="9165899" cy="512467"/>
          </a:xfrm>
        </p:grpSpPr>
        <p:sp>
          <p:nvSpPr>
            <p:cNvPr id="20" name="矩形 141">
              <a:extLst>
                <a:ext uri="{FF2B5EF4-FFF2-40B4-BE49-F238E27FC236}">
                  <a16:creationId xmlns:a16="http://schemas.microsoft.com/office/drawing/2014/main" id="{90BC4C69-4DA7-36F5-5F01-0E3E99512C5A}"/>
                </a:ext>
              </a:extLst>
            </p:cNvPr>
            <p:cNvSpPr/>
            <p:nvPr/>
          </p:nvSpPr>
          <p:spPr>
            <a:xfrm>
              <a:off x="-1755318" y="2202665"/>
              <a:ext cx="9144000" cy="512467"/>
            </a:xfrm>
            <a:prstGeom prst="rect">
              <a:avLst/>
            </a:prstGeom>
            <a:solidFill>
              <a:srgbClr val="4F81BD"/>
            </a:solidFill>
            <a:ln w="25400" cap="flat" cmpd="sng" algn="ctr">
              <a:solidFill>
                <a:srgbClr val="4F81BD">
                  <a:shade val="50000"/>
                </a:srgbClr>
              </a:solidFill>
              <a:prstDash val="solid"/>
            </a:ln>
            <a:effectLst/>
          </p:spPr>
          <p:txBody>
            <a:bodyPr rtlCol="0" anchor="ctr"/>
            <a:lstStyle/>
            <a:p>
              <a:pPr algn="ctr" defTabSz="914400" fontAlgn="base">
                <a:lnSpc>
                  <a:spcPct val="80000"/>
                </a:lnSpc>
                <a:spcBef>
                  <a:spcPct val="20000"/>
                </a:spcBef>
                <a:spcAft>
                  <a:spcPct val="0"/>
                </a:spcAft>
                <a:buClr>
                  <a:srgbClr val="0000FF"/>
                </a:buClr>
                <a:buSzPct val="110000"/>
                <a:buFont typeface="Wingdings" pitchFamily="2" charset="2"/>
                <a:buNone/>
                <a:defRPr/>
              </a:pPr>
              <a:endParaRPr lang="zh-CN" altLang="en-US" sz="2000" b="1" kern="0" dirty="0">
                <a:solidFill>
                  <a:prstClr val="white"/>
                </a:solidFill>
                <a:effectLst>
                  <a:outerShdw blurRad="38100" dist="38100" dir="2700000" algn="tl">
                    <a:srgbClr val="000000">
                      <a:alpha val="43137"/>
                    </a:srgbClr>
                  </a:outerShdw>
                </a:effectLst>
                <a:ea typeface="宋体" panose="02010600030101010101" pitchFamily="2" charset="-122"/>
              </a:endParaRPr>
            </a:p>
          </p:txBody>
        </p:sp>
        <p:sp>
          <p:nvSpPr>
            <p:cNvPr id="21" name="文本框 142">
              <a:extLst>
                <a:ext uri="{FF2B5EF4-FFF2-40B4-BE49-F238E27FC236}">
                  <a16:creationId xmlns:a16="http://schemas.microsoft.com/office/drawing/2014/main" id="{01780620-DD11-B4DB-7F0D-1F260786263B}"/>
                </a:ext>
              </a:extLst>
            </p:cNvPr>
            <p:cNvSpPr txBox="1"/>
            <p:nvPr/>
          </p:nvSpPr>
          <p:spPr>
            <a:xfrm>
              <a:off x="-1777217" y="2318790"/>
              <a:ext cx="9121184" cy="332877"/>
            </a:xfrm>
            <a:prstGeom prst="rect">
              <a:avLst/>
            </a:prstGeom>
            <a:noFill/>
          </p:spPr>
          <p:txBody>
            <a:bodyPr wrap="square" rtlCol="0">
              <a:spAutoFit/>
            </a:bodyPr>
            <a:lstStyle/>
            <a:p>
              <a:pPr algn="ctr" defTabSz="914400" fontAlgn="base">
                <a:lnSpc>
                  <a:spcPct val="80000"/>
                </a:lnSpc>
                <a:spcBef>
                  <a:spcPts val="300"/>
                </a:spcBef>
                <a:spcAft>
                  <a:spcPts val="300"/>
                </a:spcAft>
                <a:buClr>
                  <a:srgbClr val="0000FF"/>
                </a:buClr>
                <a:buSzPct val="110000"/>
                <a:buFont typeface="Wingdings" pitchFamily="2" charset="2"/>
                <a:buNone/>
                <a:defRPr/>
              </a:pPr>
              <a:r>
                <a:rPr lang="en-US" altLang="zh-CN" sz="3200" b="1" kern="0" dirty="0">
                  <a:solidFill>
                    <a:srgbClr val="FFFFFF"/>
                  </a:solidFill>
                  <a:ea typeface="微软雅黑" panose="020B0503020204020204" pitchFamily="34" charset="-122"/>
                </a:rPr>
                <a:t>How to establish</a:t>
              </a:r>
              <a:r>
                <a:rPr lang="en-US" altLang="zh-CN" sz="3200" b="1" kern="0" dirty="0">
                  <a:solidFill>
                    <a:srgbClr val="FFFF00"/>
                  </a:solidFill>
                  <a:ea typeface="微软雅黑" panose="020B0503020204020204" pitchFamily="34" charset="-122"/>
                </a:rPr>
                <a:t> high-fidelity entanglements between distant nodes?</a:t>
              </a:r>
              <a:endParaRPr lang="zh-CN" altLang="en-US" sz="3200" b="1" kern="0" dirty="0">
                <a:solidFill>
                  <a:srgbClr val="FFFF00"/>
                </a:solidFill>
                <a:ea typeface="微软雅黑" panose="020B0503020204020204" pitchFamily="34" charset="-122"/>
              </a:endParaRPr>
            </a:p>
          </p:txBody>
        </p:sp>
      </p:grpSp>
      <p:sp>
        <p:nvSpPr>
          <p:cNvPr id="10" name="Content Placeholder 2">
            <a:extLst>
              <a:ext uri="{FF2B5EF4-FFF2-40B4-BE49-F238E27FC236}">
                <a16:creationId xmlns:a16="http://schemas.microsoft.com/office/drawing/2014/main" id="{8A4FBCE6-5C34-AC98-B126-0BED189EDD9B}"/>
              </a:ext>
            </a:extLst>
          </p:cNvPr>
          <p:cNvSpPr txBox="1">
            <a:spLocks/>
          </p:cNvSpPr>
          <p:nvPr/>
        </p:nvSpPr>
        <p:spPr>
          <a:xfrm>
            <a:off x="838200" y="4438322"/>
            <a:ext cx="10841181" cy="4044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Applications: </a:t>
            </a:r>
            <a:r>
              <a:rPr lang="en-US" sz="2800" dirty="0">
                <a:solidFill>
                  <a:srgbClr val="FF0000"/>
                </a:solidFill>
              </a:rPr>
              <a:t>quantum key distribution, quantum computing, etc.</a:t>
            </a:r>
          </a:p>
        </p:txBody>
      </p:sp>
      <p:sp>
        <p:nvSpPr>
          <p:cNvPr id="8" name="Oval 7">
            <a:extLst>
              <a:ext uri="{FF2B5EF4-FFF2-40B4-BE49-F238E27FC236}">
                <a16:creationId xmlns:a16="http://schemas.microsoft.com/office/drawing/2014/main" id="{005A82E4-6ABC-D94E-6CE9-816204AABD0E}"/>
              </a:ext>
            </a:extLst>
          </p:cNvPr>
          <p:cNvSpPr/>
          <p:nvPr/>
        </p:nvSpPr>
        <p:spPr>
          <a:xfrm>
            <a:off x="2667000" y="3346994"/>
            <a:ext cx="1037044" cy="1014149"/>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1</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45DFA4CD-F52E-D7AF-AB59-C3E88771D86E}"/>
              </a:ext>
            </a:extLst>
          </p:cNvPr>
          <p:cNvSpPr/>
          <p:nvPr/>
        </p:nvSpPr>
        <p:spPr>
          <a:xfrm>
            <a:off x="2667000" y="3324099"/>
            <a:ext cx="1037044" cy="1037044"/>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0</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0B47CA3F-7900-9564-A27E-D5DE51AF9CF1}"/>
              </a:ext>
            </a:extLst>
          </p:cNvPr>
          <p:cNvSpPr/>
          <p:nvPr/>
        </p:nvSpPr>
        <p:spPr>
          <a:xfrm>
            <a:off x="7450914" y="3324099"/>
            <a:ext cx="1037044" cy="1037044"/>
          </a:xfrm>
          <a:prstGeom prst="ellipse">
            <a:avLst/>
          </a:prstGeom>
          <a:solidFill>
            <a:schemeClr val="bg1">
              <a:lumMod val="95000"/>
            </a:schemeClr>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solidFill>
                  <a:schemeClr val="tx1"/>
                </a:solidFill>
                <a:latin typeface="Times New Roman" panose="02020603050405020304" pitchFamily="18" charset="0"/>
                <a:cs typeface="Times New Roman" panose="02020603050405020304" pitchFamily="18" charset="0"/>
              </a:rPr>
              <a:t>0</a:t>
            </a:r>
            <a:endParaRPr lang="zh-CN" altLang="en-US" sz="6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739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D491B-933D-F319-77AE-DFDA1E028E0A}"/>
              </a:ext>
            </a:extLst>
          </p:cNvPr>
          <p:cNvSpPr>
            <a:spLocks noGrp="1"/>
          </p:cNvSpPr>
          <p:nvPr>
            <p:ph type="title"/>
          </p:nvPr>
        </p:nvSpPr>
        <p:spPr/>
        <p:txBody>
          <a:bodyPr/>
          <a:lstStyle/>
          <a:p>
            <a:r>
              <a:rPr lang="en-US" altLang="zh-CN" dirty="0"/>
              <a:t>Quantum Networks and Entanglement Routing</a:t>
            </a:r>
            <a:endParaRPr lang="en-IT" dirty="0"/>
          </a:p>
        </p:txBody>
      </p:sp>
      <p:sp>
        <p:nvSpPr>
          <p:cNvPr id="3" name="Content Placeholder 2">
            <a:extLst>
              <a:ext uri="{FF2B5EF4-FFF2-40B4-BE49-F238E27FC236}">
                <a16:creationId xmlns:a16="http://schemas.microsoft.com/office/drawing/2014/main" id="{19ED00D7-6B7B-C4C2-E6CD-FD60C175C383}"/>
              </a:ext>
            </a:extLst>
          </p:cNvPr>
          <p:cNvSpPr>
            <a:spLocks noGrp="1"/>
          </p:cNvSpPr>
          <p:nvPr>
            <p:ph idx="1"/>
          </p:nvPr>
        </p:nvSpPr>
        <p:spPr>
          <a:xfrm>
            <a:off x="838200" y="1484672"/>
            <a:ext cx="11083183" cy="2800166"/>
          </a:xfrm>
        </p:spPr>
        <p:txBody>
          <a:bodyPr/>
          <a:lstStyle/>
          <a:p>
            <a:r>
              <a:rPr lang="en-IT" sz="2800" dirty="0"/>
              <a:t>Quantum network elements</a:t>
            </a:r>
          </a:p>
          <a:p>
            <a:pPr lvl="1"/>
            <a:r>
              <a:rPr lang="en-IT" sz="2600" dirty="0"/>
              <a:t>Quantum node: limited memory size</a:t>
            </a:r>
            <a:endParaRPr lang="en-GB" sz="2600" dirty="0"/>
          </a:p>
          <a:p>
            <a:pPr lvl="2"/>
            <a:r>
              <a:rPr lang="en-GB" sz="2400" dirty="0"/>
              <a:t>One entanglement requires one memory per end node</a:t>
            </a:r>
            <a:endParaRPr lang="en-IT" sz="2400" dirty="0"/>
          </a:p>
          <a:p>
            <a:pPr lvl="1"/>
            <a:r>
              <a:rPr lang="en-US" sz="2600" dirty="0"/>
              <a:t>Quantum l</a:t>
            </a:r>
            <a:r>
              <a:rPr lang="en-IT" sz="2600" dirty="0"/>
              <a:t>ink (e.g., fiber): establish entanglements between </a:t>
            </a:r>
            <a:r>
              <a:rPr lang="en-IT" sz="2600" dirty="0">
                <a:solidFill>
                  <a:srgbClr val="FF0000"/>
                </a:solidFill>
              </a:rPr>
              <a:t>adjacent nodes  </a:t>
            </a:r>
            <a:endParaRPr lang="en-GB" sz="2600" dirty="0">
              <a:solidFill>
                <a:srgbClr val="FF0000"/>
              </a:solidFill>
            </a:endParaRPr>
          </a:p>
          <a:p>
            <a:r>
              <a:rPr lang="en-GB" sz="2800" dirty="0">
                <a:solidFill>
                  <a:srgbClr val="FF0000"/>
                </a:solidFill>
              </a:rPr>
              <a:t>Entanglement routing (ER) </a:t>
            </a:r>
            <a:r>
              <a:rPr lang="en-GB" sz="2800" dirty="0"/>
              <a:t>to distribute entanglements</a:t>
            </a:r>
            <a:endParaRPr lang="en-IT" sz="2800" dirty="0"/>
          </a:p>
        </p:txBody>
      </p:sp>
      <p:sp>
        <p:nvSpPr>
          <p:cNvPr id="4" name="Footer Placeholder 3">
            <a:extLst>
              <a:ext uri="{FF2B5EF4-FFF2-40B4-BE49-F238E27FC236}">
                <a16:creationId xmlns:a16="http://schemas.microsoft.com/office/drawing/2014/main" id="{9CEAB136-7DB0-4F32-B88C-80A994E047AC}"/>
              </a:ext>
            </a:extLst>
          </p:cNvPr>
          <p:cNvSpPr>
            <a:spLocks noGrp="1"/>
          </p:cNvSpPr>
          <p:nvPr>
            <p:ph type="ftr" sz="quarter" idx="11"/>
          </p:nvPr>
        </p:nvSpPr>
        <p:spPr/>
        <p:txBody>
          <a:bodyPr/>
          <a:lstStyle/>
          <a:p>
            <a:r>
              <a:rPr lang="en-GB"/>
              <a:t>Q. Zhang, Link Configuration for Fidelity-Constrained Entanglement Routing</a:t>
            </a:r>
            <a:endParaRPr lang="en-US"/>
          </a:p>
        </p:txBody>
      </p:sp>
      <p:grpSp>
        <p:nvGrpSpPr>
          <p:cNvPr id="112" name="Group 111">
            <a:extLst>
              <a:ext uri="{FF2B5EF4-FFF2-40B4-BE49-F238E27FC236}">
                <a16:creationId xmlns:a16="http://schemas.microsoft.com/office/drawing/2014/main" id="{9945C12F-82A9-2784-DC09-336C813EF3B6}"/>
              </a:ext>
            </a:extLst>
          </p:cNvPr>
          <p:cNvGrpSpPr/>
          <p:nvPr/>
        </p:nvGrpSpPr>
        <p:grpSpPr>
          <a:xfrm>
            <a:off x="950123" y="4175419"/>
            <a:ext cx="2905332" cy="617934"/>
            <a:chOff x="1740487" y="3977088"/>
            <a:chExt cx="2905332" cy="617934"/>
          </a:xfrm>
        </p:grpSpPr>
        <p:cxnSp>
          <p:nvCxnSpPr>
            <p:cNvPr id="113" name="Straight Connector 112">
              <a:extLst>
                <a:ext uri="{FF2B5EF4-FFF2-40B4-BE49-F238E27FC236}">
                  <a16:creationId xmlns:a16="http://schemas.microsoft.com/office/drawing/2014/main" id="{8AFF06F1-66AA-206F-8640-30808857E79D}"/>
                </a:ext>
              </a:extLst>
            </p:cNvPr>
            <p:cNvCxnSpPr>
              <a:cxnSpLocks/>
              <a:endCxn id="116" idx="2"/>
            </p:cNvCxnSpPr>
            <p:nvPr/>
          </p:nvCxnSpPr>
          <p:spPr>
            <a:xfrm>
              <a:off x="2354289" y="4284196"/>
              <a:ext cx="1677728" cy="1"/>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14" name="椭圆 58">
              <a:extLst>
                <a:ext uri="{FF2B5EF4-FFF2-40B4-BE49-F238E27FC236}">
                  <a16:creationId xmlns:a16="http://schemas.microsoft.com/office/drawing/2014/main" id="{F0A197F9-669E-D9F5-A359-AC2A1EA12F19}"/>
                </a:ext>
              </a:extLst>
            </p:cNvPr>
            <p:cNvSpPr/>
            <p:nvPr/>
          </p:nvSpPr>
          <p:spPr>
            <a:xfrm>
              <a:off x="1740487" y="3980805"/>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15" name="椭圆 58">
              <a:extLst>
                <a:ext uri="{FF2B5EF4-FFF2-40B4-BE49-F238E27FC236}">
                  <a16:creationId xmlns:a16="http://schemas.microsoft.com/office/drawing/2014/main" id="{990F0AB0-1A91-8A29-A9F1-C0267A12322A}"/>
                </a:ext>
              </a:extLst>
            </p:cNvPr>
            <p:cNvSpPr/>
            <p:nvPr/>
          </p:nvSpPr>
          <p:spPr>
            <a:xfrm>
              <a:off x="2886252" y="3977089"/>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16" name="椭圆 58">
              <a:extLst>
                <a:ext uri="{FF2B5EF4-FFF2-40B4-BE49-F238E27FC236}">
                  <a16:creationId xmlns:a16="http://schemas.microsoft.com/office/drawing/2014/main" id="{E19AD07F-7C61-ABEC-AB8E-444AD5380A53}"/>
                </a:ext>
              </a:extLst>
            </p:cNvPr>
            <p:cNvSpPr/>
            <p:nvPr/>
          </p:nvSpPr>
          <p:spPr>
            <a:xfrm>
              <a:off x="4032017" y="3977088"/>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17" name="椭圆 62">
              <a:extLst>
                <a:ext uri="{FF2B5EF4-FFF2-40B4-BE49-F238E27FC236}">
                  <a16:creationId xmlns:a16="http://schemas.microsoft.com/office/drawing/2014/main" id="{3C8E5A0E-F0B5-3F72-CCD3-B42F4E63E8B7}"/>
                </a:ext>
              </a:extLst>
            </p:cNvPr>
            <p:cNvSpPr/>
            <p:nvPr/>
          </p:nvSpPr>
          <p:spPr>
            <a:xfrm>
              <a:off x="1858168" y="4103785"/>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19" name="椭圆 62">
              <a:extLst>
                <a:ext uri="{FF2B5EF4-FFF2-40B4-BE49-F238E27FC236}">
                  <a16:creationId xmlns:a16="http://schemas.microsoft.com/office/drawing/2014/main" id="{8378FF23-DAB0-E7C3-F94C-A95124B30EEA}"/>
                </a:ext>
              </a:extLst>
            </p:cNvPr>
            <p:cNvSpPr/>
            <p:nvPr/>
          </p:nvSpPr>
          <p:spPr>
            <a:xfrm>
              <a:off x="2085504" y="4103785"/>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21" name="椭圆 62">
              <a:extLst>
                <a:ext uri="{FF2B5EF4-FFF2-40B4-BE49-F238E27FC236}">
                  <a16:creationId xmlns:a16="http://schemas.microsoft.com/office/drawing/2014/main" id="{74CFC5A8-67BE-0EC4-7921-BF37C60DDC55}"/>
                </a:ext>
              </a:extLst>
            </p:cNvPr>
            <p:cNvSpPr/>
            <p:nvPr/>
          </p:nvSpPr>
          <p:spPr>
            <a:xfrm>
              <a:off x="3017197" y="4106577"/>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22" name="椭圆 62">
              <a:extLst>
                <a:ext uri="{FF2B5EF4-FFF2-40B4-BE49-F238E27FC236}">
                  <a16:creationId xmlns:a16="http://schemas.microsoft.com/office/drawing/2014/main" id="{6D487FEF-9DA1-3E95-3004-E10075B9B59A}"/>
                </a:ext>
              </a:extLst>
            </p:cNvPr>
            <p:cNvSpPr/>
            <p:nvPr/>
          </p:nvSpPr>
          <p:spPr>
            <a:xfrm>
              <a:off x="3236809" y="4106577"/>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25" name="椭圆 62">
              <a:extLst>
                <a:ext uri="{FF2B5EF4-FFF2-40B4-BE49-F238E27FC236}">
                  <a16:creationId xmlns:a16="http://schemas.microsoft.com/office/drawing/2014/main" id="{CB67ADF1-40FE-0404-CB62-BB9531B47497}"/>
                </a:ext>
              </a:extLst>
            </p:cNvPr>
            <p:cNvSpPr/>
            <p:nvPr/>
          </p:nvSpPr>
          <p:spPr>
            <a:xfrm>
              <a:off x="4144500" y="4105530"/>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27" name="椭圆 62">
              <a:extLst>
                <a:ext uri="{FF2B5EF4-FFF2-40B4-BE49-F238E27FC236}">
                  <a16:creationId xmlns:a16="http://schemas.microsoft.com/office/drawing/2014/main" id="{DB992B36-24B6-0D1F-5DE0-475D556105B1}"/>
                </a:ext>
              </a:extLst>
            </p:cNvPr>
            <p:cNvSpPr/>
            <p:nvPr/>
          </p:nvSpPr>
          <p:spPr>
            <a:xfrm>
              <a:off x="4395518" y="4104946"/>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28" name="椭圆 62">
              <a:extLst>
                <a:ext uri="{FF2B5EF4-FFF2-40B4-BE49-F238E27FC236}">
                  <a16:creationId xmlns:a16="http://schemas.microsoft.com/office/drawing/2014/main" id="{386FE08C-5CDA-C46B-82A0-8DD9C82F48D7}"/>
                </a:ext>
              </a:extLst>
            </p:cNvPr>
            <p:cNvSpPr/>
            <p:nvPr/>
          </p:nvSpPr>
          <p:spPr>
            <a:xfrm>
              <a:off x="4266968" y="4356374"/>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grpSp>
      <p:sp>
        <p:nvSpPr>
          <p:cNvPr id="159" name="椭圆 58">
            <a:extLst>
              <a:ext uri="{FF2B5EF4-FFF2-40B4-BE49-F238E27FC236}">
                <a16:creationId xmlns:a16="http://schemas.microsoft.com/office/drawing/2014/main" id="{E7FC45EC-B356-DB3E-60E5-F8EDE7D38FCA}"/>
              </a:ext>
            </a:extLst>
          </p:cNvPr>
          <p:cNvSpPr/>
          <p:nvPr/>
        </p:nvSpPr>
        <p:spPr>
          <a:xfrm>
            <a:off x="696152" y="5401834"/>
            <a:ext cx="256401" cy="256574"/>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60" name="椭圆 62">
            <a:extLst>
              <a:ext uri="{FF2B5EF4-FFF2-40B4-BE49-F238E27FC236}">
                <a16:creationId xmlns:a16="http://schemas.microsoft.com/office/drawing/2014/main" id="{CC44578F-A34D-74A8-41F5-67B532E8F09D}"/>
              </a:ext>
            </a:extLst>
          </p:cNvPr>
          <p:cNvSpPr/>
          <p:nvPr/>
        </p:nvSpPr>
        <p:spPr>
          <a:xfrm>
            <a:off x="6722401" y="5468794"/>
            <a:ext cx="220012" cy="22016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61" name="椭圆 62">
            <a:extLst>
              <a:ext uri="{FF2B5EF4-FFF2-40B4-BE49-F238E27FC236}">
                <a16:creationId xmlns:a16="http://schemas.microsoft.com/office/drawing/2014/main" id="{62257E87-052A-3460-3003-DE2DB1EA18E2}"/>
              </a:ext>
            </a:extLst>
          </p:cNvPr>
          <p:cNvSpPr/>
          <p:nvPr/>
        </p:nvSpPr>
        <p:spPr>
          <a:xfrm>
            <a:off x="9576100" y="5455754"/>
            <a:ext cx="200550" cy="200686"/>
          </a:xfrm>
          <a:prstGeom prst="ellipse">
            <a:avLst/>
          </a:prstGeom>
          <a:solidFill>
            <a:schemeClr val="bg1"/>
          </a:solidFill>
          <a:ln w="12700" cap="flat" cmpd="sng" algn="ctr">
            <a:solidFill>
              <a:schemeClr val="tx1"/>
            </a:solid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cxnSp>
        <p:nvCxnSpPr>
          <p:cNvPr id="162" name="Straight Connector 161">
            <a:extLst>
              <a:ext uri="{FF2B5EF4-FFF2-40B4-BE49-F238E27FC236}">
                <a16:creationId xmlns:a16="http://schemas.microsoft.com/office/drawing/2014/main" id="{84F0DB59-3E2B-BEB9-BCB1-1EC5455FFEC0}"/>
              </a:ext>
            </a:extLst>
          </p:cNvPr>
          <p:cNvCxnSpPr>
            <a:cxnSpLocks/>
          </p:cNvCxnSpPr>
          <p:nvPr/>
        </p:nvCxnSpPr>
        <p:spPr>
          <a:xfrm>
            <a:off x="2443155" y="5505900"/>
            <a:ext cx="528645" cy="0"/>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E4971970-757C-9722-2890-2A6129BC7F63}"/>
              </a:ext>
            </a:extLst>
          </p:cNvPr>
          <p:cNvCxnSpPr>
            <a:cxnSpLocks/>
            <a:endCxn id="201" idx="1"/>
          </p:cNvCxnSpPr>
          <p:nvPr/>
        </p:nvCxnSpPr>
        <p:spPr>
          <a:xfrm>
            <a:off x="3957292" y="5526750"/>
            <a:ext cx="481550" cy="5166"/>
          </a:xfrm>
          <a:prstGeom prst="line">
            <a:avLst/>
          </a:prstGeom>
          <a:ln w="31750">
            <a:solidFill>
              <a:schemeClr val="accent6"/>
            </a:solidFill>
            <a:prstDash val="sysDash"/>
          </a:ln>
        </p:spPr>
        <p:style>
          <a:lnRef idx="1">
            <a:schemeClr val="dk1"/>
          </a:lnRef>
          <a:fillRef idx="0">
            <a:schemeClr val="dk1"/>
          </a:fillRef>
          <a:effectRef idx="0">
            <a:schemeClr val="dk1"/>
          </a:effectRef>
          <a:fontRef idx="minor">
            <a:schemeClr val="tx1"/>
          </a:fontRef>
        </p:style>
      </p:cxnSp>
      <p:sp>
        <p:nvSpPr>
          <p:cNvPr id="167" name="TextBox 166">
            <a:extLst>
              <a:ext uri="{FF2B5EF4-FFF2-40B4-BE49-F238E27FC236}">
                <a16:creationId xmlns:a16="http://schemas.microsoft.com/office/drawing/2014/main" id="{2F7C2FAF-4057-1B9B-D492-4E174AB1F63C}"/>
              </a:ext>
            </a:extLst>
          </p:cNvPr>
          <p:cNvSpPr txBox="1"/>
          <p:nvPr/>
        </p:nvSpPr>
        <p:spPr>
          <a:xfrm>
            <a:off x="9776650" y="5186487"/>
            <a:ext cx="1957598" cy="712183"/>
          </a:xfrm>
          <a:prstGeom prst="rect">
            <a:avLst/>
          </a:prstGeom>
          <a:noFill/>
        </p:spPr>
        <p:txBody>
          <a:bodyPr wrap="square">
            <a:spAutoFit/>
          </a:bodyPr>
          <a:lstStyle/>
          <a:p>
            <a:pPr algn="ctr">
              <a:lnSpc>
                <a:spcPts val="2400"/>
              </a:lnSpc>
            </a:pPr>
            <a:r>
              <a:rPr lang="en-GB" sz="2400" dirty="0"/>
              <a:t>Free quantum memory</a:t>
            </a:r>
            <a:endParaRPr lang="en-IT" sz="2400" dirty="0"/>
          </a:p>
        </p:txBody>
      </p:sp>
      <p:sp>
        <p:nvSpPr>
          <p:cNvPr id="168" name="TextBox 167">
            <a:extLst>
              <a:ext uri="{FF2B5EF4-FFF2-40B4-BE49-F238E27FC236}">
                <a16:creationId xmlns:a16="http://schemas.microsoft.com/office/drawing/2014/main" id="{53609E8F-ED83-01AE-F9C1-5D815740A0E9}"/>
              </a:ext>
            </a:extLst>
          </p:cNvPr>
          <p:cNvSpPr txBox="1"/>
          <p:nvPr/>
        </p:nvSpPr>
        <p:spPr>
          <a:xfrm>
            <a:off x="3009960" y="5287580"/>
            <a:ext cx="825921" cy="461665"/>
          </a:xfrm>
          <a:prstGeom prst="rect">
            <a:avLst/>
          </a:prstGeom>
          <a:noFill/>
        </p:spPr>
        <p:txBody>
          <a:bodyPr wrap="square">
            <a:spAutoFit/>
          </a:bodyPr>
          <a:lstStyle/>
          <a:p>
            <a:pPr algn="ctr"/>
            <a:r>
              <a:rPr lang="en-GB" sz="2400" dirty="0"/>
              <a:t>Link </a:t>
            </a:r>
            <a:endParaRPr lang="en-IT" sz="2400" dirty="0"/>
          </a:p>
        </p:txBody>
      </p:sp>
      <p:sp>
        <p:nvSpPr>
          <p:cNvPr id="169" name="TextBox 168">
            <a:extLst>
              <a:ext uri="{FF2B5EF4-FFF2-40B4-BE49-F238E27FC236}">
                <a16:creationId xmlns:a16="http://schemas.microsoft.com/office/drawing/2014/main" id="{40B0CD73-CB82-E326-D9B0-98742F2D8FCC}"/>
              </a:ext>
            </a:extLst>
          </p:cNvPr>
          <p:cNvSpPr txBox="1"/>
          <p:nvPr/>
        </p:nvSpPr>
        <p:spPr>
          <a:xfrm>
            <a:off x="5014404" y="3688275"/>
            <a:ext cx="2113690" cy="461665"/>
          </a:xfrm>
          <a:prstGeom prst="rect">
            <a:avLst/>
          </a:prstGeom>
          <a:noFill/>
        </p:spPr>
        <p:txBody>
          <a:bodyPr wrap="square">
            <a:spAutoFit/>
          </a:bodyPr>
          <a:lstStyle/>
          <a:p>
            <a:pPr algn="ctr"/>
            <a:r>
              <a:rPr lang="en-GB" sz="2400" dirty="0">
                <a:solidFill>
                  <a:srgbClr val="FF0000"/>
                </a:solidFill>
              </a:rPr>
              <a:t>swapping</a:t>
            </a:r>
            <a:endParaRPr lang="en-IT" sz="2400" dirty="0">
              <a:solidFill>
                <a:srgbClr val="FF0000"/>
              </a:solidFill>
            </a:endParaRPr>
          </a:p>
        </p:txBody>
      </p:sp>
      <p:sp>
        <p:nvSpPr>
          <p:cNvPr id="170" name="Slide Number Placeholder 169">
            <a:extLst>
              <a:ext uri="{FF2B5EF4-FFF2-40B4-BE49-F238E27FC236}">
                <a16:creationId xmlns:a16="http://schemas.microsoft.com/office/drawing/2014/main" id="{D90FDB7E-06BD-887E-B2AD-D34B1DF643AA}"/>
              </a:ext>
            </a:extLst>
          </p:cNvPr>
          <p:cNvSpPr>
            <a:spLocks noGrp="1"/>
          </p:cNvSpPr>
          <p:nvPr>
            <p:ph type="sldNum" sz="quarter" idx="12"/>
          </p:nvPr>
        </p:nvSpPr>
        <p:spPr/>
        <p:txBody>
          <a:bodyPr/>
          <a:lstStyle/>
          <a:p>
            <a:fld id="{5AFE0081-1ED4-41E0-88AB-D26DBE160EA6}" type="slidenum">
              <a:rPr lang="en-US" smtClean="0"/>
              <a:t>6</a:t>
            </a:fld>
            <a:endParaRPr lang="en-US"/>
          </a:p>
        </p:txBody>
      </p:sp>
      <p:grpSp>
        <p:nvGrpSpPr>
          <p:cNvPr id="5" name="Group 4">
            <a:extLst>
              <a:ext uri="{FF2B5EF4-FFF2-40B4-BE49-F238E27FC236}">
                <a16:creationId xmlns:a16="http://schemas.microsoft.com/office/drawing/2014/main" id="{CEAE5B7E-98F6-F32D-16A2-240DB6A29397}"/>
              </a:ext>
            </a:extLst>
          </p:cNvPr>
          <p:cNvGrpSpPr/>
          <p:nvPr/>
        </p:nvGrpSpPr>
        <p:grpSpPr>
          <a:xfrm>
            <a:off x="4508732" y="4177278"/>
            <a:ext cx="2905332" cy="617934"/>
            <a:chOff x="1740487" y="3977088"/>
            <a:chExt cx="2905332" cy="617934"/>
          </a:xfrm>
        </p:grpSpPr>
        <p:cxnSp>
          <p:nvCxnSpPr>
            <p:cNvPr id="6" name="Straight Connector 5">
              <a:extLst>
                <a:ext uri="{FF2B5EF4-FFF2-40B4-BE49-F238E27FC236}">
                  <a16:creationId xmlns:a16="http://schemas.microsoft.com/office/drawing/2014/main" id="{0593F522-6661-D784-2E2A-5A5F57C667C8}"/>
                </a:ext>
              </a:extLst>
            </p:cNvPr>
            <p:cNvCxnSpPr>
              <a:endCxn id="9" idx="2"/>
            </p:cNvCxnSpPr>
            <p:nvPr/>
          </p:nvCxnSpPr>
          <p:spPr>
            <a:xfrm>
              <a:off x="2354289" y="4284196"/>
              <a:ext cx="1677728" cy="1"/>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椭圆 58">
              <a:extLst>
                <a:ext uri="{FF2B5EF4-FFF2-40B4-BE49-F238E27FC236}">
                  <a16:creationId xmlns:a16="http://schemas.microsoft.com/office/drawing/2014/main" id="{2ED27235-9A5A-1248-226A-A487D7F7D006}"/>
                </a:ext>
              </a:extLst>
            </p:cNvPr>
            <p:cNvSpPr/>
            <p:nvPr/>
          </p:nvSpPr>
          <p:spPr>
            <a:xfrm>
              <a:off x="1740487" y="3980805"/>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 name="椭圆 58">
              <a:extLst>
                <a:ext uri="{FF2B5EF4-FFF2-40B4-BE49-F238E27FC236}">
                  <a16:creationId xmlns:a16="http://schemas.microsoft.com/office/drawing/2014/main" id="{A51E75E9-89CF-1D53-5F86-01A5CE5F5A99}"/>
                </a:ext>
              </a:extLst>
            </p:cNvPr>
            <p:cNvSpPr/>
            <p:nvPr/>
          </p:nvSpPr>
          <p:spPr>
            <a:xfrm>
              <a:off x="2886252" y="3977089"/>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9" name="椭圆 58">
              <a:extLst>
                <a:ext uri="{FF2B5EF4-FFF2-40B4-BE49-F238E27FC236}">
                  <a16:creationId xmlns:a16="http://schemas.microsoft.com/office/drawing/2014/main" id="{ACF9FE55-FA38-483F-71F2-CD9D6A53E60E}"/>
                </a:ext>
              </a:extLst>
            </p:cNvPr>
            <p:cNvSpPr/>
            <p:nvPr/>
          </p:nvSpPr>
          <p:spPr>
            <a:xfrm>
              <a:off x="4032017" y="3977088"/>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0" name="椭圆 62">
              <a:extLst>
                <a:ext uri="{FF2B5EF4-FFF2-40B4-BE49-F238E27FC236}">
                  <a16:creationId xmlns:a16="http://schemas.microsoft.com/office/drawing/2014/main" id="{34B9F334-ACA9-35CD-DD1A-E4470ABFD302}"/>
                </a:ext>
              </a:extLst>
            </p:cNvPr>
            <p:cNvSpPr/>
            <p:nvPr/>
          </p:nvSpPr>
          <p:spPr>
            <a:xfrm>
              <a:off x="1858168" y="4103785"/>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1" name="椭圆 62">
              <a:extLst>
                <a:ext uri="{FF2B5EF4-FFF2-40B4-BE49-F238E27FC236}">
                  <a16:creationId xmlns:a16="http://schemas.microsoft.com/office/drawing/2014/main" id="{193B698F-8769-2749-DC7A-D69532A1A389}"/>
                </a:ext>
              </a:extLst>
            </p:cNvPr>
            <p:cNvSpPr/>
            <p:nvPr/>
          </p:nvSpPr>
          <p:spPr>
            <a:xfrm>
              <a:off x="1973652" y="4356374"/>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2" name="椭圆 62">
              <a:extLst>
                <a:ext uri="{FF2B5EF4-FFF2-40B4-BE49-F238E27FC236}">
                  <a16:creationId xmlns:a16="http://schemas.microsoft.com/office/drawing/2014/main" id="{9FEB679F-10CE-BB05-1D26-D15DD90571C9}"/>
                </a:ext>
              </a:extLst>
            </p:cNvPr>
            <p:cNvSpPr/>
            <p:nvPr/>
          </p:nvSpPr>
          <p:spPr>
            <a:xfrm>
              <a:off x="2085504" y="4103785"/>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4" name="椭圆 62">
              <a:extLst>
                <a:ext uri="{FF2B5EF4-FFF2-40B4-BE49-F238E27FC236}">
                  <a16:creationId xmlns:a16="http://schemas.microsoft.com/office/drawing/2014/main" id="{A0766039-E30D-C027-ED02-B1E6DCD6ACA2}"/>
                </a:ext>
              </a:extLst>
            </p:cNvPr>
            <p:cNvSpPr/>
            <p:nvPr/>
          </p:nvSpPr>
          <p:spPr>
            <a:xfrm>
              <a:off x="3017197" y="4106577"/>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5" name="椭圆 62">
              <a:extLst>
                <a:ext uri="{FF2B5EF4-FFF2-40B4-BE49-F238E27FC236}">
                  <a16:creationId xmlns:a16="http://schemas.microsoft.com/office/drawing/2014/main" id="{4D76338E-EA86-1973-B5F9-BFD09B118C75}"/>
                </a:ext>
              </a:extLst>
            </p:cNvPr>
            <p:cNvSpPr/>
            <p:nvPr/>
          </p:nvSpPr>
          <p:spPr>
            <a:xfrm>
              <a:off x="3236809" y="4106577"/>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8" name="椭圆 62">
              <a:extLst>
                <a:ext uri="{FF2B5EF4-FFF2-40B4-BE49-F238E27FC236}">
                  <a16:creationId xmlns:a16="http://schemas.microsoft.com/office/drawing/2014/main" id="{D2EDCB13-D07B-218E-51DC-E8967DD21249}"/>
                </a:ext>
              </a:extLst>
            </p:cNvPr>
            <p:cNvSpPr/>
            <p:nvPr/>
          </p:nvSpPr>
          <p:spPr>
            <a:xfrm>
              <a:off x="4144500" y="4105530"/>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0" name="椭圆 62">
              <a:extLst>
                <a:ext uri="{FF2B5EF4-FFF2-40B4-BE49-F238E27FC236}">
                  <a16:creationId xmlns:a16="http://schemas.microsoft.com/office/drawing/2014/main" id="{A9E09FE9-82F7-1031-AE57-EE085AA4869B}"/>
                </a:ext>
              </a:extLst>
            </p:cNvPr>
            <p:cNvSpPr/>
            <p:nvPr/>
          </p:nvSpPr>
          <p:spPr>
            <a:xfrm>
              <a:off x="4395518" y="4104946"/>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1" name="椭圆 62">
              <a:extLst>
                <a:ext uri="{FF2B5EF4-FFF2-40B4-BE49-F238E27FC236}">
                  <a16:creationId xmlns:a16="http://schemas.microsoft.com/office/drawing/2014/main" id="{C3F6099C-43B6-CA25-BC23-6A63C35E4555}"/>
                </a:ext>
              </a:extLst>
            </p:cNvPr>
            <p:cNvSpPr/>
            <p:nvPr/>
          </p:nvSpPr>
          <p:spPr>
            <a:xfrm>
              <a:off x="4260082" y="4350918"/>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grpSp>
      <p:grpSp>
        <p:nvGrpSpPr>
          <p:cNvPr id="26" name="Group 25">
            <a:extLst>
              <a:ext uri="{FF2B5EF4-FFF2-40B4-BE49-F238E27FC236}">
                <a16:creationId xmlns:a16="http://schemas.microsoft.com/office/drawing/2014/main" id="{FECD1864-D076-A053-28CE-ED5AA8D7B380}"/>
              </a:ext>
            </a:extLst>
          </p:cNvPr>
          <p:cNvGrpSpPr/>
          <p:nvPr/>
        </p:nvGrpSpPr>
        <p:grpSpPr>
          <a:xfrm>
            <a:off x="8292403" y="4140720"/>
            <a:ext cx="2905332" cy="617934"/>
            <a:chOff x="1740487" y="3977088"/>
            <a:chExt cx="2905332" cy="617934"/>
          </a:xfrm>
        </p:grpSpPr>
        <p:cxnSp>
          <p:nvCxnSpPr>
            <p:cNvPr id="27" name="Straight Connector 26">
              <a:extLst>
                <a:ext uri="{FF2B5EF4-FFF2-40B4-BE49-F238E27FC236}">
                  <a16:creationId xmlns:a16="http://schemas.microsoft.com/office/drawing/2014/main" id="{16EBDF1D-6A33-A411-48AF-9897B7637C70}"/>
                </a:ext>
              </a:extLst>
            </p:cNvPr>
            <p:cNvCxnSpPr>
              <a:endCxn id="30" idx="2"/>
            </p:cNvCxnSpPr>
            <p:nvPr/>
          </p:nvCxnSpPr>
          <p:spPr>
            <a:xfrm>
              <a:off x="2354289" y="4284196"/>
              <a:ext cx="1677728" cy="1"/>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8" name="椭圆 58">
              <a:extLst>
                <a:ext uri="{FF2B5EF4-FFF2-40B4-BE49-F238E27FC236}">
                  <a16:creationId xmlns:a16="http://schemas.microsoft.com/office/drawing/2014/main" id="{69683C62-D9B3-4042-BF87-37E447E88934}"/>
                </a:ext>
              </a:extLst>
            </p:cNvPr>
            <p:cNvSpPr/>
            <p:nvPr/>
          </p:nvSpPr>
          <p:spPr>
            <a:xfrm>
              <a:off x="1740487" y="3980805"/>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9" name="椭圆 58">
              <a:extLst>
                <a:ext uri="{FF2B5EF4-FFF2-40B4-BE49-F238E27FC236}">
                  <a16:creationId xmlns:a16="http://schemas.microsoft.com/office/drawing/2014/main" id="{63D3C8C2-48BA-2A6E-BE19-F173C6F0B4DD}"/>
                </a:ext>
              </a:extLst>
            </p:cNvPr>
            <p:cNvSpPr/>
            <p:nvPr/>
          </p:nvSpPr>
          <p:spPr>
            <a:xfrm>
              <a:off x="2886252" y="3977089"/>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0" name="椭圆 58">
              <a:extLst>
                <a:ext uri="{FF2B5EF4-FFF2-40B4-BE49-F238E27FC236}">
                  <a16:creationId xmlns:a16="http://schemas.microsoft.com/office/drawing/2014/main" id="{A227B0A5-9970-0D21-7FD8-73C8773C4F51}"/>
                </a:ext>
              </a:extLst>
            </p:cNvPr>
            <p:cNvSpPr/>
            <p:nvPr/>
          </p:nvSpPr>
          <p:spPr>
            <a:xfrm>
              <a:off x="4032017" y="3977088"/>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1" name="椭圆 62">
              <a:extLst>
                <a:ext uri="{FF2B5EF4-FFF2-40B4-BE49-F238E27FC236}">
                  <a16:creationId xmlns:a16="http://schemas.microsoft.com/office/drawing/2014/main" id="{CD2CAD2E-515E-D9CB-DE9D-93CB69968CB8}"/>
                </a:ext>
              </a:extLst>
            </p:cNvPr>
            <p:cNvSpPr/>
            <p:nvPr/>
          </p:nvSpPr>
          <p:spPr>
            <a:xfrm>
              <a:off x="1858168" y="4103785"/>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68" name="椭圆 62">
              <a:extLst>
                <a:ext uri="{FF2B5EF4-FFF2-40B4-BE49-F238E27FC236}">
                  <a16:creationId xmlns:a16="http://schemas.microsoft.com/office/drawing/2014/main" id="{E70F882F-9244-D405-3A9F-65A3F6849EDC}"/>
                </a:ext>
              </a:extLst>
            </p:cNvPr>
            <p:cNvSpPr/>
            <p:nvPr/>
          </p:nvSpPr>
          <p:spPr>
            <a:xfrm>
              <a:off x="1949411" y="4338128"/>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71" name="椭圆 62">
              <a:extLst>
                <a:ext uri="{FF2B5EF4-FFF2-40B4-BE49-F238E27FC236}">
                  <a16:creationId xmlns:a16="http://schemas.microsoft.com/office/drawing/2014/main" id="{9085F5C9-C712-E00B-4470-760EAA3CE5C0}"/>
                </a:ext>
              </a:extLst>
            </p:cNvPr>
            <p:cNvSpPr/>
            <p:nvPr/>
          </p:nvSpPr>
          <p:spPr>
            <a:xfrm>
              <a:off x="2085504" y="4103785"/>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73" name="椭圆 62">
              <a:extLst>
                <a:ext uri="{FF2B5EF4-FFF2-40B4-BE49-F238E27FC236}">
                  <a16:creationId xmlns:a16="http://schemas.microsoft.com/office/drawing/2014/main" id="{542E5A8C-5B1C-5765-D1C5-094CE99E38E2}"/>
                </a:ext>
              </a:extLst>
            </p:cNvPr>
            <p:cNvSpPr/>
            <p:nvPr/>
          </p:nvSpPr>
          <p:spPr>
            <a:xfrm>
              <a:off x="3017197" y="4106577"/>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74" name="椭圆 62">
              <a:extLst>
                <a:ext uri="{FF2B5EF4-FFF2-40B4-BE49-F238E27FC236}">
                  <a16:creationId xmlns:a16="http://schemas.microsoft.com/office/drawing/2014/main" id="{F4EB60CE-345E-D33A-DBEC-FF21E440166D}"/>
                </a:ext>
              </a:extLst>
            </p:cNvPr>
            <p:cNvSpPr/>
            <p:nvPr/>
          </p:nvSpPr>
          <p:spPr>
            <a:xfrm>
              <a:off x="3236809" y="4106577"/>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77" name="椭圆 62">
              <a:extLst>
                <a:ext uri="{FF2B5EF4-FFF2-40B4-BE49-F238E27FC236}">
                  <a16:creationId xmlns:a16="http://schemas.microsoft.com/office/drawing/2014/main" id="{3BCD6579-F79A-8A7F-17AC-7B3D0F27E924}"/>
                </a:ext>
              </a:extLst>
            </p:cNvPr>
            <p:cNvSpPr/>
            <p:nvPr/>
          </p:nvSpPr>
          <p:spPr>
            <a:xfrm>
              <a:off x="4144500" y="4105530"/>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79" name="椭圆 62">
              <a:extLst>
                <a:ext uri="{FF2B5EF4-FFF2-40B4-BE49-F238E27FC236}">
                  <a16:creationId xmlns:a16="http://schemas.microsoft.com/office/drawing/2014/main" id="{40000074-7B92-E4BC-F2E0-8D59C2221ADA}"/>
                </a:ext>
              </a:extLst>
            </p:cNvPr>
            <p:cNvSpPr/>
            <p:nvPr/>
          </p:nvSpPr>
          <p:spPr>
            <a:xfrm>
              <a:off x="4395518" y="4104946"/>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80" name="椭圆 62">
              <a:extLst>
                <a:ext uri="{FF2B5EF4-FFF2-40B4-BE49-F238E27FC236}">
                  <a16:creationId xmlns:a16="http://schemas.microsoft.com/office/drawing/2014/main" id="{16735878-37ED-DBB8-D51F-EF30CC26AE6F}"/>
                </a:ext>
              </a:extLst>
            </p:cNvPr>
            <p:cNvSpPr/>
            <p:nvPr/>
          </p:nvSpPr>
          <p:spPr>
            <a:xfrm>
              <a:off x="4280871" y="4347833"/>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grpSp>
      <p:sp>
        <p:nvSpPr>
          <p:cNvPr id="186" name="椭圆 62">
            <a:extLst>
              <a:ext uri="{FF2B5EF4-FFF2-40B4-BE49-F238E27FC236}">
                <a16:creationId xmlns:a16="http://schemas.microsoft.com/office/drawing/2014/main" id="{7AFA4248-C215-8197-C689-E5D1011C6AE5}"/>
              </a:ext>
            </a:extLst>
          </p:cNvPr>
          <p:cNvSpPr/>
          <p:nvPr/>
        </p:nvSpPr>
        <p:spPr>
          <a:xfrm>
            <a:off x="2334154" y="455415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87" name="椭圆 62">
            <a:extLst>
              <a:ext uri="{FF2B5EF4-FFF2-40B4-BE49-F238E27FC236}">
                <a16:creationId xmlns:a16="http://schemas.microsoft.com/office/drawing/2014/main" id="{96D37364-EE17-5E40-DACE-837978A77D45}"/>
              </a:ext>
            </a:extLst>
          </p:cNvPr>
          <p:cNvSpPr/>
          <p:nvPr/>
        </p:nvSpPr>
        <p:spPr>
          <a:xfrm>
            <a:off x="1182893" y="456135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90" name="椭圆 62">
            <a:extLst>
              <a:ext uri="{FF2B5EF4-FFF2-40B4-BE49-F238E27FC236}">
                <a16:creationId xmlns:a16="http://schemas.microsoft.com/office/drawing/2014/main" id="{C97D1956-5039-C6F1-C826-05FF1E22ECB1}"/>
              </a:ext>
            </a:extLst>
          </p:cNvPr>
          <p:cNvSpPr/>
          <p:nvPr/>
        </p:nvSpPr>
        <p:spPr>
          <a:xfrm>
            <a:off x="5887662" y="4552710"/>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91" name="椭圆 62">
            <a:extLst>
              <a:ext uri="{FF2B5EF4-FFF2-40B4-BE49-F238E27FC236}">
                <a16:creationId xmlns:a16="http://schemas.microsoft.com/office/drawing/2014/main" id="{6B8CA64A-60F8-839E-F58E-3855D972BC9C}"/>
              </a:ext>
            </a:extLst>
          </p:cNvPr>
          <p:cNvSpPr/>
          <p:nvPr/>
        </p:nvSpPr>
        <p:spPr>
          <a:xfrm>
            <a:off x="9671333" y="4501854"/>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92" name="Freeform: Shape 191">
            <a:extLst>
              <a:ext uri="{FF2B5EF4-FFF2-40B4-BE49-F238E27FC236}">
                <a16:creationId xmlns:a16="http://schemas.microsoft.com/office/drawing/2014/main" id="{4AE1C094-3A4F-CD79-BDEF-599135086A64}"/>
              </a:ext>
            </a:extLst>
          </p:cNvPr>
          <p:cNvSpPr/>
          <p:nvPr/>
        </p:nvSpPr>
        <p:spPr>
          <a:xfrm>
            <a:off x="8765059" y="4019627"/>
            <a:ext cx="1948249" cy="255373"/>
          </a:xfrm>
          <a:custGeom>
            <a:avLst/>
            <a:gdLst>
              <a:gd name="connsiteX0" fmla="*/ 0 w 1948249"/>
              <a:gd name="connsiteY0" fmla="*/ 255373 h 255373"/>
              <a:gd name="connsiteX1" fmla="*/ 1000898 w 1948249"/>
              <a:gd name="connsiteY1" fmla="*/ 0 h 255373"/>
              <a:gd name="connsiteX2" fmla="*/ 1948249 w 1948249"/>
              <a:gd name="connsiteY2" fmla="*/ 255373 h 255373"/>
            </a:gdLst>
            <a:ahLst/>
            <a:cxnLst>
              <a:cxn ang="0">
                <a:pos x="connsiteX0" y="connsiteY0"/>
              </a:cxn>
              <a:cxn ang="0">
                <a:pos x="connsiteX1" y="connsiteY1"/>
              </a:cxn>
              <a:cxn ang="0">
                <a:pos x="connsiteX2" y="connsiteY2"/>
              </a:cxn>
            </a:cxnLst>
            <a:rect l="l" t="t" r="r" b="b"/>
            <a:pathLst>
              <a:path w="1948249" h="255373">
                <a:moveTo>
                  <a:pt x="0" y="255373"/>
                </a:moveTo>
                <a:cubicBezTo>
                  <a:pt x="338095" y="127686"/>
                  <a:pt x="676190" y="0"/>
                  <a:pt x="1000898" y="0"/>
                </a:cubicBezTo>
                <a:cubicBezTo>
                  <a:pt x="1325606" y="0"/>
                  <a:pt x="1636927" y="127686"/>
                  <a:pt x="1948249" y="255373"/>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Freeform: Shape 192">
            <a:extLst>
              <a:ext uri="{FF2B5EF4-FFF2-40B4-BE49-F238E27FC236}">
                <a16:creationId xmlns:a16="http://schemas.microsoft.com/office/drawing/2014/main" id="{798496D6-4694-8CB6-8037-DC9C772CB514}"/>
              </a:ext>
            </a:extLst>
          </p:cNvPr>
          <p:cNvSpPr/>
          <p:nvPr/>
        </p:nvSpPr>
        <p:spPr>
          <a:xfrm>
            <a:off x="1419726" y="4147329"/>
            <a:ext cx="847023" cy="183168"/>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Freeform: Shape 194">
            <a:extLst>
              <a:ext uri="{FF2B5EF4-FFF2-40B4-BE49-F238E27FC236}">
                <a16:creationId xmlns:a16="http://schemas.microsoft.com/office/drawing/2014/main" id="{E3BDB0BB-FECB-0633-119D-2CCEE5414F1B}"/>
              </a:ext>
            </a:extLst>
          </p:cNvPr>
          <p:cNvSpPr/>
          <p:nvPr/>
        </p:nvSpPr>
        <p:spPr>
          <a:xfrm>
            <a:off x="2565133" y="4162049"/>
            <a:ext cx="813334" cy="168448"/>
          </a:xfrm>
          <a:custGeom>
            <a:avLst/>
            <a:gdLst>
              <a:gd name="connsiteX0" fmla="*/ 0 w 813334"/>
              <a:gd name="connsiteY0" fmla="*/ 168448 h 168448"/>
              <a:gd name="connsiteX1" fmla="*/ 404261 w 813334"/>
              <a:gd name="connsiteY1" fmla="*/ 5 h 168448"/>
              <a:gd name="connsiteX2" fmla="*/ 813334 w 813334"/>
              <a:gd name="connsiteY2" fmla="*/ 163635 h 168448"/>
            </a:gdLst>
            <a:ahLst/>
            <a:cxnLst>
              <a:cxn ang="0">
                <a:pos x="connsiteX0" y="connsiteY0"/>
              </a:cxn>
              <a:cxn ang="0">
                <a:pos x="connsiteX1" y="connsiteY1"/>
              </a:cxn>
              <a:cxn ang="0">
                <a:pos x="connsiteX2" y="connsiteY2"/>
              </a:cxn>
            </a:cxnLst>
            <a:rect l="l" t="t" r="r" b="b"/>
            <a:pathLst>
              <a:path w="813334" h="168448">
                <a:moveTo>
                  <a:pt x="0" y="168448"/>
                </a:moveTo>
                <a:cubicBezTo>
                  <a:pt x="134352" y="84627"/>
                  <a:pt x="268705" y="807"/>
                  <a:pt x="404261" y="5"/>
                </a:cubicBezTo>
                <a:cubicBezTo>
                  <a:pt x="539817" y="-797"/>
                  <a:pt x="676575" y="81419"/>
                  <a:pt x="813334" y="163635"/>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Freeform: Shape 195">
            <a:extLst>
              <a:ext uri="{FF2B5EF4-FFF2-40B4-BE49-F238E27FC236}">
                <a16:creationId xmlns:a16="http://schemas.microsoft.com/office/drawing/2014/main" id="{7E0C8812-7EE6-E836-F4F0-B11C029F1D97}"/>
              </a:ext>
            </a:extLst>
          </p:cNvPr>
          <p:cNvSpPr/>
          <p:nvPr/>
        </p:nvSpPr>
        <p:spPr>
          <a:xfrm>
            <a:off x="4997935" y="4152211"/>
            <a:ext cx="847023" cy="183168"/>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7" name="Freeform: Shape 196">
            <a:extLst>
              <a:ext uri="{FF2B5EF4-FFF2-40B4-BE49-F238E27FC236}">
                <a16:creationId xmlns:a16="http://schemas.microsoft.com/office/drawing/2014/main" id="{D45EBAE4-6841-9B9B-1C4C-543459BDB5A8}"/>
              </a:ext>
            </a:extLst>
          </p:cNvPr>
          <p:cNvSpPr/>
          <p:nvPr/>
        </p:nvSpPr>
        <p:spPr>
          <a:xfrm>
            <a:off x="6143342" y="4166931"/>
            <a:ext cx="813334" cy="168448"/>
          </a:xfrm>
          <a:custGeom>
            <a:avLst/>
            <a:gdLst>
              <a:gd name="connsiteX0" fmla="*/ 0 w 813334"/>
              <a:gd name="connsiteY0" fmla="*/ 168448 h 168448"/>
              <a:gd name="connsiteX1" fmla="*/ 404261 w 813334"/>
              <a:gd name="connsiteY1" fmla="*/ 5 h 168448"/>
              <a:gd name="connsiteX2" fmla="*/ 813334 w 813334"/>
              <a:gd name="connsiteY2" fmla="*/ 163635 h 168448"/>
            </a:gdLst>
            <a:ahLst/>
            <a:cxnLst>
              <a:cxn ang="0">
                <a:pos x="connsiteX0" y="connsiteY0"/>
              </a:cxn>
              <a:cxn ang="0">
                <a:pos x="connsiteX1" y="connsiteY1"/>
              </a:cxn>
              <a:cxn ang="0">
                <a:pos x="connsiteX2" y="connsiteY2"/>
              </a:cxn>
            </a:cxnLst>
            <a:rect l="l" t="t" r="r" b="b"/>
            <a:pathLst>
              <a:path w="813334" h="168448">
                <a:moveTo>
                  <a:pt x="0" y="168448"/>
                </a:moveTo>
                <a:cubicBezTo>
                  <a:pt x="134352" y="84627"/>
                  <a:pt x="268705" y="807"/>
                  <a:pt x="404261" y="5"/>
                </a:cubicBezTo>
                <a:cubicBezTo>
                  <a:pt x="539817" y="-797"/>
                  <a:pt x="676575" y="81419"/>
                  <a:pt x="813334" y="163635"/>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8" name="Rectangle 197">
            <a:extLst>
              <a:ext uri="{FF2B5EF4-FFF2-40B4-BE49-F238E27FC236}">
                <a16:creationId xmlns:a16="http://schemas.microsoft.com/office/drawing/2014/main" id="{FFBECE76-2853-01CA-1443-CD85234F95BA}"/>
              </a:ext>
            </a:extLst>
          </p:cNvPr>
          <p:cNvSpPr/>
          <p:nvPr/>
        </p:nvSpPr>
        <p:spPr>
          <a:xfrm>
            <a:off x="5674328" y="4147329"/>
            <a:ext cx="579633" cy="354431"/>
          </a:xfrm>
          <a:prstGeom prst="rect">
            <a:avLst/>
          </a:prstGeom>
          <a:noFill/>
          <a:ln w="317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1" name="TextBox 200">
            <a:extLst>
              <a:ext uri="{FF2B5EF4-FFF2-40B4-BE49-F238E27FC236}">
                <a16:creationId xmlns:a16="http://schemas.microsoft.com/office/drawing/2014/main" id="{337BE756-98BD-7AC9-46EA-4FF5ED3BD313}"/>
              </a:ext>
            </a:extLst>
          </p:cNvPr>
          <p:cNvSpPr txBox="1"/>
          <p:nvPr/>
        </p:nvSpPr>
        <p:spPr>
          <a:xfrm>
            <a:off x="4438842" y="5301083"/>
            <a:ext cx="2113690" cy="461665"/>
          </a:xfrm>
          <a:prstGeom prst="rect">
            <a:avLst/>
          </a:prstGeom>
          <a:noFill/>
        </p:spPr>
        <p:txBody>
          <a:bodyPr wrap="square">
            <a:spAutoFit/>
          </a:bodyPr>
          <a:lstStyle/>
          <a:p>
            <a:pPr algn="ctr"/>
            <a:r>
              <a:rPr lang="en-GB" sz="2400" dirty="0"/>
              <a:t>Entanglement</a:t>
            </a:r>
            <a:endParaRPr lang="en-IT" sz="2400" dirty="0"/>
          </a:p>
        </p:txBody>
      </p:sp>
      <p:sp>
        <p:nvSpPr>
          <p:cNvPr id="202" name="TextBox 201">
            <a:extLst>
              <a:ext uri="{FF2B5EF4-FFF2-40B4-BE49-F238E27FC236}">
                <a16:creationId xmlns:a16="http://schemas.microsoft.com/office/drawing/2014/main" id="{EAF4DD3C-6678-B0D7-B06A-F496577E6EAC}"/>
              </a:ext>
            </a:extLst>
          </p:cNvPr>
          <p:cNvSpPr txBox="1"/>
          <p:nvPr/>
        </p:nvSpPr>
        <p:spPr>
          <a:xfrm>
            <a:off x="6977502" y="5204050"/>
            <a:ext cx="2563015" cy="712183"/>
          </a:xfrm>
          <a:prstGeom prst="rect">
            <a:avLst/>
          </a:prstGeom>
          <a:noFill/>
        </p:spPr>
        <p:txBody>
          <a:bodyPr wrap="square">
            <a:spAutoFit/>
          </a:bodyPr>
          <a:lstStyle/>
          <a:p>
            <a:pPr algn="ctr">
              <a:lnSpc>
                <a:spcPts val="2400"/>
              </a:lnSpc>
            </a:pPr>
            <a:r>
              <a:rPr lang="en-US" altLang="zh-CN" sz="2400" dirty="0"/>
              <a:t>Occupied</a:t>
            </a:r>
            <a:r>
              <a:rPr lang="en-GB" sz="2400" dirty="0"/>
              <a:t> quantum memory</a:t>
            </a:r>
            <a:endParaRPr lang="en-IT" sz="2400" dirty="0"/>
          </a:p>
        </p:txBody>
      </p:sp>
      <p:sp>
        <p:nvSpPr>
          <p:cNvPr id="207" name="TextBox 206">
            <a:extLst>
              <a:ext uri="{FF2B5EF4-FFF2-40B4-BE49-F238E27FC236}">
                <a16:creationId xmlns:a16="http://schemas.microsoft.com/office/drawing/2014/main" id="{E173178D-7FEC-DE73-7617-507110E48EED}"/>
              </a:ext>
            </a:extLst>
          </p:cNvPr>
          <p:cNvSpPr txBox="1"/>
          <p:nvPr/>
        </p:nvSpPr>
        <p:spPr>
          <a:xfrm>
            <a:off x="373437" y="5204050"/>
            <a:ext cx="2563015" cy="712183"/>
          </a:xfrm>
          <a:prstGeom prst="rect">
            <a:avLst/>
          </a:prstGeom>
          <a:noFill/>
        </p:spPr>
        <p:txBody>
          <a:bodyPr wrap="square">
            <a:spAutoFit/>
          </a:bodyPr>
          <a:lstStyle/>
          <a:p>
            <a:pPr algn="ctr">
              <a:lnSpc>
                <a:spcPts val="2400"/>
              </a:lnSpc>
            </a:pPr>
            <a:r>
              <a:rPr lang="en-US" altLang="zh-CN" sz="2400" dirty="0"/>
              <a:t>Q</a:t>
            </a:r>
            <a:r>
              <a:rPr lang="en-GB" sz="2400" dirty="0" err="1"/>
              <a:t>uantum</a:t>
            </a:r>
            <a:r>
              <a:rPr lang="en-GB" sz="2400" dirty="0"/>
              <a:t> </a:t>
            </a:r>
          </a:p>
          <a:p>
            <a:pPr algn="ctr">
              <a:lnSpc>
                <a:spcPts val="2400"/>
              </a:lnSpc>
            </a:pPr>
            <a:r>
              <a:rPr lang="en-GB" sz="2400" dirty="0"/>
              <a:t>node</a:t>
            </a:r>
            <a:endParaRPr lang="en-IT" sz="2400" dirty="0"/>
          </a:p>
        </p:txBody>
      </p:sp>
    </p:spTree>
    <p:extLst>
      <p:ext uri="{BB962C8B-B14F-4D97-AF65-F5344CB8AC3E}">
        <p14:creationId xmlns:p14="http://schemas.microsoft.com/office/powerpoint/2010/main" val="21672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p:bldP spid="190" grpId="0" animBg="1"/>
      <p:bldP spid="191" grpId="0" animBg="1"/>
      <p:bldP spid="192" grpId="0" animBg="1"/>
      <p:bldP spid="196" grpId="0" animBg="1"/>
      <p:bldP spid="197" grpId="0" animBg="1"/>
      <p:bldP spid="19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D491B-933D-F319-77AE-DFDA1E028E0A}"/>
              </a:ext>
            </a:extLst>
          </p:cNvPr>
          <p:cNvSpPr>
            <a:spLocks noGrp="1"/>
          </p:cNvSpPr>
          <p:nvPr>
            <p:ph type="title"/>
          </p:nvPr>
        </p:nvSpPr>
        <p:spPr>
          <a:xfrm>
            <a:off x="838200" y="24714"/>
            <a:ext cx="10515600" cy="1325563"/>
          </a:xfrm>
        </p:spPr>
        <p:txBody>
          <a:bodyPr/>
          <a:lstStyle/>
          <a:p>
            <a:r>
              <a:rPr lang="en-US" altLang="zh-CN" dirty="0"/>
              <a:t>Link Configuration for Quantum Networks</a:t>
            </a:r>
            <a:endParaRPr lang="en-IT" dirty="0"/>
          </a:p>
        </p:txBody>
      </p:sp>
      <p:sp>
        <p:nvSpPr>
          <p:cNvPr id="3" name="Content Placeholder 2">
            <a:extLst>
              <a:ext uri="{FF2B5EF4-FFF2-40B4-BE49-F238E27FC236}">
                <a16:creationId xmlns:a16="http://schemas.microsoft.com/office/drawing/2014/main" id="{19ED00D7-6B7B-C4C2-E6CD-FD60C175C383}"/>
              </a:ext>
            </a:extLst>
          </p:cNvPr>
          <p:cNvSpPr>
            <a:spLocks noGrp="1"/>
          </p:cNvSpPr>
          <p:nvPr>
            <p:ph idx="1"/>
          </p:nvPr>
        </p:nvSpPr>
        <p:spPr>
          <a:xfrm>
            <a:off x="838200" y="1513686"/>
            <a:ext cx="11042172" cy="1325563"/>
          </a:xfrm>
        </p:spPr>
        <p:txBody>
          <a:bodyPr/>
          <a:lstStyle/>
          <a:p>
            <a:r>
              <a:rPr lang="en-GB" dirty="0"/>
              <a:t>Existing quantum networking </a:t>
            </a:r>
            <a:r>
              <a:rPr lang="en-GB"/>
              <a:t>works typically assume </a:t>
            </a:r>
            <a:r>
              <a:rPr lang="en-GB" dirty="0"/>
              <a:t>quantum links with </a:t>
            </a:r>
            <a:r>
              <a:rPr lang="en-GB" dirty="0">
                <a:solidFill>
                  <a:srgbClr val="FF0000"/>
                </a:solidFill>
              </a:rPr>
              <a:t>fixed fidelity</a:t>
            </a:r>
          </a:p>
          <a:p>
            <a:r>
              <a:rPr lang="en-GB" dirty="0"/>
              <a:t>Quantum </a:t>
            </a:r>
            <a:r>
              <a:rPr lang="en-GB" dirty="0">
                <a:solidFill>
                  <a:srgbClr val="FF0000"/>
                </a:solidFill>
              </a:rPr>
              <a:t>link configuration</a:t>
            </a:r>
            <a:r>
              <a:rPr lang="en-GB" dirty="0"/>
              <a:t>: assign different combinations of </a:t>
            </a:r>
            <a:r>
              <a:rPr lang="en-GB" dirty="0">
                <a:solidFill>
                  <a:srgbClr val="FF0000"/>
                </a:solidFill>
              </a:rPr>
              <a:t>(rate, fidelity)</a:t>
            </a:r>
            <a:r>
              <a:rPr lang="en-GB" dirty="0"/>
              <a:t> [1,2]</a:t>
            </a:r>
            <a:endParaRPr lang="en-IT" dirty="0"/>
          </a:p>
          <a:p>
            <a:pPr lvl="1"/>
            <a:r>
              <a:rPr lang="en-GB" sz="2400" dirty="0"/>
              <a:t>Achievable by simply tuning microwave pulses</a:t>
            </a:r>
          </a:p>
          <a:p>
            <a:pPr lvl="1"/>
            <a:endParaRPr lang="en-GB" sz="2400" dirty="0"/>
          </a:p>
          <a:p>
            <a:pPr lvl="1"/>
            <a:endParaRPr lang="en-GB" sz="2400" dirty="0"/>
          </a:p>
          <a:p>
            <a:pPr lvl="1"/>
            <a:endParaRPr lang="en-GB" sz="2400" dirty="0"/>
          </a:p>
          <a:p>
            <a:pPr lvl="1"/>
            <a:endParaRPr lang="en-GB" sz="2400" dirty="0"/>
          </a:p>
          <a:p>
            <a:r>
              <a:rPr lang="en-GB" dirty="0"/>
              <a:t>This study aims to investigate the following two research questions: </a:t>
            </a:r>
            <a:endParaRPr lang="en-IT" dirty="0"/>
          </a:p>
          <a:p>
            <a:pPr marL="914400" lvl="1" indent="-457200">
              <a:buFont typeface="+mj-lt"/>
              <a:buAutoNum type="arabicPeriod"/>
            </a:pPr>
            <a:r>
              <a:rPr lang="en-GB" sz="2400" dirty="0"/>
              <a:t>How to </a:t>
            </a:r>
            <a:r>
              <a:rPr lang="en-GB" sz="2400" dirty="0">
                <a:solidFill>
                  <a:srgbClr val="FF0000"/>
                </a:solidFill>
              </a:rPr>
              <a:t>decide the link configuration </a:t>
            </a:r>
            <a:r>
              <a:rPr lang="en-GB" sz="2400" dirty="0"/>
              <a:t>at network-scale?</a:t>
            </a:r>
          </a:p>
          <a:p>
            <a:pPr marL="914400" lvl="1" indent="-457200">
              <a:buFont typeface="+mj-lt"/>
              <a:buAutoNum type="arabicPeriod"/>
            </a:pPr>
            <a:r>
              <a:rPr lang="en-GB" sz="2400" dirty="0"/>
              <a:t>What is the </a:t>
            </a:r>
            <a:r>
              <a:rPr lang="en-GB" sz="2400" dirty="0">
                <a:solidFill>
                  <a:srgbClr val="FF0000"/>
                </a:solidFill>
              </a:rPr>
              <a:t>improvement in terms of acceptance ratio </a:t>
            </a:r>
            <a:r>
              <a:rPr lang="en-GB" sz="2400" dirty="0"/>
              <a:t>of EPR pair requests </a:t>
            </a:r>
            <a:r>
              <a:rPr lang="en-US" sz="2400" dirty="0">
                <a:solidFill>
                  <a:srgbClr val="FF0000"/>
                </a:solidFill>
              </a:rPr>
              <a:t>enabled by link configuration </a:t>
            </a:r>
            <a:r>
              <a:rPr lang="en-US" sz="2400" dirty="0"/>
              <a:t>on existing ER algorithms</a:t>
            </a:r>
            <a:r>
              <a:rPr lang="en-GB" sz="2400" dirty="0"/>
              <a:t>?</a:t>
            </a:r>
          </a:p>
          <a:p>
            <a:pPr lvl="1"/>
            <a:endParaRPr lang="en-GB" sz="2400" dirty="0"/>
          </a:p>
        </p:txBody>
      </p:sp>
      <p:sp>
        <p:nvSpPr>
          <p:cNvPr id="4" name="Footer Placeholder 3">
            <a:extLst>
              <a:ext uri="{FF2B5EF4-FFF2-40B4-BE49-F238E27FC236}">
                <a16:creationId xmlns:a16="http://schemas.microsoft.com/office/drawing/2014/main" id="{9CEAB136-7DB0-4F32-B88C-80A994E047AC}"/>
              </a:ext>
            </a:extLst>
          </p:cNvPr>
          <p:cNvSpPr>
            <a:spLocks noGrp="1"/>
          </p:cNvSpPr>
          <p:nvPr>
            <p:ph type="ftr" sz="quarter" idx="11"/>
          </p:nvPr>
        </p:nvSpPr>
        <p:spPr/>
        <p:txBody>
          <a:bodyPr/>
          <a:lstStyle/>
          <a:p>
            <a:r>
              <a:rPr lang="en-GB"/>
              <a:t>Q. Zhang, Link Configuration for Fidelity-Constrained Entanglement Routing</a:t>
            </a:r>
            <a:endParaRPr lang="en-US" dirty="0"/>
          </a:p>
        </p:txBody>
      </p:sp>
      <p:sp>
        <p:nvSpPr>
          <p:cNvPr id="10" name="文本框 9">
            <a:extLst>
              <a:ext uri="{FF2B5EF4-FFF2-40B4-BE49-F238E27FC236}">
                <a16:creationId xmlns:a16="http://schemas.microsoft.com/office/drawing/2014/main" id="{10BAE8F1-B1B4-F708-CB9B-16F2F351D6F6}"/>
              </a:ext>
            </a:extLst>
          </p:cNvPr>
          <p:cNvSpPr txBox="1"/>
          <p:nvPr/>
        </p:nvSpPr>
        <p:spPr>
          <a:xfrm>
            <a:off x="521860" y="6004985"/>
            <a:ext cx="1135851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[1]. P. C. Humphreys, etc, “Deterministic delivery of remote entanglement on a quantum network,” Nature, 2018.</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dirty="0">
                <a:solidFill>
                  <a:srgbClr val="000000"/>
                </a:solidFill>
                <a:latin typeface="Helvetica" pitchFamily="2" charset="0"/>
              </a:rPr>
              <a:t>[2]. G. </a:t>
            </a:r>
            <a:r>
              <a:rPr lang="en-GB" sz="1200" i="1" dirty="0" err="1">
                <a:solidFill>
                  <a:srgbClr val="000000"/>
                </a:solidFill>
                <a:latin typeface="Helvetica" pitchFamily="2" charset="0"/>
              </a:rPr>
              <a:t>Vardoyan</a:t>
            </a:r>
            <a:r>
              <a:rPr lang="en-GB" sz="1200" i="1" dirty="0">
                <a:solidFill>
                  <a:srgbClr val="000000"/>
                </a:solidFill>
                <a:latin typeface="Helvetica" pitchFamily="2" charset="0"/>
              </a:rPr>
              <a:t> and S. Wehner, “Quantum network utility maximization,” in IEEE International Conference on Quantum Computing and Engineering (QCE), 2023.</a:t>
            </a:r>
            <a:endPar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endParaRPr>
          </a:p>
        </p:txBody>
      </p:sp>
      <p:sp>
        <p:nvSpPr>
          <p:cNvPr id="15" name="Slide Number Placeholder 14">
            <a:extLst>
              <a:ext uri="{FF2B5EF4-FFF2-40B4-BE49-F238E27FC236}">
                <a16:creationId xmlns:a16="http://schemas.microsoft.com/office/drawing/2014/main" id="{1B8394D1-53D6-447C-5E3C-063CE3B78B83}"/>
              </a:ext>
            </a:extLst>
          </p:cNvPr>
          <p:cNvSpPr>
            <a:spLocks noGrp="1"/>
          </p:cNvSpPr>
          <p:nvPr>
            <p:ph type="sldNum" sz="quarter" idx="12"/>
          </p:nvPr>
        </p:nvSpPr>
        <p:spPr/>
        <p:txBody>
          <a:bodyPr/>
          <a:lstStyle/>
          <a:p>
            <a:fld id="{5AFE0081-1ED4-41E0-88AB-D26DBE160EA6}" type="slidenum">
              <a:rPr lang="en-US" smtClean="0"/>
              <a:t>7</a:t>
            </a:fld>
            <a:endParaRPr lang="en-US" dirty="0"/>
          </a:p>
        </p:txBody>
      </p:sp>
      <p:graphicFrame>
        <p:nvGraphicFramePr>
          <p:cNvPr id="5" name="Table 5">
            <a:extLst>
              <a:ext uri="{FF2B5EF4-FFF2-40B4-BE49-F238E27FC236}">
                <a16:creationId xmlns:a16="http://schemas.microsoft.com/office/drawing/2014/main" id="{63B5A0D5-EA0E-2DCD-BC69-B412A14B133F}"/>
              </a:ext>
            </a:extLst>
          </p:cNvPr>
          <p:cNvGraphicFramePr>
            <a:graphicFrameLocks noGrp="1"/>
          </p:cNvGraphicFramePr>
          <p:nvPr>
            <p:extLst>
              <p:ext uri="{D42A27DB-BD31-4B8C-83A1-F6EECF244321}">
                <p14:modId xmlns:p14="http://schemas.microsoft.com/office/powerpoint/2010/main" val="2919708349"/>
              </p:ext>
            </p:extLst>
          </p:nvPr>
        </p:nvGraphicFramePr>
        <p:xfrm>
          <a:off x="1576075" y="2909618"/>
          <a:ext cx="9250081" cy="1109134"/>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56199708"/>
                    </a:ext>
                  </a:extLst>
                </a:gridCol>
                <a:gridCol w="1344706">
                  <a:extLst>
                    <a:ext uri="{9D8B030D-6E8A-4147-A177-3AD203B41FA5}">
                      <a16:colId xmlns:a16="http://schemas.microsoft.com/office/drawing/2014/main" val="3021179301"/>
                    </a:ext>
                  </a:extLst>
                </a:gridCol>
                <a:gridCol w="1257300">
                  <a:extLst>
                    <a:ext uri="{9D8B030D-6E8A-4147-A177-3AD203B41FA5}">
                      <a16:colId xmlns:a16="http://schemas.microsoft.com/office/drawing/2014/main" val="3824228596"/>
                    </a:ext>
                  </a:extLst>
                </a:gridCol>
                <a:gridCol w="1398494">
                  <a:extLst>
                    <a:ext uri="{9D8B030D-6E8A-4147-A177-3AD203B41FA5}">
                      <a16:colId xmlns:a16="http://schemas.microsoft.com/office/drawing/2014/main" val="3211652513"/>
                    </a:ext>
                  </a:extLst>
                </a:gridCol>
                <a:gridCol w="1485900">
                  <a:extLst>
                    <a:ext uri="{9D8B030D-6E8A-4147-A177-3AD203B41FA5}">
                      <a16:colId xmlns:a16="http://schemas.microsoft.com/office/drawing/2014/main" val="300474950"/>
                    </a:ext>
                  </a:extLst>
                </a:gridCol>
                <a:gridCol w="1223681">
                  <a:extLst>
                    <a:ext uri="{9D8B030D-6E8A-4147-A177-3AD203B41FA5}">
                      <a16:colId xmlns:a16="http://schemas.microsoft.com/office/drawing/2014/main" val="710711461"/>
                    </a:ext>
                  </a:extLst>
                </a:gridCol>
              </a:tblGrid>
              <a:tr h="554567">
                <a:tc>
                  <a:txBody>
                    <a:bodyPr/>
                    <a:lstStyle/>
                    <a:p>
                      <a:pPr algn="ctr"/>
                      <a:r>
                        <a:rPr lang="en-GB" sz="2400" b="0" dirty="0">
                          <a:solidFill>
                            <a:schemeClr val="tx1"/>
                          </a:solidFill>
                        </a:rPr>
                        <a:t>Rate (EPR pair /s)</a:t>
                      </a:r>
                    </a:p>
                  </a:txBody>
                  <a:tcPr>
                    <a:solidFill>
                      <a:schemeClr val="accent1">
                        <a:lumMod val="40000"/>
                        <a:lumOff val="60000"/>
                      </a:schemeClr>
                    </a:solidFill>
                  </a:tcPr>
                </a:tc>
                <a:tc>
                  <a:txBody>
                    <a:bodyPr/>
                    <a:lstStyle/>
                    <a:p>
                      <a:pPr algn="ctr"/>
                      <a:r>
                        <a:rPr lang="en-GB" sz="2400" b="0" dirty="0">
                          <a:solidFill>
                            <a:schemeClr val="tx1"/>
                          </a:solidFill>
                        </a:rPr>
                        <a:t>40 </a:t>
                      </a:r>
                    </a:p>
                  </a:txBody>
                  <a:tcPr>
                    <a:solidFill>
                      <a:schemeClr val="accent1">
                        <a:lumMod val="40000"/>
                        <a:lumOff val="60000"/>
                      </a:schemeClr>
                    </a:solidFill>
                  </a:tcPr>
                </a:tc>
                <a:tc>
                  <a:txBody>
                    <a:bodyPr/>
                    <a:lstStyle/>
                    <a:p>
                      <a:pPr algn="ctr"/>
                      <a:r>
                        <a:rPr lang="en-GB" sz="2400" b="0" dirty="0">
                          <a:solidFill>
                            <a:schemeClr val="tx1"/>
                          </a:solidFill>
                        </a:rPr>
                        <a:t>60</a:t>
                      </a:r>
                    </a:p>
                  </a:txBody>
                  <a:tcPr>
                    <a:solidFill>
                      <a:schemeClr val="accent1">
                        <a:lumMod val="40000"/>
                        <a:lumOff val="60000"/>
                      </a:schemeClr>
                    </a:solidFill>
                  </a:tcPr>
                </a:tc>
                <a:tc>
                  <a:txBody>
                    <a:bodyPr/>
                    <a:lstStyle/>
                    <a:p>
                      <a:pPr algn="ctr"/>
                      <a:r>
                        <a:rPr lang="en-GB" sz="2400" b="0" dirty="0">
                          <a:solidFill>
                            <a:schemeClr val="tx1"/>
                          </a:solidFill>
                        </a:rPr>
                        <a:t>80</a:t>
                      </a:r>
                    </a:p>
                  </a:txBody>
                  <a:tcPr>
                    <a:solidFill>
                      <a:schemeClr val="accent1">
                        <a:lumMod val="40000"/>
                        <a:lumOff val="60000"/>
                      </a:schemeClr>
                    </a:solidFill>
                  </a:tcPr>
                </a:tc>
                <a:tc>
                  <a:txBody>
                    <a:bodyPr/>
                    <a:lstStyle/>
                    <a:p>
                      <a:pPr algn="ctr"/>
                      <a:r>
                        <a:rPr lang="en-GB" sz="2400" b="0" dirty="0">
                          <a:solidFill>
                            <a:schemeClr val="tx1"/>
                          </a:solidFill>
                        </a:rPr>
                        <a:t>100</a:t>
                      </a:r>
                    </a:p>
                  </a:txBody>
                  <a:tcPr>
                    <a:solidFill>
                      <a:schemeClr val="accent1">
                        <a:lumMod val="40000"/>
                        <a:lumOff val="60000"/>
                      </a:schemeClr>
                    </a:solidFill>
                  </a:tcPr>
                </a:tc>
                <a:tc>
                  <a:txBody>
                    <a:bodyPr/>
                    <a:lstStyle/>
                    <a:p>
                      <a:pPr algn="ctr"/>
                      <a:r>
                        <a:rPr lang="en-GB" sz="2400" b="0" dirty="0">
                          <a:solidFill>
                            <a:schemeClr val="tx1"/>
                          </a:solidFill>
                        </a:rPr>
                        <a:t>120</a:t>
                      </a:r>
                    </a:p>
                  </a:txBody>
                  <a:tcPr>
                    <a:solidFill>
                      <a:schemeClr val="accent1">
                        <a:lumMod val="40000"/>
                        <a:lumOff val="60000"/>
                      </a:schemeClr>
                    </a:solidFill>
                  </a:tcPr>
                </a:tc>
                <a:extLst>
                  <a:ext uri="{0D108BD9-81ED-4DB2-BD59-A6C34878D82A}">
                    <a16:rowId xmlns:a16="http://schemas.microsoft.com/office/drawing/2014/main" val="773132877"/>
                  </a:ext>
                </a:extLst>
              </a:tr>
              <a:tr h="554567">
                <a:tc>
                  <a:txBody>
                    <a:bodyPr/>
                    <a:lstStyle/>
                    <a:p>
                      <a:pPr algn="ctr"/>
                      <a:r>
                        <a:rPr lang="en-GB" sz="2400" b="0" dirty="0"/>
                        <a:t>Fidelity</a:t>
                      </a:r>
                    </a:p>
                  </a:txBody>
                  <a:tcPr>
                    <a:solidFill>
                      <a:schemeClr val="accent1">
                        <a:lumMod val="40000"/>
                        <a:lumOff val="60000"/>
                      </a:schemeClr>
                    </a:solidFill>
                  </a:tcPr>
                </a:tc>
                <a:tc>
                  <a:txBody>
                    <a:bodyPr/>
                    <a:lstStyle/>
                    <a:p>
                      <a:pPr algn="ctr"/>
                      <a:r>
                        <a:rPr lang="en-GB" sz="2400" b="0" dirty="0"/>
                        <a:t>0.9</a:t>
                      </a:r>
                    </a:p>
                  </a:txBody>
                  <a:tcPr>
                    <a:solidFill>
                      <a:schemeClr val="accent1">
                        <a:lumMod val="40000"/>
                        <a:lumOff val="60000"/>
                      </a:schemeClr>
                    </a:solidFill>
                  </a:tcPr>
                </a:tc>
                <a:tc>
                  <a:txBody>
                    <a:bodyPr/>
                    <a:lstStyle/>
                    <a:p>
                      <a:pPr algn="ctr"/>
                      <a:r>
                        <a:rPr lang="en-GB" sz="2400" b="0" dirty="0"/>
                        <a:t>0.85</a:t>
                      </a:r>
                    </a:p>
                  </a:txBody>
                  <a:tcPr>
                    <a:solidFill>
                      <a:schemeClr val="accent1">
                        <a:lumMod val="40000"/>
                        <a:lumOff val="60000"/>
                      </a:schemeClr>
                    </a:solidFill>
                  </a:tcPr>
                </a:tc>
                <a:tc>
                  <a:txBody>
                    <a:bodyPr/>
                    <a:lstStyle/>
                    <a:p>
                      <a:pPr algn="ctr"/>
                      <a:r>
                        <a:rPr lang="en-GB" sz="2400" b="0" dirty="0"/>
                        <a:t>0.8</a:t>
                      </a:r>
                    </a:p>
                  </a:txBody>
                  <a:tcPr>
                    <a:solidFill>
                      <a:schemeClr val="accent1">
                        <a:lumMod val="40000"/>
                        <a:lumOff val="60000"/>
                      </a:schemeClr>
                    </a:solidFill>
                  </a:tcPr>
                </a:tc>
                <a:tc>
                  <a:txBody>
                    <a:bodyPr/>
                    <a:lstStyle/>
                    <a:p>
                      <a:pPr algn="ctr"/>
                      <a:r>
                        <a:rPr lang="en-GB" sz="2400" b="0" dirty="0"/>
                        <a:t>0.75</a:t>
                      </a:r>
                    </a:p>
                  </a:txBody>
                  <a:tcPr>
                    <a:solidFill>
                      <a:schemeClr val="accent1">
                        <a:lumMod val="40000"/>
                        <a:lumOff val="60000"/>
                      </a:schemeClr>
                    </a:solidFill>
                  </a:tcPr>
                </a:tc>
                <a:tc>
                  <a:txBody>
                    <a:bodyPr/>
                    <a:lstStyle/>
                    <a:p>
                      <a:pPr algn="ctr"/>
                      <a:r>
                        <a:rPr lang="en-GB" sz="2400" b="0" dirty="0"/>
                        <a:t>0.7</a:t>
                      </a:r>
                    </a:p>
                  </a:txBody>
                  <a:tcPr>
                    <a:solidFill>
                      <a:schemeClr val="accent1">
                        <a:lumMod val="40000"/>
                        <a:lumOff val="60000"/>
                      </a:schemeClr>
                    </a:solidFill>
                  </a:tcPr>
                </a:tc>
                <a:extLst>
                  <a:ext uri="{0D108BD9-81ED-4DB2-BD59-A6C34878D82A}">
                    <a16:rowId xmlns:a16="http://schemas.microsoft.com/office/drawing/2014/main" val="2358705832"/>
                  </a:ext>
                </a:extLst>
              </a:tr>
            </a:tbl>
          </a:graphicData>
        </a:graphic>
      </p:graphicFrame>
    </p:spTree>
    <p:extLst>
      <p:ext uri="{BB962C8B-B14F-4D97-AF65-F5344CB8AC3E}">
        <p14:creationId xmlns:p14="http://schemas.microsoft.com/office/powerpoint/2010/main" val="414882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0515600" cy="4711459"/>
          </a:xfrm>
        </p:spPr>
        <p:txBody>
          <a:bodyPr/>
          <a:lstStyle/>
          <a:p>
            <a:pPr>
              <a:buFont typeface="Wingdings" pitchFamily="2" charset="2"/>
              <a:buChar char="§"/>
            </a:pPr>
            <a:r>
              <a:rPr lang="en-US" sz="2800" dirty="0"/>
              <a:t>Introduction and Motivation</a:t>
            </a:r>
          </a:p>
          <a:p>
            <a:pPr lvl="4">
              <a:buFont typeface="Wingdings" pitchFamily="2" charset="2"/>
              <a:buChar char="§"/>
            </a:pPr>
            <a:endParaRPr lang="en-IT" dirty="0"/>
          </a:p>
          <a:p>
            <a:pPr>
              <a:buFont typeface="Wingdings" pitchFamily="2" charset="2"/>
              <a:buChar char="§"/>
            </a:pPr>
            <a:r>
              <a:rPr lang="en-US" altLang="zh-CN" sz="2800" b="1" dirty="0"/>
              <a:t>System Model and Problem Statement</a:t>
            </a:r>
          </a:p>
          <a:p>
            <a:pPr lvl="1">
              <a:buFont typeface="Wingdings" pitchFamily="2" charset="2"/>
              <a:buChar char="§"/>
            </a:pPr>
            <a:r>
              <a:rPr lang="en-GB" sz="2600" b="1" dirty="0"/>
              <a:t>Technical Preliminaries on Quantum Networks</a:t>
            </a:r>
          </a:p>
          <a:p>
            <a:pPr lvl="1">
              <a:buFont typeface="Wingdings" pitchFamily="2" charset="2"/>
              <a:buChar char="§"/>
            </a:pPr>
            <a:r>
              <a:rPr lang="en-GB" sz="2600"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dirty="0"/>
              <a:t>Integer Linear Programming Model and Link Configuration Algorithm</a:t>
            </a:r>
          </a:p>
          <a:p>
            <a:pPr marL="1828800" lvl="4" indent="0">
              <a:buNone/>
            </a:pPr>
            <a:endParaRPr lang="en-IT" sz="1600" dirty="0"/>
          </a:p>
          <a:p>
            <a:pPr>
              <a:buFont typeface="Wingdings" pitchFamily="2" charset="2"/>
              <a:buChar char="§"/>
            </a:pPr>
            <a:r>
              <a:rPr lang="en-GB" sz="2800" dirty="0"/>
              <a:t>Numerical Results</a:t>
            </a:r>
          </a:p>
          <a:p>
            <a:pPr lvl="4">
              <a:buFont typeface="Wingdings" pitchFamily="2" charset="2"/>
              <a:buChar char="§"/>
            </a:pPr>
            <a:endParaRPr lang="en-GB" sz="1600" dirty="0"/>
          </a:p>
          <a:p>
            <a:pPr>
              <a:buFont typeface="Wingdings" pitchFamily="2" charset="2"/>
              <a:buChar char="§"/>
            </a:pPr>
            <a:r>
              <a:rPr lang="en-GB" sz="2800" dirty="0"/>
              <a:t>Conclusion</a:t>
            </a:r>
            <a:endParaRPr lang="en-IT" sz="2800"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0525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3D250-0533-028B-987D-D67CA720E127}"/>
              </a:ext>
            </a:extLst>
          </p:cNvPr>
          <p:cNvSpPr>
            <a:spLocks noGrp="1"/>
          </p:cNvSpPr>
          <p:nvPr>
            <p:ph type="title"/>
          </p:nvPr>
        </p:nvSpPr>
        <p:spPr/>
        <p:txBody>
          <a:bodyPr/>
          <a:lstStyle/>
          <a:p>
            <a:r>
              <a:rPr lang="en-IT" dirty="0"/>
              <a:t>Fidelity </a:t>
            </a:r>
            <a:r>
              <a:rPr lang="en-US" altLang="zh-CN" dirty="0"/>
              <a:t>Improvement with</a:t>
            </a:r>
            <a:r>
              <a:rPr lang="en-IT" dirty="0"/>
              <a:t> Purification</a:t>
            </a:r>
          </a:p>
        </p:txBody>
      </p:sp>
      <p:sp>
        <p:nvSpPr>
          <p:cNvPr id="4" name="Footer Placeholder 3">
            <a:extLst>
              <a:ext uri="{FF2B5EF4-FFF2-40B4-BE49-F238E27FC236}">
                <a16:creationId xmlns:a16="http://schemas.microsoft.com/office/drawing/2014/main" id="{CB843300-A60D-6F63-B085-7B6A72F7509F}"/>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5" name="Slide Number Placeholder 4">
            <a:extLst>
              <a:ext uri="{FF2B5EF4-FFF2-40B4-BE49-F238E27FC236}">
                <a16:creationId xmlns:a16="http://schemas.microsoft.com/office/drawing/2014/main" id="{A45AD06F-E30E-2909-7946-2381F88B4849}"/>
              </a:ext>
            </a:extLst>
          </p:cNvPr>
          <p:cNvSpPr>
            <a:spLocks noGrp="1"/>
          </p:cNvSpPr>
          <p:nvPr>
            <p:ph type="sldNum" sz="quarter" idx="12"/>
          </p:nvPr>
        </p:nvSpPr>
        <p:spPr/>
        <p:txBody>
          <a:bodyPr/>
          <a:lstStyle/>
          <a:p>
            <a:fld id="{5AFE0081-1ED4-41E0-88AB-D26DBE160EA6}" type="slidenum">
              <a:rPr lang="en-US" smtClean="0"/>
              <a:t>9</a:t>
            </a:fld>
            <a:endParaRPr lang="en-US"/>
          </a:p>
        </p:txBody>
      </p:sp>
      <p:sp>
        <p:nvSpPr>
          <p:cNvPr id="7" name="Content Placeholder 2">
            <a:extLst>
              <a:ext uri="{FF2B5EF4-FFF2-40B4-BE49-F238E27FC236}">
                <a16:creationId xmlns:a16="http://schemas.microsoft.com/office/drawing/2014/main" id="{A7507585-518E-A06E-2C42-EF4691883ECE}"/>
              </a:ext>
            </a:extLst>
          </p:cNvPr>
          <p:cNvSpPr txBox="1">
            <a:spLocks/>
          </p:cNvSpPr>
          <p:nvPr/>
        </p:nvSpPr>
        <p:spPr>
          <a:xfrm>
            <a:off x="838199" y="1522440"/>
            <a:ext cx="10929471" cy="7908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Purification: distill </a:t>
            </a:r>
            <a:r>
              <a:rPr lang="en-US" dirty="0">
                <a:solidFill>
                  <a:srgbClr val="FF0000"/>
                </a:solidFill>
              </a:rPr>
              <a:t>high-fidelity </a:t>
            </a:r>
            <a:r>
              <a:rPr lang="en-US" dirty="0"/>
              <a:t>entanglements </a:t>
            </a:r>
            <a:r>
              <a:rPr lang="en-US" dirty="0">
                <a:solidFill>
                  <a:srgbClr val="FF0000"/>
                </a:solidFill>
              </a:rPr>
              <a:t>from low-fidelity </a:t>
            </a:r>
            <a:r>
              <a:rPr lang="en-US" dirty="0"/>
              <a:t>entanglements</a:t>
            </a:r>
          </a:p>
          <a:p>
            <a:pPr lvl="1"/>
            <a:r>
              <a:rPr lang="en-US" sz="2200" dirty="0"/>
              <a:t>Average </a:t>
            </a:r>
            <a:r>
              <a:rPr lang="en-US" sz="2200" dirty="0">
                <a:solidFill>
                  <a:srgbClr val="FF0000"/>
                </a:solidFill>
              </a:rPr>
              <a:t>number of entanglements </a:t>
            </a:r>
            <a:r>
              <a:rPr lang="en-US" sz="2200" dirty="0"/>
              <a:t>used to distill one desired-fidelity entanglement [1,2]</a:t>
            </a:r>
          </a:p>
          <a:p>
            <a:pPr lvl="1"/>
            <a:endParaRPr lang="en-GB" kern="0" dirty="0">
              <a:solidFill>
                <a:srgbClr val="FF0000"/>
              </a:solidFill>
            </a:endParaRPr>
          </a:p>
        </p:txBody>
      </p:sp>
      <p:sp>
        <p:nvSpPr>
          <p:cNvPr id="3" name="文本框 9">
            <a:extLst>
              <a:ext uri="{FF2B5EF4-FFF2-40B4-BE49-F238E27FC236}">
                <a16:creationId xmlns:a16="http://schemas.microsoft.com/office/drawing/2014/main" id="{2AE81130-AA55-9E33-428C-D55B5B09D70F}"/>
              </a:ext>
            </a:extLst>
          </p:cNvPr>
          <p:cNvSpPr txBox="1"/>
          <p:nvPr/>
        </p:nvSpPr>
        <p:spPr>
          <a:xfrm>
            <a:off x="521860" y="6060423"/>
            <a:ext cx="11358512" cy="461665"/>
          </a:xfrm>
          <a:prstGeom prst="rect">
            <a:avLst/>
          </a:prstGeom>
          <a:noFill/>
        </p:spPr>
        <p:txBody>
          <a:bodyPr wrap="square">
            <a:spAutoFit/>
          </a:bodyPr>
          <a:lstStyle/>
          <a:p>
            <a:pPr>
              <a:defRPr/>
            </a:pPr>
            <a:r>
              <a:rPr lang="en-GB" sz="1200" i="1" dirty="0">
                <a:solidFill>
                  <a:srgbClr val="000000"/>
                </a:solidFill>
                <a:latin typeface="Helvetica" pitchFamily="2" charset="0"/>
              </a:rPr>
              <a:t>[1]. C. H. Bennett, etc, “Purification of noisy entanglement and faithful teleportation via noisy channels,” Physical review letters, 1996.</a:t>
            </a:r>
          </a:p>
          <a:p>
            <a:pPr>
              <a:defRPr/>
            </a:pP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[2] W. Dür, “Quantum repeaters based on entanglement purification,” Physical Review A, 1999.</a:t>
            </a:r>
          </a:p>
        </p:txBody>
      </p:sp>
      <p:graphicFrame>
        <p:nvGraphicFramePr>
          <p:cNvPr id="9" name="Table 9">
            <a:extLst>
              <a:ext uri="{FF2B5EF4-FFF2-40B4-BE49-F238E27FC236}">
                <a16:creationId xmlns:a16="http://schemas.microsoft.com/office/drawing/2014/main" id="{E4BA53CF-BBC6-E073-7E39-F2F557513684}"/>
              </a:ext>
            </a:extLst>
          </p:cNvPr>
          <p:cNvGraphicFramePr>
            <a:graphicFrameLocks noGrp="1"/>
          </p:cNvGraphicFramePr>
          <p:nvPr>
            <p:extLst>
              <p:ext uri="{D42A27DB-BD31-4B8C-83A1-F6EECF244321}">
                <p14:modId xmlns:p14="http://schemas.microsoft.com/office/powerpoint/2010/main" val="3975170917"/>
              </p:ext>
            </p:extLst>
          </p:nvPr>
        </p:nvGraphicFramePr>
        <p:xfrm>
          <a:off x="6416704" y="2495342"/>
          <a:ext cx="5565914" cy="2942484"/>
        </p:xfrm>
        <a:graphic>
          <a:graphicData uri="http://schemas.openxmlformats.org/drawingml/2006/table">
            <a:tbl>
              <a:tblPr firstRow="1" bandRow="1">
                <a:tableStyleId>{5C22544A-7EE6-4342-B048-85BDC9FD1C3A}</a:tableStyleId>
              </a:tblPr>
              <a:tblGrid>
                <a:gridCol w="1216476">
                  <a:extLst>
                    <a:ext uri="{9D8B030D-6E8A-4147-A177-3AD203B41FA5}">
                      <a16:colId xmlns:a16="http://schemas.microsoft.com/office/drawing/2014/main" val="1809254373"/>
                    </a:ext>
                  </a:extLst>
                </a:gridCol>
                <a:gridCol w="3365322">
                  <a:extLst>
                    <a:ext uri="{9D8B030D-6E8A-4147-A177-3AD203B41FA5}">
                      <a16:colId xmlns:a16="http://schemas.microsoft.com/office/drawing/2014/main" val="1237534935"/>
                    </a:ext>
                  </a:extLst>
                </a:gridCol>
                <a:gridCol w="984116">
                  <a:extLst>
                    <a:ext uri="{9D8B030D-6E8A-4147-A177-3AD203B41FA5}">
                      <a16:colId xmlns:a16="http://schemas.microsoft.com/office/drawing/2014/main" val="339022368"/>
                    </a:ext>
                  </a:extLst>
                </a:gridCol>
              </a:tblGrid>
              <a:tr h="234461">
                <a:tc rowSpan="2">
                  <a:txBody>
                    <a:bodyPr/>
                    <a:lstStyle/>
                    <a:p>
                      <a:pPr algn="ctr"/>
                      <a:endParaRPr lang="en-GB" sz="2000" dirty="0"/>
                    </a:p>
                    <a:p>
                      <a:pPr algn="ctr"/>
                      <a:r>
                        <a:rPr lang="en-GB" sz="2000" dirty="0"/>
                        <a:t>Initial fidelity</a:t>
                      </a:r>
                    </a:p>
                  </a:txBody>
                  <a:tcPr/>
                </a:tc>
                <a:tc gridSpan="2">
                  <a:txBody>
                    <a:bodyPr/>
                    <a:lstStyle/>
                    <a:p>
                      <a:pPr algn="ctr"/>
                      <a:r>
                        <a:rPr lang="en-GB" dirty="0"/>
                        <a:t>0.8</a:t>
                      </a:r>
                    </a:p>
                  </a:txBody>
                  <a:tcPr/>
                </a:tc>
                <a:tc hMerge="1">
                  <a:txBody>
                    <a:bodyPr/>
                    <a:lstStyle/>
                    <a:p>
                      <a:pPr algn="ctr"/>
                      <a:r>
                        <a:rPr lang="en-GB" dirty="0"/>
                        <a:t>0.8</a:t>
                      </a:r>
                    </a:p>
                  </a:txBody>
                  <a:tcPr/>
                </a:tc>
                <a:extLst>
                  <a:ext uri="{0D108BD9-81ED-4DB2-BD59-A6C34878D82A}">
                    <a16:rowId xmlns:a16="http://schemas.microsoft.com/office/drawing/2014/main" val="2842857822"/>
                  </a:ext>
                </a:extLst>
              </a:tr>
              <a:tr h="234461">
                <a:tc vMerge="1">
                  <a:txBody>
                    <a:bodyPr/>
                    <a:lstStyle/>
                    <a:p>
                      <a:endParaRPr lang="en-GB"/>
                    </a:p>
                  </a:txBody>
                  <a:tcPr/>
                </a:tc>
                <a:tc>
                  <a:txBody>
                    <a:bodyPr/>
                    <a:lstStyle/>
                    <a:p>
                      <a:pPr algn="ctr"/>
                      <a:r>
                        <a:rPr lang="en-GB" sz="2000" dirty="0"/>
                        <a:t>Average required EPR pair to get 1 EPR pair</a:t>
                      </a:r>
                    </a:p>
                  </a:txBody>
                  <a:tcPr/>
                </a:tc>
                <a:tc>
                  <a:txBody>
                    <a:bodyPr/>
                    <a:lstStyle/>
                    <a:p>
                      <a:pPr algn="ctr"/>
                      <a:r>
                        <a:rPr lang="en-GB" sz="2000" dirty="0"/>
                        <a:t>Fidelity</a:t>
                      </a:r>
                    </a:p>
                  </a:txBody>
                  <a:tcPr/>
                </a:tc>
                <a:extLst>
                  <a:ext uri="{0D108BD9-81ED-4DB2-BD59-A6C34878D82A}">
                    <a16:rowId xmlns:a16="http://schemas.microsoft.com/office/drawing/2014/main" val="2357024251"/>
                  </a:ext>
                </a:extLst>
              </a:tr>
              <a:tr h="468921">
                <a:tc>
                  <a:txBody>
                    <a:bodyPr/>
                    <a:lstStyle/>
                    <a:p>
                      <a:pPr algn="ctr"/>
                      <a:r>
                        <a:rPr lang="en-GB" sz="2000" dirty="0"/>
                        <a:t>Round 0</a:t>
                      </a:r>
                    </a:p>
                  </a:txBody>
                  <a:tcPr/>
                </a:tc>
                <a:tc>
                  <a:txBody>
                    <a:bodyPr/>
                    <a:lstStyle/>
                    <a:p>
                      <a:pPr algn="ctr"/>
                      <a:r>
                        <a:rPr lang="en-GB" sz="2000" dirty="0"/>
                        <a:t>2.6</a:t>
                      </a:r>
                    </a:p>
                  </a:txBody>
                  <a:tcPr/>
                </a:tc>
                <a:tc>
                  <a:txBody>
                    <a:bodyPr/>
                    <a:lstStyle/>
                    <a:p>
                      <a:pPr algn="ctr"/>
                      <a:r>
                        <a:rPr lang="en-GB" sz="2000" dirty="0"/>
                        <a:t>0.83</a:t>
                      </a:r>
                    </a:p>
                  </a:txBody>
                  <a:tcPr/>
                </a:tc>
                <a:extLst>
                  <a:ext uri="{0D108BD9-81ED-4DB2-BD59-A6C34878D82A}">
                    <a16:rowId xmlns:a16="http://schemas.microsoft.com/office/drawing/2014/main" val="1646347329"/>
                  </a:ext>
                </a:extLst>
              </a:tr>
              <a:tr h="468921">
                <a:tc>
                  <a:txBody>
                    <a:bodyPr/>
                    <a:lstStyle/>
                    <a:p>
                      <a:pPr algn="ctr"/>
                      <a:r>
                        <a:rPr lang="en-GB" sz="2000" dirty="0"/>
                        <a:t>Round 1</a:t>
                      </a:r>
                    </a:p>
                  </a:txBody>
                  <a:tcPr/>
                </a:tc>
                <a:tc>
                  <a:txBody>
                    <a:bodyPr/>
                    <a:lstStyle/>
                    <a:p>
                      <a:pPr algn="ctr"/>
                      <a:r>
                        <a:rPr lang="en-GB" sz="2000" dirty="0"/>
                        <a:t>6.4</a:t>
                      </a:r>
                    </a:p>
                  </a:txBody>
                  <a:tcPr/>
                </a:tc>
                <a:tc>
                  <a:txBody>
                    <a:bodyPr/>
                    <a:lstStyle/>
                    <a:p>
                      <a:pPr algn="ctr"/>
                      <a:r>
                        <a:rPr lang="en-GB" sz="2000" dirty="0"/>
                        <a:t>0.87</a:t>
                      </a:r>
                    </a:p>
                  </a:txBody>
                  <a:tcPr/>
                </a:tc>
                <a:extLst>
                  <a:ext uri="{0D108BD9-81ED-4DB2-BD59-A6C34878D82A}">
                    <a16:rowId xmlns:a16="http://schemas.microsoft.com/office/drawing/2014/main" val="2297243796"/>
                  </a:ext>
                </a:extLst>
              </a:tr>
              <a:tr h="468921">
                <a:tc>
                  <a:txBody>
                    <a:bodyPr/>
                    <a:lstStyle/>
                    <a:p>
                      <a:pPr algn="ctr"/>
                      <a:r>
                        <a:rPr lang="en-GB" sz="2000" dirty="0"/>
                        <a:t>Round 2</a:t>
                      </a:r>
                    </a:p>
                  </a:txBody>
                  <a:tcPr/>
                </a:tc>
                <a:tc>
                  <a:txBody>
                    <a:bodyPr/>
                    <a:lstStyle/>
                    <a:p>
                      <a:pPr algn="ctr"/>
                      <a:r>
                        <a:rPr lang="en-GB" sz="2000" dirty="0"/>
                        <a:t>15.2</a:t>
                      </a:r>
                    </a:p>
                  </a:txBody>
                  <a:tcPr/>
                </a:tc>
                <a:tc>
                  <a:txBody>
                    <a:bodyPr/>
                    <a:lstStyle/>
                    <a:p>
                      <a:pPr algn="ctr"/>
                      <a:r>
                        <a:rPr lang="en-GB" sz="2000" dirty="0"/>
                        <a:t>0.90</a:t>
                      </a:r>
                    </a:p>
                  </a:txBody>
                  <a:tcPr/>
                </a:tc>
                <a:extLst>
                  <a:ext uri="{0D108BD9-81ED-4DB2-BD59-A6C34878D82A}">
                    <a16:rowId xmlns:a16="http://schemas.microsoft.com/office/drawing/2014/main" val="12304285"/>
                  </a:ext>
                </a:extLst>
              </a:tr>
              <a:tr h="468921">
                <a:tc>
                  <a:txBody>
                    <a:bodyPr/>
                    <a:lstStyle/>
                    <a:p>
                      <a:pPr algn="ctr"/>
                      <a:r>
                        <a:rPr lang="en-GB" sz="2000" dirty="0"/>
                        <a:t>Round 3</a:t>
                      </a:r>
                    </a:p>
                  </a:txBody>
                  <a:tcPr/>
                </a:tc>
                <a:tc>
                  <a:txBody>
                    <a:bodyPr/>
                    <a:lstStyle/>
                    <a:p>
                      <a:pPr algn="ctr"/>
                      <a:r>
                        <a:rPr lang="en-GB" sz="2000" dirty="0"/>
                        <a:t>34.6</a:t>
                      </a:r>
                    </a:p>
                  </a:txBody>
                  <a:tcPr/>
                </a:tc>
                <a:tc>
                  <a:txBody>
                    <a:bodyPr/>
                    <a:lstStyle/>
                    <a:p>
                      <a:pPr algn="ctr"/>
                      <a:r>
                        <a:rPr lang="en-GB" sz="2000" dirty="0"/>
                        <a:t>0.93</a:t>
                      </a:r>
                    </a:p>
                  </a:txBody>
                  <a:tcPr/>
                </a:tc>
                <a:extLst>
                  <a:ext uri="{0D108BD9-81ED-4DB2-BD59-A6C34878D82A}">
                    <a16:rowId xmlns:a16="http://schemas.microsoft.com/office/drawing/2014/main" val="2825325116"/>
                  </a:ext>
                </a:extLst>
              </a:tr>
            </a:tbl>
          </a:graphicData>
        </a:graphic>
      </p:graphicFrame>
      <p:sp>
        <p:nvSpPr>
          <p:cNvPr id="13" name="TextBox 12">
            <a:extLst>
              <a:ext uri="{FF2B5EF4-FFF2-40B4-BE49-F238E27FC236}">
                <a16:creationId xmlns:a16="http://schemas.microsoft.com/office/drawing/2014/main" id="{091A6537-C698-CA3F-A10F-21F5C498ADBC}"/>
              </a:ext>
            </a:extLst>
          </p:cNvPr>
          <p:cNvSpPr txBox="1"/>
          <p:nvPr/>
        </p:nvSpPr>
        <p:spPr>
          <a:xfrm>
            <a:off x="6800590" y="5469386"/>
            <a:ext cx="6088775" cy="400110"/>
          </a:xfrm>
          <a:prstGeom prst="rect">
            <a:avLst/>
          </a:prstGeom>
          <a:noFill/>
        </p:spPr>
        <p:txBody>
          <a:bodyPr wrap="square">
            <a:spAutoFit/>
          </a:bodyPr>
          <a:lstStyle/>
          <a:p>
            <a:r>
              <a:rPr lang="en-US" sz="2000" i="1" dirty="0"/>
              <a:t>Table 1. Purification for one link configuration.</a:t>
            </a:r>
            <a:endParaRPr lang="en-GB" sz="2000" i="1" dirty="0"/>
          </a:p>
        </p:txBody>
      </p:sp>
      <p:sp>
        <p:nvSpPr>
          <p:cNvPr id="14" name="椭圆 58">
            <a:extLst>
              <a:ext uri="{FF2B5EF4-FFF2-40B4-BE49-F238E27FC236}">
                <a16:creationId xmlns:a16="http://schemas.microsoft.com/office/drawing/2014/main" id="{3CBEE4E3-E2FF-0400-F3F5-A622D2BFD4B7}"/>
              </a:ext>
            </a:extLst>
          </p:cNvPr>
          <p:cNvSpPr/>
          <p:nvPr/>
        </p:nvSpPr>
        <p:spPr>
          <a:xfrm>
            <a:off x="2454906" y="2528123"/>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5" name="椭圆 58">
            <a:extLst>
              <a:ext uri="{FF2B5EF4-FFF2-40B4-BE49-F238E27FC236}">
                <a16:creationId xmlns:a16="http://schemas.microsoft.com/office/drawing/2014/main" id="{8DE270E3-1D6E-B210-22E3-EBF3BE7DAD6F}"/>
              </a:ext>
            </a:extLst>
          </p:cNvPr>
          <p:cNvSpPr/>
          <p:nvPr/>
        </p:nvSpPr>
        <p:spPr>
          <a:xfrm>
            <a:off x="4448807" y="2524407"/>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6" name="椭圆 62">
            <a:extLst>
              <a:ext uri="{FF2B5EF4-FFF2-40B4-BE49-F238E27FC236}">
                <a16:creationId xmlns:a16="http://schemas.microsoft.com/office/drawing/2014/main" id="{8A45F33C-18A2-D6FF-AB0C-9BCA384D6214}"/>
              </a:ext>
            </a:extLst>
          </p:cNvPr>
          <p:cNvSpPr/>
          <p:nvPr/>
        </p:nvSpPr>
        <p:spPr>
          <a:xfrm>
            <a:off x="2829909" y="2663823"/>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7" name="椭圆 62">
            <a:extLst>
              <a:ext uri="{FF2B5EF4-FFF2-40B4-BE49-F238E27FC236}">
                <a16:creationId xmlns:a16="http://schemas.microsoft.com/office/drawing/2014/main" id="{F4CE93A4-D64E-74E1-5FC1-337ADBC9F2B6}"/>
              </a:ext>
            </a:extLst>
          </p:cNvPr>
          <p:cNvSpPr/>
          <p:nvPr/>
        </p:nvSpPr>
        <p:spPr>
          <a:xfrm>
            <a:off x="4579752" y="2653895"/>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8" name="椭圆 62">
            <a:extLst>
              <a:ext uri="{FF2B5EF4-FFF2-40B4-BE49-F238E27FC236}">
                <a16:creationId xmlns:a16="http://schemas.microsoft.com/office/drawing/2014/main" id="{043B3BDA-4C16-C567-08BC-FBAAE362D661}"/>
              </a:ext>
            </a:extLst>
          </p:cNvPr>
          <p:cNvSpPr/>
          <p:nvPr/>
        </p:nvSpPr>
        <p:spPr>
          <a:xfrm>
            <a:off x="4799364" y="2653895"/>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19" name="椭圆 62">
            <a:extLst>
              <a:ext uri="{FF2B5EF4-FFF2-40B4-BE49-F238E27FC236}">
                <a16:creationId xmlns:a16="http://schemas.microsoft.com/office/drawing/2014/main" id="{B11810CF-D243-258F-4DB4-2A3CFD4DB9AD}"/>
              </a:ext>
            </a:extLst>
          </p:cNvPr>
          <p:cNvSpPr/>
          <p:nvPr/>
        </p:nvSpPr>
        <p:spPr>
          <a:xfrm>
            <a:off x="4799364" y="2883375"/>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0" name="Freeform: Shape 19">
            <a:extLst>
              <a:ext uri="{FF2B5EF4-FFF2-40B4-BE49-F238E27FC236}">
                <a16:creationId xmlns:a16="http://schemas.microsoft.com/office/drawing/2014/main" id="{0D475071-BA5F-9DD2-84B6-EDBBDB11548E}"/>
              </a:ext>
            </a:extLst>
          </p:cNvPr>
          <p:cNvSpPr/>
          <p:nvPr/>
        </p:nvSpPr>
        <p:spPr>
          <a:xfrm>
            <a:off x="2944109" y="2499339"/>
            <a:ext cx="1657917" cy="183168"/>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254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椭圆 62">
            <a:extLst>
              <a:ext uri="{FF2B5EF4-FFF2-40B4-BE49-F238E27FC236}">
                <a16:creationId xmlns:a16="http://schemas.microsoft.com/office/drawing/2014/main" id="{383D0F5A-70C9-889A-35C3-E442BA7CB1F3}"/>
              </a:ext>
            </a:extLst>
          </p:cNvPr>
          <p:cNvSpPr/>
          <p:nvPr/>
        </p:nvSpPr>
        <p:spPr>
          <a:xfrm>
            <a:off x="2538331" y="2865844"/>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4" name="椭圆 62">
            <a:extLst>
              <a:ext uri="{FF2B5EF4-FFF2-40B4-BE49-F238E27FC236}">
                <a16:creationId xmlns:a16="http://schemas.microsoft.com/office/drawing/2014/main" id="{16F3861D-0814-CFF1-F315-986103A3FC91}"/>
              </a:ext>
            </a:extLst>
          </p:cNvPr>
          <p:cNvSpPr/>
          <p:nvPr/>
        </p:nvSpPr>
        <p:spPr>
          <a:xfrm>
            <a:off x="2538331" y="2660663"/>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5" name="椭圆 62">
            <a:extLst>
              <a:ext uri="{FF2B5EF4-FFF2-40B4-BE49-F238E27FC236}">
                <a16:creationId xmlns:a16="http://schemas.microsoft.com/office/drawing/2014/main" id="{2142081A-AAAC-839E-7E8D-60DF757DD191}"/>
              </a:ext>
            </a:extLst>
          </p:cNvPr>
          <p:cNvSpPr/>
          <p:nvPr/>
        </p:nvSpPr>
        <p:spPr>
          <a:xfrm>
            <a:off x="2829909" y="2873308"/>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7" name="Freeform: Shape 26">
            <a:extLst>
              <a:ext uri="{FF2B5EF4-FFF2-40B4-BE49-F238E27FC236}">
                <a16:creationId xmlns:a16="http://schemas.microsoft.com/office/drawing/2014/main" id="{77F42C7A-2CDE-6FE0-4882-7C96F749CA7E}"/>
              </a:ext>
            </a:extLst>
          </p:cNvPr>
          <p:cNvSpPr/>
          <p:nvPr/>
        </p:nvSpPr>
        <p:spPr>
          <a:xfrm>
            <a:off x="2634306" y="2319999"/>
            <a:ext cx="2200060" cy="350686"/>
          </a:xfrm>
          <a:custGeom>
            <a:avLst/>
            <a:gdLst>
              <a:gd name="connsiteX0" fmla="*/ 0 w 2200060"/>
              <a:gd name="connsiteY0" fmla="*/ 350686 h 350686"/>
              <a:gd name="connsiteX1" fmla="*/ 1137843 w 2200060"/>
              <a:gd name="connsiteY1" fmla="*/ 52 h 350686"/>
              <a:gd name="connsiteX2" fmla="*/ 2200060 w 2200060"/>
              <a:gd name="connsiteY2" fmla="*/ 330061 h 350686"/>
            </a:gdLst>
            <a:ahLst/>
            <a:cxnLst>
              <a:cxn ang="0">
                <a:pos x="connsiteX0" y="connsiteY0"/>
              </a:cxn>
              <a:cxn ang="0">
                <a:pos x="connsiteX1" y="connsiteY1"/>
              </a:cxn>
              <a:cxn ang="0">
                <a:pos x="connsiteX2" y="connsiteY2"/>
              </a:cxn>
            </a:cxnLst>
            <a:rect l="l" t="t" r="r" b="b"/>
            <a:pathLst>
              <a:path w="2200060" h="350686">
                <a:moveTo>
                  <a:pt x="0" y="350686"/>
                </a:moveTo>
                <a:cubicBezTo>
                  <a:pt x="385583" y="177087"/>
                  <a:pt x="771166" y="3489"/>
                  <a:pt x="1137843" y="52"/>
                </a:cubicBezTo>
                <a:cubicBezTo>
                  <a:pt x="1504520" y="-3386"/>
                  <a:pt x="1852290" y="163337"/>
                  <a:pt x="2200060" y="330061"/>
                </a:cubicBezTo>
              </a:path>
            </a:pathLst>
          </a:custGeom>
          <a:noFill/>
          <a:ln w="254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Shape 27">
            <a:extLst>
              <a:ext uri="{FF2B5EF4-FFF2-40B4-BE49-F238E27FC236}">
                <a16:creationId xmlns:a16="http://schemas.microsoft.com/office/drawing/2014/main" id="{78508B5D-80F3-6542-9B61-308D961525CA}"/>
              </a:ext>
            </a:extLst>
          </p:cNvPr>
          <p:cNvSpPr/>
          <p:nvPr/>
        </p:nvSpPr>
        <p:spPr>
          <a:xfrm>
            <a:off x="2943689" y="2945693"/>
            <a:ext cx="1653483" cy="145487"/>
          </a:xfrm>
          <a:custGeom>
            <a:avLst/>
            <a:gdLst>
              <a:gd name="connsiteX0" fmla="*/ 0 w 1653483"/>
              <a:gd name="connsiteY0" fmla="*/ 55001 h 145487"/>
              <a:gd name="connsiteX1" fmla="*/ 921275 w 1653483"/>
              <a:gd name="connsiteY1" fmla="*/ 144379 h 145487"/>
              <a:gd name="connsiteX2" fmla="*/ 1653483 w 1653483"/>
              <a:gd name="connsiteY2" fmla="*/ 0 h 145487"/>
            </a:gdLst>
            <a:ahLst/>
            <a:cxnLst>
              <a:cxn ang="0">
                <a:pos x="connsiteX0" y="connsiteY0"/>
              </a:cxn>
              <a:cxn ang="0">
                <a:pos x="connsiteX1" y="connsiteY1"/>
              </a:cxn>
              <a:cxn ang="0">
                <a:pos x="connsiteX2" y="connsiteY2"/>
              </a:cxn>
            </a:cxnLst>
            <a:rect l="l" t="t" r="r" b="b"/>
            <a:pathLst>
              <a:path w="1653483" h="145487">
                <a:moveTo>
                  <a:pt x="0" y="55001"/>
                </a:moveTo>
                <a:cubicBezTo>
                  <a:pt x="322847" y="104273"/>
                  <a:pt x="645695" y="153546"/>
                  <a:pt x="921275" y="144379"/>
                </a:cubicBezTo>
                <a:cubicBezTo>
                  <a:pt x="1196856" y="135212"/>
                  <a:pt x="1425169" y="67606"/>
                  <a:pt x="1653483" y="0"/>
                </a:cubicBezTo>
              </a:path>
            </a:pathLst>
          </a:custGeom>
          <a:noFill/>
          <a:ln w="254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椭圆 62">
            <a:extLst>
              <a:ext uri="{FF2B5EF4-FFF2-40B4-BE49-F238E27FC236}">
                <a16:creationId xmlns:a16="http://schemas.microsoft.com/office/drawing/2014/main" id="{44FABA82-B789-94F1-BD4C-E13C19A23F13}"/>
              </a:ext>
            </a:extLst>
          </p:cNvPr>
          <p:cNvSpPr/>
          <p:nvPr/>
        </p:nvSpPr>
        <p:spPr>
          <a:xfrm>
            <a:off x="4590596" y="2886720"/>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0" name="Freeform: Shape 29">
            <a:extLst>
              <a:ext uri="{FF2B5EF4-FFF2-40B4-BE49-F238E27FC236}">
                <a16:creationId xmlns:a16="http://schemas.microsoft.com/office/drawing/2014/main" id="{3F661107-F86E-05E3-6E59-E256856C8B75}"/>
              </a:ext>
            </a:extLst>
          </p:cNvPr>
          <p:cNvSpPr/>
          <p:nvPr/>
        </p:nvSpPr>
        <p:spPr>
          <a:xfrm>
            <a:off x="2617118" y="3004132"/>
            <a:ext cx="2227560" cy="268139"/>
          </a:xfrm>
          <a:custGeom>
            <a:avLst/>
            <a:gdLst>
              <a:gd name="connsiteX0" fmla="*/ 0 w 2227560"/>
              <a:gd name="connsiteY0" fmla="*/ 6875 h 268139"/>
              <a:gd name="connsiteX1" fmla="*/ 1203157 w 2227560"/>
              <a:gd name="connsiteY1" fmla="*/ 268132 h 268139"/>
              <a:gd name="connsiteX2" fmla="*/ 2227560 w 2227560"/>
              <a:gd name="connsiteY2" fmla="*/ 0 h 268139"/>
            </a:gdLst>
            <a:ahLst/>
            <a:cxnLst>
              <a:cxn ang="0">
                <a:pos x="connsiteX0" y="connsiteY0"/>
              </a:cxn>
              <a:cxn ang="0">
                <a:pos x="connsiteX1" y="connsiteY1"/>
              </a:cxn>
              <a:cxn ang="0">
                <a:pos x="connsiteX2" y="connsiteY2"/>
              </a:cxn>
            </a:cxnLst>
            <a:rect l="l" t="t" r="r" b="b"/>
            <a:pathLst>
              <a:path w="2227560" h="268139">
                <a:moveTo>
                  <a:pt x="0" y="6875"/>
                </a:moveTo>
                <a:cubicBezTo>
                  <a:pt x="415948" y="138076"/>
                  <a:pt x="831897" y="269278"/>
                  <a:pt x="1203157" y="268132"/>
                </a:cubicBezTo>
                <a:cubicBezTo>
                  <a:pt x="1574417" y="266986"/>
                  <a:pt x="1900988" y="133493"/>
                  <a:pt x="2227560" y="0"/>
                </a:cubicBezTo>
              </a:path>
            </a:pathLst>
          </a:custGeom>
          <a:noFill/>
          <a:ln w="254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row: Down 30">
            <a:extLst>
              <a:ext uri="{FF2B5EF4-FFF2-40B4-BE49-F238E27FC236}">
                <a16:creationId xmlns:a16="http://schemas.microsoft.com/office/drawing/2014/main" id="{B7706ABC-2E3A-ADBE-7C4F-00B02F4FEEBF}"/>
              </a:ext>
            </a:extLst>
          </p:cNvPr>
          <p:cNvSpPr/>
          <p:nvPr/>
        </p:nvSpPr>
        <p:spPr>
          <a:xfrm>
            <a:off x="3542037" y="3389683"/>
            <a:ext cx="484632" cy="4219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椭圆 58">
            <a:extLst>
              <a:ext uri="{FF2B5EF4-FFF2-40B4-BE49-F238E27FC236}">
                <a16:creationId xmlns:a16="http://schemas.microsoft.com/office/drawing/2014/main" id="{2FAA1580-0FA2-2CAC-4EF6-91D98AEEC463}"/>
              </a:ext>
            </a:extLst>
          </p:cNvPr>
          <p:cNvSpPr/>
          <p:nvPr/>
        </p:nvSpPr>
        <p:spPr>
          <a:xfrm>
            <a:off x="2454906" y="3942610"/>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3" name="椭圆 58">
            <a:extLst>
              <a:ext uri="{FF2B5EF4-FFF2-40B4-BE49-F238E27FC236}">
                <a16:creationId xmlns:a16="http://schemas.microsoft.com/office/drawing/2014/main" id="{6063263D-D6E7-0B8D-F614-7EA256D3F2D9}"/>
              </a:ext>
            </a:extLst>
          </p:cNvPr>
          <p:cNvSpPr/>
          <p:nvPr/>
        </p:nvSpPr>
        <p:spPr>
          <a:xfrm>
            <a:off x="4448807" y="3938894"/>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4" name="椭圆 62">
            <a:extLst>
              <a:ext uri="{FF2B5EF4-FFF2-40B4-BE49-F238E27FC236}">
                <a16:creationId xmlns:a16="http://schemas.microsoft.com/office/drawing/2014/main" id="{51690659-7EC0-6AFB-53B7-6A533E459663}"/>
              </a:ext>
            </a:extLst>
          </p:cNvPr>
          <p:cNvSpPr/>
          <p:nvPr/>
        </p:nvSpPr>
        <p:spPr>
          <a:xfrm>
            <a:off x="2829909" y="4078310"/>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5" name="椭圆 62">
            <a:extLst>
              <a:ext uri="{FF2B5EF4-FFF2-40B4-BE49-F238E27FC236}">
                <a16:creationId xmlns:a16="http://schemas.microsoft.com/office/drawing/2014/main" id="{616EF5D0-60CA-92C4-C0D8-9894B43C4911}"/>
              </a:ext>
            </a:extLst>
          </p:cNvPr>
          <p:cNvSpPr/>
          <p:nvPr/>
        </p:nvSpPr>
        <p:spPr>
          <a:xfrm>
            <a:off x="4579752" y="4068382"/>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6" name="椭圆 62">
            <a:extLst>
              <a:ext uri="{FF2B5EF4-FFF2-40B4-BE49-F238E27FC236}">
                <a16:creationId xmlns:a16="http://schemas.microsoft.com/office/drawing/2014/main" id="{DE77E13E-145A-C442-E843-0C64A20A4B66}"/>
              </a:ext>
            </a:extLst>
          </p:cNvPr>
          <p:cNvSpPr/>
          <p:nvPr/>
        </p:nvSpPr>
        <p:spPr>
          <a:xfrm>
            <a:off x="4799364" y="4068382"/>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7" name="椭圆 62">
            <a:extLst>
              <a:ext uri="{FF2B5EF4-FFF2-40B4-BE49-F238E27FC236}">
                <a16:creationId xmlns:a16="http://schemas.microsoft.com/office/drawing/2014/main" id="{A42FBAFC-7DAD-72AB-A849-3907CB5A36F7}"/>
              </a:ext>
            </a:extLst>
          </p:cNvPr>
          <p:cNvSpPr/>
          <p:nvPr/>
        </p:nvSpPr>
        <p:spPr>
          <a:xfrm>
            <a:off x="4799364" y="4297862"/>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8" name="Freeform: Shape 37">
            <a:extLst>
              <a:ext uri="{FF2B5EF4-FFF2-40B4-BE49-F238E27FC236}">
                <a16:creationId xmlns:a16="http://schemas.microsoft.com/office/drawing/2014/main" id="{8F3D468A-352C-A460-15A9-77FDD09F5AF2}"/>
              </a:ext>
            </a:extLst>
          </p:cNvPr>
          <p:cNvSpPr/>
          <p:nvPr/>
        </p:nvSpPr>
        <p:spPr>
          <a:xfrm>
            <a:off x="2944109" y="3913826"/>
            <a:ext cx="1657917" cy="183168"/>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25400">
            <a:solidFill>
              <a:schemeClr val="accent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椭圆 62">
            <a:extLst>
              <a:ext uri="{FF2B5EF4-FFF2-40B4-BE49-F238E27FC236}">
                <a16:creationId xmlns:a16="http://schemas.microsoft.com/office/drawing/2014/main" id="{E4B03ACF-3DAB-3BB9-C573-0F8955308C7F}"/>
              </a:ext>
            </a:extLst>
          </p:cNvPr>
          <p:cNvSpPr/>
          <p:nvPr/>
        </p:nvSpPr>
        <p:spPr>
          <a:xfrm>
            <a:off x="2538331" y="428033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40" name="椭圆 62">
            <a:extLst>
              <a:ext uri="{FF2B5EF4-FFF2-40B4-BE49-F238E27FC236}">
                <a16:creationId xmlns:a16="http://schemas.microsoft.com/office/drawing/2014/main" id="{9A821110-3A88-E27E-4D0B-16C8673A832A}"/>
              </a:ext>
            </a:extLst>
          </p:cNvPr>
          <p:cNvSpPr/>
          <p:nvPr/>
        </p:nvSpPr>
        <p:spPr>
          <a:xfrm>
            <a:off x="2538331" y="4075150"/>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41" name="椭圆 62">
            <a:extLst>
              <a:ext uri="{FF2B5EF4-FFF2-40B4-BE49-F238E27FC236}">
                <a16:creationId xmlns:a16="http://schemas.microsoft.com/office/drawing/2014/main" id="{19A6E2CC-D319-C7D2-DB3B-2D059008D919}"/>
              </a:ext>
            </a:extLst>
          </p:cNvPr>
          <p:cNvSpPr/>
          <p:nvPr/>
        </p:nvSpPr>
        <p:spPr>
          <a:xfrm>
            <a:off x="2829909" y="4287795"/>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43" name="Freeform: Shape 42">
            <a:extLst>
              <a:ext uri="{FF2B5EF4-FFF2-40B4-BE49-F238E27FC236}">
                <a16:creationId xmlns:a16="http://schemas.microsoft.com/office/drawing/2014/main" id="{C019371F-93D9-B587-2122-6D36D0C1AD59}"/>
              </a:ext>
            </a:extLst>
          </p:cNvPr>
          <p:cNvSpPr/>
          <p:nvPr/>
        </p:nvSpPr>
        <p:spPr>
          <a:xfrm>
            <a:off x="2943689" y="4360180"/>
            <a:ext cx="1653483" cy="145487"/>
          </a:xfrm>
          <a:custGeom>
            <a:avLst/>
            <a:gdLst>
              <a:gd name="connsiteX0" fmla="*/ 0 w 1653483"/>
              <a:gd name="connsiteY0" fmla="*/ 55001 h 145487"/>
              <a:gd name="connsiteX1" fmla="*/ 921275 w 1653483"/>
              <a:gd name="connsiteY1" fmla="*/ 144379 h 145487"/>
              <a:gd name="connsiteX2" fmla="*/ 1653483 w 1653483"/>
              <a:gd name="connsiteY2" fmla="*/ 0 h 145487"/>
            </a:gdLst>
            <a:ahLst/>
            <a:cxnLst>
              <a:cxn ang="0">
                <a:pos x="connsiteX0" y="connsiteY0"/>
              </a:cxn>
              <a:cxn ang="0">
                <a:pos x="connsiteX1" y="connsiteY1"/>
              </a:cxn>
              <a:cxn ang="0">
                <a:pos x="connsiteX2" y="connsiteY2"/>
              </a:cxn>
            </a:cxnLst>
            <a:rect l="l" t="t" r="r" b="b"/>
            <a:pathLst>
              <a:path w="1653483" h="145487">
                <a:moveTo>
                  <a:pt x="0" y="55001"/>
                </a:moveTo>
                <a:cubicBezTo>
                  <a:pt x="322847" y="104273"/>
                  <a:pt x="645695" y="153546"/>
                  <a:pt x="921275" y="144379"/>
                </a:cubicBezTo>
                <a:cubicBezTo>
                  <a:pt x="1196856" y="135212"/>
                  <a:pt x="1425169" y="67606"/>
                  <a:pt x="1653483" y="0"/>
                </a:cubicBezTo>
              </a:path>
            </a:pathLst>
          </a:custGeom>
          <a:noFill/>
          <a:ln w="25400">
            <a:solidFill>
              <a:schemeClr val="accent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椭圆 62">
            <a:extLst>
              <a:ext uri="{FF2B5EF4-FFF2-40B4-BE49-F238E27FC236}">
                <a16:creationId xmlns:a16="http://schemas.microsoft.com/office/drawing/2014/main" id="{68E2B8F8-6329-3680-3CF0-E0C7E5C0EC45}"/>
              </a:ext>
            </a:extLst>
          </p:cNvPr>
          <p:cNvSpPr/>
          <p:nvPr/>
        </p:nvSpPr>
        <p:spPr>
          <a:xfrm>
            <a:off x="4590596" y="4301207"/>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48" name="椭圆 58">
            <a:extLst>
              <a:ext uri="{FF2B5EF4-FFF2-40B4-BE49-F238E27FC236}">
                <a16:creationId xmlns:a16="http://schemas.microsoft.com/office/drawing/2014/main" id="{0C7E8E59-F588-833E-EC28-5662DBDC01B9}"/>
              </a:ext>
            </a:extLst>
          </p:cNvPr>
          <p:cNvSpPr/>
          <p:nvPr/>
        </p:nvSpPr>
        <p:spPr>
          <a:xfrm>
            <a:off x="529940" y="2728946"/>
            <a:ext cx="256401" cy="256574"/>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cxnSp>
        <p:nvCxnSpPr>
          <p:cNvPr id="49" name="Straight Connector 48">
            <a:extLst>
              <a:ext uri="{FF2B5EF4-FFF2-40B4-BE49-F238E27FC236}">
                <a16:creationId xmlns:a16="http://schemas.microsoft.com/office/drawing/2014/main" id="{0B46511A-CCBE-48A7-5B3D-C9D9B587EBD3}"/>
              </a:ext>
            </a:extLst>
          </p:cNvPr>
          <p:cNvCxnSpPr>
            <a:cxnSpLocks/>
            <a:endCxn id="15" idx="2"/>
          </p:cNvCxnSpPr>
          <p:nvPr/>
        </p:nvCxnSpPr>
        <p:spPr>
          <a:xfrm flipV="1">
            <a:off x="3068708" y="2831516"/>
            <a:ext cx="1380099" cy="10621"/>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7E4C6D9-02C1-3EBC-4E90-8DA7B6EBD6B7}"/>
              </a:ext>
            </a:extLst>
          </p:cNvPr>
          <p:cNvSpPr txBox="1"/>
          <p:nvPr/>
        </p:nvSpPr>
        <p:spPr>
          <a:xfrm>
            <a:off x="1087443" y="3402935"/>
            <a:ext cx="825921" cy="400110"/>
          </a:xfrm>
          <a:prstGeom prst="rect">
            <a:avLst/>
          </a:prstGeom>
          <a:noFill/>
        </p:spPr>
        <p:txBody>
          <a:bodyPr wrap="square">
            <a:spAutoFit/>
          </a:bodyPr>
          <a:lstStyle/>
          <a:p>
            <a:pPr algn="ctr"/>
            <a:r>
              <a:rPr lang="en-GB" sz="2000" dirty="0"/>
              <a:t>Link </a:t>
            </a:r>
            <a:endParaRPr lang="en-IT" sz="2000" dirty="0"/>
          </a:p>
        </p:txBody>
      </p:sp>
      <p:sp>
        <p:nvSpPr>
          <p:cNvPr id="51" name="TextBox 50">
            <a:extLst>
              <a:ext uri="{FF2B5EF4-FFF2-40B4-BE49-F238E27FC236}">
                <a16:creationId xmlns:a16="http://schemas.microsoft.com/office/drawing/2014/main" id="{F53DD0F1-683A-F154-CC15-052E3F76E3C0}"/>
              </a:ext>
            </a:extLst>
          </p:cNvPr>
          <p:cNvSpPr txBox="1"/>
          <p:nvPr/>
        </p:nvSpPr>
        <p:spPr>
          <a:xfrm>
            <a:off x="669028" y="2589601"/>
            <a:ext cx="1662752" cy="712183"/>
          </a:xfrm>
          <a:prstGeom prst="rect">
            <a:avLst/>
          </a:prstGeom>
          <a:noFill/>
        </p:spPr>
        <p:txBody>
          <a:bodyPr wrap="square">
            <a:spAutoFit/>
          </a:bodyPr>
          <a:lstStyle/>
          <a:p>
            <a:pPr algn="ctr">
              <a:lnSpc>
                <a:spcPts val="2400"/>
              </a:lnSpc>
            </a:pPr>
            <a:r>
              <a:rPr lang="en-US" altLang="zh-CN" sz="2000" dirty="0"/>
              <a:t>Q</a:t>
            </a:r>
            <a:r>
              <a:rPr lang="en-GB" sz="2000" dirty="0" err="1"/>
              <a:t>uantum</a:t>
            </a:r>
            <a:r>
              <a:rPr lang="en-GB" sz="2000" dirty="0"/>
              <a:t> </a:t>
            </a:r>
          </a:p>
          <a:p>
            <a:pPr algn="ctr">
              <a:lnSpc>
                <a:spcPts val="2400"/>
              </a:lnSpc>
            </a:pPr>
            <a:r>
              <a:rPr lang="en-GB" sz="2000" dirty="0"/>
              <a:t>node</a:t>
            </a:r>
            <a:endParaRPr lang="en-IT" sz="2000" dirty="0"/>
          </a:p>
        </p:txBody>
      </p:sp>
      <p:cxnSp>
        <p:nvCxnSpPr>
          <p:cNvPr id="53" name="Straight Connector 52">
            <a:extLst>
              <a:ext uri="{FF2B5EF4-FFF2-40B4-BE49-F238E27FC236}">
                <a16:creationId xmlns:a16="http://schemas.microsoft.com/office/drawing/2014/main" id="{5418C579-014F-8FD7-36B1-AA334DDCBFF3}"/>
              </a:ext>
            </a:extLst>
          </p:cNvPr>
          <p:cNvCxnSpPr>
            <a:cxnSpLocks/>
          </p:cNvCxnSpPr>
          <p:nvPr/>
        </p:nvCxnSpPr>
        <p:spPr>
          <a:xfrm flipV="1">
            <a:off x="3068707" y="4247315"/>
            <a:ext cx="1380099" cy="10621"/>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4" name="椭圆 62">
            <a:extLst>
              <a:ext uri="{FF2B5EF4-FFF2-40B4-BE49-F238E27FC236}">
                <a16:creationId xmlns:a16="http://schemas.microsoft.com/office/drawing/2014/main" id="{3A45F709-C050-7878-11C4-AAF16146ED7A}"/>
              </a:ext>
            </a:extLst>
          </p:cNvPr>
          <p:cNvSpPr/>
          <p:nvPr/>
        </p:nvSpPr>
        <p:spPr>
          <a:xfrm>
            <a:off x="497422" y="5030156"/>
            <a:ext cx="220012" cy="22016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55" name="椭圆 62">
            <a:extLst>
              <a:ext uri="{FF2B5EF4-FFF2-40B4-BE49-F238E27FC236}">
                <a16:creationId xmlns:a16="http://schemas.microsoft.com/office/drawing/2014/main" id="{26F0C449-7DB4-355B-A622-BF8B9B5AEDA8}"/>
              </a:ext>
            </a:extLst>
          </p:cNvPr>
          <p:cNvSpPr/>
          <p:nvPr/>
        </p:nvSpPr>
        <p:spPr>
          <a:xfrm>
            <a:off x="13896621" y="7648927"/>
            <a:ext cx="200550" cy="200686"/>
          </a:xfrm>
          <a:prstGeom prst="ellipse">
            <a:avLst/>
          </a:prstGeom>
          <a:solidFill>
            <a:schemeClr val="bg1"/>
          </a:solidFill>
          <a:ln w="12700" cap="flat" cmpd="sng" algn="ctr">
            <a:solidFill>
              <a:schemeClr val="tx1"/>
            </a:solid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cxnSp>
        <p:nvCxnSpPr>
          <p:cNvPr id="57" name="Straight Connector 56">
            <a:extLst>
              <a:ext uri="{FF2B5EF4-FFF2-40B4-BE49-F238E27FC236}">
                <a16:creationId xmlns:a16="http://schemas.microsoft.com/office/drawing/2014/main" id="{AEE0C0BB-DF31-2DE5-916A-99588C453BA6}"/>
              </a:ext>
            </a:extLst>
          </p:cNvPr>
          <p:cNvCxnSpPr>
            <a:cxnSpLocks/>
          </p:cNvCxnSpPr>
          <p:nvPr/>
        </p:nvCxnSpPr>
        <p:spPr>
          <a:xfrm>
            <a:off x="476659" y="4145940"/>
            <a:ext cx="481550" cy="5166"/>
          </a:xfrm>
          <a:prstGeom prst="line">
            <a:avLst/>
          </a:prstGeom>
          <a:ln w="31750">
            <a:solidFill>
              <a:schemeClr val="accent2"/>
            </a:solidFill>
            <a:prstDash val="sysDash"/>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F6372401-A9CF-1054-8371-B83D1D71ABEA}"/>
              </a:ext>
            </a:extLst>
          </p:cNvPr>
          <p:cNvSpPr txBox="1"/>
          <p:nvPr/>
        </p:nvSpPr>
        <p:spPr>
          <a:xfrm>
            <a:off x="255919" y="4328831"/>
            <a:ext cx="2113690" cy="400110"/>
          </a:xfrm>
          <a:prstGeom prst="rect">
            <a:avLst/>
          </a:prstGeom>
          <a:noFill/>
        </p:spPr>
        <p:txBody>
          <a:bodyPr wrap="square">
            <a:spAutoFit/>
          </a:bodyPr>
          <a:lstStyle/>
          <a:p>
            <a:pPr algn="ctr"/>
            <a:r>
              <a:rPr lang="en-GB" sz="2000" dirty="0"/>
              <a:t>Entanglement</a:t>
            </a:r>
            <a:endParaRPr lang="en-IT" sz="2000" dirty="0"/>
          </a:p>
        </p:txBody>
      </p:sp>
      <p:cxnSp>
        <p:nvCxnSpPr>
          <p:cNvPr id="60" name="Straight Connector 59">
            <a:extLst>
              <a:ext uri="{FF2B5EF4-FFF2-40B4-BE49-F238E27FC236}">
                <a16:creationId xmlns:a16="http://schemas.microsoft.com/office/drawing/2014/main" id="{8F653887-084C-F2C4-1790-993FC7875743}"/>
              </a:ext>
            </a:extLst>
          </p:cNvPr>
          <p:cNvCxnSpPr>
            <a:cxnSpLocks/>
          </p:cNvCxnSpPr>
          <p:nvPr/>
        </p:nvCxnSpPr>
        <p:spPr>
          <a:xfrm>
            <a:off x="483940" y="3631200"/>
            <a:ext cx="528645" cy="0"/>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FC2D1C5-CD28-62B2-A2D9-5BB9BBBD6B6E}"/>
              </a:ext>
            </a:extLst>
          </p:cNvPr>
          <p:cNvCxnSpPr>
            <a:cxnSpLocks/>
          </p:cNvCxnSpPr>
          <p:nvPr/>
        </p:nvCxnSpPr>
        <p:spPr>
          <a:xfrm>
            <a:off x="1078079" y="4148523"/>
            <a:ext cx="481550" cy="5166"/>
          </a:xfrm>
          <a:prstGeom prst="line">
            <a:avLst/>
          </a:prstGeom>
          <a:ln w="31750">
            <a:solidFill>
              <a:schemeClr val="accent5"/>
            </a:solidFill>
            <a:prstDash val="sysDash"/>
          </a:ln>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7D2E1D0-F3FE-57B7-7337-A48697E14D7A}"/>
              </a:ext>
            </a:extLst>
          </p:cNvPr>
          <p:cNvCxnSpPr>
            <a:cxnSpLocks/>
          </p:cNvCxnSpPr>
          <p:nvPr/>
        </p:nvCxnSpPr>
        <p:spPr>
          <a:xfrm>
            <a:off x="1672589" y="4148523"/>
            <a:ext cx="481550" cy="5166"/>
          </a:xfrm>
          <a:prstGeom prst="line">
            <a:avLst/>
          </a:prstGeom>
          <a:ln w="31750">
            <a:solidFill>
              <a:schemeClr val="accent6"/>
            </a:solidFill>
            <a:prstDash val="sysDash"/>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AFB73E32-1DD2-82B1-27C0-CDB0C694B77E}"/>
              </a:ext>
            </a:extLst>
          </p:cNvPr>
          <p:cNvSpPr txBox="1"/>
          <p:nvPr/>
        </p:nvSpPr>
        <p:spPr>
          <a:xfrm>
            <a:off x="537406" y="4816219"/>
            <a:ext cx="1730428" cy="707886"/>
          </a:xfrm>
          <a:prstGeom prst="rect">
            <a:avLst/>
          </a:prstGeom>
          <a:noFill/>
        </p:spPr>
        <p:txBody>
          <a:bodyPr wrap="square">
            <a:spAutoFit/>
          </a:bodyPr>
          <a:lstStyle/>
          <a:p>
            <a:pPr algn="ctr"/>
            <a:r>
              <a:rPr lang="en-US" altLang="zh-CN" sz="2000" dirty="0"/>
              <a:t>Occupied memory</a:t>
            </a:r>
            <a:endParaRPr lang="en-IT" sz="2000" dirty="0"/>
          </a:p>
        </p:txBody>
      </p:sp>
      <p:sp>
        <p:nvSpPr>
          <p:cNvPr id="64" name="椭圆 62">
            <a:extLst>
              <a:ext uri="{FF2B5EF4-FFF2-40B4-BE49-F238E27FC236}">
                <a16:creationId xmlns:a16="http://schemas.microsoft.com/office/drawing/2014/main" id="{9FD61BEF-EBB2-76C4-5B8D-3E83FA0D3A9C}"/>
              </a:ext>
            </a:extLst>
          </p:cNvPr>
          <p:cNvSpPr/>
          <p:nvPr/>
        </p:nvSpPr>
        <p:spPr>
          <a:xfrm>
            <a:off x="497422" y="5701771"/>
            <a:ext cx="200550" cy="200686"/>
          </a:xfrm>
          <a:prstGeom prst="ellipse">
            <a:avLst/>
          </a:prstGeom>
          <a:solidFill>
            <a:schemeClr val="bg1"/>
          </a:solidFill>
          <a:ln w="12700" cap="flat" cmpd="sng" algn="ctr">
            <a:solidFill>
              <a:schemeClr val="tx1"/>
            </a:solid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65" name="TextBox 64">
            <a:extLst>
              <a:ext uri="{FF2B5EF4-FFF2-40B4-BE49-F238E27FC236}">
                <a16:creationId xmlns:a16="http://schemas.microsoft.com/office/drawing/2014/main" id="{72C0EE1F-768D-7AA6-51BE-D6D9C5D6AE55}"/>
              </a:ext>
            </a:extLst>
          </p:cNvPr>
          <p:cNvSpPr txBox="1"/>
          <p:nvPr/>
        </p:nvSpPr>
        <p:spPr>
          <a:xfrm>
            <a:off x="589483" y="5529388"/>
            <a:ext cx="2113690" cy="400110"/>
          </a:xfrm>
          <a:prstGeom prst="rect">
            <a:avLst/>
          </a:prstGeom>
          <a:noFill/>
        </p:spPr>
        <p:txBody>
          <a:bodyPr wrap="square">
            <a:spAutoFit/>
          </a:bodyPr>
          <a:lstStyle/>
          <a:p>
            <a:pPr algn="ctr"/>
            <a:r>
              <a:rPr lang="en-US" altLang="zh-CN" sz="2000" dirty="0"/>
              <a:t>Free memory</a:t>
            </a:r>
            <a:endParaRPr lang="en-IT" sz="2000" dirty="0"/>
          </a:p>
        </p:txBody>
      </p:sp>
      <p:sp>
        <p:nvSpPr>
          <p:cNvPr id="66" name="椭圆 58">
            <a:extLst>
              <a:ext uri="{FF2B5EF4-FFF2-40B4-BE49-F238E27FC236}">
                <a16:creationId xmlns:a16="http://schemas.microsoft.com/office/drawing/2014/main" id="{0E0033CC-A43A-CF50-DA75-1AAB95044045}"/>
              </a:ext>
            </a:extLst>
          </p:cNvPr>
          <p:cNvSpPr/>
          <p:nvPr/>
        </p:nvSpPr>
        <p:spPr>
          <a:xfrm>
            <a:off x="2488597" y="5058940"/>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67" name="椭圆 58">
            <a:extLst>
              <a:ext uri="{FF2B5EF4-FFF2-40B4-BE49-F238E27FC236}">
                <a16:creationId xmlns:a16="http://schemas.microsoft.com/office/drawing/2014/main" id="{49E4D18E-E0F0-6ED8-C514-F5FE29BB15DE}"/>
              </a:ext>
            </a:extLst>
          </p:cNvPr>
          <p:cNvSpPr/>
          <p:nvPr/>
        </p:nvSpPr>
        <p:spPr>
          <a:xfrm>
            <a:off x="4482498" y="5055224"/>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68" name="椭圆 62">
            <a:extLst>
              <a:ext uri="{FF2B5EF4-FFF2-40B4-BE49-F238E27FC236}">
                <a16:creationId xmlns:a16="http://schemas.microsoft.com/office/drawing/2014/main" id="{C8AE2B0F-64B5-AD2A-A0C6-F450C6C0B80C}"/>
              </a:ext>
            </a:extLst>
          </p:cNvPr>
          <p:cNvSpPr/>
          <p:nvPr/>
        </p:nvSpPr>
        <p:spPr>
          <a:xfrm>
            <a:off x="2863600" y="5194640"/>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69" name="椭圆 62">
            <a:extLst>
              <a:ext uri="{FF2B5EF4-FFF2-40B4-BE49-F238E27FC236}">
                <a16:creationId xmlns:a16="http://schemas.microsoft.com/office/drawing/2014/main" id="{A1E56E9F-8E59-E891-2E22-AAD8E5A7B372}"/>
              </a:ext>
            </a:extLst>
          </p:cNvPr>
          <p:cNvSpPr/>
          <p:nvPr/>
        </p:nvSpPr>
        <p:spPr>
          <a:xfrm>
            <a:off x="4613443" y="5184712"/>
            <a:ext cx="147471" cy="147571"/>
          </a:xfrm>
          <a:prstGeom prst="ellipse">
            <a:avLst/>
          </a:prstGeom>
          <a:solidFill>
            <a:schemeClr val="bg1">
              <a:lumMod val="65000"/>
            </a:scheme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0" name="椭圆 62">
            <a:extLst>
              <a:ext uri="{FF2B5EF4-FFF2-40B4-BE49-F238E27FC236}">
                <a16:creationId xmlns:a16="http://schemas.microsoft.com/office/drawing/2014/main" id="{3E36B676-CFAF-BFD1-B082-28F577614BFA}"/>
              </a:ext>
            </a:extLst>
          </p:cNvPr>
          <p:cNvSpPr/>
          <p:nvPr/>
        </p:nvSpPr>
        <p:spPr>
          <a:xfrm>
            <a:off x="4833055" y="5184712"/>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1" name="椭圆 62">
            <a:extLst>
              <a:ext uri="{FF2B5EF4-FFF2-40B4-BE49-F238E27FC236}">
                <a16:creationId xmlns:a16="http://schemas.microsoft.com/office/drawing/2014/main" id="{57638D49-A9F8-0F66-408A-D5C9088C716B}"/>
              </a:ext>
            </a:extLst>
          </p:cNvPr>
          <p:cNvSpPr/>
          <p:nvPr/>
        </p:nvSpPr>
        <p:spPr>
          <a:xfrm>
            <a:off x="4833055" y="5414192"/>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2" name="Freeform: Shape 71">
            <a:extLst>
              <a:ext uri="{FF2B5EF4-FFF2-40B4-BE49-F238E27FC236}">
                <a16:creationId xmlns:a16="http://schemas.microsoft.com/office/drawing/2014/main" id="{3D5F2C05-C6C0-A13A-D7CB-6A0420F54A1F}"/>
              </a:ext>
            </a:extLst>
          </p:cNvPr>
          <p:cNvSpPr/>
          <p:nvPr/>
        </p:nvSpPr>
        <p:spPr>
          <a:xfrm>
            <a:off x="2977800" y="5106384"/>
            <a:ext cx="1657917" cy="106940"/>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25400">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椭圆 62">
            <a:extLst>
              <a:ext uri="{FF2B5EF4-FFF2-40B4-BE49-F238E27FC236}">
                <a16:creationId xmlns:a16="http://schemas.microsoft.com/office/drawing/2014/main" id="{2CF9709B-8824-4916-C3AF-2260B3D1605C}"/>
              </a:ext>
            </a:extLst>
          </p:cNvPr>
          <p:cNvSpPr/>
          <p:nvPr/>
        </p:nvSpPr>
        <p:spPr>
          <a:xfrm>
            <a:off x="2572022" y="539666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4" name="椭圆 62">
            <a:extLst>
              <a:ext uri="{FF2B5EF4-FFF2-40B4-BE49-F238E27FC236}">
                <a16:creationId xmlns:a16="http://schemas.microsoft.com/office/drawing/2014/main" id="{CDA8D83D-5D29-5017-4EB9-824C1A575B6E}"/>
              </a:ext>
            </a:extLst>
          </p:cNvPr>
          <p:cNvSpPr/>
          <p:nvPr/>
        </p:nvSpPr>
        <p:spPr>
          <a:xfrm>
            <a:off x="2572022" y="5191480"/>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5" name="椭圆 62">
            <a:extLst>
              <a:ext uri="{FF2B5EF4-FFF2-40B4-BE49-F238E27FC236}">
                <a16:creationId xmlns:a16="http://schemas.microsoft.com/office/drawing/2014/main" id="{DD99A651-86E0-9725-C319-41773D845669}"/>
              </a:ext>
            </a:extLst>
          </p:cNvPr>
          <p:cNvSpPr/>
          <p:nvPr/>
        </p:nvSpPr>
        <p:spPr>
          <a:xfrm>
            <a:off x="2863600" y="5404125"/>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dirty="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7" name="椭圆 62">
            <a:extLst>
              <a:ext uri="{FF2B5EF4-FFF2-40B4-BE49-F238E27FC236}">
                <a16:creationId xmlns:a16="http://schemas.microsoft.com/office/drawing/2014/main" id="{70AA616B-992B-538A-142B-B45E9ACAC4D9}"/>
              </a:ext>
            </a:extLst>
          </p:cNvPr>
          <p:cNvSpPr/>
          <p:nvPr/>
        </p:nvSpPr>
        <p:spPr>
          <a:xfrm>
            <a:off x="4624287" y="5417537"/>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cxnSp>
        <p:nvCxnSpPr>
          <p:cNvPr id="78" name="Straight Connector 77">
            <a:extLst>
              <a:ext uri="{FF2B5EF4-FFF2-40B4-BE49-F238E27FC236}">
                <a16:creationId xmlns:a16="http://schemas.microsoft.com/office/drawing/2014/main" id="{484E9717-D931-C672-02E6-68A9E8DADA5A}"/>
              </a:ext>
            </a:extLst>
          </p:cNvPr>
          <p:cNvCxnSpPr>
            <a:cxnSpLocks/>
          </p:cNvCxnSpPr>
          <p:nvPr/>
        </p:nvCxnSpPr>
        <p:spPr>
          <a:xfrm flipV="1">
            <a:off x="3102398" y="5363645"/>
            <a:ext cx="1380099" cy="10621"/>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1BA496A-AE51-66F6-BED9-8283103F8127}"/>
              </a:ext>
            </a:extLst>
          </p:cNvPr>
          <p:cNvSpPr txBox="1"/>
          <p:nvPr/>
        </p:nvSpPr>
        <p:spPr>
          <a:xfrm>
            <a:off x="3901302" y="3090430"/>
            <a:ext cx="825921" cy="461665"/>
          </a:xfrm>
          <a:prstGeom prst="rect">
            <a:avLst/>
          </a:prstGeom>
          <a:noFill/>
        </p:spPr>
        <p:txBody>
          <a:bodyPr wrap="square">
            <a:spAutoFit/>
          </a:bodyPr>
          <a:lstStyle/>
          <a:p>
            <a:pPr algn="ctr"/>
            <a:r>
              <a:rPr lang="en-US" altLang="zh-CN" sz="2400" dirty="0"/>
              <a:t>f</a:t>
            </a:r>
            <a:r>
              <a:rPr lang="en-US" altLang="zh-CN" sz="2400" baseline="-25000" dirty="0"/>
              <a:t>0</a:t>
            </a:r>
            <a:r>
              <a:rPr lang="en-GB" sz="2400" dirty="0"/>
              <a:t> </a:t>
            </a:r>
            <a:endParaRPr lang="en-IT" sz="2400" dirty="0"/>
          </a:p>
        </p:txBody>
      </p:sp>
      <p:sp>
        <p:nvSpPr>
          <p:cNvPr id="80" name="TextBox 79">
            <a:extLst>
              <a:ext uri="{FF2B5EF4-FFF2-40B4-BE49-F238E27FC236}">
                <a16:creationId xmlns:a16="http://schemas.microsoft.com/office/drawing/2014/main" id="{3653FFD5-20A4-C861-9DF6-C989CED2F42F}"/>
              </a:ext>
            </a:extLst>
          </p:cNvPr>
          <p:cNvSpPr txBox="1"/>
          <p:nvPr/>
        </p:nvSpPr>
        <p:spPr>
          <a:xfrm>
            <a:off x="3457231" y="3823354"/>
            <a:ext cx="825921" cy="461665"/>
          </a:xfrm>
          <a:prstGeom prst="rect">
            <a:avLst/>
          </a:prstGeom>
          <a:noFill/>
        </p:spPr>
        <p:txBody>
          <a:bodyPr wrap="square">
            <a:spAutoFit/>
          </a:bodyPr>
          <a:lstStyle/>
          <a:p>
            <a:pPr algn="ctr"/>
            <a:r>
              <a:rPr lang="en-US" altLang="zh-CN" sz="2400" dirty="0"/>
              <a:t>f</a:t>
            </a:r>
            <a:r>
              <a:rPr lang="en-US" altLang="zh-CN" sz="2400" baseline="-25000" dirty="0"/>
              <a:t>1</a:t>
            </a:r>
            <a:r>
              <a:rPr lang="en-GB" sz="2400" dirty="0"/>
              <a:t> </a:t>
            </a:r>
            <a:endParaRPr lang="en-IT" sz="2400" dirty="0"/>
          </a:p>
        </p:txBody>
      </p:sp>
      <p:sp>
        <p:nvSpPr>
          <p:cNvPr id="81" name="TextBox 80">
            <a:extLst>
              <a:ext uri="{FF2B5EF4-FFF2-40B4-BE49-F238E27FC236}">
                <a16:creationId xmlns:a16="http://schemas.microsoft.com/office/drawing/2014/main" id="{16138BFE-E796-DEA6-3A14-72ECE31C838D}"/>
              </a:ext>
            </a:extLst>
          </p:cNvPr>
          <p:cNvSpPr txBox="1"/>
          <p:nvPr/>
        </p:nvSpPr>
        <p:spPr>
          <a:xfrm>
            <a:off x="3498208" y="5304932"/>
            <a:ext cx="825921" cy="461665"/>
          </a:xfrm>
          <a:prstGeom prst="rect">
            <a:avLst/>
          </a:prstGeom>
          <a:noFill/>
        </p:spPr>
        <p:txBody>
          <a:bodyPr wrap="square">
            <a:spAutoFit/>
          </a:bodyPr>
          <a:lstStyle/>
          <a:p>
            <a:pPr algn="ctr"/>
            <a:r>
              <a:rPr lang="en-US" altLang="zh-CN" sz="2400" dirty="0"/>
              <a:t>f</a:t>
            </a:r>
            <a:r>
              <a:rPr lang="en-US" altLang="zh-CN" sz="2400" baseline="-25000" dirty="0"/>
              <a:t>2</a:t>
            </a:r>
            <a:r>
              <a:rPr lang="en-GB" sz="2400" dirty="0"/>
              <a:t> </a:t>
            </a:r>
            <a:endParaRPr lang="en-IT" sz="2400" dirty="0"/>
          </a:p>
        </p:txBody>
      </p:sp>
      <p:sp>
        <p:nvSpPr>
          <p:cNvPr id="82" name="Arrow: Down 81">
            <a:extLst>
              <a:ext uri="{FF2B5EF4-FFF2-40B4-BE49-F238E27FC236}">
                <a16:creationId xmlns:a16="http://schemas.microsoft.com/office/drawing/2014/main" id="{25F7AFAE-E934-A34C-BDCE-18063998A74F}"/>
              </a:ext>
            </a:extLst>
          </p:cNvPr>
          <p:cNvSpPr/>
          <p:nvPr/>
        </p:nvSpPr>
        <p:spPr>
          <a:xfrm>
            <a:off x="3599999" y="4596530"/>
            <a:ext cx="484632" cy="4219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TextBox 82">
            <a:extLst>
              <a:ext uri="{FF2B5EF4-FFF2-40B4-BE49-F238E27FC236}">
                <a16:creationId xmlns:a16="http://schemas.microsoft.com/office/drawing/2014/main" id="{292047F6-9252-0E0D-5B0A-4AB76AB209C5}"/>
              </a:ext>
            </a:extLst>
          </p:cNvPr>
          <p:cNvSpPr txBox="1"/>
          <p:nvPr/>
        </p:nvSpPr>
        <p:spPr>
          <a:xfrm>
            <a:off x="5105575" y="2551750"/>
            <a:ext cx="1275017" cy="461665"/>
          </a:xfrm>
          <a:prstGeom prst="rect">
            <a:avLst/>
          </a:prstGeom>
          <a:noFill/>
        </p:spPr>
        <p:txBody>
          <a:bodyPr wrap="square">
            <a:spAutoFit/>
          </a:bodyPr>
          <a:lstStyle/>
          <a:p>
            <a:pPr algn="ctr"/>
            <a:r>
              <a:rPr lang="en-GB" sz="2400" dirty="0"/>
              <a:t>Round 0 </a:t>
            </a:r>
            <a:endParaRPr lang="en-IT" sz="2400" dirty="0"/>
          </a:p>
        </p:txBody>
      </p:sp>
      <p:sp>
        <p:nvSpPr>
          <p:cNvPr id="84" name="TextBox 83">
            <a:extLst>
              <a:ext uri="{FF2B5EF4-FFF2-40B4-BE49-F238E27FC236}">
                <a16:creationId xmlns:a16="http://schemas.microsoft.com/office/drawing/2014/main" id="{FE4FA738-BFA0-A192-4C99-09B92E31C261}"/>
              </a:ext>
            </a:extLst>
          </p:cNvPr>
          <p:cNvSpPr txBox="1"/>
          <p:nvPr/>
        </p:nvSpPr>
        <p:spPr>
          <a:xfrm>
            <a:off x="5081406" y="4039543"/>
            <a:ext cx="1275017" cy="461665"/>
          </a:xfrm>
          <a:prstGeom prst="rect">
            <a:avLst/>
          </a:prstGeom>
          <a:noFill/>
        </p:spPr>
        <p:txBody>
          <a:bodyPr wrap="square">
            <a:spAutoFit/>
          </a:bodyPr>
          <a:lstStyle/>
          <a:p>
            <a:pPr algn="ctr"/>
            <a:r>
              <a:rPr lang="en-GB" sz="2400" dirty="0"/>
              <a:t>Round 1 </a:t>
            </a:r>
            <a:endParaRPr lang="en-IT" sz="2400" dirty="0"/>
          </a:p>
        </p:txBody>
      </p:sp>
      <p:sp>
        <p:nvSpPr>
          <p:cNvPr id="85" name="TextBox 84">
            <a:extLst>
              <a:ext uri="{FF2B5EF4-FFF2-40B4-BE49-F238E27FC236}">
                <a16:creationId xmlns:a16="http://schemas.microsoft.com/office/drawing/2014/main" id="{D700AC5E-BF71-FFAA-C045-9BEFEA5728A5}"/>
              </a:ext>
            </a:extLst>
          </p:cNvPr>
          <p:cNvSpPr txBox="1"/>
          <p:nvPr/>
        </p:nvSpPr>
        <p:spPr>
          <a:xfrm>
            <a:off x="4712707" y="5544263"/>
            <a:ext cx="1643716" cy="523220"/>
          </a:xfrm>
          <a:prstGeom prst="rect">
            <a:avLst/>
          </a:prstGeom>
          <a:noFill/>
        </p:spPr>
        <p:txBody>
          <a:bodyPr wrap="square">
            <a:spAutoFit/>
          </a:bodyPr>
          <a:lstStyle/>
          <a:p>
            <a:pPr algn="ctr"/>
            <a:r>
              <a:rPr lang="en-US" altLang="zh-CN" sz="2800" dirty="0">
                <a:solidFill>
                  <a:srgbClr val="FF0000"/>
                </a:solidFill>
              </a:rPr>
              <a:t>f</a:t>
            </a:r>
            <a:r>
              <a:rPr lang="en-US" altLang="zh-CN" sz="2800" baseline="-25000" dirty="0">
                <a:solidFill>
                  <a:srgbClr val="FF0000"/>
                </a:solidFill>
              </a:rPr>
              <a:t>2</a:t>
            </a:r>
            <a:r>
              <a:rPr lang="en-US" altLang="zh-CN" sz="2800" dirty="0">
                <a:solidFill>
                  <a:srgbClr val="FF0000"/>
                </a:solidFill>
              </a:rPr>
              <a:t>&gt;f</a:t>
            </a:r>
            <a:r>
              <a:rPr lang="en-US" altLang="zh-CN" sz="2800" baseline="-25000" dirty="0">
                <a:solidFill>
                  <a:srgbClr val="FF0000"/>
                </a:solidFill>
              </a:rPr>
              <a:t>1</a:t>
            </a:r>
            <a:r>
              <a:rPr lang="en-US" altLang="zh-CN" sz="2800" dirty="0">
                <a:solidFill>
                  <a:srgbClr val="FF0000"/>
                </a:solidFill>
              </a:rPr>
              <a:t>&gt;f</a:t>
            </a:r>
            <a:r>
              <a:rPr lang="en-US" altLang="zh-CN" sz="2800" baseline="-25000" dirty="0">
                <a:solidFill>
                  <a:srgbClr val="FF0000"/>
                </a:solidFill>
              </a:rPr>
              <a:t>0</a:t>
            </a:r>
            <a:r>
              <a:rPr lang="en-GB" sz="2800" dirty="0">
                <a:solidFill>
                  <a:srgbClr val="FF0000"/>
                </a:solidFill>
              </a:rPr>
              <a:t> </a:t>
            </a:r>
            <a:endParaRPr lang="en-IT" sz="2800" dirty="0">
              <a:solidFill>
                <a:srgbClr val="FF0000"/>
              </a:solidFill>
            </a:endParaRPr>
          </a:p>
        </p:txBody>
      </p:sp>
    </p:spTree>
    <p:extLst>
      <p:ext uri="{BB962C8B-B14F-4D97-AF65-F5344CB8AC3E}">
        <p14:creationId xmlns:p14="http://schemas.microsoft.com/office/powerpoint/2010/main" val="343008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
                                            <p:txEl>
                                              <p:pRg st="1" end="1"/>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4"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7" grpId="0" animBg="1"/>
      <p:bldP spid="80" grpId="0"/>
      <p:bldP spid="81" grpId="0"/>
      <p:bldP spid="82" grpId="0" animBg="1"/>
      <p:bldP spid="84" grpId="0"/>
      <p:bldP spid="85" grpId="0"/>
    </p:bld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42AA-08ED-4F3C-5DBE-9B83D5FD8F0F}"/>
              </a:ext>
            </a:extLst>
          </p:cNvPr>
          <p:cNvSpPr>
            <a:spLocks noGrp="1"/>
          </p:cNvSpPr>
          <p:nvPr>
            <p:ph type="title"/>
          </p:nvPr>
        </p:nvSpPr>
        <p:spPr/>
        <p:txBody>
          <a:bodyPr/>
          <a:lstStyle/>
          <a:p>
            <a:r>
              <a:rPr lang="en-US" dirty="0"/>
              <a:t>Swapping to Establish End-to-End Entanglement</a:t>
            </a:r>
          </a:p>
        </p:txBody>
      </p:sp>
      <p:sp>
        <p:nvSpPr>
          <p:cNvPr id="7" name="Footer Placeholder 6">
            <a:extLst>
              <a:ext uri="{FF2B5EF4-FFF2-40B4-BE49-F238E27FC236}">
                <a16:creationId xmlns:a16="http://schemas.microsoft.com/office/drawing/2014/main" id="{CBDFB899-75F6-FE89-4691-F078DD627941}"/>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8" name="Slide Number Placeholder 7">
            <a:extLst>
              <a:ext uri="{FF2B5EF4-FFF2-40B4-BE49-F238E27FC236}">
                <a16:creationId xmlns:a16="http://schemas.microsoft.com/office/drawing/2014/main" id="{53F68760-C1AC-05DB-B6AB-D578EF2BB9D4}"/>
              </a:ext>
            </a:extLst>
          </p:cNvPr>
          <p:cNvSpPr>
            <a:spLocks noGrp="1"/>
          </p:cNvSpPr>
          <p:nvPr>
            <p:ph type="sldNum" sz="quarter" idx="12"/>
          </p:nvPr>
        </p:nvSpPr>
        <p:spPr/>
        <p:txBody>
          <a:bodyPr/>
          <a:lstStyle/>
          <a:p>
            <a:fld id="{5AFE0081-1ED4-41E0-88AB-D26DBE160EA6}" type="slidenum">
              <a:rPr lang="en-US" smtClean="0"/>
              <a:t>10</a:t>
            </a:fld>
            <a:endParaRPr lang="en-US"/>
          </a:p>
        </p:txBody>
      </p:sp>
      <p:sp>
        <p:nvSpPr>
          <p:cNvPr id="21" name="椭圆 58">
            <a:extLst>
              <a:ext uri="{FF2B5EF4-FFF2-40B4-BE49-F238E27FC236}">
                <a16:creationId xmlns:a16="http://schemas.microsoft.com/office/drawing/2014/main" id="{002800A3-5020-0E70-B67D-78340DBB7448}"/>
              </a:ext>
            </a:extLst>
          </p:cNvPr>
          <p:cNvSpPr/>
          <p:nvPr/>
        </p:nvSpPr>
        <p:spPr>
          <a:xfrm>
            <a:off x="553314" y="3338917"/>
            <a:ext cx="256401" cy="256574"/>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2" name="椭圆 62">
            <a:extLst>
              <a:ext uri="{FF2B5EF4-FFF2-40B4-BE49-F238E27FC236}">
                <a16:creationId xmlns:a16="http://schemas.microsoft.com/office/drawing/2014/main" id="{B0109B87-F225-4DBF-C35F-207417CFB65F}"/>
              </a:ext>
            </a:extLst>
          </p:cNvPr>
          <p:cNvSpPr/>
          <p:nvPr/>
        </p:nvSpPr>
        <p:spPr>
          <a:xfrm>
            <a:off x="6720881" y="3405877"/>
            <a:ext cx="220012" cy="22016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23" name="椭圆 62">
            <a:extLst>
              <a:ext uri="{FF2B5EF4-FFF2-40B4-BE49-F238E27FC236}">
                <a16:creationId xmlns:a16="http://schemas.microsoft.com/office/drawing/2014/main" id="{D2B0DB27-D58E-73F2-B0A4-0D7C5CF078D7}"/>
              </a:ext>
            </a:extLst>
          </p:cNvPr>
          <p:cNvSpPr/>
          <p:nvPr/>
        </p:nvSpPr>
        <p:spPr>
          <a:xfrm>
            <a:off x="9582896" y="3392837"/>
            <a:ext cx="200550" cy="200686"/>
          </a:xfrm>
          <a:prstGeom prst="ellipse">
            <a:avLst/>
          </a:prstGeom>
          <a:solidFill>
            <a:schemeClr val="bg1"/>
          </a:solidFill>
          <a:ln w="12700" cap="flat" cmpd="sng" algn="ctr">
            <a:solidFill>
              <a:schemeClr val="tx1"/>
            </a:solid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cxnSp>
        <p:nvCxnSpPr>
          <p:cNvPr id="24" name="Straight Connector 23">
            <a:extLst>
              <a:ext uri="{FF2B5EF4-FFF2-40B4-BE49-F238E27FC236}">
                <a16:creationId xmlns:a16="http://schemas.microsoft.com/office/drawing/2014/main" id="{1B23DAAE-282C-0EBD-37F7-5495AE40002A}"/>
              </a:ext>
            </a:extLst>
          </p:cNvPr>
          <p:cNvCxnSpPr>
            <a:cxnSpLocks/>
          </p:cNvCxnSpPr>
          <p:nvPr/>
        </p:nvCxnSpPr>
        <p:spPr>
          <a:xfrm>
            <a:off x="2300317" y="3442983"/>
            <a:ext cx="528645" cy="0"/>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A6F2BA-AE46-A947-1089-0DFDEC5CF598}"/>
              </a:ext>
            </a:extLst>
          </p:cNvPr>
          <p:cNvCxnSpPr>
            <a:cxnSpLocks/>
          </p:cNvCxnSpPr>
          <p:nvPr/>
        </p:nvCxnSpPr>
        <p:spPr>
          <a:xfrm>
            <a:off x="4022277" y="3463833"/>
            <a:ext cx="387036" cy="0"/>
          </a:xfrm>
          <a:prstGeom prst="line">
            <a:avLst/>
          </a:prstGeom>
          <a:ln w="31750">
            <a:solidFill>
              <a:schemeClr val="accent6"/>
            </a:solidFill>
            <a:prstDash val="sysDash"/>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B76116E7-DDDA-7EDE-1BDB-52007F1D436A}"/>
              </a:ext>
            </a:extLst>
          </p:cNvPr>
          <p:cNvSpPr txBox="1"/>
          <p:nvPr/>
        </p:nvSpPr>
        <p:spPr>
          <a:xfrm>
            <a:off x="9633812" y="3123570"/>
            <a:ext cx="1957598" cy="712183"/>
          </a:xfrm>
          <a:prstGeom prst="rect">
            <a:avLst/>
          </a:prstGeom>
          <a:noFill/>
        </p:spPr>
        <p:txBody>
          <a:bodyPr wrap="square">
            <a:spAutoFit/>
          </a:bodyPr>
          <a:lstStyle/>
          <a:p>
            <a:pPr algn="ctr">
              <a:lnSpc>
                <a:spcPts val="2400"/>
              </a:lnSpc>
            </a:pPr>
            <a:r>
              <a:rPr lang="en-GB" sz="2000" dirty="0"/>
              <a:t>Free quantum memory</a:t>
            </a:r>
            <a:endParaRPr lang="en-IT" sz="2000" dirty="0"/>
          </a:p>
        </p:txBody>
      </p:sp>
      <p:sp>
        <p:nvSpPr>
          <p:cNvPr id="27" name="TextBox 26">
            <a:extLst>
              <a:ext uri="{FF2B5EF4-FFF2-40B4-BE49-F238E27FC236}">
                <a16:creationId xmlns:a16="http://schemas.microsoft.com/office/drawing/2014/main" id="{B148A575-7914-E83F-3ECE-F2B21314E6C9}"/>
              </a:ext>
            </a:extLst>
          </p:cNvPr>
          <p:cNvSpPr txBox="1"/>
          <p:nvPr/>
        </p:nvSpPr>
        <p:spPr>
          <a:xfrm>
            <a:off x="2709177" y="3224663"/>
            <a:ext cx="825921" cy="400110"/>
          </a:xfrm>
          <a:prstGeom prst="rect">
            <a:avLst/>
          </a:prstGeom>
          <a:noFill/>
        </p:spPr>
        <p:txBody>
          <a:bodyPr wrap="square">
            <a:spAutoFit/>
          </a:bodyPr>
          <a:lstStyle/>
          <a:p>
            <a:pPr algn="ctr"/>
            <a:r>
              <a:rPr lang="en-GB" sz="2000" dirty="0"/>
              <a:t>Link </a:t>
            </a:r>
            <a:endParaRPr lang="en-IT" sz="2000" dirty="0"/>
          </a:p>
        </p:txBody>
      </p:sp>
      <p:sp>
        <p:nvSpPr>
          <p:cNvPr id="28" name="TextBox 27">
            <a:extLst>
              <a:ext uri="{FF2B5EF4-FFF2-40B4-BE49-F238E27FC236}">
                <a16:creationId xmlns:a16="http://schemas.microsoft.com/office/drawing/2014/main" id="{8C6F1897-4AAF-42B2-5D21-8373102702C2}"/>
              </a:ext>
            </a:extLst>
          </p:cNvPr>
          <p:cNvSpPr txBox="1"/>
          <p:nvPr/>
        </p:nvSpPr>
        <p:spPr>
          <a:xfrm>
            <a:off x="2433558" y="1271209"/>
            <a:ext cx="2113690" cy="461665"/>
          </a:xfrm>
          <a:prstGeom prst="rect">
            <a:avLst/>
          </a:prstGeom>
          <a:noFill/>
        </p:spPr>
        <p:txBody>
          <a:bodyPr wrap="square">
            <a:spAutoFit/>
          </a:bodyPr>
          <a:lstStyle/>
          <a:p>
            <a:pPr algn="ctr"/>
            <a:r>
              <a:rPr lang="en-GB" sz="2400" dirty="0">
                <a:solidFill>
                  <a:srgbClr val="FF0000"/>
                </a:solidFill>
              </a:rPr>
              <a:t>swapping</a:t>
            </a:r>
            <a:endParaRPr lang="en-IT" sz="2400" dirty="0">
              <a:solidFill>
                <a:srgbClr val="FF0000"/>
              </a:solidFill>
            </a:endParaRPr>
          </a:p>
        </p:txBody>
      </p:sp>
      <p:cxnSp>
        <p:nvCxnSpPr>
          <p:cNvPr id="30" name="Straight Connector 29">
            <a:extLst>
              <a:ext uri="{FF2B5EF4-FFF2-40B4-BE49-F238E27FC236}">
                <a16:creationId xmlns:a16="http://schemas.microsoft.com/office/drawing/2014/main" id="{3F308BEA-5D6F-BF4E-A3A6-C3E9CB8ED022}"/>
              </a:ext>
            </a:extLst>
          </p:cNvPr>
          <p:cNvCxnSpPr>
            <a:cxnSpLocks/>
            <a:stCxn id="31" idx="6"/>
            <a:endCxn id="33" idx="2"/>
          </p:cNvCxnSpPr>
          <p:nvPr/>
        </p:nvCxnSpPr>
        <p:spPr>
          <a:xfrm flipV="1">
            <a:off x="1729199" y="2127757"/>
            <a:ext cx="3312091" cy="3716"/>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31" name="椭圆 58">
            <a:extLst>
              <a:ext uri="{FF2B5EF4-FFF2-40B4-BE49-F238E27FC236}">
                <a16:creationId xmlns:a16="http://schemas.microsoft.com/office/drawing/2014/main" id="{DF9BE010-526C-7423-0AB8-655468EB1478}"/>
              </a:ext>
            </a:extLst>
          </p:cNvPr>
          <p:cNvSpPr/>
          <p:nvPr/>
        </p:nvSpPr>
        <p:spPr>
          <a:xfrm>
            <a:off x="1115397" y="1824364"/>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2" name="椭圆 58">
            <a:extLst>
              <a:ext uri="{FF2B5EF4-FFF2-40B4-BE49-F238E27FC236}">
                <a16:creationId xmlns:a16="http://schemas.microsoft.com/office/drawing/2014/main" id="{E4FBC613-8A78-05F1-CFB2-5ED4F38601FA}"/>
              </a:ext>
            </a:extLst>
          </p:cNvPr>
          <p:cNvSpPr/>
          <p:nvPr/>
        </p:nvSpPr>
        <p:spPr>
          <a:xfrm>
            <a:off x="3109298" y="1820648"/>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3" name="椭圆 58">
            <a:extLst>
              <a:ext uri="{FF2B5EF4-FFF2-40B4-BE49-F238E27FC236}">
                <a16:creationId xmlns:a16="http://schemas.microsoft.com/office/drawing/2014/main" id="{45613FC5-E712-7F84-8F7D-D1765CD0784E}"/>
              </a:ext>
            </a:extLst>
          </p:cNvPr>
          <p:cNvSpPr/>
          <p:nvPr/>
        </p:nvSpPr>
        <p:spPr>
          <a:xfrm>
            <a:off x="5041290" y="1820648"/>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6" name="椭圆 62">
            <a:extLst>
              <a:ext uri="{FF2B5EF4-FFF2-40B4-BE49-F238E27FC236}">
                <a16:creationId xmlns:a16="http://schemas.microsoft.com/office/drawing/2014/main" id="{CA672392-8A23-9366-0742-B87031677DB6}"/>
              </a:ext>
            </a:extLst>
          </p:cNvPr>
          <p:cNvSpPr/>
          <p:nvPr/>
        </p:nvSpPr>
        <p:spPr>
          <a:xfrm>
            <a:off x="1490400" y="1960064"/>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7" name="椭圆 62">
            <a:extLst>
              <a:ext uri="{FF2B5EF4-FFF2-40B4-BE49-F238E27FC236}">
                <a16:creationId xmlns:a16="http://schemas.microsoft.com/office/drawing/2014/main" id="{4770CABA-694D-7973-2ABE-6404CAB00168}"/>
              </a:ext>
            </a:extLst>
          </p:cNvPr>
          <p:cNvSpPr/>
          <p:nvPr/>
        </p:nvSpPr>
        <p:spPr>
          <a:xfrm>
            <a:off x="3240243" y="1950136"/>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8" name="椭圆 62">
            <a:extLst>
              <a:ext uri="{FF2B5EF4-FFF2-40B4-BE49-F238E27FC236}">
                <a16:creationId xmlns:a16="http://schemas.microsoft.com/office/drawing/2014/main" id="{79C82768-0D36-6B48-0500-1904A0B4922E}"/>
              </a:ext>
            </a:extLst>
          </p:cNvPr>
          <p:cNvSpPr/>
          <p:nvPr/>
        </p:nvSpPr>
        <p:spPr>
          <a:xfrm>
            <a:off x="3459855" y="1950136"/>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39" name="椭圆 62">
            <a:extLst>
              <a:ext uri="{FF2B5EF4-FFF2-40B4-BE49-F238E27FC236}">
                <a16:creationId xmlns:a16="http://schemas.microsoft.com/office/drawing/2014/main" id="{2174BA54-6C87-C7CD-419C-8C1FC2D8984C}"/>
              </a:ext>
            </a:extLst>
          </p:cNvPr>
          <p:cNvSpPr/>
          <p:nvPr/>
        </p:nvSpPr>
        <p:spPr>
          <a:xfrm>
            <a:off x="5153773" y="1949090"/>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40" name="椭圆 62">
            <a:extLst>
              <a:ext uri="{FF2B5EF4-FFF2-40B4-BE49-F238E27FC236}">
                <a16:creationId xmlns:a16="http://schemas.microsoft.com/office/drawing/2014/main" id="{510E3BB8-8D51-E9D1-F931-A7900DF3B803}"/>
              </a:ext>
            </a:extLst>
          </p:cNvPr>
          <p:cNvSpPr/>
          <p:nvPr/>
        </p:nvSpPr>
        <p:spPr>
          <a:xfrm>
            <a:off x="5404791" y="1948506"/>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41" name="椭圆 62">
            <a:extLst>
              <a:ext uri="{FF2B5EF4-FFF2-40B4-BE49-F238E27FC236}">
                <a16:creationId xmlns:a16="http://schemas.microsoft.com/office/drawing/2014/main" id="{F0BB6068-AE64-EE02-80C8-1392BE204BC7}"/>
              </a:ext>
            </a:extLst>
          </p:cNvPr>
          <p:cNvSpPr/>
          <p:nvPr/>
        </p:nvSpPr>
        <p:spPr>
          <a:xfrm>
            <a:off x="5269355" y="2194478"/>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57" name="椭圆 62">
            <a:extLst>
              <a:ext uri="{FF2B5EF4-FFF2-40B4-BE49-F238E27FC236}">
                <a16:creationId xmlns:a16="http://schemas.microsoft.com/office/drawing/2014/main" id="{68FC0B7A-F866-198B-CCA9-9668BC93365D}"/>
              </a:ext>
            </a:extLst>
          </p:cNvPr>
          <p:cNvSpPr/>
          <p:nvPr/>
        </p:nvSpPr>
        <p:spPr>
          <a:xfrm>
            <a:off x="3342463" y="2196079"/>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62" name="Freeform: Shape 61">
            <a:extLst>
              <a:ext uri="{FF2B5EF4-FFF2-40B4-BE49-F238E27FC236}">
                <a16:creationId xmlns:a16="http://schemas.microsoft.com/office/drawing/2014/main" id="{3843BA9B-61E3-96AC-3D5C-CB191C5C5F14}"/>
              </a:ext>
            </a:extLst>
          </p:cNvPr>
          <p:cNvSpPr/>
          <p:nvPr/>
        </p:nvSpPr>
        <p:spPr>
          <a:xfrm>
            <a:off x="1604600" y="1795580"/>
            <a:ext cx="1657917" cy="183168"/>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3175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Freeform: Shape 62">
            <a:extLst>
              <a:ext uri="{FF2B5EF4-FFF2-40B4-BE49-F238E27FC236}">
                <a16:creationId xmlns:a16="http://schemas.microsoft.com/office/drawing/2014/main" id="{91B6B949-FD35-BBEF-325F-88B200C97E31}"/>
              </a:ext>
            </a:extLst>
          </p:cNvPr>
          <p:cNvSpPr/>
          <p:nvPr/>
        </p:nvSpPr>
        <p:spPr>
          <a:xfrm>
            <a:off x="3584079" y="1810300"/>
            <a:ext cx="1569694" cy="168448"/>
          </a:xfrm>
          <a:custGeom>
            <a:avLst/>
            <a:gdLst>
              <a:gd name="connsiteX0" fmla="*/ 0 w 813334"/>
              <a:gd name="connsiteY0" fmla="*/ 168448 h 168448"/>
              <a:gd name="connsiteX1" fmla="*/ 404261 w 813334"/>
              <a:gd name="connsiteY1" fmla="*/ 5 h 168448"/>
              <a:gd name="connsiteX2" fmla="*/ 813334 w 813334"/>
              <a:gd name="connsiteY2" fmla="*/ 163635 h 168448"/>
            </a:gdLst>
            <a:ahLst/>
            <a:cxnLst>
              <a:cxn ang="0">
                <a:pos x="connsiteX0" y="connsiteY0"/>
              </a:cxn>
              <a:cxn ang="0">
                <a:pos x="connsiteX1" y="connsiteY1"/>
              </a:cxn>
              <a:cxn ang="0">
                <a:pos x="connsiteX2" y="connsiteY2"/>
              </a:cxn>
            </a:cxnLst>
            <a:rect l="l" t="t" r="r" b="b"/>
            <a:pathLst>
              <a:path w="813334" h="168448">
                <a:moveTo>
                  <a:pt x="0" y="168448"/>
                </a:moveTo>
                <a:cubicBezTo>
                  <a:pt x="134352" y="84627"/>
                  <a:pt x="268705" y="807"/>
                  <a:pt x="404261" y="5"/>
                </a:cubicBezTo>
                <a:cubicBezTo>
                  <a:pt x="539817" y="-797"/>
                  <a:pt x="676575" y="81419"/>
                  <a:pt x="813334" y="163635"/>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74FB5E96-2DEA-26BB-6A3F-748D8124CFE4}"/>
              </a:ext>
            </a:extLst>
          </p:cNvPr>
          <p:cNvSpPr/>
          <p:nvPr/>
        </p:nvSpPr>
        <p:spPr>
          <a:xfrm>
            <a:off x="3124888" y="1781008"/>
            <a:ext cx="579633" cy="354431"/>
          </a:xfrm>
          <a:prstGeom prst="rect">
            <a:avLst/>
          </a:prstGeom>
          <a:noFill/>
          <a:ln w="317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TextBox 64">
            <a:extLst>
              <a:ext uri="{FF2B5EF4-FFF2-40B4-BE49-F238E27FC236}">
                <a16:creationId xmlns:a16="http://schemas.microsoft.com/office/drawing/2014/main" id="{7AF15330-ADF2-FD26-1587-7C32C646AD78}"/>
              </a:ext>
            </a:extLst>
          </p:cNvPr>
          <p:cNvSpPr txBox="1"/>
          <p:nvPr/>
        </p:nvSpPr>
        <p:spPr>
          <a:xfrm>
            <a:off x="4296004" y="3238166"/>
            <a:ext cx="2113690" cy="400110"/>
          </a:xfrm>
          <a:prstGeom prst="rect">
            <a:avLst/>
          </a:prstGeom>
          <a:noFill/>
        </p:spPr>
        <p:txBody>
          <a:bodyPr wrap="square">
            <a:spAutoFit/>
          </a:bodyPr>
          <a:lstStyle/>
          <a:p>
            <a:pPr algn="ctr"/>
            <a:r>
              <a:rPr lang="en-GB" sz="2000" dirty="0"/>
              <a:t>Entanglement</a:t>
            </a:r>
            <a:endParaRPr lang="en-IT" sz="2000" dirty="0"/>
          </a:p>
        </p:txBody>
      </p:sp>
      <p:sp>
        <p:nvSpPr>
          <p:cNvPr id="66" name="TextBox 65">
            <a:extLst>
              <a:ext uri="{FF2B5EF4-FFF2-40B4-BE49-F238E27FC236}">
                <a16:creationId xmlns:a16="http://schemas.microsoft.com/office/drawing/2014/main" id="{3A669B47-02B5-CEE1-1D80-10DFF14C74F8}"/>
              </a:ext>
            </a:extLst>
          </p:cNvPr>
          <p:cNvSpPr txBox="1"/>
          <p:nvPr/>
        </p:nvSpPr>
        <p:spPr>
          <a:xfrm>
            <a:off x="6834664" y="3141133"/>
            <a:ext cx="2563015" cy="712183"/>
          </a:xfrm>
          <a:prstGeom prst="rect">
            <a:avLst/>
          </a:prstGeom>
          <a:noFill/>
        </p:spPr>
        <p:txBody>
          <a:bodyPr wrap="square">
            <a:spAutoFit/>
          </a:bodyPr>
          <a:lstStyle/>
          <a:p>
            <a:pPr algn="ctr">
              <a:lnSpc>
                <a:spcPts val="2400"/>
              </a:lnSpc>
            </a:pPr>
            <a:r>
              <a:rPr lang="en-US" altLang="zh-CN" sz="2000" dirty="0"/>
              <a:t>Occupied</a:t>
            </a:r>
            <a:r>
              <a:rPr lang="en-GB" sz="2000" dirty="0"/>
              <a:t> quantum memory</a:t>
            </a:r>
            <a:endParaRPr lang="en-IT" sz="2000" dirty="0"/>
          </a:p>
        </p:txBody>
      </p:sp>
      <p:sp>
        <p:nvSpPr>
          <p:cNvPr id="67" name="TextBox 66">
            <a:extLst>
              <a:ext uri="{FF2B5EF4-FFF2-40B4-BE49-F238E27FC236}">
                <a16:creationId xmlns:a16="http://schemas.microsoft.com/office/drawing/2014/main" id="{0479EBE1-7806-EF6C-AA3D-B9E06C0BEADD}"/>
              </a:ext>
            </a:extLst>
          </p:cNvPr>
          <p:cNvSpPr txBox="1"/>
          <p:nvPr/>
        </p:nvSpPr>
        <p:spPr>
          <a:xfrm>
            <a:off x="97591" y="3141133"/>
            <a:ext cx="2563015" cy="712183"/>
          </a:xfrm>
          <a:prstGeom prst="rect">
            <a:avLst/>
          </a:prstGeom>
          <a:noFill/>
        </p:spPr>
        <p:txBody>
          <a:bodyPr wrap="square">
            <a:spAutoFit/>
          </a:bodyPr>
          <a:lstStyle/>
          <a:p>
            <a:pPr algn="ctr">
              <a:lnSpc>
                <a:spcPts val="2400"/>
              </a:lnSpc>
            </a:pPr>
            <a:r>
              <a:rPr lang="en-US" altLang="zh-CN" sz="2000" dirty="0"/>
              <a:t>Q</a:t>
            </a:r>
            <a:r>
              <a:rPr lang="en-GB" sz="2000" dirty="0" err="1"/>
              <a:t>uantum</a:t>
            </a:r>
            <a:r>
              <a:rPr lang="en-GB" sz="2000" dirty="0"/>
              <a:t> </a:t>
            </a:r>
          </a:p>
          <a:p>
            <a:pPr algn="ctr">
              <a:lnSpc>
                <a:spcPts val="2400"/>
              </a:lnSpc>
            </a:pPr>
            <a:r>
              <a:rPr lang="en-GB" sz="2000" dirty="0"/>
              <a:t>node</a:t>
            </a:r>
            <a:endParaRPr lang="en-IT" sz="2000" dirty="0"/>
          </a:p>
        </p:txBody>
      </p:sp>
      <p:cxnSp>
        <p:nvCxnSpPr>
          <p:cNvPr id="69" name="Straight Arrow Connector 68">
            <a:extLst>
              <a:ext uri="{FF2B5EF4-FFF2-40B4-BE49-F238E27FC236}">
                <a16:creationId xmlns:a16="http://schemas.microsoft.com/office/drawing/2014/main" id="{F1DC517F-88C4-AA38-25B4-7E9D1CE431A0}"/>
              </a:ext>
            </a:extLst>
          </p:cNvPr>
          <p:cNvCxnSpPr>
            <a:cxnSpLocks/>
          </p:cNvCxnSpPr>
          <p:nvPr/>
        </p:nvCxnSpPr>
        <p:spPr>
          <a:xfrm>
            <a:off x="2462784" y="1795866"/>
            <a:ext cx="4014" cy="942041"/>
          </a:xfrm>
          <a:prstGeom prst="straightConnector1">
            <a:avLst/>
          </a:prstGeom>
          <a:ln w="3175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4935265-4D84-466A-02EB-6C1889857909}"/>
              </a:ext>
            </a:extLst>
          </p:cNvPr>
          <p:cNvCxnSpPr>
            <a:cxnSpLocks/>
          </p:cNvCxnSpPr>
          <p:nvPr/>
        </p:nvCxnSpPr>
        <p:spPr>
          <a:xfrm>
            <a:off x="4423474" y="1817142"/>
            <a:ext cx="4014" cy="887316"/>
          </a:xfrm>
          <a:prstGeom prst="straightConnector1">
            <a:avLst/>
          </a:prstGeom>
          <a:ln w="3175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2" name="椭圆 62">
            <a:extLst>
              <a:ext uri="{FF2B5EF4-FFF2-40B4-BE49-F238E27FC236}">
                <a16:creationId xmlns:a16="http://schemas.microsoft.com/office/drawing/2014/main" id="{92DB4B83-2BEE-E674-5017-182C96733BF1}"/>
              </a:ext>
            </a:extLst>
          </p:cNvPr>
          <p:cNvSpPr/>
          <p:nvPr/>
        </p:nvSpPr>
        <p:spPr>
          <a:xfrm>
            <a:off x="1355998" y="2193102"/>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3" name="椭圆 62">
            <a:extLst>
              <a:ext uri="{FF2B5EF4-FFF2-40B4-BE49-F238E27FC236}">
                <a16:creationId xmlns:a16="http://schemas.microsoft.com/office/drawing/2014/main" id="{E2E8E7DD-B722-1FE4-3656-2DB6A5712EF5}"/>
              </a:ext>
            </a:extLst>
          </p:cNvPr>
          <p:cNvSpPr/>
          <p:nvPr/>
        </p:nvSpPr>
        <p:spPr>
          <a:xfrm>
            <a:off x="1198822" y="196717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cxnSp>
        <p:nvCxnSpPr>
          <p:cNvPr id="77" name="Straight Connector 76">
            <a:extLst>
              <a:ext uri="{FF2B5EF4-FFF2-40B4-BE49-F238E27FC236}">
                <a16:creationId xmlns:a16="http://schemas.microsoft.com/office/drawing/2014/main" id="{D6120250-EBD2-AA6C-2F1B-947D5D20D850}"/>
              </a:ext>
            </a:extLst>
          </p:cNvPr>
          <p:cNvCxnSpPr>
            <a:cxnSpLocks/>
            <a:stCxn id="78" idx="6"/>
            <a:endCxn id="80" idx="2"/>
          </p:cNvCxnSpPr>
          <p:nvPr/>
        </p:nvCxnSpPr>
        <p:spPr>
          <a:xfrm flipV="1">
            <a:off x="7901702" y="2111022"/>
            <a:ext cx="3312091" cy="3716"/>
          </a:xfrm>
          <a:prstGeom prst="line">
            <a:avLst/>
          </a:prstGeom>
          <a:ln w="317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78" name="椭圆 58">
            <a:extLst>
              <a:ext uri="{FF2B5EF4-FFF2-40B4-BE49-F238E27FC236}">
                <a16:creationId xmlns:a16="http://schemas.microsoft.com/office/drawing/2014/main" id="{DC943EE7-669D-24B8-B8CA-38DBE0D9D3BC}"/>
              </a:ext>
            </a:extLst>
          </p:cNvPr>
          <p:cNvSpPr/>
          <p:nvPr/>
        </p:nvSpPr>
        <p:spPr>
          <a:xfrm>
            <a:off x="7287900" y="1807629"/>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79" name="椭圆 58">
            <a:extLst>
              <a:ext uri="{FF2B5EF4-FFF2-40B4-BE49-F238E27FC236}">
                <a16:creationId xmlns:a16="http://schemas.microsoft.com/office/drawing/2014/main" id="{5668E437-8BF6-A215-993F-0CA4FF75D1EA}"/>
              </a:ext>
            </a:extLst>
          </p:cNvPr>
          <p:cNvSpPr/>
          <p:nvPr/>
        </p:nvSpPr>
        <p:spPr>
          <a:xfrm>
            <a:off x="9281801" y="1803913"/>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0" name="椭圆 58">
            <a:extLst>
              <a:ext uri="{FF2B5EF4-FFF2-40B4-BE49-F238E27FC236}">
                <a16:creationId xmlns:a16="http://schemas.microsoft.com/office/drawing/2014/main" id="{5458FA3A-3EF7-CC6F-552C-9EC5E93B61FE}"/>
              </a:ext>
            </a:extLst>
          </p:cNvPr>
          <p:cNvSpPr/>
          <p:nvPr/>
        </p:nvSpPr>
        <p:spPr>
          <a:xfrm>
            <a:off x="11213793" y="1803913"/>
            <a:ext cx="613802" cy="614217"/>
          </a:xfrm>
          <a:prstGeom prst="ellipse">
            <a:avLst/>
          </a:prstGeom>
          <a:solidFill>
            <a:srgbClr val="5B9BD5">
              <a:lumMod val="60000"/>
              <a:lumOff val="40000"/>
            </a:srgbClr>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1" name="椭圆 62">
            <a:extLst>
              <a:ext uri="{FF2B5EF4-FFF2-40B4-BE49-F238E27FC236}">
                <a16:creationId xmlns:a16="http://schemas.microsoft.com/office/drawing/2014/main" id="{41252DC9-1F26-D3AC-470D-8C48CFB3848F}"/>
              </a:ext>
            </a:extLst>
          </p:cNvPr>
          <p:cNvSpPr/>
          <p:nvPr/>
        </p:nvSpPr>
        <p:spPr>
          <a:xfrm>
            <a:off x="7662903" y="1943329"/>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2" name="椭圆 62">
            <a:extLst>
              <a:ext uri="{FF2B5EF4-FFF2-40B4-BE49-F238E27FC236}">
                <a16:creationId xmlns:a16="http://schemas.microsoft.com/office/drawing/2014/main" id="{8373161B-D252-FAE8-6FAE-8DBC0265E7DF}"/>
              </a:ext>
            </a:extLst>
          </p:cNvPr>
          <p:cNvSpPr/>
          <p:nvPr/>
        </p:nvSpPr>
        <p:spPr>
          <a:xfrm>
            <a:off x="9412746" y="193340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3" name="椭圆 62">
            <a:extLst>
              <a:ext uri="{FF2B5EF4-FFF2-40B4-BE49-F238E27FC236}">
                <a16:creationId xmlns:a16="http://schemas.microsoft.com/office/drawing/2014/main" id="{BDF6F5FE-4A76-C00A-C8BF-7D43CA3494B8}"/>
              </a:ext>
            </a:extLst>
          </p:cNvPr>
          <p:cNvSpPr/>
          <p:nvPr/>
        </p:nvSpPr>
        <p:spPr>
          <a:xfrm>
            <a:off x="9632358" y="193340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4" name="椭圆 62">
            <a:extLst>
              <a:ext uri="{FF2B5EF4-FFF2-40B4-BE49-F238E27FC236}">
                <a16:creationId xmlns:a16="http://schemas.microsoft.com/office/drawing/2014/main" id="{E98938AA-87C6-9EB9-5C8C-9306B2B63F43}"/>
              </a:ext>
            </a:extLst>
          </p:cNvPr>
          <p:cNvSpPr/>
          <p:nvPr/>
        </p:nvSpPr>
        <p:spPr>
          <a:xfrm>
            <a:off x="11326276" y="1932355"/>
            <a:ext cx="147471" cy="147571"/>
          </a:xfrm>
          <a:prstGeom prst="ellipse">
            <a:avLst/>
          </a:prstGeom>
          <a:solidFill>
            <a:srgbClr val="A4A4A4"/>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5" name="椭圆 62">
            <a:extLst>
              <a:ext uri="{FF2B5EF4-FFF2-40B4-BE49-F238E27FC236}">
                <a16:creationId xmlns:a16="http://schemas.microsoft.com/office/drawing/2014/main" id="{54AE0A97-2392-0ED6-1253-64019635DF20}"/>
              </a:ext>
            </a:extLst>
          </p:cNvPr>
          <p:cNvSpPr/>
          <p:nvPr/>
        </p:nvSpPr>
        <p:spPr>
          <a:xfrm>
            <a:off x="11577294" y="1931771"/>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6" name="椭圆 62">
            <a:extLst>
              <a:ext uri="{FF2B5EF4-FFF2-40B4-BE49-F238E27FC236}">
                <a16:creationId xmlns:a16="http://schemas.microsoft.com/office/drawing/2014/main" id="{1E31A3BC-854D-8CD1-A478-83C4F383B6CE}"/>
              </a:ext>
            </a:extLst>
          </p:cNvPr>
          <p:cNvSpPr/>
          <p:nvPr/>
        </p:nvSpPr>
        <p:spPr>
          <a:xfrm>
            <a:off x="11441858" y="2177743"/>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7" name="椭圆 62">
            <a:extLst>
              <a:ext uri="{FF2B5EF4-FFF2-40B4-BE49-F238E27FC236}">
                <a16:creationId xmlns:a16="http://schemas.microsoft.com/office/drawing/2014/main" id="{D7E90EA9-2B95-8336-430F-57C1C1A1A512}"/>
              </a:ext>
            </a:extLst>
          </p:cNvPr>
          <p:cNvSpPr/>
          <p:nvPr/>
        </p:nvSpPr>
        <p:spPr>
          <a:xfrm>
            <a:off x="9514966" y="2179344"/>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88" name="Freeform: Shape 87">
            <a:extLst>
              <a:ext uri="{FF2B5EF4-FFF2-40B4-BE49-F238E27FC236}">
                <a16:creationId xmlns:a16="http://schemas.microsoft.com/office/drawing/2014/main" id="{DFC61AF0-C100-5E0F-3EFB-10C1AC22E819}"/>
              </a:ext>
            </a:extLst>
          </p:cNvPr>
          <p:cNvSpPr/>
          <p:nvPr/>
        </p:nvSpPr>
        <p:spPr>
          <a:xfrm>
            <a:off x="7777103" y="1743265"/>
            <a:ext cx="3596813" cy="218748"/>
          </a:xfrm>
          <a:custGeom>
            <a:avLst/>
            <a:gdLst>
              <a:gd name="connsiteX0" fmla="*/ 0 w 847023"/>
              <a:gd name="connsiteY0" fmla="*/ 183168 h 183168"/>
              <a:gd name="connsiteX1" fmla="*/ 428325 w 847023"/>
              <a:gd name="connsiteY1" fmla="*/ 288 h 183168"/>
              <a:gd name="connsiteX2" fmla="*/ 847023 w 847023"/>
              <a:gd name="connsiteY2" fmla="*/ 149479 h 183168"/>
            </a:gdLst>
            <a:ahLst/>
            <a:cxnLst>
              <a:cxn ang="0">
                <a:pos x="connsiteX0" y="connsiteY0"/>
              </a:cxn>
              <a:cxn ang="0">
                <a:pos x="connsiteX1" y="connsiteY1"/>
              </a:cxn>
              <a:cxn ang="0">
                <a:pos x="connsiteX2" y="connsiteY2"/>
              </a:cxn>
            </a:cxnLst>
            <a:rect l="l" t="t" r="r" b="b"/>
            <a:pathLst>
              <a:path w="847023" h="183168">
                <a:moveTo>
                  <a:pt x="0" y="183168"/>
                </a:moveTo>
                <a:cubicBezTo>
                  <a:pt x="143577" y="94535"/>
                  <a:pt x="287155" y="5903"/>
                  <a:pt x="428325" y="288"/>
                </a:cubicBezTo>
                <a:cubicBezTo>
                  <a:pt x="569495" y="-5327"/>
                  <a:pt x="708259" y="72076"/>
                  <a:pt x="847023" y="149479"/>
                </a:cubicBezTo>
              </a:path>
            </a:pathLst>
          </a:custGeom>
          <a:noFill/>
          <a:ln w="317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2" name="Straight Arrow Connector 91">
            <a:extLst>
              <a:ext uri="{FF2B5EF4-FFF2-40B4-BE49-F238E27FC236}">
                <a16:creationId xmlns:a16="http://schemas.microsoft.com/office/drawing/2014/main" id="{2D08BC5A-DC27-41C8-04CE-00AC82EA7956}"/>
              </a:ext>
            </a:extLst>
          </p:cNvPr>
          <p:cNvCxnSpPr>
            <a:cxnSpLocks/>
          </p:cNvCxnSpPr>
          <p:nvPr/>
        </p:nvCxnSpPr>
        <p:spPr>
          <a:xfrm>
            <a:off x="10188791" y="1767844"/>
            <a:ext cx="4014" cy="887316"/>
          </a:xfrm>
          <a:prstGeom prst="straightConnector1">
            <a:avLst/>
          </a:prstGeom>
          <a:ln w="3175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3" name="椭圆 62">
            <a:extLst>
              <a:ext uri="{FF2B5EF4-FFF2-40B4-BE49-F238E27FC236}">
                <a16:creationId xmlns:a16="http://schemas.microsoft.com/office/drawing/2014/main" id="{7F22ED83-6550-CB85-9568-760708CA47DC}"/>
              </a:ext>
            </a:extLst>
          </p:cNvPr>
          <p:cNvSpPr/>
          <p:nvPr/>
        </p:nvSpPr>
        <p:spPr>
          <a:xfrm>
            <a:off x="7528501" y="2176367"/>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p:sp>
        <p:nvSpPr>
          <p:cNvPr id="94" name="椭圆 62">
            <a:extLst>
              <a:ext uri="{FF2B5EF4-FFF2-40B4-BE49-F238E27FC236}">
                <a16:creationId xmlns:a16="http://schemas.microsoft.com/office/drawing/2014/main" id="{D7E881D4-9D04-FB8E-3968-0194A5F2902A}"/>
              </a:ext>
            </a:extLst>
          </p:cNvPr>
          <p:cNvSpPr/>
          <p:nvPr/>
        </p:nvSpPr>
        <p:spPr>
          <a:xfrm>
            <a:off x="7371325" y="1950436"/>
            <a:ext cx="147471" cy="147571"/>
          </a:xfrm>
          <a:prstGeom prst="ellipse">
            <a:avLst/>
          </a:prstGeom>
          <a:solidFill>
            <a:schemeClr val="bg1"/>
          </a:solidFill>
          <a:ln w="25400" cap="flat" cmpd="sng" algn="ctr">
            <a:noFill/>
            <a:prstDash val="solid"/>
          </a:ln>
          <a:effectLst/>
        </p:spPr>
        <p:txBody>
          <a:bodyPr rtlCol="0" anchor="ctr"/>
          <a:lstStyle/>
          <a:p>
            <a:pPr marL="0" marR="0" lvl="0" indent="0" algn="ctr" defTabSz="4298410" eaLnBrk="1" fontAlgn="auto" latinLnBrk="0" hangingPunct="1">
              <a:lnSpc>
                <a:spcPct val="100000"/>
              </a:lnSpc>
              <a:spcBef>
                <a:spcPts val="0"/>
              </a:spcBef>
              <a:spcAft>
                <a:spcPts val="0"/>
              </a:spcAft>
              <a:buClrTx/>
              <a:buSzTx/>
              <a:buFontTx/>
              <a:buNone/>
              <a:tabLst/>
              <a:defRPr/>
            </a:pPr>
            <a:endParaRPr kumimoji="0" lang="zh-CN" altLang="en-US" sz="3000" b="0" i="0" u="none" strike="noStrike" kern="0" cap="none" spc="0" normalizeH="0" baseline="0" noProof="0">
              <a:ln>
                <a:noFill/>
              </a:ln>
              <a:solidFill>
                <a:prstClr val="white"/>
              </a:solidFill>
              <a:effectLst/>
              <a:uLnTx/>
              <a:uFillTx/>
              <a:latin typeface="Calibri"/>
              <a:ea typeface="宋体" panose="0201060003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AAD0D014-D980-0AA8-C566-5389C93987E9}"/>
                  </a:ext>
                </a:extLst>
              </p:cNvPr>
              <p:cNvSpPr txBox="1"/>
              <p:nvPr/>
            </p:nvSpPr>
            <p:spPr>
              <a:xfrm>
                <a:off x="1834420" y="2720358"/>
                <a:ext cx="1257454" cy="513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sz="2800" i="1" dirty="0">
                          <a:solidFill>
                            <a:srgbClr val="FF0000"/>
                          </a:solidFill>
                          <a:latin typeface="Cambria Math" panose="02040503050406030204" pitchFamily="18" charset="0"/>
                        </a:rPr>
                        <m:t>𝜋</m:t>
                      </m:r>
                      <m:r>
                        <m:rPr>
                          <m:nor/>
                        </m:rPr>
                        <a:rPr lang="en-GB" sz="2800" i="1" baseline="-25000" dirty="0">
                          <a:solidFill>
                            <a:srgbClr val="FF0000"/>
                          </a:solidFill>
                        </a:rPr>
                        <m:t>1</m:t>
                      </m:r>
                    </m:oMath>
                  </m:oMathPara>
                </a14:m>
                <a:endParaRPr lang="en-GB" sz="2800" i="1" baseline="-25000" dirty="0">
                  <a:solidFill>
                    <a:srgbClr val="FF0000"/>
                  </a:solidFill>
                </a:endParaRPr>
              </a:p>
            </p:txBody>
          </p:sp>
        </mc:Choice>
        <mc:Fallback xmlns="">
          <p:sp>
            <p:nvSpPr>
              <p:cNvPr id="96" name="TextBox 95">
                <a:extLst>
                  <a:ext uri="{FF2B5EF4-FFF2-40B4-BE49-F238E27FC236}">
                    <a16:creationId xmlns:a16="http://schemas.microsoft.com/office/drawing/2014/main" id="{AAD0D014-D980-0AA8-C566-5389C93987E9}"/>
                  </a:ext>
                </a:extLst>
              </p:cNvPr>
              <p:cNvSpPr txBox="1">
                <a:spLocks noRot="1" noChangeAspect="1" noMove="1" noResize="1" noEditPoints="1" noAdjustHandles="1" noChangeArrowheads="1" noChangeShapeType="1" noTextEdit="1"/>
              </p:cNvSpPr>
              <p:nvPr/>
            </p:nvSpPr>
            <p:spPr>
              <a:xfrm>
                <a:off x="1834420" y="2720358"/>
                <a:ext cx="1257454" cy="51328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DD4A7A7-B864-2597-CD9C-A637F4ED624E}"/>
                  </a:ext>
                </a:extLst>
              </p:cNvPr>
              <p:cNvSpPr txBox="1"/>
              <p:nvPr/>
            </p:nvSpPr>
            <p:spPr>
              <a:xfrm>
                <a:off x="4201490" y="2720358"/>
                <a:ext cx="613802" cy="513282"/>
              </a:xfrm>
              <a:prstGeom prst="rect">
                <a:avLst/>
              </a:prstGeom>
              <a:noFill/>
            </p:spPr>
            <p:txBody>
              <a:bodyPr wrap="square">
                <a:spAutoFit/>
              </a:bodyPr>
              <a:lstStyle/>
              <a:p>
                <a14:m>
                  <m:oMath xmlns:m="http://schemas.openxmlformats.org/officeDocument/2006/math">
                    <m:r>
                      <a:rPr lang="el-GR" sz="2800" i="1" dirty="0">
                        <a:solidFill>
                          <a:srgbClr val="FF0000"/>
                        </a:solidFill>
                        <a:latin typeface="Cambria Math" panose="02040503050406030204" pitchFamily="18" charset="0"/>
                      </a:rPr>
                      <m:t>𝜋</m:t>
                    </m:r>
                  </m:oMath>
                </a14:m>
                <a:r>
                  <a:rPr lang="en-GB" sz="2800" i="1" baseline="-25000" dirty="0">
                    <a:solidFill>
                      <a:srgbClr val="FF0000"/>
                    </a:solidFill>
                  </a:rPr>
                  <a:t>2</a:t>
                </a:r>
              </a:p>
            </p:txBody>
          </p:sp>
        </mc:Choice>
        <mc:Fallback xmlns="">
          <p:sp>
            <p:nvSpPr>
              <p:cNvPr id="97" name="TextBox 96">
                <a:extLst>
                  <a:ext uri="{FF2B5EF4-FFF2-40B4-BE49-F238E27FC236}">
                    <a16:creationId xmlns:a16="http://schemas.microsoft.com/office/drawing/2014/main" id="{7DD4A7A7-B864-2597-CD9C-A637F4ED624E}"/>
                  </a:ext>
                </a:extLst>
              </p:cNvPr>
              <p:cNvSpPr txBox="1">
                <a:spLocks noRot="1" noChangeAspect="1" noMove="1" noResize="1" noEditPoints="1" noAdjustHandles="1" noChangeArrowheads="1" noChangeShapeType="1" noTextEdit="1"/>
              </p:cNvSpPr>
              <p:nvPr/>
            </p:nvSpPr>
            <p:spPr>
              <a:xfrm>
                <a:off x="4201490" y="2720358"/>
                <a:ext cx="613802" cy="513282"/>
              </a:xfrm>
              <a:prstGeom prst="rect">
                <a:avLst/>
              </a:prstGeom>
              <a:blipFill>
                <a:blip r:embed="rId5"/>
                <a:stretch>
                  <a:fillRect b="-321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56B24BA-21F0-426F-D8F7-55424865D52F}"/>
                  </a:ext>
                </a:extLst>
              </p:cNvPr>
              <p:cNvSpPr txBox="1"/>
              <p:nvPr/>
            </p:nvSpPr>
            <p:spPr>
              <a:xfrm>
                <a:off x="9633776" y="2600322"/>
                <a:ext cx="1341980" cy="513282"/>
              </a:xfrm>
              <a:prstGeom prst="rect">
                <a:avLst/>
              </a:prstGeom>
              <a:noFill/>
            </p:spPr>
            <p:txBody>
              <a:bodyPr wrap="square">
                <a:spAutoFit/>
              </a:bodyPr>
              <a:lstStyle/>
              <a:p>
                <a14:m>
                  <m:oMath xmlns:m="http://schemas.openxmlformats.org/officeDocument/2006/math">
                    <m:r>
                      <a:rPr lang="el-GR" sz="2800" i="1" dirty="0" smtClean="0">
                        <a:solidFill>
                          <a:srgbClr val="FF0000"/>
                        </a:solidFill>
                        <a:latin typeface="Cambria Math" panose="02040503050406030204" pitchFamily="18" charset="0"/>
                      </a:rPr>
                      <m:t>𝜋</m:t>
                    </m:r>
                  </m:oMath>
                </a14:m>
                <a:r>
                  <a:rPr lang="en-GB" sz="2800" i="1" baseline="-25000" dirty="0">
                    <a:solidFill>
                      <a:srgbClr val="FF0000"/>
                    </a:solidFill>
                  </a:rPr>
                  <a:t>1 </a:t>
                </a:r>
                <a14:m>
                  <m:oMath xmlns:m="http://schemas.openxmlformats.org/officeDocument/2006/math">
                    <m:r>
                      <a:rPr lang="en-GB" sz="2800" b="0" i="1" dirty="0" smtClean="0">
                        <a:solidFill>
                          <a:srgbClr val="FF0000"/>
                        </a:solidFill>
                        <a:latin typeface="Cambria Math" panose="02040503050406030204" pitchFamily="18" charset="0"/>
                      </a:rPr>
                      <m:t>+ </m:t>
                    </m:r>
                    <m:r>
                      <a:rPr lang="el-GR" sz="2800" i="1" dirty="0">
                        <a:solidFill>
                          <a:srgbClr val="FF0000"/>
                        </a:solidFill>
                        <a:latin typeface="Cambria Math" panose="02040503050406030204" pitchFamily="18" charset="0"/>
                      </a:rPr>
                      <m:t>𝜋</m:t>
                    </m:r>
                  </m:oMath>
                </a14:m>
                <a:r>
                  <a:rPr lang="en-GB" sz="2800" i="1" baseline="-25000" dirty="0">
                    <a:solidFill>
                      <a:srgbClr val="FF0000"/>
                    </a:solidFill>
                  </a:rPr>
                  <a:t>2</a:t>
                </a:r>
              </a:p>
            </p:txBody>
          </p:sp>
        </mc:Choice>
        <mc:Fallback xmlns="">
          <p:sp>
            <p:nvSpPr>
              <p:cNvPr id="98" name="TextBox 97">
                <a:extLst>
                  <a:ext uri="{FF2B5EF4-FFF2-40B4-BE49-F238E27FC236}">
                    <a16:creationId xmlns:a16="http://schemas.microsoft.com/office/drawing/2014/main" id="{756B24BA-21F0-426F-D8F7-55424865D52F}"/>
                  </a:ext>
                </a:extLst>
              </p:cNvPr>
              <p:cNvSpPr txBox="1">
                <a:spLocks noRot="1" noChangeAspect="1" noMove="1" noResize="1" noEditPoints="1" noAdjustHandles="1" noChangeArrowheads="1" noChangeShapeType="1" noTextEdit="1"/>
              </p:cNvSpPr>
              <p:nvPr/>
            </p:nvSpPr>
            <p:spPr>
              <a:xfrm>
                <a:off x="9633776" y="2600322"/>
                <a:ext cx="1341980" cy="513282"/>
              </a:xfrm>
              <a:prstGeom prst="rect">
                <a:avLst/>
              </a:prstGeom>
              <a:blipFill>
                <a:blip r:embed="rId6"/>
                <a:stretch>
                  <a:fillRect b="-30952"/>
                </a:stretch>
              </a:blipFill>
            </p:spPr>
            <p:txBody>
              <a:bodyPr/>
              <a:lstStyle/>
              <a:p>
                <a:r>
                  <a:rPr lang="en-GB">
                    <a:noFill/>
                  </a:rPr>
                  <a:t> </a:t>
                </a:r>
              </a:p>
            </p:txBody>
          </p:sp>
        </mc:Fallback>
      </mc:AlternateContent>
      <p:sp>
        <p:nvSpPr>
          <p:cNvPr id="99" name="Arrow: Right 98">
            <a:extLst>
              <a:ext uri="{FF2B5EF4-FFF2-40B4-BE49-F238E27FC236}">
                <a16:creationId xmlns:a16="http://schemas.microsoft.com/office/drawing/2014/main" id="{A7C1A33B-DA63-F295-9A31-A341AE41BDCD}"/>
              </a:ext>
            </a:extLst>
          </p:cNvPr>
          <p:cNvSpPr/>
          <p:nvPr/>
        </p:nvSpPr>
        <p:spPr>
          <a:xfrm>
            <a:off x="5879888" y="193177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018CF11-776B-3BF0-FA58-37EADB5349CD}"/>
                  </a:ext>
                </a:extLst>
              </p:cNvPr>
              <p:cNvSpPr txBox="1">
                <a:spLocks/>
              </p:cNvSpPr>
              <p:nvPr/>
            </p:nvSpPr>
            <p:spPr>
              <a:xfrm>
                <a:off x="802787" y="3842000"/>
                <a:ext cx="11271449" cy="19548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Assume that </a:t>
                </a:r>
                <a:r>
                  <a:rPr lang="en-GB" dirty="0"/>
                  <a:t>entangled state is modelled as Werner states</a:t>
                </a:r>
              </a:p>
              <a:p>
                <a:r>
                  <a:rPr lang="en-GB" dirty="0"/>
                  <a:t> </a:t>
                </a:r>
                <a14:m>
                  <m:oMath xmlns:m="http://schemas.openxmlformats.org/officeDocument/2006/math">
                    <m:r>
                      <m:rPr>
                        <m:nor/>
                      </m:rPr>
                      <a:rPr lang="el-GR" sz="2000"/>
                      <m:t>π</m:t>
                    </m:r>
                    <m:r>
                      <a:rPr lang="en-GB" sz="2000" b="0" i="1" smtClean="0">
                        <a:latin typeface="Cambria Math" panose="02040503050406030204" pitchFamily="18" charset="0"/>
                      </a:rPr>
                      <m:t>=</m:t>
                    </m:r>
                    <m:r>
                      <m:rPr>
                        <m:sty m:val="p"/>
                      </m:rPr>
                      <a:rPr lang="en-GB" sz="2000" b="0" i="0" smtClean="0">
                        <a:latin typeface="Cambria Math" panose="02040503050406030204" pitchFamily="18" charset="0"/>
                      </a:rPr>
                      <m:t>log</m:t>
                    </m:r>
                    <m:r>
                      <a:rPr lang="en-GB" sz="2000" b="0" i="1" smtClean="0">
                        <a:latin typeface="Cambria Math" panose="02040503050406030204" pitchFamily="18" charset="0"/>
                      </a:rPr>
                      <m:t>⁡</m:t>
                    </m:r>
                    <m:d>
                      <m:dPr>
                        <m:ctrlPr>
                          <a:rPr lang="en-US" sz="2000" b="0" i="1" smtClean="0">
                            <a:latin typeface="Cambria Math" panose="02040503050406030204" pitchFamily="18" charset="0"/>
                          </a:rPr>
                        </m:ctrlPr>
                      </m:dPr>
                      <m:e>
                        <m:f>
                          <m:fPr>
                            <m:ctrlPr>
                              <a:rPr lang="en-GB" sz="2000" i="1" dirty="0">
                                <a:latin typeface="Cambria Math" panose="02040503050406030204" pitchFamily="18" charset="0"/>
                              </a:rPr>
                            </m:ctrlPr>
                          </m:fPr>
                          <m:num>
                            <m:r>
                              <a:rPr lang="en-GB" sz="2000" dirty="0">
                                <a:latin typeface="Cambria Math" panose="02040503050406030204" pitchFamily="18" charset="0"/>
                              </a:rPr>
                              <m:t>4</m:t>
                            </m:r>
                            <m:r>
                              <m:rPr>
                                <m:sty m:val="p"/>
                              </m:rPr>
                              <a:rPr lang="en-GB" sz="2000" dirty="0">
                                <a:latin typeface="Cambria Math" panose="02040503050406030204" pitchFamily="18" charset="0"/>
                              </a:rPr>
                              <m:t>F</m:t>
                            </m:r>
                            <m:r>
                              <a:rPr lang="en-GB" sz="2000" dirty="0">
                                <a:latin typeface="Cambria Math" panose="02040503050406030204" pitchFamily="18" charset="0"/>
                              </a:rPr>
                              <m:t>−1</m:t>
                            </m:r>
                          </m:num>
                          <m:den>
                            <m:r>
                              <a:rPr lang="en-GB" sz="2000" i="1" dirty="0">
                                <a:latin typeface="Cambria Math" panose="02040503050406030204" pitchFamily="18" charset="0"/>
                              </a:rPr>
                              <m:t>3</m:t>
                            </m:r>
                          </m:den>
                        </m:f>
                      </m:e>
                    </m:d>
                  </m:oMath>
                </a14:m>
                <a:r>
                  <a:rPr lang="en-GB" dirty="0"/>
                  <a:t>, where F is the fidelity</a:t>
                </a:r>
              </a:p>
              <a:p>
                <a:r>
                  <a:rPr lang="en-GB" dirty="0"/>
                  <a:t>To guarantee that end-to-end fidelity is larger than requested fidelity </a:t>
                </a:r>
                <a:r>
                  <a:rPr lang="en-US" dirty="0"/>
                  <a:t>[1]:</a:t>
                </a:r>
                <a:endParaRPr lang="en-GB" dirty="0"/>
              </a:p>
              <a:p>
                <a:pPr lvl="1"/>
                <a:endParaRPr lang="en-GB" sz="2400" kern="0" dirty="0">
                  <a:solidFill>
                    <a:srgbClr val="FF0000"/>
                  </a:solidFill>
                </a:endParaRPr>
              </a:p>
            </p:txBody>
          </p:sp>
        </mc:Choice>
        <mc:Fallback xmlns="">
          <p:sp>
            <p:nvSpPr>
              <p:cNvPr id="10" name="Content Placeholder 2">
                <a:extLst>
                  <a:ext uri="{FF2B5EF4-FFF2-40B4-BE49-F238E27FC236}">
                    <a16:creationId xmlns:a16="http://schemas.microsoft.com/office/drawing/2014/main" id="{3018CF11-776B-3BF0-FA58-37EADB5349CD}"/>
                  </a:ext>
                </a:extLst>
              </p:cNvPr>
              <p:cNvSpPr txBox="1">
                <a:spLocks noRot="1" noChangeAspect="1" noMove="1" noResize="1" noEditPoints="1" noAdjustHandles="1" noChangeArrowheads="1" noChangeShapeType="1" noTextEdit="1"/>
              </p:cNvSpPr>
              <p:nvPr/>
            </p:nvSpPr>
            <p:spPr>
              <a:xfrm>
                <a:off x="802787" y="3842000"/>
                <a:ext cx="11271449" cy="1954837"/>
              </a:xfrm>
              <a:prstGeom prst="rect">
                <a:avLst/>
              </a:prstGeom>
              <a:blipFill>
                <a:blip r:embed="rId7"/>
                <a:stretch>
                  <a:fillRect l="-757" t="-4361"/>
                </a:stretch>
              </a:blipFill>
            </p:spPr>
            <p:txBody>
              <a:bodyPr/>
              <a:lstStyle/>
              <a:p>
                <a:r>
                  <a:rPr lang="en-GB">
                    <a:noFill/>
                  </a:rPr>
                  <a:t> </a:t>
                </a:r>
              </a:p>
            </p:txBody>
          </p:sp>
        </mc:Fallback>
      </mc:AlternateContent>
      <p:sp>
        <p:nvSpPr>
          <p:cNvPr id="9" name="文本框 9">
            <a:extLst>
              <a:ext uri="{FF2B5EF4-FFF2-40B4-BE49-F238E27FC236}">
                <a16:creationId xmlns:a16="http://schemas.microsoft.com/office/drawing/2014/main" id="{BD300A72-C61E-4EE4-9FC2-F7C215DFBA43}"/>
              </a:ext>
            </a:extLst>
          </p:cNvPr>
          <p:cNvSpPr txBox="1"/>
          <p:nvPr/>
        </p:nvSpPr>
        <p:spPr>
          <a:xfrm>
            <a:off x="521860" y="6113077"/>
            <a:ext cx="11358512" cy="276999"/>
          </a:xfrm>
          <a:prstGeom prst="rect">
            <a:avLst/>
          </a:prstGeom>
          <a:noFill/>
        </p:spPr>
        <p:txBody>
          <a:bodyPr wrap="square">
            <a:spAutoFit/>
          </a:bodyPr>
          <a:lstStyle/>
          <a:p>
            <a:pPr>
              <a:defRPr/>
            </a:pPr>
            <a:r>
              <a:rPr lang="en-GB" sz="1200" i="1" dirty="0">
                <a:solidFill>
                  <a:srgbClr val="000000"/>
                </a:solidFill>
                <a:latin typeface="Helvetica" pitchFamily="2" charset="0"/>
              </a:rPr>
              <a:t>[1]. Á. G. </a:t>
            </a:r>
            <a:r>
              <a:rPr lang="en-GB" sz="1200" i="1" dirty="0" err="1">
                <a:solidFill>
                  <a:srgbClr val="000000"/>
                </a:solidFill>
                <a:latin typeface="Helvetica" pitchFamily="2" charset="0"/>
              </a:rPr>
              <a:t>Iñesta</a:t>
            </a:r>
            <a:r>
              <a:rPr lang="en-GB" sz="1200" i="1" dirty="0">
                <a:solidFill>
                  <a:srgbClr val="000000"/>
                </a:solidFill>
                <a:latin typeface="Helvetica" pitchFamily="2" charset="0"/>
              </a:rPr>
              <a:t>, etc, “Optimal entanglement distribution policies in homogeneous repeater chains with cutoffs,” </a:t>
            </a:r>
            <a:r>
              <a:rPr lang="en-GB" sz="1200" i="1" dirty="0" err="1">
                <a:solidFill>
                  <a:srgbClr val="000000"/>
                </a:solidFill>
                <a:latin typeface="Helvetica" pitchFamily="2" charset="0"/>
              </a:rPr>
              <a:t>npj</a:t>
            </a:r>
            <a:r>
              <a:rPr lang="en-GB" sz="1200" i="1" dirty="0">
                <a:solidFill>
                  <a:srgbClr val="000000"/>
                </a:solidFill>
                <a:latin typeface="Helvetica" pitchFamily="2" charset="0"/>
              </a:rPr>
              <a:t> Quantum Information, 2023.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93302-7DAA-F016-5B65-001E694ADE74}"/>
                  </a:ext>
                </a:extLst>
              </p:cNvPr>
              <p:cNvSpPr txBox="1"/>
              <p:nvPr/>
            </p:nvSpPr>
            <p:spPr>
              <a:xfrm>
                <a:off x="3793968" y="5122810"/>
                <a:ext cx="4370273" cy="9885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undOvr"/>
                          <m:grow m:val="on"/>
                          <m:supHide m:val="on"/>
                          <m:ctrlPr>
                            <a:rPr lang="en-US" sz="2400" i="1" dirty="0" smtClean="0">
                              <a:solidFill>
                                <a:srgbClr val="FF0000"/>
                              </a:solidFill>
                              <a:latin typeface="Cambria Math" panose="02040503050406030204" pitchFamily="18" charset="0"/>
                            </a:rPr>
                          </m:ctrlPr>
                        </m:naryPr>
                        <m:sub>
                          <m:r>
                            <m:rPr>
                              <m:brk/>
                              <m:aln/>
                            </m:rPr>
                            <a:rPr lang="en-GB" sz="2400" b="0" i="1" dirty="0" smtClean="0">
                              <a:solidFill>
                                <a:srgbClr val="FF0000"/>
                              </a:solidFill>
                              <a:latin typeface="Cambria Math" panose="02040503050406030204" pitchFamily="18" charset="0"/>
                            </a:rPr>
                            <m:t>𝑙</m:t>
                          </m:r>
                          <m:r>
                            <a:rPr lang="en-US" sz="2400" i="1" dirty="0">
                              <a:solidFill>
                                <a:srgbClr val="FF0000"/>
                              </a:solidFill>
                              <a:latin typeface="Cambria Math" panose="02040503050406030204" pitchFamily="18" charset="0"/>
                            </a:rPr>
                            <m:t>𝜖</m:t>
                          </m:r>
                          <m:r>
                            <a:rPr lang="en-GB" sz="2400" b="0" i="1" dirty="0" smtClean="0">
                              <a:solidFill>
                                <a:srgbClr val="FF0000"/>
                              </a:solidFill>
                              <a:latin typeface="Cambria Math" panose="02040503050406030204" pitchFamily="18" charset="0"/>
                            </a:rPr>
                            <m:t>𝑟</m:t>
                          </m:r>
                        </m:sub>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𝜋</m:t>
                              </m:r>
                            </m:e>
                            <m:sub>
                              <m:r>
                                <a:rPr lang="en-US" sz="2400" i="1">
                                  <a:solidFill>
                                    <a:srgbClr val="FF0000"/>
                                  </a:solidFill>
                                  <a:latin typeface="Cambria Math" panose="02040503050406030204" pitchFamily="18" charset="0"/>
                                </a:rPr>
                                <m:t>𝑙</m:t>
                              </m:r>
                            </m:sub>
                          </m:sSub>
                          <m:r>
                            <a:rPr lang="en-US" sz="2400" i="1">
                              <a:solidFill>
                                <a:srgbClr val="FF0000"/>
                              </a:solidFill>
                              <a:latin typeface="Cambria Math" panose="02040503050406030204" pitchFamily="18" charset="0"/>
                            </a:rPr>
                            <m:t>≥</m:t>
                          </m:r>
                          <m:r>
                            <a:rPr lang="en-GB" sz="2400" b="0" i="1" smtClean="0">
                              <a:solidFill>
                                <a:srgbClr val="FF0000"/>
                              </a:solidFill>
                              <a:latin typeface="Cambria Math" panose="02040503050406030204" pitchFamily="18" charset="0"/>
                            </a:rPr>
                            <m:t> </m:t>
                          </m:r>
                        </m:e>
                      </m:nary>
                      <m:sSup>
                        <m:sSupPr>
                          <m:ctrlPr>
                            <a:rPr lang="en-GB" sz="2400" i="1" dirty="0">
                              <a:solidFill>
                                <a:srgbClr val="FF0000"/>
                              </a:solidFill>
                              <a:latin typeface="Cambria Math" panose="02040503050406030204" pitchFamily="18" charset="0"/>
                            </a:rPr>
                          </m:ctrlPr>
                        </m:sSupPr>
                        <m:e>
                          <m:r>
                            <a:rPr lang="el-GR" sz="2400" i="1" dirty="0">
                              <a:solidFill>
                                <a:srgbClr val="FF0000"/>
                              </a:solidFill>
                              <a:latin typeface="Cambria Math" panose="02040503050406030204" pitchFamily="18" charset="0"/>
                            </a:rPr>
                            <m:t>𝜋</m:t>
                          </m:r>
                        </m:e>
                        <m:sup>
                          <m:r>
                            <a:rPr lang="en-GB" sz="2400" i="1" dirty="0">
                              <a:solidFill>
                                <a:srgbClr val="FF0000"/>
                              </a:solidFill>
                              <a:latin typeface="Cambria Math" panose="02040503050406030204" pitchFamily="18" charset="0"/>
                            </a:rPr>
                            <m:t>𝑟𝑒𝑞</m:t>
                          </m:r>
                        </m:sup>
                      </m:sSup>
                    </m:oMath>
                  </m:oMathPara>
                </a14:m>
                <a:endParaRPr lang="en-GB" sz="2400" dirty="0">
                  <a:solidFill>
                    <a:srgbClr val="FF0000"/>
                  </a:solidFill>
                </a:endParaRPr>
              </a:p>
            </p:txBody>
          </p:sp>
        </mc:Choice>
        <mc:Fallback xmlns="">
          <p:sp>
            <p:nvSpPr>
              <p:cNvPr id="14" name="TextBox 13">
                <a:extLst>
                  <a:ext uri="{FF2B5EF4-FFF2-40B4-BE49-F238E27FC236}">
                    <a16:creationId xmlns:a16="http://schemas.microsoft.com/office/drawing/2014/main" id="{C7793302-7DAA-F016-5B65-001E694ADE74}"/>
                  </a:ext>
                </a:extLst>
              </p:cNvPr>
              <p:cNvSpPr txBox="1">
                <a:spLocks noRot="1" noChangeAspect="1" noMove="1" noResize="1" noEditPoints="1" noAdjustHandles="1" noChangeArrowheads="1" noChangeShapeType="1" noTextEdit="1"/>
              </p:cNvSpPr>
              <p:nvPr/>
            </p:nvSpPr>
            <p:spPr>
              <a:xfrm>
                <a:off x="3793968" y="5122810"/>
                <a:ext cx="4370273" cy="988540"/>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71846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93" grpId="0" animBg="1"/>
      <p:bldP spid="94" grpId="0" animBg="1"/>
      <p:bldP spid="98" grpId="0"/>
      <p:bldP spid="99" grpId="0" animBg="1"/>
      <p:bldP spid="14" grpId="0"/>
    </p:bldLst>
  </p:timing>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0515600" cy="4711459"/>
          </a:xfrm>
        </p:spPr>
        <p:txBody>
          <a:bodyPr/>
          <a:lstStyle/>
          <a:p>
            <a:pPr>
              <a:buFont typeface="Wingdings" pitchFamily="2" charset="2"/>
              <a:buChar char="§"/>
            </a:pPr>
            <a:r>
              <a:rPr lang="en-US" sz="2800" dirty="0"/>
              <a:t>Introduction and Motivation</a:t>
            </a:r>
          </a:p>
          <a:p>
            <a:pPr lvl="4">
              <a:buFont typeface="Wingdings" pitchFamily="2" charset="2"/>
              <a:buChar char="§"/>
            </a:pPr>
            <a:endParaRPr lang="en-IT" dirty="0"/>
          </a:p>
          <a:p>
            <a:pPr>
              <a:buFont typeface="Wingdings" pitchFamily="2" charset="2"/>
              <a:buChar char="§"/>
            </a:pPr>
            <a:r>
              <a:rPr lang="en-US" altLang="zh-CN" sz="2800" b="1" dirty="0"/>
              <a:t>System Model and Problem Statement</a:t>
            </a:r>
          </a:p>
          <a:p>
            <a:pPr lvl="1">
              <a:buFont typeface="Wingdings" pitchFamily="2" charset="2"/>
              <a:buChar char="§"/>
            </a:pPr>
            <a:r>
              <a:rPr lang="en-GB" sz="2600" dirty="0"/>
              <a:t>Technical Preliminaries on Quantum Networks</a:t>
            </a:r>
          </a:p>
          <a:p>
            <a:pPr lvl="1">
              <a:buFont typeface="Wingdings" pitchFamily="2" charset="2"/>
              <a:buChar char="§"/>
            </a:pPr>
            <a:r>
              <a:rPr lang="en-GB" sz="2600" b="1"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dirty="0"/>
              <a:t>Integer Linear Programming Model and Link Configuration Algorithm</a:t>
            </a:r>
          </a:p>
          <a:p>
            <a:pPr marL="1828800" lvl="4" indent="0">
              <a:buNone/>
            </a:pPr>
            <a:endParaRPr lang="en-IT" sz="1600" dirty="0"/>
          </a:p>
          <a:p>
            <a:pPr>
              <a:buFont typeface="Wingdings" pitchFamily="2" charset="2"/>
              <a:buChar char="§"/>
            </a:pPr>
            <a:r>
              <a:rPr lang="en-GB" sz="2800" dirty="0"/>
              <a:t>Numerical Results</a:t>
            </a:r>
          </a:p>
          <a:p>
            <a:pPr lvl="4">
              <a:buFont typeface="Wingdings" pitchFamily="2" charset="2"/>
              <a:buChar char="§"/>
            </a:pPr>
            <a:endParaRPr lang="en-GB" sz="1600" dirty="0"/>
          </a:p>
          <a:p>
            <a:pPr>
              <a:buFont typeface="Wingdings" pitchFamily="2" charset="2"/>
              <a:buChar char="§"/>
            </a:pPr>
            <a:r>
              <a:rPr lang="en-GB" sz="2800" dirty="0"/>
              <a:t>Conclusion</a:t>
            </a:r>
            <a:endParaRPr lang="en-IT" sz="2800"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5659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42AA-08ED-4F3C-5DBE-9B83D5FD8F0F}"/>
              </a:ext>
            </a:extLst>
          </p:cNvPr>
          <p:cNvSpPr>
            <a:spLocks noGrp="1"/>
          </p:cNvSpPr>
          <p:nvPr>
            <p:ph type="title"/>
          </p:nvPr>
        </p:nvSpPr>
        <p:spPr/>
        <p:txBody>
          <a:bodyPr/>
          <a:lstStyle/>
          <a:p>
            <a:r>
              <a:rPr lang="en-US" dirty="0"/>
              <a:t>Illustrative Example (Fixed Link Configuration)</a:t>
            </a:r>
          </a:p>
        </p:txBody>
      </p:sp>
      <p:sp>
        <p:nvSpPr>
          <p:cNvPr id="7" name="Footer Placeholder 6">
            <a:extLst>
              <a:ext uri="{FF2B5EF4-FFF2-40B4-BE49-F238E27FC236}">
                <a16:creationId xmlns:a16="http://schemas.microsoft.com/office/drawing/2014/main" id="{CBDFB899-75F6-FE89-4691-F078DD627941}"/>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8" name="Slide Number Placeholder 7">
            <a:extLst>
              <a:ext uri="{FF2B5EF4-FFF2-40B4-BE49-F238E27FC236}">
                <a16:creationId xmlns:a16="http://schemas.microsoft.com/office/drawing/2014/main" id="{53F68760-C1AC-05DB-B6AB-D578EF2BB9D4}"/>
              </a:ext>
            </a:extLst>
          </p:cNvPr>
          <p:cNvSpPr>
            <a:spLocks noGrp="1"/>
          </p:cNvSpPr>
          <p:nvPr>
            <p:ph type="sldNum" sz="quarter" idx="12"/>
          </p:nvPr>
        </p:nvSpPr>
        <p:spPr/>
        <p:txBody>
          <a:bodyPr/>
          <a:lstStyle/>
          <a:p>
            <a:fld id="{5AFE0081-1ED4-41E0-88AB-D26DBE160EA6}" type="slidenum">
              <a:rPr lang="en-US" smtClean="0"/>
              <a:t>12</a:t>
            </a:fld>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98E9E4-7759-B9C2-2600-009BC85B701B}"/>
                  </a:ext>
                </a:extLst>
              </p:cNvPr>
              <p:cNvSpPr txBox="1">
                <a:spLocks/>
              </p:cNvSpPr>
              <p:nvPr/>
            </p:nvSpPr>
            <p:spPr>
              <a:xfrm>
                <a:off x="832758" y="1552006"/>
                <a:ext cx="10515600" cy="2124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Requests:</a:t>
                </a:r>
              </a:p>
              <a:p>
                <a:pPr marL="0" indent="0">
                  <a:buNone/>
                </a:pPr>
                <a:endParaRPr lang="en-GB" sz="2800" dirty="0"/>
              </a:p>
              <a:p>
                <a:r>
                  <a:rPr lang="en-GB" sz="2800" dirty="0">
                    <a:solidFill>
                      <a:schemeClr val="tx1"/>
                    </a:solidFill>
                  </a:rPr>
                  <a:t>Fixed </a:t>
                </a:r>
                <a:r>
                  <a:rPr lang="en-GB" sz="2800" dirty="0"/>
                  <a:t>link configuration: </a:t>
                </a:r>
              </a:p>
              <a:p>
                <a:pPr lvl="1"/>
                <a:r>
                  <a:rPr lang="en-GB" sz="2200" dirty="0"/>
                  <a:t>Both link (1,2) and (2,3): </a:t>
                </a:r>
                <a14:m>
                  <m:oMath xmlns:m="http://schemas.openxmlformats.org/officeDocument/2006/math">
                    <m:r>
                      <a:rPr lang="en-GB" sz="2200" i="1" smtClean="0">
                        <a:latin typeface="Cambria Math" panose="02040503050406030204" pitchFamily="18" charset="0"/>
                      </a:rPr>
                      <m:t>𝑟𝑎𝑡𝑒</m:t>
                    </m:r>
                    <m:r>
                      <a:rPr lang="en-GB" sz="2200" i="1" smtClean="0">
                        <a:latin typeface="Cambria Math" panose="02040503050406030204" pitchFamily="18" charset="0"/>
                      </a:rPr>
                      <m:t> =20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0.9, </m:t>
                    </m:r>
                    <m:r>
                      <a:rPr lang="en-GB" sz="2200" i="1" smtClean="0">
                        <a:solidFill>
                          <a:srgbClr val="FF0000"/>
                        </a:solidFill>
                        <a:latin typeface="Cambria Math" panose="02040503050406030204" pitchFamily="18" charset="0"/>
                      </a:rPr>
                      <m:t>𝜋</m:t>
                    </m:r>
                    <m:r>
                      <a:rPr lang="en-GB" sz="2200" i="1" smtClean="0">
                        <a:solidFill>
                          <a:srgbClr val="FF0000"/>
                        </a:solidFill>
                        <a:latin typeface="Cambria Math" panose="02040503050406030204" pitchFamily="18" charset="0"/>
                      </a:rPr>
                      <m:t>=−0.14</m:t>
                    </m:r>
                  </m:oMath>
                </a14:m>
                <a:endParaRPr lang="en-US" sz="2200" i="1" dirty="0">
                  <a:solidFill>
                    <a:srgbClr val="FF0000"/>
                  </a:solidFill>
                </a:endParaRPr>
              </a:p>
              <a:p>
                <a:pPr lvl="1"/>
                <a:endParaRPr lang="en-GB" sz="2400" kern="0" dirty="0">
                  <a:solidFill>
                    <a:srgbClr val="FF0000"/>
                  </a:solidFill>
                </a:endParaRPr>
              </a:p>
            </p:txBody>
          </p:sp>
        </mc:Choice>
        <mc:Fallback xmlns="">
          <p:sp>
            <p:nvSpPr>
              <p:cNvPr id="3" name="Content Placeholder 2">
                <a:extLst>
                  <a:ext uri="{FF2B5EF4-FFF2-40B4-BE49-F238E27FC236}">
                    <a16:creationId xmlns:a16="http://schemas.microsoft.com/office/drawing/2014/main" id="{E498E9E4-7759-B9C2-2600-009BC85B701B}"/>
                  </a:ext>
                </a:extLst>
              </p:cNvPr>
              <p:cNvSpPr txBox="1">
                <a:spLocks noRot="1" noChangeAspect="1" noMove="1" noResize="1" noEditPoints="1" noAdjustHandles="1" noChangeArrowheads="1" noChangeShapeType="1" noTextEdit="1"/>
              </p:cNvSpPr>
              <p:nvPr/>
            </p:nvSpPr>
            <p:spPr>
              <a:xfrm>
                <a:off x="832758" y="1552006"/>
                <a:ext cx="10515600" cy="2124067"/>
              </a:xfrm>
              <a:prstGeom prst="rect">
                <a:avLst/>
              </a:prstGeom>
              <a:blipFill>
                <a:blip r:embed="rId3"/>
                <a:stretch>
                  <a:fillRect l="-1043" t="-4885"/>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F5AF5ACA-A7E6-0C27-5E7D-3C5962AA7B38}"/>
              </a:ext>
            </a:extLst>
          </p:cNvPr>
          <p:cNvPicPr>
            <a:picLocks noChangeAspect="1"/>
          </p:cNvPicPr>
          <p:nvPr/>
        </p:nvPicPr>
        <p:blipFill>
          <a:blip r:embed="rId4"/>
          <a:stretch>
            <a:fillRect/>
          </a:stretch>
        </p:blipFill>
        <p:spPr>
          <a:xfrm>
            <a:off x="1136071" y="3780822"/>
            <a:ext cx="7716117" cy="1181677"/>
          </a:xfrm>
          <a:prstGeom prst="rect">
            <a:avLst/>
          </a:prstGeom>
        </p:spPr>
      </p:pic>
      <p:cxnSp>
        <p:nvCxnSpPr>
          <p:cNvPr id="15" name="Straight Arrow Connector 14">
            <a:extLst>
              <a:ext uri="{FF2B5EF4-FFF2-40B4-BE49-F238E27FC236}">
                <a16:creationId xmlns:a16="http://schemas.microsoft.com/office/drawing/2014/main" id="{5720F58A-22A1-0A52-EDD4-6C1CA9B942D4}"/>
              </a:ext>
            </a:extLst>
          </p:cNvPr>
          <p:cNvCxnSpPr>
            <a:cxnSpLocks/>
          </p:cNvCxnSpPr>
          <p:nvPr/>
        </p:nvCxnSpPr>
        <p:spPr>
          <a:xfrm>
            <a:off x="3500582" y="4793673"/>
            <a:ext cx="0" cy="554182"/>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038D3B9-9953-1976-38C3-AE5264724BD8}"/>
              </a:ext>
            </a:extLst>
          </p:cNvPr>
          <p:cNvSpPr txBox="1"/>
          <p:nvPr/>
        </p:nvSpPr>
        <p:spPr>
          <a:xfrm>
            <a:off x="2144868" y="5401080"/>
            <a:ext cx="2780423" cy="523220"/>
          </a:xfrm>
          <a:prstGeom prst="rect">
            <a:avLst/>
          </a:prstGeom>
          <a:noFill/>
        </p:spPr>
        <p:txBody>
          <a:bodyPr wrap="square">
            <a:spAutoFit/>
          </a:bodyPr>
          <a:lstStyle/>
          <a:p>
            <a:r>
              <a:rPr lang="en-GB" sz="2800" dirty="0">
                <a:solidFill>
                  <a:srgbClr val="FF0000"/>
                </a:solidFill>
              </a:rPr>
              <a:t>Path for request 1</a:t>
            </a:r>
            <a:endParaRPr lang="en-US" sz="2400" dirty="0">
              <a:solidFill>
                <a:srgbClr val="FF0000"/>
              </a:solidFill>
            </a:endParaRPr>
          </a:p>
        </p:txBody>
      </p:sp>
      <p:sp>
        <p:nvSpPr>
          <p:cNvPr id="20" name="TextBox 19">
            <a:extLst>
              <a:ext uri="{FF2B5EF4-FFF2-40B4-BE49-F238E27FC236}">
                <a16:creationId xmlns:a16="http://schemas.microsoft.com/office/drawing/2014/main" id="{B7250257-2CA4-0F8A-BF84-2E059B39F94A}"/>
              </a:ext>
            </a:extLst>
          </p:cNvPr>
          <p:cNvSpPr txBox="1"/>
          <p:nvPr/>
        </p:nvSpPr>
        <p:spPr>
          <a:xfrm>
            <a:off x="4800389" y="5412184"/>
            <a:ext cx="6910165" cy="523220"/>
          </a:xfrm>
          <a:prstGeom prst="rect">
            <a:avLst/>
          </a:prstGeom>
          <a:noFill/>
        </p:spPr>
        <p:txBody>
          <a:bodyPr wrap="square">
            <a:spAutoFit/>
          </a:bodyPr>
          <a:lstStyle/>
          <a:p>
            <a:r>
              <a:rPr lang="en-GB" sz="2800" dirty="0">
                <a:solidFill>
                  <a:srgbClr val="FF0000"/>
                </a:solidFill>
              </a:rPr>
              <a:t>: all entanglements in link (1,2) are exhausted </a:t>
            </a:r>
            <a:endParaRPr lang="en-US" sz="2400" dirty="0">
              <a:solidFill>
                <a:srgbClr val="FF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AF9CAFF-2FFD-10CF-398E-B4B74B38CB42}"/>
                  </a:ext>
                </a:extLst>
              </p:cNvPr>
              <p:cNvSpPr txBox="1"/>
              <p:nvPr/>
            </p:nvSpPr>
            <p:spPr>
              <a:xfrm>
                <a:off x="2680855" y="1585629"/>
                <a:ext cx="6435435"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(1,2)</m:t>
                      </m:r>
                      <m:r>
                        <a:rPr lang="en-GB" sz="2200" i="1" smtClean="0">
                          <a:latin typeface="Cambria Math" panose="02040503050406030204" pitchFamily="18" charset="0"/>
                        </a:rPr>
                        <m:t>=</m:t>
                      </m:r>
                      <m:r>
                        <a:rPr lang="en-GB" sz="2200" b="0" i="1" smtClean="0">
                          <a:latin typeface="Cambria Math" panose="02040503050406030204" pitchFamily="18" charset="0"/>
                        </a:rPr>
                        <m:t>2</m:t>
                      </m:r>
                      <m:r>
                        <a:rPr lang="en-GB" sz="2200" i="1" smtClean="0">
                          <a:latin typeface="Cambria Math" panose="02040503050406030204" pitchFamily="18" charset="0"/>
                        </a:rPr>
                        <m:t>0 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0.6, </m:t>
                      </m:r>
                      <m:r>
                        <a:rPr lang="en-GB" sz="2200" i="1" smtClean="0">
                          <a:latin typeface="Cambria Math" panose="02040503050406030204" pitchFamily="18" charset="0"/>
                        </a:rPr>
                        <m:t>𝜋</m:t>
                      </m:r>
                      <m:r>
                        <a:rPr lang="en-GB" sz="2200" i="1" smtClean="0">
                          <a:latin typeface="Cambria Math" panose="02040503050406030204" pitchFamily="18" charset="0"/>
                        </a:rPr>
                        <m:t>=−0.76</m:t>
                      </m:r>
                    </m:oMath>
                  </m:oMathPara>
                </a14:m>
                <a:endParaRPr lang="en-GB" sz="2200" dirty="0"/>
              </a:p>
            </p:txBody>
          </p:sp>
        </mc:Choice>
        <mc:Fallback xmlns="">
          <p:sp>
            <p:nvSpPr>
              <p:cNvPr id="4" name="TextBox 3">
                <a:extLst>
                  <a:ext uri="{FF2B5EF4-FFF2-40B4-BE49-F238E27FC236}">
                    <a16:creationId xmlns:a16="http://schemas.microsoft.com/office/drawing/2014/main" id="{4AF9CAFF-2FFD-10CF-398E-B4B74B38CB42}"/>
                  </a:ext>
                </a:extLst>
              </p:cNvPr>
              <p:cNvSpPr txBox="1">
                <a:spLocks noRot="1" noChangeAspect="1" noMove="1" noResize="1" noEditPoints="1" noAdjustHandles="1" noChangeArrowheads="1" noChangeShapeType="1" noTextEdit="1"/>
              </p:cNvSpPr>
              <p:nvPr/>
            </p:nvSpPr>
            <p:spPr>
              <a:xfrm>
                <a:off x="2680855" y="1585629"/>
                <a:ext cx="6435435" cy="430887"/>
              </a:xfrm>
              <a:prstGeom prst="rect">
                <a:avLst/>
              </a:prstGeom>
              <a:blipFill>
                <a:blip r:embed="rId5"/>
                <a:stretch>
                  <a:fillRect b="-154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ACE1E8-FB7B-1AB0-638D-60B2D79FB635}"/>
                  </a:ext>
                </a:extLst>
              </p:cNvPr>
              <p:cNvSpPr txBox="1"/>
              <p:nvPr/>
            </p:nvSpPr>
            <p:spPr>
              <a:xfrm>
                <a:off x="2625438" y="2041341"/>
                <a:ext cx="6435435"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(1,3)</m:t>
                      </m:r>
                      <m:r>
                        <a:rPr lang="en-GB" sz="2200" i="1" smtClean="0">
                          <a:latin typeface="Cambria Math" panose="02040503050406030204" pitchFamily="18" charset="0"/>
                        </a:rPr>
                        <m:t>=</m:t>
                      </m:r>
                      <m:r>
                        <a:rPr lang="en-GB" sz="2200" b="0" i="1" smtClean="0">
                          <a:latin typeface="Cambria Math" panose="02040503050406030204" pitchFamily="18" charset="0"/>
                        </a:rPr>
                        <m:t>5</m:t>
                      </m:r>
                      <m:r>
                        <a:rPr lang="en-GB" sz="2200" i="1" smtClean="0">
                          <a:latin typeface="Cambria Math" panose="02040503050406030204" pitchFamily="18" charset="0"/>
                        </a:rPr>
                        <m:t>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0.75, </m:t>
                      </m:r>
                      <m:r>
                        <a:rPr lang="en-GB" sz="2200" i="1" smtClean="0">
                          <a:latin typeface="Cambria Math" panose="02040503050406030204" pitchFamily="18" charset="0"/>
                        </a:rPr>
                        <m:t>𝜋</m:t>
                      </m:r>
                      <m:r>
                        <a:rPr lang="en-GB" sz="2200" i="1" smtClean="0">
                          <a:latin typeface="Cambria Math" panose="02040503050406030204" pitchFamily="18" charset="0"/>
                        </a:rPr>
                        <m:t>=−0.4</m:t>
                      </m:r>
                    </m:oMath>
                  </m:oMathPara>
                </a14:m>
                <a:endParaRPr lang="en-GB" sz="2200" dirty="0"/>
              </a:p>
            </p:txBody>
          </p:sp>
        </mc:Choice>
        <mc:Fallback xmlns="">
          <p:sp>
            <p:nvSpPr>
              <p:cNvPr id="6" name="TextBox 5">
                <a:extLst>
                  <a:ext uri="{FF2B5EF4-FFF2-40B4-BE49-F238E27FC236}">
                    <a16:creationId xmlns:a16="http://schemas.microsoft.com/office/drawing/2014/main" id="{1EACE1E8-FB7B-1AB0-638D-60B2D79FB635}"/>
                  </a:ext>
                </a:extLst>
              </p:cNvPr>
              <p:cNvSpPr txBox="1">
                <a:spLocks noRot="1" noChangeAspect="1" noMove="1" noResize="1" noEditPoints="1" noAdjustHandles="1" noChangeArrowheads="1" noChangeShapeType="1" noTextEdit="1"/>
              </p:cNvSpPr>
              <p:nvPr/>
            </p:nvSpPr>
            <p:spPr>
              <a:xfrm>
                <a:off x="2625438" y="2041341"/>
                <a:ext cx="6435435" cy="430887"/>
              </a:xfrm>
              <a:prstGeom prst="rect">
                <a:avLst/>
              </a:prstGeom>
              <a:blipFill>
                <a:blip r:embed="rId6"/>
                <a:stretch>
                  <a:fillRect b="-15493"/>
                </a:stretch>
              </a:blipFill>
            </p:spPr>
            <p:txBody>
              <a:bodyPr/>
              <a:lstStyle/>
              <a:p>
                <a:r>
                  <a:rPr lang="en-GB">
                    <a:noFill/>
                  </a:rPr>
                  <a:t> </a:t>
                </a:r>
              </a:p>
            </p:txBody>
          </p:sp>
        </mc:Fallback>
      </mc:AlternateContent>
    </p:spTree>
    <p:extLst>
      <p:ext uri="{BB962C8B-B14F-4D97-AF65-F5344CB8AC3E}">
        <p14:creationId xmlns:p14="http://schemas.microsoft.com/office/powerpoint/2010/main" val="71244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42AA-08ED-4F3C-5DBE-9B83D5FD8F0F}"/>
              </a:ext>
            </a:extLst>
          </p:cNvPr>
          <p:cNvSpPr>
            <a:spLocks noGrp="1"/>
          </p:cNvSpPr>
          <p:nvPr>
            <p:ph type="title"/>
          </p:nvPr>
        </p:nvSpPr>
        <p:spPr/>
        <p:txBody>
          <a:bodyPr/>
          <a:lstStyle/>
          <a:p>
            <a:r>
              <a:rPr lang="en-US" dirty="0"/>
              <a:t>Illustrative Example (Fixed Link Configuration)</a:t>
            </a:r>
          </a:p>
        </p:txBody>
      </p:sp>
      <p:sp>
        <p:nvSpPr>
          <p:cNvPr id="7" name="Footer Placeholder 6">
            <a:extLst>
              <a:ext uri="{FF2B5EF4-FFF2-40B4-BE49-F238E27FC236}">
                <a16:creationId xmlns:a16="http://schemas.microsoft.com/office/drawing/2014/main" id="{CBDFB899-75F6-FE89-4691-F078DD627941}"/>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8" name="Slide Number Placeholder 7">
            <a:extLst>
              <a:ext uri="{FF2B5EF4-FFF2-40B4-BE49-F238E27FC236}">
                <a16:creationId xmlns:a16="http://schemas.microsoft.com/office/drawing/2014/main" id="{53F68760-C1AC-05DB-B6AB-D578EF2BB9D4}"/>
              </a:ext>
            </a:extLst>
          </p:cNvPr>
          <p:cNvSpPr>
            <a:spLocks noGrp="1"/>
          </p:cNvSpPr>
          <p:nvPr>
            <p:ph type="sldNum" sz="quarter" idx="12"/>
          </p:nvPr>
        </p:nvSpPr>
        <p:spPr/>
        <p:txBody>
          <a:bodyPr/>
          <a:lstStyle/>
          <a:p>
            <a:fld id="{5AFE0081-1ED4-41E0-88AB-D26DBE160EA6}" type="slidenum">
              <a:rPr lang="en-US" smtClean="0"/>
              <a:t>13</a:t>
            </a:fld>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98E9E4-7759-B9C2-2600-009BC85B701B}"/>
                  </a:ext>
                </a:extLst>
              </p:cNvPr>
              <p:cNvSpPr txBox="1">
                <a:spLocks/>
              </p:cNvSpPr>
              <p:nvPr/>
            </p:nvSpPr>
            <p:spPr>
              <a:xfrm>
                <a:off x="832758" y="1552006"/>
                <a:ext cx="11165278" cy="2124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Requests:</a:t>
                </a:r>
              </a:p>
              <a:p>
                <a:pPr marL="0" indent="0">
                  <a:buNone/>
                </a:pPr>
                <a:endParaRPr lang="en-GB" sz="2800" dirty="0"/>
              </a:p>
              <a:p>
                <a:r>
                  <a:rPr lang="en-GB" sz="2800" dirty="0">
                    <a:solidFill>
                      <a:schemeClr val="tx1"/>
                    </a:solidFill>
                  </a:rPr>
                  <a:t>Fixed </a:t>
                </a:r>
                <a:r>
                  <a:rPr lang="en-GB" sz="2800" dirty="0"/>
                  <a:t>link configuration: </a:t>
                </a:r>
              </a:p>
              <a:p>
                <a:pPr lvl="1"/>
                <a:r>
                  <a:rPr lang="en-GB" sz="2200" dirty="0"/>
                  <a:t>Both link (1,2) and (2,3):</a:t>
                </a:r>
                <a14:m>
                  <m:oMath xmlns:m="http://schemas.openxmlformats.org/officeDocument/2006/math">
                    <m:r>
                      <a:rPr lang="en-GB" sz="2200" b="0" i="0" smtClean="0">
                        <a:latin typeface="Cambria Math" panose="02040503050406030204" pitchFamily="18" charset="0"/>
                      </a:rPr>
                      <m:t> </m:t>
                    </m:r>
                    <m:r>
                      <a:rPr lang="en-GB" sz="2200" i="1">
                        <a:latin typeface="Cambria Math" panose="02040503050406030204" pitchFamily="18" charset="0"/>
                      </a:rPr>
                      <m:t>𝑟𝑎𝑡𝑒</m:t>
                    </m:r>
                    <m:r>
                      <a:rPr lang="en-GB" sz="2200" i="1">
                        <a:latin typeface="Cambria Math" panose="02040503050406030204" pitchFamily="18" charset="0"/>
                      </a:rPr>
                      <m:t> =40 </m:t>
                    </m:r>
                    <m:r>
                      <a:rPr lang="en-GB" sz="2200" i="1">
                        <a:latin typeface="Cambria Math" panose="02040503050406030204" pitchFamily="18" charset="0"/>
                      </a:rPr>
                      <m:t>𝐸𝑃𝑅</m:t>
                    </m:r>
                    <m:r>
                      <a:rPr lang="en-GB" sz="2200" i="1">
                        <a:latin typeface="Cambria Math" panose="02040503050406030204" pitchFamily="18" charset="0"/>
                      </a:rPr>
                      <m:t> </m:t>
                    </m:r>
                    <m:r>
                      <a:rPr lang="en-GB" sz="2200" i="1">
                        <a:latin typeface="Cambria Math" panose="02040503050406030204" pitchFamily="18" charset="0"/>
                      </a:rPr>
                      <m:t>𝑝𝑎𝑖𝑟</m:t>
                    </m:r>
                    <m:r>
                      <a:rPr lang="en-GB" sz="2200" i="1">
                        <a:latin typeface="Cambria Math" panose="02040503050406030204" pitchFamily="18" charset="0"/>
                      </a:rPr>
                      <m:t>/</m:t>
                    </m:r>
                    <m:r>
                      <a:rPr lang="en-GB" sz="2200" i="1">
                        <a:latin typeface="Cambria Math" panose="02040503050406030204" pitchFamily="18" charset="0"/>
                      </a:rPr>
                      <m:t>𝑠</m:t>
                    </m:r>
                    <m:r>
                      <a:rPr lang="en-GB" sz="2200" i="1">
                        <a:latin typeface="Cambria Math" panose="02040503050406030204" pitchFamily="18" charset="0"/>
                      </a:rPr>
                      <m:t>,</m:t>
                    </m:r>
                    <m:r>
                      <a:rPr lang="en-GB" sz="2200" i="1">
                        <a:latin typeface="Cambria Math" panose="02040503050406030204" pitchFamily="18" charset="0"/>
                      </a:rPr>
                      <m:t>𝑓𝑖𝑑𝑒𝑙𝑖𝑡𝑦</m:t>
                    </m:r>
                    <m:r>
                      <a:rPr lang="en-GB" sz="2200" i="1">
                        <a:latin typeface="Cambria Math" panose="02040503050406030204" pitchFamily="18" charset="0"/>
                      </a:rPr>
                      <m:t> = 0.8, </m:t>
                    </m:r>
                    <m:r>
                      <a:rPr lang="en-GB" sz="2200" i="1" smtClean="0">
                        <a:solidFill>
                          <a:srgbClr val="FF0000"/>
                        </a:solidFill>
                        <a:latin typeface="Cambria Math" panose="02040503050406030204" pitchFamily="18" charset="0"/>
                      </a:rPr>
                      <m:t>𝜋</m:t>
                    </m:r>
                    <m:r>
                      <a:rPr lang="en-GB" sz="2200" i="1" smtClean="0">
                        <a:solidFill>
                          <a:srgbClr val="FF0000"/>
                        </a:solidFill>
                        <a:latin typeface="Cambria Math" panose="02040503050406030204" pitchFamily="18" charset="0"/>
                      </a:rPr>
                      <m:t>=−0.31</m:t>
                    </m:r>
                  </m:oMath>
                </a14:m>
                <a:endParaRPr lang="en-US" sz="2200" i="1" dirty="0">
                  <a:solidFill>
                    <a:srgbClr val="FF0000"/>
                  </a:solidFill>
                </a:endParaRPr>
              </a:p>
              <a:p>
                <a:pPr lvl="1"/>
                <a:endParaRPr lang="en-GB" sz="2800" kern="0" dirty="0">
                  <a:solidFill>
                    <a:srgbClr val="FF0000"/>
                  </a:solidFill>
                </a:endParaRPr>
              </a:p>
            </p:txBody>
          </p:sp>
        </mc:Choice>
        <mc:Fallback xmlns="">
          <p:sp>
            <p:nvSpPr>
              <p:cNvPr id="3" name="Content Placeholder 2">
                <a:extLst>
                  <a:ext uri="{FF2B5EF4-FFF2-40B4-BE49-F238E27FC236}">
                    <a16:creationId xmlns:a16="http://schemas.microsoft.com/office/drawing/2014/main" id="{E498E9E4-7759-B9C2-2600-009BC85B701B}"/>
                  </a:ext>
                </a:extLst>
              </p:cNvPr>
              <p:cNvSpPr txBox="1">
                <a:spLocks noRot="1" noChangeAspect="1" noMove="1" noResize="1" noEditPoints="1" noAdjustHandles="1" noChangeArrowheads="1" noChangeShapeType="1" noTextEdit="1"/>
              </p:cNvSpPr>
              <p:nvPr/>
            </p:nvSpPr>
            <p:spPr>
              <a:xfrm>
                <a:off x="832758" y="1552006"/>
                <a:ext cx="11165278" cy="2124067"/>
              </a:xfrm>
              <a:prstGeom prst="rect">
                <a:avLst/>
              </a:prstGeom>
              <a:blipFill>
                <a:blip r:embed="rId3"/>
                <a:stretch>
                  <a:fillRect l="-983" t="-4885"/>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858A7DC4-CA39-AF7D-D473-DEE1007C022C}"/>
              </a:ext>
            </a:extLst>
          </p:cNvPr>
          <p:cNvPicPr>
            <a:picLocks noChangeAspect="1"/>
          </p:cNvPicPr>
          <p:nvPr/>
        </p:nvPicPr>
        <p:blipFill>
          <a:blip r:embed="rId4"/>
          <a:stretch>
            <a:fillRect/>
          </a:stretch>
        </p:blipFill>
        <p:spPr>
          <a:xfrm>
            <a:off x="832758" y="3782263"/>
            <a:ext cx="7344887" cy="203747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43A870-9E23-0D3C-042A-ED6824474E98}"/>
                  </a:ext>
                </a:extLst>
              </p:cNvPr>
              <p:cNvSpPr txBox="1"/>
              <p:nvPr/>
            </p:nvSpPr>
            <p:spPr>
              <a:xfrm>
                <a:off x="8177644" y="3951074"/>
                <a:ext cx="3820391" cy="1663404"/>
              </a:xfrm>
              <a:prstGeom prst="rect">
                <a:avLst/>
              </a:prstGeom>
              <a:noFill/>
            </p:spPr>
            <p:txBody>
              <a:bodyPr wrap="square">
                <a:spAutoFit/>
              </a:bodyPr>
              <a:lstStyle/>
              <a:p>
                <a:r>
                  <a:rPr lang="en-GB" sz="2400" dirty="0"/>
                  <a:t>Request (1,3)</a:t>
                </a:r>
              </a:p>
              <a:p>
                <a:pPr marL="457200" indent="-457200">
                  <a:buFont typeface="Arial" panose="020B0604020202020204" pitchFamily="34" charset="0"/>
                  <a:buChar char="•"/>
                </a:pPr>
                <a14:m>
                  <m:oMath xmlns:m="http://schemas.openxmlformats.org/officeDocument/2006/math">
                    <m:r>
                      <a:rPr lang="en-GB" sz="2400" i="1">
                        <a:solidFill>
                          <a:srgbClr val="FF0000"/>
                        </a:solidFill>
                        <a:latin typeface="Cambria Math" panose="02040503050406030204" pitchFamily="18" charset="0"/>
                      </a:rPr>
                      <m:t>𝜋</m:t>
                    </m:r>
                  </m:oMath>
                </a14:m>
                <a:r>
                  <a:rPr lang="en-GB" sz="2400" dirty="0"/>
                  <a:t>: (-0.18) + (-0.18) &gt; - 0.4</a:t>
                </a:r>
              </a:p>
              <a:p>
                <a:pPr marL="457200" indent="-457200">
                  <a:buFont typeface="Arial" panose="020B0604020202020204" pitchFamily="34" charset="0"/>
                  <a:buChar char="•"/>
                </a:pPr>
                <a:r>
                  <a:rPr lang="en-GB" sz="2400" dirty="0"/>
                  <a:t>Generation rate: </a:t>
                </a:r>
                <a14:m>
                  <m:oMath xmlns:m="http://schemas.openxmlformats.org/officeDocument/2006/math">
                    <m:f>
                      <m:fPr>
                        <m:ctrlPr>
                          <a:rPr lang="en-GB" sz="2400" i="1" dirty="0">
                            <a:solidFill>
                              <a:srgbClr val="FF0000"/>
                            </a:solidFill>
                            <a:latin typeface="Cambria Math" panose="02040503050406030204" pitchFamily="18" charset="0"/>
                          </a:rPr>
                        </m:ctrlPr>
                      </m:fPr>
                      <m:num>
                        <m:r>
                          <a:rPr lang="en-GB" sz="2400" i="1" dirty="0">
                            <a:solidFill>
                              <a:srgbClr val="FF0000"/>
                            </a:solidFill>
                            <a:latin typeface="Cambria Math" panose="02040503050406030204" pitchFamily="18" charset="0"/>
                          </a:rPr>
                          <m:t>20</m:t>
                        </m:r>
                      </m:num>
                      <m:den>
                        <m:r>
                          <a:rPr lang="en-GB" sz="2400" dirty="0">
                            <a:solidFill>
                              <a:srgbClr val="FF0000"/>
                            </a:solidFill>
                            <a:latin typeface="Cambria Math" panose="02040503050406030204" pitchFamily="18" charset="0"/>
                          </a:rPr>
                          <m:t>6.5</m:t>
                        </m:r>
                      </m:den>
                    </m:f>
                    <m:r>
                      <a:rPr lang="en-GB" sz="2400" i="1" dirty="0">
                        <a:solidFill>
                          <a:srgbClr val="FF0000"/>
                        </a:solidFill>
                        <a:latin typeface="Cambria Math" panose="02040503050406030204" pitchFamily="18" charset="0"/>
                      </a:rPr>
                      <m:t>=3</m:t>
                    </m:r>
                    <m:r>
                      <a:rPr lang="en-GB" sz="2400" i="1" dirty="0">
                        <a:latin typeface="Cambria Math" panose="02040503050406030204" pitchFamily="18" charset="0"/>
                      </a:rPr>
                      <m:t> </m:t>
                    </m:r>
                  </m:oMath>
                </a14:m>
                <a:endParaRPr lang="en-GB" sz="2400" dirty="0"/>
              </a:p>
              <a:p>
                <a:pPr marL="457200" indent="-457200">
                  <a:buFont typeface="Arial" panose="020B0604020202020204" pitchFamily="34" charset="0"/>
                  <a:buChar char="•"/>
                </a:pPr>
                <a:endParaRPr lang="en-US" sz="2000" dirty="0"/>
              </a:p>
            </p:txBody>
          </p:sp>
        </mc:Choice>
        <mc:Fallback xmlns="">
          <p:sp>
            <p:nvSpPr>
              <p:cNvPr id="9" name="TextBox 8">
                <a:extLst>
                  <a:ext uri="{FF2B5EF4-FFF2-40B4-BE49-F238E27FC236}">
                    <a16:creationId xmlns:a16="http://schemas.microsoft.com/office/drawing/2014/main" id="{4443A870-9E23-0D3C-042A-ED6824474E98}"/>
                  </a:ext>
                </a:extLst>
              </p:cNvPr>
              <p:cNvSpPr txBox="1">
                <a:spLocks noRot="1" noChangeAspect="1" noMove="1" noResize="1" noEditPoints="1" noAdjustHandles="1" noChangeArrowheads="1" noChangeShapeType="1" noTextEdit="1"/>
              </p:cNvSpPr>
              <p:nvPr/>
            </p:nvSpPr>
            <p:spPr>
              <a:xfrm>
                <a:off x="8177644" y="3951074"/>
                <a:ext cx="3820391" cy="1663404"/>
              </a:xfrm>
              <a:prstGeom prst="rect">
                <a:avLst/>
              </a:prstGeom>
              <a:blipFill>
                <a:blip r:embed="rId5"/>
                <a:stretch>
                  <a:fillRect l="-2392" t="-2930" r="-3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4929333-5F85-C3FD-3C70-5F98B8D52507}"/>
                  </a:ext>
                </a:extLst>
              </p:cNvPr>
              <p:cNvSpPr txBox="1"/>
              <p:nvPr/>
            </p:nvSpPr>
            <p:spPr>
              <a:xfrm>
                <a:off x="2680855" y="1585629"/>
                <a:ext cx="6435435"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(1,2)</m:t>
                      </m:r>
                      <m:r>
                        <a:rPr lang="en-GB" sz="2200" i="1" smtClean="0">
                          <a:latin typeface="Cambria Math" panose="02040503050406030204" pitchFamily="18" charset="0"/>
                        </a:rPr>
                        <m:t>=</m:t>
                      </m:r>
                      <m:r>
                        <a:rPr lang="en-GB" sz="2200" b="0" i="1" smtClean="0">
                          <a:latin typeface="Cambria Math" panose="02040503050406030204" pitchFamily="18" charset="0"/>
                        </a:rPr>
                        <m:t>2</m:t>
                      </m:r>
                      <m:r>
                        <a:rPr lang="en-GB" sz="2200" i="1" smtClean="0">
                          <a:latin typeface="Cambria Math" panose="02040503050406030204" pitchFamily="18" charset="0"/>
                        </a:rPr>
                        <m:t>0 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0.6, </m:t>
                      </m:r>
                      <m:r>
                        <a:rPr lang="en-GB" sz="2200" i="1" smtClean="0">
                          <a:latin typeface="Cambria Math" panose="02040503050406030204" pitchFamily="18" charset="0"/>
                        </a:rPr>
                        <m:t>𝜋</m:t>
                      </m:r>
                      <m:r>
                        <a:rPr lang="en-GB" sz="2200" i="1" smtClean="0">
                          <a:latin typeface="Cambria Math" panose="02040503050406030204" pitchFamily="18" charset="0"/>
                        </a:rPr>
                        <m:t>=−0.76</m:t>
                      </m:r>
                    </m:oMath>
                  </m:oMathPara>
                </a14:m>
                <a:endParaRPr lang="en-GB" sz="2200" dirty="0"/>
              </a:p>
            </p:txBody>
          </p:sp>
        </mc:Choice>
        <mc:Fallback xmlns="">
          <p:sp>
            <p:nvSpPr>
              <p:cNvPr id="4" name="TextBox 3">
                <a:extLst>
                  <a:ext uri="{FF2B5EF4-FFF2-40B4-BE49-F238E27FC236}">
                    <a16:creationId xmlns:a16="http://schemas.microsoft.com/office/drawing/2014/main" id="{44929333-5F85-C3FD-3C70-5F98B8D52507}"/>
                  </a:ext>
                </a:extLst>
              </p:cNvPr>
              <p:cNvSpPr txBox="1">
                <a:spLocks noRot="1" noChangeAspect="1" noMove="1" noResize="1" noEditPoints="1" noAdjustHandles="1" noChangeArrowheads="1" noChangeShapeType="1" noTextEdit="1"/>
              </p:cNvSpPr>
              <p:nvPr/>
            </p:nvSpPr>
            <p:spPr>
              <a:xfrm>
                <a:off x="2680855" y="1585629"/>
                <a:ext cx="6435435" cy="430887"/>
              </a:xfrm>
              <a:prstGeom prst="rect">
                <a:avLst/>
              </a:prstGeom>
              <a:blipFill>
                <a:blip r:embed="rId6"/>
                <a:stretch>
                  <a:fillRect b="-154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41B4E6-E90A-4C14-4BDD-C6E4EE374E53}"/>
                  </a:ext>
                </a:extLst>
              </p:cNvPr>
              <p:cNvSpPr txBox="1"/>
              <p:nvPr/>
            </p:nvSpPr>
            <p:spPr>
              <a:xfrm>
                <a:off x="2625438" y="2041341"/>
                <a:ext cx="6435435"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(1,3)</m:t>
                      </m:r>
                      <m:r>
                        <a:rPr lang="en-GB" sz="2200" i="1" smtClean="0">
                          <a:latin typeface="Cambria Math" panose="02040503050406030204" pitchFamily="18" charset="0"/>
                        </a:rPr>
                        <m:t>=</m:t>
                      </m:r>
                      <m:r>
                        <a:rPr lang="en-GB" sz="2200" b="0" i="1" smtClean="0">
                          <a:latin typeface="Cambria Math" panose="02040503050406030204" pitchFamily="18" charset="0"/>
                        </a:rPr>
                        <m:t>5</m:t>
                      </m:r>
                      <m:r>
                        <a:rPr lang="en-GB" sz="2200" i="1" smtClean="0">
                          <a:latin typeface="Cambria Math" panose="02040503050406030204" pitchFamily="18" charset="0"/>
                        </a:rPr>
                        <m:t>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0.75, </m:t>
                      </m:r>
                      <m:r>
                        <a:rPr lang="en-GB" sz="2200" i="1" smtClean="0">
                          <a:latin typeface="Cambria Math" panose="02040503050406030204" pitchFamily="18" charset="0"/>
                        </a:rPr>
                        <m:t>𝜋</m:t>
                      </m:r>
                      <m:r>
                        <a:rPr lang="en-GB" sz="2200" i="1" smtClean="0">
                          <a:latin typeface="Cambria Math" panose="02040503050406030204" pitchFamily="18" charset="0"/>
                        </a:rPr>
                        <m:t>=−0.4</m:t>
                      </m:r>
                    </m:oMath>
                  </m:oMathPara>
                </a14:m>
                <a:endParaRPr lang="en-GB" sz="2200" dirty="0"/>
              </a:p>
            </p:txBody>
          </p:sp>
        </mc:Choice>
        <mc:Fallback xmlns="">
          <p:sp>
            <p:nvSpPr>
              <p:cNvPr id="11" name="TextBox 10">
                <a:extLst>
                  <a:ext uri="{FF2B5EF4-FFF2-40B4-BE49-F238E27FC236}">
                    <a16:creationId xmlns:a16="http://schemas.microsoft.com/office/drawing/2014/main" id="{0D41B4E6-E90A-4C14-4BDD-C6E4EE374E53}"/>
                  </a:ext>
                </a:extLst>
              </p:cNvPr>
              <p:cNvSpPr txBox="1">
                <a:spLocks noRot="1" noChangeAspect="1" noMove="1" noResize="1" noEditPoints="1" noAdjustHandles="1" noChangeArrowheads="1" noChangeShapeType="1" noTextEdit="1"/>
              </p:cNvSpPr>
              <p:nvPr/>
            </p:nvSpPr>
            <p:spPr>
              <a:xfrm>
                <a:off x="2625438" y="2041341"/>
                <a:ext cx="6435435" cy="430887"/>
              </a:xfrm>
              <a:prstGeom prst="rect">
                <a:avLst/>
              </a:prstGeom>
              <a:blipFill>
                <a:blip r:embed="rId7"/>
                <a:stretch>
                  <a:fillRect b="-15493"/>
                </a:stretch>
              </a:blipFill>
            </p:spPr>
            <p:txBody>
              <a:bodyPr/>
              <a:lstStyle/>
              <a:p>
                <a:r>
                  <a:rPr lang="en-GB">
                    <a:noFill/>
                  </a:rPr>
                  <a:t> </a:t>
                </a:r>
              </a:p>
            </p:txBody>
          </p:sp>
        </mc:Fallback>
      </mc:AlternateContent>
    </p:spTree>
    <p:extLst>
      <p:ext uri="{BB962C8B-B14F-4D97-AF65-F5344CB8AC3E}">
        <p14:creationId xmlns:p14="http://schemas.microsoft.com/office/powerpoint/2010/main" val="404281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42AA-08ED-4F3C-5DBE-9B83D5FD8F0F}"/>
              </a:ext>
            </a:extLst>
          </p:cNvPr>
          <p:cNvSpPr>
            <a:spLocks noGrp="1"/>
          </p:cNvSpPr>
          <p:nvPr>
            <p:ph type="title"/>
          </p:nvPr>
        </p:nvSpPr>
        <p:spPr/>
        <p:txBody>
          <a:bodyPr/>
          <a:lstStyle/>
          <a:p>
            <a:r>
              <a:rPr lang="en-US" sz="3600" dirty="0"/>
              <a:t>Illustrative Example (Configurable Link Configuration)</a:t>
            </a:r>
          </a:p>
        </p:txBody>
      </p:sp>
      <p:sp>
        <p:nvSpPr>
          <p:cNvPr id="7" name="Footer Placeholder 6">
            <a:extLst>
              <a:ext uri="{FF2B5EF4-FFF2-40B4-BE49-F238E27FC236}">
                <a16:creationId xmlns:a16="http://schemas.microsoft.com/office/drawing/2014/main" id="{CBDFB899-75F6-FE89-4691-F078DD627941}"/>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8" name="Slide Number Placeholder 7">
            <a:extLst>
              <a:ext uri="{FF2B5EF4-FFF2-40B4-BE49-F238E27FC236}">
                <a16:creationId xmlns:a16="http://schemas.microsoft.com/office/drawing/2014/main" id="{53F68760-C1AC-05DB-B6AB-D578EF2BB9D4}"/>
              </a:ext>
            </a:extLst>
          </p:cNvPr>
          <p:cNvSpPr>
            <a:spLocks noGrp="1"/>
          </p:cNvSpPr>
          <p:nvPr>
            <p:ph type="sldNum" sz="quarter" idx="12"/>
          </p:nvPr>
        </p:nvSpPr>
        <p:spPr/>
        <p:txBody>
          <a:bodyPr/>
          <a:lstStyle/>
          <a:p>
            <a:fld id="{5AFE0081-1ED4-41E0-88AB-D26DBE160EA6}" type="slidenum">
              <a:rPr lang="en-US" smtClean="0"/>
              <a:t>14</a:t>
            </a:fld>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98E9E4-7759-B9C2-2600-009BC85B701B}"/>
                  </a:ext>
                </a:extLst>
              </p:cNvPr>
              <p:cNvSpPr txBox="1">
                <a:spLocks/>
              </p:cNvSpPr>
              <p:nvPr/>
            </p:nvSpPr>
            <p:spPr>
              <a:xfrm>
                <a:off x="966355" y="1552006"/>
                <a:ext cx="11225645" cy="23144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Requests:</a:t>
                </a:r>
              </a:p>
              <a:p>
                <a:pPr marL="0" indent="0">
                  <a:buNone/>
                </a:pPr>
                <a:endParaRPr lang="en-GB" sz="2800" dirty="0">
                  <a:solidFill>
                    <a:schemeClr val="tx1"/>
                  </a:solidFill>
                </a:endParaRPr>
              </a:p>
              <a:p>
                <a:r>
                  <a:rPr lang="en-GB" sz="2800" dirty="0">
                    <a:solidFill>
                      <a:schemeClr val="tx1"/>
                    </a:solidFill>
                  </a:rPr>
                  <a:t>Configurable </a:t>
                </a:r>
                <a:r>
                  <a:rPr lang="en-GB" sz="2800" dirty="0"/>
                  <a:t>link configuration:  </a:t>
                </a:r>
              </a:p>
              <a:p>
                <a:pPr lvl="1"/>
                <a:r>
                  <a:rPr lang="en-GB" sz="2200" dirty="0"/>
                  <a:t>Link (1,2): </a:t>
                </a:r>
                <a14:m>
                  <m:oMath xmlns:m="http://schemas.openxmlformats.org/officeDocument/2006/math">
                    <m:r>
                      <a:rPr lang="en-GB" sz="2200" i="1" smtClean="0">
                        <a:latin typeface="Cambria Math" panose="02040503050406030204" pitchFamily="18" charset="0"/>
                      </a:rPr>
                      <m:t>𝑟𝑎𝑡𝑒</m:t>
                    </m:r>
                    <m:r>
                      <a:rPr lang="en-GB" sz="2200" i="1" smtClean="0">
                        <a:latin typeface="Cambria Math" panose="02040503050406030204" pitchFamily="18" charset="0"/>
                      </a:rPr>
                      <m:t> =40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0.8, </m:t>
                    </m:r>
                    <m:r>
                      <a:rPr lang="en-GB" sz="2200" i="1" smtClean="0">
                        <a:solidFill>
                          <a:srgbClr val="FF0000"/>
                        </a:solidFill>
                        <a:latin typeface="Cambria Math" panose="02040503050406030204" pitchFamily="18" charset="0"/>
                      </a:rPr>
                      <m:t>𝜋</m:t>
                    </m:r>
                    <m:r>
                      <a:rPr lang="en-GB" sz="2200" i="1" smtClean="0">
                        <a:solidFill>
                          <a:srgbClr val="FF0000"/>
                        </a:solidFill>
                        <a:latin typeface="Cambria Math" panose="02040503050406030204" pitchFamily="18" charset="0"/>
                      </a:rPr>
                      <m:t>=−0.31</m:t>
                    </m:r>
                  </m:oMath>
                </a14:m>
                <a:endParaRPr lang="en-GB" sz="2200" i="1" dirty="0">
                  <a:solidFill>
                    <a:srgbClr val="FF0000"/>
                  </a:solidFill>
                </a:endParaRPr>
              </a:p>
              <a:p>
                <a:pPr lvl="1"/>
                <a:r>
                  <a:rPr lang="en-GB" sz="2200" dirty="0"/>
                  <a:t>Link (2,3): </a:t>
                </a:r>
                <a14:m>
                  <m:oMath xmlns:m="http://schemas.openxmlformats.org/officeDocument/2006/math">
                    <m:r>
                      <a:rPr lang="en-GB" sz="2200" i="1" smtClean="0">
                        <a:latin typeface="Cambria Math" panose="02040503050406030204" pitchFamily="18" charset="0"/>
                      </a:rPr>
                      <m:t>𝑟𝑎𝑡𝑒</m:t>
                    </m:r>
                    <m:r>
                      <a:rPr lang="en-GB" sz="2200" i="1" smtClean="0">
                        <a:latin typeface="Cambria Math" panose="02040503050406030204" pitchFamily="18" charset="0"/>
                      </a:rPr>
                      <m:t> =20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0.9, </m:t>
                    </m:r>
                    <m:r>
                      <a:rPr lang="en-GB" sz="2200" i="1" smtClean="0">
                        <a:solidFill>
                          <a:srgbClr val="FF0000"/>
                        </a:solidFill>
                        <a:latin typeface="Cambria Math" panose="02040503050406030204" pitchFamily="18" charset="0"/>
                      </a:rPr>
                      <m:t>𝜋</m:t>
                    </m:r>
                    <m:r>
                      <a:rPr lang="en-GB" sz="2200" i="1" smtClean="0">
                        <a:solidFill>
                          <a:srgbClr val="FF0000"/>
                        </a:solidFill>
                        <a:latin typeface="Cambria Math" panose="02040503050406030204" pitchFamily="18" charset="0"/>
                      </a:rPr>
                      <m:t>=−0.14</m:t>
                    </m:r>
                  </m:oMath>
                </a14:m>
                <a:endParaRPr lang="en-US" sz="2200" i="1" dirty="0">
                  <a:solidFill>
                    <a:srgbClr val="FF0000"/>
                  </a:solidFill>
                </a:endParaRPr>
              </a:p>
              <a:p>
                <a:pPr lvl="1"/>
                <a:endParaRPr lang="en-GB" sz="2400" kern="0" dirty="0">
                  <a:solidFill>
                    <a:srgbClr val="FF0000"/>
                  </a:solidFill>
                </a:endParaRPr>
              </a:p>
            </p:txBody>
          </p:sp>
        </mc:Choice>
        <mc:Fallback xmlns="">
          <p:sp>
            <p:nvSpPr>
              <p:cNvPr id="3" name="Content Placeholder 2">
                <a:extLst>
                  <a:ext uri="{FF2B5EF4-FFF2-40B4-BE49-F238E27FC236}">
                    <a16:creationId xmlns:a16="http://schemas.microsoft.com/office/drawing/2014/main" id="{E498E9E4-7759-B9C2-2600-009BC85B701B}"/>
                  </a:ext>
                </a:extLst>
              </p:cNvPr>
              <p:cNvSpPr txBox="1">
                <a:spLocks noRot="1" noChangeAspect="1" noMove="1" noResize="1" noEditPoints="1" noAdjustHandles="1" noChangeArrowheads="1" noChangeShapeType="1" noTextEdit="1"/>
              </p:cNvSpPr>
              <p:nvPr/>
            </p:nvSpPr>
            <p:spPr>
              <a:xfrm>
                <a:off x="966355" y="1552006"/>
                <a:ext cx="11225645" cy="2314461"/>
              </a:xfrm>
              <a:prstGeom prst="rect">
                <a:avLst/>
              </a:prstGeom>
              <a:blipFill>
                <a:blip r:embed="rId3"/>
                <a:stretch>
                  <a:fillRect l="-978" t="-4485" b="-1847"/>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FCBF80B4-A549-34AF-E2BB-C8E47B21922F}"/>
              </a:ext>
            </a:extLst>
          </p:cNvPr>
          <p:cNvPicPr>
            <a:picLocks noChangeAspect="1"/>
          </p:cNvPicPr>
          <p:nvPr/>
        </p:nvPicPr>
        <p:blipFill>
          <a:blip r:embed="rId4"/>
          <a:stretch>
            <a:fillRect/>
          </a:stretch>
        </p:blipFill>
        <p:spPr>
          <a:xfrm>
            <a:off x="966355" y="3901346"/>
            <a:ext cx="7085626" cy="2219468"/>
          </a:xfrm>
          <a:prstGeom prst="rect">
            <a:avLst/>
          </a:prstGeom>
        </p:spPr>
      </p:pic>
      <p:sp>
        <p:nvSpPr>
          <p:cNvPr id="12" name="TextBox 11">
            <a:extLst>
              <a:ext uri="{FF2B5EF4-FFF2-40B4-BE49-F238E27FC236}">
                <a16:creationId xmlns:a16="http://schemas.microsoft.com/office/drawing/2014/main" id="{647C19F5-7128-E01E-9CF8-7091B933F8A6}"/>
              </a:ext>
            </a:extLst>
          </p:cNvPr>
          <p:cNvSpPr txBox="1"/>
          <p:nvPr/>
        </p:nvSpPr>
        <p:spPr>
          <a:xfrm>
            <a:off x="8479007" y="5685114"/>
            <a:ext cx="3292136" cy="523220"/>
          </a:xfrm>
          <a:prstGeom prst="rect">
            <a:avLst/>
          </a:prstGeom>
          <a:noFill/>
        </p:spPr>
        <p:txBody>
          <a:bodyPr wrap="square">
            <a:spAutoFit/>
          </a:bodyPr>
          <a:lstStyle/>
          <a:p>
            <a:r>
              <a:rPr lang="en-GB" sz="2800" dirty="0">
                <a:solidFill>
                  <a:srgbClr val="FF0000"/>
                </a:solidFill>
              </a:rPr>
              <a:t>All requests served</a:t>
            </a:r>
            <a:endParaRPr lang="en-US" sz="2400" dirty="0">
              <a:solidFill>
                <a:srgbClr val="FF0000"/>
              </a:solidFill>
            </a:endParaRPr>
          </a:p>
        </p:txBody>
      </p:sp>
      <p:cxnSp>
        <p:nvCxnSpPr>
          <p:cNvPr id="13" name="Straight Arrow Connector 12">
            <a:extLst>
              <a:ext uri="{FF2B5EF4-FFF2-40B4-BE49-F238E27FC236}">
                <a16:creationId xmlns:a16="http://schemas.microsoft.com/office/drawing/2014/main" id="{8F06C07E-0755-5377-90CF-27DD867E298A}"/>
              </a:ext>
            </a:extLst>
          </p:cNvPr>
          <p:cNvCxnSpPr>
            <a:cxnSpLocks/>
          </p:cNvCxnSpPr>
          <p:nvPr/>
        </p:nvCxnSpPr>
        <p:spPr>
          <a:xfrm>
            <a:off x="6780645" y="4910998"/>
            <a:ext cx="0" cy="989770"/>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E9B42B-EE04-3195-922D-0E6BE15C5267}"/>
              </a:ext>
            </a:extLst>
          </p:cNvPr>
          <p:cNvSpPr txBox="1"/>
          <p:nvPr/>
        </p:nvSpPr>
        <p:spPr>
          <a:xfrm>
            <a:off x="5830177" y="5759122"/>
            <a:ext cx="2780423" cy="523220"/>
          </a:xfrm>
          <a:prstGeom prst="rect">
            <a:avLst/>
          </a:prstGeom>
          <a:noFill/>
        </p:spPr>
        <p:txBody>
          <a:bodyPr wrap="square">
            <a:spAutoFit/>
          </a:bodyPr>
          <a:lstStyle/>
          <a:p>
            <a:r>
              <a:rPr lang="en-US" altLang="zh-CN" sz="2800" dirty="0">
                <a:solidFill>
                  <a:srgbClr val="FF0000"/>
                </a:solidFill>
              </a:rPr>
              <a:t>Higher fidelity</a:t>
            </a:r>
            <a:endParaRPr lang="en-US" sz="2400" dirty="0">
              <a:solidFill>
                <a:srgbClr val="FF0000"/>
              </a:solidFill>
            </a:endParaRPr>
          </a:p>
        </p:txBody>
      </p:sp>
      <p:sp>
        <p:nvSpPr>
          <p:cNvPr id="15" name="TextBox 14">
            <a:extLst>
              <a:ext uri="{FF2B5EF4-FFF2-40B4-BE49-F238E27FC236}">
                <a16:creationId xmlns:a16="http://schemas.microsoft.com/office/drawing/2014/main" id="{A81EDADD-B5A3-7C69-AD80-DD956F8136BE}"/>
              </a:ext>
            </a:extLst>
          </p:cNvPr>
          <p:cNvSpPr txBox="1"/>
          <p:nvPr/>
        </p:nvSpPr>
        <p:spPr>
          <a:xfrm>
            <a:off x="1828801" y="5907053"/>
            <a:ext cx="3142812" cy="523220"/>
          </a:xfrm>
          <a:prstGeom prst="rect">
            <a:avLst/>
          </a:prstGeom>
          <a:noFill/>
        </p:spPr>
        <p:txBody>
          <a:bodyPr wrap="square">
            <a:spAutoFit/>
          </a:bodyPr>
          <a:lstStyle/>
          <a:p>
            <a:r>
              <a:rPr lang="en-US" sz="2800" dirty="0">
                <a:solidFill>
                  <a:srgbClr val="FF0000"/>
                </a:solidFill>
              </a:rPr>
              <a:t>Fewer purification</a:t>
            </a:r>
            <a:endParaRPr lang="en-US" sz="2400" dirty="0">
              <a:solidFill>
                <a:srgbClr val="FF0000"/>
              </a:solidFill>
            </a:endParaRPr>
          </a:p>
        </p:txBody>
      </p:sp>
      <p:cxnSp>
        <p:nvCxnSpPr>
          <p:cNvPr id="16" name="Straight Arrow Connector 15">
            <a:extLst>
              <a:ext uri="{FF2B5EF4-FFF2-40B4-BE49-F238E27FC236}">
                <a16:creationId xmlns:a16="http://schemas.microsoft.com/office/drawing/2014/main" id="{0AEA889D-39D2-5D2D-CF05-79428F5E1D08}"/>
              </a:ext>
            </a:extLst>
          </p:cNvPr>
          <p:cNvCxnSpPr>
            <a:cxnSpLocks/>
          </p:cNvCxnSpPr>
          <p:nvPr/>
        </p:nvCxnSpPr>
        <p:spPr>
          <a:xfrm>
            <a:off x="3992417" y="4910998"/>
            <a:ext cx="0" cy="989770"/>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6343187-787E-66C7-B1FC-25A4977D0296}"/>
                  </a:ext>
                </a:extLst>
              </p:cNvPr>
              <p:cNvSpPr txBox="1"/>
              <p:nvPr/>
            </p:nvSpPr>
            <p:spPr>
              <a:xfrm>
                <a:off x="2680855" y="1585629"/>
                <a:ext cx="6435435"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(1,2)</m:t>
                      </m:r>
                      <m:r>
                        <a:rPr lang="en-GB" sz="2200" i="1" smtClean="0">
                          <a:latin typeface="Cambria Math" panose="02040503050406030204" pitchFamily="18" charset="0"/>
                        </a:rPr>
                        <m:t>=</m:t>
                      </m:r>
                      <m:r>
                        <a:rPr lang="en-GB" sz="2200" b="0" i="1" smtClean="0">
                          <a:latin typeface="Cambria Math" panose="02040503050406030204" pitchFamily="18" charset="0"/>
                        </a:rPr>
                        <m:t>2</m:t>
                      </m:r>
                      <m:r>
                        <a:rPr lang="en-GB" sz="2200" i="1" smtClean="0">
                          <a:latin typeface="Cambria Math" panose="02040503050406030204" pitchFamily="18" charset="0"/>
                        </a:rPr>
                        <m:t>0 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0.6, </m:t>
                      </m:r>
                      <m:r>
                        <a:rPr lang="en-GB" sz="2200" i="1" smtClean="0">
                          <a:latin typeface="Cambria Math" panose="02040503050406030204" pitchFamily="18" charset="0"/>
                        </a:rPr>
                        <m:t>𝜋</m:t>
                      </m:r>
                      <m:r>
                        <a:rPr lang="en-GB" sz="2200" i="1" smtClean="0">
                          <a:latin typeface="Cambria Math" panose="02040503050406030204" pitchFamily="18" charset="0"/>
                        </a:rPr>
                        <m:t>=−0.76</m:t>
                      </m:r>
                    </m:oMath>
                  </m:oMathPara>
                </a14:m>
                <a:endParaRPr lang="en-GB" sz="2200" dirty="0"/>
              </a:p>
            </p:txBody>
          </p:sp>
        </mc:Choice>
        <mc:Fallback xmlns="">
          <p:sp>
            <p:nvSpPr>
              <p:cNvPr id="6" name="TextBox 5">
                <a:extLst>
                  <a:ext uri="{FF2B5EF4-FFF2-40B4-BE49-F238E27FC236}">
                    <a16:creationId xmlns:a16="http://schemas.microsoft.com/office/drawing/2014/main" id="{76343187-787E-66C7-B1FC-25A4977D0296}"/>
                  </a:ext>
                </a:extLst>
              </p:cNvPr>
              <p:cNvSpPr txBox="1">
                <a:spLocks noRot="1" noChangeAspect="1" noMove="1" noResize="1" noEditPoints="1" noAdjustHandles="1" noChangeArrowheads="1" noChangeShapeType="1" noTextEdit="1"/>
              </p:cNvSpPr>
              <p:nvPr/>
            </p:nvSpPr>
            <p:spPr>
              <a:xfrm>
                <a:off x="2680855" y="1585629"/>
                <a:ext cx="6435435" cy="430887"/>
              </a:xfrm>
              <a:prstGeom prst="rect">
                <a:avLst/>
              </a:prstGeom>
              <a:blipFill>
                <a:blip r:embed="rId5"/>
                <a:stretch>
                  <a:fillRect b="-154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BD3FC7-E349-1067-335C-79A2EA798173}"/>
                  </a:ext>
                </a:extLst>
              </p:cNvPr>
              <p:cNvSpPr txBox="1"/>
              <p:nvPr/>
            </p:nvSpPr>
            <p:spPr>
              <a:xfrm>
                <a:off x="2625438" y="2041341"/>
                <a:ext cx="6435435"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(1,3)</m:t>
                      </m:r>
                      <m:r>
                        <a:rPr lang="en-GB" sz="2200" i="1" smtClean="0">
                          <a:latin typeface="Cambria Math" panose="02040503050406030204" pitchFamily="18" charset="0"/>
                        </a:rPr>
                        <m:t>=</m:t>
                      </m:r>
                      <m:r>
                        <a:rPr lang="en-GB" sz="2200" b="0" i="1" smtClean="0">
                          <a:latin typeface="Cambria Math" panose="02040503050406030204" pitchFamily="18" charset="0"/>
                        </a:rPr>
                        <m:t>5</m:t>
                      </m:r>
                      <m:r>
                        <a:rPr lang="en-GB" sz="2200" i="1" smtClean="0">
                          <a:latin typeface="Cambria Math" panose="02040503050406030204" pitchFamily="18" charset="0"/>
                        </a:rPr>
                        <m:t> </m:t>
                      </m:r>
                      <m:r>
                        <a:rPr lang="en-GB" sz="2200" i="1" smtClean="0">
                          <a:latin typeface="Cambria Math" panose="02040503050406030204" pitchFamily="18" charset="0"/>
                        </a:rPr>
                        <m:t>𝐸𝑃𝑅</m:t>
                      </m:r>
                      <m:r>
                        <a:rPr lang="en-GB" sz="2200" b="0" i="1" smtClean="0">
                          <a:latin typeface="Cambria Math" panose="02040503050406030204" pitchFamily="18" charset="0"/>
                        </a:rPr>
                        <m:t> </m:t>
                      </m:r>
                      <m:r>
                        <a:rPr lang="en-GB" sz="2200" b="0" i="1" smtClean="0">
                          <a:latin typeface="Cambria Math" panose="02040503050406030204" pitchFamily="18" charset="0"/>
                        </a:rPr>
                        <m:t>𝑝𝑎𝑖𝑟</m:t>
                      </m:r>
                      <m:r>
                        <a:rPr lang="en-GB" sz="2200" b="0" i="1" smtClean="0">
                          <a:latin typeface="Cambria Math" panose="02040503050406030204" pitchFamily="18" charset="0"/>
                        </a:rPr>
                        <m:t>/</m:t>
                      </m:r>
                      <m:r>
                        <a:rPr lang="en-GB" sz="2200" b="0" i="1" smtClean="0">
                          <a:latin typeface="Cambria Math" panose="02040503050406030204" pitchFamily="18" charset="0"/>
                        </a:rPr>
                        <m:t>𝑠</m:t>
                      </m:r>
                      <m:r>
                        <a:rPr lang="en-GB" sz="2200" b="0" i="1" smtClean="0">
                          <a:latin typeface="Cambria Math" panose="02040503050406030204" pitchFamily="18" charset="0"/>
                        </a:rPr>
                        <m:t>,</m:t>
                      </m:r>
                      <m:r>
                        <a:rPr lang="en-GB" sz="2200" i="1" smtClean="0">
                          <a:latin typeface="Cambria Math" panose="02040503050406030204" pitchFamily="18" charset="0"/>
                        </a:rPr>
                        <m:t>𝑓𝑖𝑑𝑒𝑙𝑖𝑡𝑦</m:t>
                      </m:r>
                      <m:r>
                        <a:rPr lang="en-GB" sz="2200" i="1" smtClean="0">
                          <a:latin typeface="Cambria Math" panose="02040503050406030204" pitchFamily="18" charset="0"/>
                        </a:rPr>
                        <m:t> = 0.75, </m:t>
                      </m:r>
                      <m:r>
                        <a:rPr lang="en-GB" sz="2200" i="1" smtClean="0">
                          <a:latin typeface="Cambria Math" panose="02040503050406030204" pitchFamily="18" charset="0"/>
                        </a:rPr>
                        <m:t>𝜋</m:t>
                      </m:r>
                      <m:r>
                        <a:rPr lang="en-GB" sz="2200" i="1" smtClean="0">
                          <a:latin typeface="Cambria Math" panose="02040503050406030204" pitchFamily="18" charset="0"/>
                        </a:rPr>
                        <m:t>=−0.4</m:t>
                      </m:r>
                    </m:oMath>
                  </m:oMathPara>
                </a14:m>
                <a:endParaRPr lang="en-GB" sz="2200" dirty="0"/>
              </a:p>
            </p:txBody>
          </p:sp>
        </mc:Choice>
        <mc:Fallback xmlns="">
          <p:sp>
            <p:nvSpPr>
              <p:cNvPr id="9" name="TextBox 8">
                <a:extLst>
                  <a:ext uri="{FF2B5EF4-FFF2-40B4-BE49-F238E27FC236}">
                    <a16:creationId xmlns:a16="http://schemas.microsoft.com/office/drawing/2014/main" id="{01BD3FC7-E349-1067-335C-79A2EA798173}"/>
                  </a:ext>
                </a:extLst>
              </p:cNvPr>
              <p:cNvSpPr txBox="1">
                <a:spLocks noRot="1" noChangeAspect="1" noMove="1" noResize="1" noEditPoints="1" noAdjustHandles="1" noChangeArrowheads="1" noChangeShapeType="1" noTextEdit="1"/>
              </p:cNvSpPr>
              <p:nvPr/>
            </p:nvSpPr>
            <p:spPr>
              <a:xfrm>
                <a:off x="2625438" y="2041341"/>
                <a:ext cx="6435435" cy="430887"/>
              </a:xfrm>
              <a:prstGeom prst="rect">
                <a:avLst/>
              </a:prstGeom>
              <a:blipFill>
                <a:blip r:embed="rId6"/>
                <a:stretch>
                  <a:fillRect b="-154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C07335-F27C-0C51-3FE5-1578E4FED40D}"/>
                  </a:ext>
                </a:extLst>
              </p:cNvPr>
              <p:cNvSpPr txBox="1"/>
              <p:nvPr/>
            </p:nvSpPr>
            <p:spPr>
              <a:xfrm>
                <a:off x="8056117" y="4179378"/>
                <a:ext cx="4035867" cy="1663404"/>
              </a:xfrm>
              <a:prstGeom prst="rect">
                <a:avLst/>
              </a:prstGeom>
              <a:noFill/>
            </p:spPr>
            <p:txBody>
              <a:bodyPr wrap="square">
                <a:spAutoFit/>
              </a:bodyPr>
              <a:lstStyle/>
              <a:p>
                <a:r>
                  <a:rPr lang="en-GB" sz="2400" dirty="0"/>
                  <a:t>Request (1,3)</a:t>
                </a:r>
              </a:p>
              <a:p>
                <a:pPr marL="457200" indent="-457200">
                  <a:buFont typeface="Arial" panose="020B0604020202020204" pitchFamily="34" charset="0"/>
                  <a:buChar char="•"/>
                </a:pPr>
                <a14:m>
                  <m:oMath xmlns:m="http://schemas.openxmlformats.org/officeDocument/2006/math">
                    <m:r>
                      <a:rPr lang="en-GB" sz="2400" i="1">
                        <a:solidFill>
                          <a:srgbClr val="FF0000"/>
                        </a:solidFill>
                        <a:latin typeface="Cambria Math" panose="02040503050406030204" pitchFamily="18" charset="0"/>
                      </a:rPr>
                      <m:t>𝜋</m:t>
                    </m:r>
                  </m:oMath>
                </a14:m>
                <a:r>
                  <a:rPr lang="en-GB" sz="2400" dirty="0"/>
                  <a:t>: (-0.24) + (-0.14) &gt; - 0.38</a:t>
                </a:r>
              </a:p>
              <a:p>
                <a:pPr marL="457200" indent="-457200">
                  <a:buFont typeface="Arial" panose="020B0604020202020204" pitchFamily="34" charset="0"/>
                  <a:buChar char="•"/>
                </a:pPr>
                <a:r>
                  <a:rPr lang="en-GB" sz="2400" dirty="0"/>
                  <a:t>Generation rate: </a:t>
                </a:r>
                <a14:m>
                  <m:oMath xmlns:m="http://schemas.openxmlformats.org/officeDocument/2006/math">
                    <m:f>
                      <m:fPr>
                        <m:ctrlPr>
                          <a:rPr lang="en-GB" sz="2400" i="1" dirty="0">
                            <a:solidFill>
                              <a:srgbClr val="FF0000"/>
                            </a:solidFill>
                            <a:latin typeface="Cambria Math" panose="02040503050406030204" pitchFamily="18" charset="0"/>
                          </a:rPr>
                        </m:ctrlPr>
                      </m:fPr>
                      <m:num>
                        <m:r>
                          <a:rPr lang="en-GB" sz="2400" i="1" dirty="0">
                            <a:solidFill>
                              <a:srgbClr val="FF0000"/>
                            </a:solidFill>
                            <a:latin typeface="Cambria Math" panose="02040503050406030204" pitchFamily="18" charset="0"/>
                          </a:rPr>
                          <m:t>20</m:t>
                        </m:r>
                      </m:num>
                      <m:den>
                        <m:r>
                          <a:rPr lang="en-GB" sz="2400" b="0" i="0" dirty="0" smtClean="0">
                            <a:solidFill>
                              <a:srgbClr val="FF0000"/>
                            </a:solidFill>
                            <a:latin typeface="Cambria Math" panose="02040503050406030204" pitchFamily="18" charset="0"/>
                          </a:rPr>
                          <m:t>2.6</m:t>
                        </m:r>
                      </m:den>
                    </m:f>
                    <m:r>
                      <a:rPr lang="en-GB" sz="2400" b="0" i="1" dirty="0" smtClean="0">
                        <a:solidFill>
                          <a:srgbClr val="FF0000"/>
                        </a:solidFill>
                        <a:latin typeface="Cambria Math" panose="02040503050406030204" pitchFamily="18" charset="0"/>
                      </a:rPr>
                      <m:t>&gt;5</m:t>
                    </m:r>
                  </m:oMath>
                </a14:m>
                <a:endParaRPr lang="en-GB" sz="2400" dirty="0"/>
              </a:p>
              <a:p>
                <a:pPr marL="457200" indent="-457200">
                  <a:buFont typeface="Arial" panose="020B0604020202020204" pitchFamily="34" charset="0"/>
                  <a:buChar char="•"/>
                </a:pPr>
                <a:endParaRPr lang="en-US" sz="2000" dirty="0"/>
              </a:p>
            </p:txBody>
          </p:sp>
        </mc:Choice>
        <mc:Fallback xmlns="">
          <p:sp>
            <p:nvSpPr>
              <p:cNvPr id="4" name="TextBox 3">
                <a:extLst>
                  <a:ext uri="{FF2B5EF4-FFF2-40B4-BE49-F238E27FC236}">
                    <a16:creationId xmlns:a16="http://schemas.microsoft.com/office/drawing/2014/main" id="{FBC07335-F27C-0C51-3FE5-1578E4FED40D}"/>
                  </a:ext>
                </a:extLst>
              </p:cNvPr>
              <p:cNvSpPr txBox="1">
                <a:spLocks noRot="1" noChangeAspect="1" noMove="1" noResize="1" noEditPoints="1" noAdjustHandles="1" noChangeArrowheads="1" noChangeShapeType="1" noTextEdit="1"/>
              </p:cNvSpPr>
              <p:nvPr/>
            </p:nvSpPr>
            <p:spPr>
              <a:xfrm>
                <a:off x="8056117" y="4179378"/>
                <a:ext cx="4035867" cy="1663404"/>
              </a:xfrm>
              <a:prstGeom prst="rect">
                <a:avLst/>
              </a:prstGeom>
              <a:blipFill>
                <a:blip r:embed="rId7"/>
                <a:stretch>
                  <a:fillRect l="-2417" t="-2941"/>
                </a:stretch>
              </a:blipFill>
            </p:spPr>
            <p:txBody>
              <a:bodyPr/>
              <a:lstStyle/>
              <a:p>
                <a:r>
                  <a:rPr lang="en-GB">
                    <a:noFill/>
                  </a:rPr>
                  <a:t> </a:t>
                </a:r>
              </a:p>
            </p:txBody>
          </p:sp>
        </mc:Fallback>
      </mc:AlternateContent>
    </p:spTree>
    <p:extLst>
      <p:ext uri="{BB962C8B-B14F-4D97-AF65-F5344CB8AC3E}">
        <p14:creationId xmlns:p14="http://schemas.microsoft.com/office/powerpoint/2010/main" val="399421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FF59-63AF-D644-88B0-23C060A69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39EFD-3CDD-C77D-62B5-630F55BD65E7}"/>
              </a:ext>
            </a:extLst>
          </p:cNvPr>
          <p:cNvSpPr>
            <a:spLocks noGrp="1"/>
          </p:cNvSpPr>
          <p:nvPr>
            <p:ph type="title"/>
          </p:nvPr>
        </p:nvSpPr>
        <p:spPr/>
        <p:txBody>
          <a:bodyPr/>
          <a:lstStyle/>
          <a:p>
            <a:r>
              <a:rPr lang="en-IT" dirty="0"/>
              <a:t>Problem Statement</a:t>
            </a:r>
          </a:p>
        </p:txBody>
      </p:sp>
      <p:sp>
        <p:nvSpPr>
          <p:cNvPr id="4" name="Footer Placeholder 3">
            <a:extLst>
              <a:ext uri="{FF2B5EF4-FFF2-40B4-BE49-F238E27FC236}">
                <a16:creationId xmlns:a16="http://schemas.microsoft.com/office/drawing/2014/main" id="{467F062A-AC84-4CBD-A28A-45BDEA5F68FC}"/>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5" name="Slide Number Placeholder 4">
            <a:extLst>
              <a:ext uri="{FF2B5EF4-FFF2-40B4-BE49-F238E27FC236}">
                <a16:creationId xmlns:a16="http://schemas.microsoft.com/office/drawing/2014/main" id="{6D87B28C-BF13-5009-3F73-F69238EE1920}"/>
              </a:ext>
            </a:extLst>
          </p:cNvPr>
          <p:cNvSpPr>
            <a:spLocks noGrp="1"/>
          </p:cNvSpPr>
          <p:nvPr>
            <p:ph type="sldNum" sz="quarter" idx="12"/>
          </p:nvPr>
        </p:nvSpPr>
        <p:spPr/>
        <p:txBody>
          <a:bodyPr/>
          <a:lstStyle/>
          <a:p>
            <a:fld id="{5AFE0081-1ED4-41E0-88AB-D26DBE160EA6}" type="slidenum">
              <a:rPr lang="en-US" smtClean="0"/>
              <a:t>15</a:t>
            </a:fld>
            <a:endParaRPr lang="en-US"/>
          </a:p>
        </p:txBody>
      </p:sp>
      <p:grpSp>
        <p:nvGrpSpPr>
          <p:cNvPr id="6" name="Group 5">
            <a:extLst>
              <a:ext uri="{FF2B5EF4-FFF2-40B4-BE49-F238E27FC236}">
                <a16:creationId xmlns:a16="http://schemas.microsoft.com/office/drawing/2014/main" id="{CB824942-E5EA-0F6D-B747-C84AE5FEDB2B}"/>
              </a:ext>
            </a:extLst>
          </p:cNvPr>
          <p:cNvGrpSpPr/>
          <p:nvPr/>
        </p:nvGrpSpPr>
        <p:grpSpPr>
          <a:xfrm>
            <a:off x="168753" y="3241751"/>
            <a:ext cx="1198563" cy="1198563"/>
            <a:chOff x="457719" y="4110708"/>
            <a:chExt cx="1198563" cy="1198563"/>
          </a:xfrm>
          <a:solidFill>
            <a:srgbClr val="004D82"/>
          </a:solidFill>
        </p:grpSpPr>
        <p:grpSp>
          <p:nvGrpSpPr>
            <p:cNvPr id="7" name="Gruppieren 6">
              <a:extLst>
                <a:ext uri="{FF2B5EF4-FFF2-40B4-BE49-F238E27FC236}">
                  <a16:creationId xmlns:a16="http://schemas.microsoft.com/office/drawing/2014/main" id="{5420A821-7381-33BA-735F-4FE2532BB5FF}"/>
                </a:ext>
              </a:extLst>
            </p:cNvPr>
            <p:cNvGrpSpPr/>
            <p:nvPr/>
          </p:nvGrpSpPr>
          <p:grpSpPr>
            <a:xfrm>
              <a:off x="457719" y="4110708"/>
              <a:ext cx="1198563" cy="1198563"/>
              <a:chOff x="779463" y="3076385"/>
              <a:chExt cx="1198563" cy="1198563"/>
            </a:xfrm>
            <a:grpFill/>
            <a:effectLst/>
          </p:grpSpPr>
          <p:sp>
            <p:nvSpPr>
              <p:cNvPr id="9" name="AutoShape 161" descr="© INSCALE GmbH, 26.05.2010&#10;http://www.presentationload.com/">
                <a:extLst>
                  <a:ext uri="{FF2B5EF4-FFF2-40B4-BE49-F238E27FC236}">
                    <a16:creationId xmlns:a16="http://schemas.microsoft.com/office/drawing/2014/main" id="{8E9E27B3-905C-7F80-B691-2511ACFB6910}"/>
                  </a:ext>
                </a:extLst>
              </p:cNvPr>
              <p:cNvSpPr>
                <a:spLocks noChangeAspect="1" noChangeArrowheads="1"/>
              </p:cNvSpPr>
              <p:nvPr/>
            </p:nvSpPr>
            <p:spPr bwMode="gray">
              <a:xfrm>
                <a:off x="779463" y="3076385"/>
                <a:ext cx="1198563" cy="1198563"/>
              </a:xfrm>
              <a:prstGeom prst="rect">
                <a:avLst/>
              </a:prstGeom>
              <a:grpFill/>
              <a:ln>
                <a:headEnd/>
                <a:tailEnd/>
              </a:ln>
            </p:spPr>
            <p:style>
              <a:lnRef idx="2">
                <a:schemeClr val="accent6"/>
              </a:lnRef>
              <a:fillRef idx="1">
                <a:schemeClr val="lt1"/>
              </a:fillRef>
              <a:effectRef idx="0">
                <a:schemeClr val="accent6"/>
              </a:effectRef>
              <a:fontRef idx="minor">
                <a:schemeClr val="dk1"/>
              </a:fontRef>
            </p:style>
            <p:txBody>
              <a:bodyPr wrap="none" anchor="ctr"/>
              <a:lstStyle/>
              <a:p>
                <a:pPr eaLnBrk="1" fontAlgn="auto" hangingPunct="1">
                  <a:spcBef>
                    <a:spcPts val="0"/>
                  </a:spcBef>
                  <a:spcAft>
                    <a:spcPts val="0"/>
                  </a:spcAft>
                  <a:defRPr/>
                </a:pPr>
                <a:endParaRPr lang="en-US" sz="1800" kern="0">
                  <a:solidFill>
                    <a:schemeClr val="tx1"/>
                  </a:solidFill>
                  <a:latin typeface="Arial"/>
                </a:endParaRPr>
              </a:p>
            </p:txBody>
          </p:sp>
          <p:sp>
            <p:nvSpPr>
              <p:cNvPr id="10" name="AutoShape 162" descr="© INSCALE GmbH, 26.05.2010&#10;http://www.presentationload.com/">
                <a:extLst>
                  <a:ext uri="{FF2B5EF4-FFF2-40B4-BE49-F238E27FC236}">
                    <a16:creationId xmlns:a16="http://schemas.microsoft.com/office/drawing/2014/main" id="{913B0353-25C1-02AD-7253-02CD7371C84A}"/>
                  </a:ext>
                </a:extLst>
              </p:cNvPr>
              <p:cNvSpPr>
                <a:spLocks noChangeAspect="1" noChangeArrowheads="1"/>
              </p:cNvSpPr>
              <p:nvPr/>
            </p:nvSpPr>
            <p:spPr bwMode="gray">
              <a:xfrm>
                <a:off x="843242" y="3140164"/>
                <a:ext cx="1071005" cy="1071005"/>
              </a:xfrm>
              <a:prstGeom prst="rect">
                <a:avLst/>
              </a:prstGeom>
              <a:grpFill/>
              <a:ln w="25400" cap="flat" cmpd="sng" algn="ctr">
                <a:solidFill>
                  <a:schemeClr val="bg1"/>
                </a:solidFill>
                <a:prstDash val="solid"/>
                <a:headEnd/>
                <a:tailEnd/>
              </a:ln>
              <a:effectLst/>
            </p:spPr>
            <p:txBody>
              <a:bodyPr wrap="none" anchor="ctr"/>
              <a:lstStyle/>
              <a:p>
                <a:pPr eaLnBrk="1" fontAlgn="auto" hangingPunct="1">
                  <a:spcBef>
                    <a:spcPts val="0"/>
                  </a:spcBef>
                  <a:spcAft>
                    <a:spcPts val="0"/>
                  </a:spcAft>
                  <a:defRPr/>
                </a:pPr>
                <a:endParaRPr lang="en-US" sz="1800" kern="0">
                  <a:latin typeface="Arial"/>
                  <a:cs typeface="+mn-cs"/>
                </a:endParaRPr>
              </a:p>
            </p:txBody>
          </p:sp>
          <p:sp>
            <p:nvSpPr>
              <p:cNvPr id="11" name="AutoShape 164" descr="© INSCALE GmbH, 26.05.2010&#10;http://www.presentationload.com/">
                <a:extLst>
                  <a:ext uri="{FF2B5EF4-FFF2-40B4-BE49-F238E27FC236}">
                    <a16:creationId xmlns:a16="http://schemas.microsoft.com/office/drawing/2014/main" id="{85D2B5C4-9B14-5F28-5ED0-C16790B4092A}"/>
                  </a:ext>
                </a:extLst>
              </p:cNvPr>
              <p:cNvSpPr>
                <a:spLocks noChangeAspect="1" noChangeArrowheads="1"/>
              </p:cNvSpPr>
              <p:nvPr/>
            </p:nvSpPr>
            <p:spPr bwMode="gray">
              <a:xfrm>
                <a:off x="891956" y="3178418"/>
                <a:ext cx="986769" cy="989176"/>
              </a:xfrm>
              <a:prstGeom prst="rect">
                <a:avLst/>
              </a:prstGeom>
              <a:grpFill/>
              <a:ln w="9525">
                <a:noFill/>
                <a:round/>
                <a:headEnd/>
                <a:tailEnd/>
              </a:ln>
              <a:effectLst/>
            </p:spPr>
            <p:txBody>
              <a:bodyPr wrap="none" anchor="ctr"/>
              <a:lstStyle/>
              <a:p>
                <a:pPr eaLnBrk="1" fontAlgn="auto" hangingPunct="1">
                  <a:spcBef>
                    <a:spcPts val="0"/>
                  </a:spcBef>
                  <a:spcAft>
                    <a:spcPts val="0"/>
                  </a:spcAft>
                  <a:defRPr/>
                </a:pPr>
                <a:endParaRPr lang="en-US" sz="1800" kern="0">
                  <a:latin typeface="Arial"/>
                </a:endParaRPr>
              </a:p>
            </p:txBody>
          </p:sp>
        </p:grpSp>
        <p:sp>
          <p:nvSpPr>
            <p:cNvPr id="8" name="Freeform 88">
              <a:extLst>
                <a:ext uri="{FF2B5EF4-FFF2-40B4-BE49-F238E27FC236}">
                  <a16:creationId xmlns:a16="http://schemas.microsoft.com/office/drawing/2014/main" id="{7616369D-B0FD-BAA3-5263-C2BCE85C7F0E}"/>
                </a:ext>
              </a:extLst>
            </p:cNvPr>
            <p:cNvSpPr>
              <a:spLocks noChangeAspect="1" noEditPoints="1"/>
            </p:cNvSpPr>
            <p:nvPr/>
          </p:nvSpPr>
          <p:spPr bwMode="auto">
            <a:xfrm>
              <a:off x="669896" y="4305532"/>
              <a:ext cx="787400" cy="695325"/>
            </a:xfrm>
            <a:custGeom>
              <a:avLst/>
              <a:gdLst>
                <a:gd name="T0" fmla="*/ 2147483647 w 5398"/>
                <a:gd name="T1" fmla="*/ 2147483647 h 4763"/>
                <a:gd name="T2" fmla="*/ 2147483647 w 5398"/>
                <a:gd name="T3" fmla="*/ 2147483647 h 4763"/>
                <a:gd name="T4" fmla="*/ 2147483647 w 5398"/>
                <a:gd name="T5" fmla="*/ 2147483647 h 4763"/>
                <a:gd name="T6" fmla="*/ 2147483647 w 5398"/>
                <a:gd name="T7" fmla="*/ 2147483647 h 4763"/>
                <a:gd name="T8" fmla="*/ 2147483647 w 5398"/>
                <a:gd name="T9" fmla="*/ 2147483647 h 4763"/>
                <a:gd name="T10" fmla="*/ 2147483647 w 5398"/>
                <a:gd name="T11" fmla="*/ 2147483647 h 4763"/>
                <a:gd name="T12" fmla="*/ 2147483647 w 5398"/>
                <a:gd name="T13" fmla="*/ 2147483647 h 4763"/>
                <a:gd name="T14" fmla="*/ 2147483647 w 5398"/>
                <a:gd name="T15" fmla="*/ 2147483647 h 4763"/>
                <a:gd name="T16" fmla="*/ 2147483647 w 5398"/>
                <a:gd name="T17" fmla="*/ 2147483647 h 4763"/>
                <a:gd name="T18" fmla="*/ 2147483647 w 5398"/>
                <a:gd name="T19" fmla="*/ 2147483647 h 4763"/>
                <a:gd name="T20" fmla="*/ 2147483647 w 5398"/>
                <a:gd name="T21" fmla="*/ 2147483647 h 4763"/>
                <a:gd name="T22" fmla="*/ 2147483647 w 5398"/>
                <a:gd name="T23" fmla="*/ 2147483647 h 4763"/>
                <a:gd name="T24" fmla="*/ 2147483647 w 5398"/>
                <a:gd name="T25" fmla="*/ 2147483647 h 4763"/>
                <a:gd name="T26" fmla="*/ 2147483647 w 5398"/>
                <a:gd name="T27" fmla="*/ 2147483647 h 4763"/>
                <a:gd name="T28" fmla="*/ 2147483647 w 5398"/>
                <a:gd name="T29" fmla="*/ 2147483647 h 4763"/>
                <a:gd name="T30" fmla="*/ 2147483647 w 5398"/>
                <a:gd name="T31" fmla="*/ 2147483647 h 4763"/>
                <a:gd name="T32" fmla="*/ 2147483647 w 5398"/>
                <a:gd name="T33" fmla="*/ 2147483647 h 4763"/>
                <a:gd name="T34" fmla="*/ 2147483647 w 5398"/>
                <a:gd name="T35" fmla="*/ 2147483647 h 4763"/>
                <a:gd name="T36" fmla="*/ 2147483647 w 5398"/>
                <a:gd name="T37" fmla="*/ 2147483647 h 4763"/>
                <a:gd name="T38" fmla="*/ 2147483647 w 5398"/>
                <a:gd name="T39" fmla="*/ 2147483647 h 4763"/>
                <a:gd name="T40" fmla="*/ 2147483647 w 5398"/>
                <a:gd name="T41" fmla="*/ 2147483647 h 4763"/>
                <a:gd name="T42" fmla="*/ 2147483647 w 5398"/>
                <a:gd name="T43" fmla="*/ 2147483647 h 4763"/>
                <a:gd name="T44" fmla="*/ 2147483647 w 5398"/>
                <a:gd name="T45" fmla="*/ 2147483647 h 4763"/>
                <a:gd name="T46" fmla="*/ 2147483647 w 5398"/>
                <a:gd name="T47" fmla="*/ 2147483647 h 4763"/>
                <a:gd name="T48" fmla="*/ 2147483647 w 5398"/>
                <a:gd name="T49" fmla="*/ 2147483647 h 4763"/>
                <a:gd name="T50" fmla="*/ 2147483647 w 5398"/>
                <a:gd name="T51" fmla="*/ 2147483647 h 4763"/>
                <a:gd name="T52" fmla="*/ 2147483647 w 5398"/>
                <a:gd name="T53" fmla="*/ 2147483647 h 4763"/>
                <a:gd name="T54" fmla="*/ 2147483647 w 5398"/>
                <a:gd name="T55" fmla="*/ 2147483647 h 4763"/>
                <a:gd name="T56" fmla="*/ 2147483647 w 5398"/>
                <a:gd name="T57" fmla="*/ 2147483647 h 4763"/>
                <a:gd name="T58" fmla="*/ 2147483647 w 5398"/>
                <a:gd name="T59" fmla="*/ 2147483647 h 4763"/>
                <a:gd name="T60" fmla="*/ 2147483647 w 5398"/>
                <a:gd name="T61" fmla="*/ 2147483647 h 4763"/>
                <a:gd name="T62" fmla="*/ 2147483647 w 5398"/>
                <a:gd name="T63" fmla="*/ 2147483647 h 4763"/>
                <a:gd name="T64" fmla="*/ 2147483647 w 5398"/>
                <a:gd name="T65" fmla="*/ 2147483647 h 4763"/>
                <a:gd name="T66" fmla="*/ 2147483647 w 5398"/>
                <a:gd name="T67" fmla="*/ 2147483647 h 4763"/>
                <a:gd name="T68" fmla="*/ 2147483647 w 5398"/>
                <a:gd name="T69" fmla="*/ 2147483647 h 4763"/>
                <a:gd name="T70" fmla="*/ 2147483647 w 5398"/>
                <a:gd name="T71" fmla="*/ 2147483647 h 4763"/>
                <a:gd name="T72" fmla="*/ 2147483647 w 5398"/>
                <a:gd name="T73" fmla="*/ 2147483647 h 4763"/>
                <a:gd name="T74" fmla="*/ 2147483647 w 5398"/>
                <a:gd name="T75" fmla="*/ 2147483647 h 4763"/>
                <a:gd name="T76" fmla="*/ 2147483647 w 5398"/>
                <a:gd name="T77" fmla="*/ 2147483647 h 4763"/>
                <a:gd name="T78" fmla="*/ 2147483647 w 5398"/>
                <a:gd name="T79" fmla="*/ 2147483647 h 4763"/>
                <a:gd name="T80" fmla="*/ 2147483647 w 5398"/>
                <a:gd name="T81" fmla="*/ 2147483647 h 4763"/>
                <a:gd name="T82" fmla="*/ 2147483647 w 5398"/>
                <a:gd name="T83" fmla="*/ 2147483647 h 4763"/>
                <a:gd name="T84" fmla="*/ 2147483647 w 5398"/>
                <a:gd name="T85" fmla="*/ 2147483647 h 4763"/>
                <a:gd name="T86" fmla="*/ 2147483647 w 5398"/>
                <a:gd name="T87" fmla="*/ 2147483647 h 4763"/>
                <a:gd name="T88" fmla="*/ 2147483647 w 5398"/>
                <a:gd name="T89" fmla="*/ 2147483647 h 4763"/>
                <a:gd name="T90" fmla="*/ 2147483647 w 5398"/>
                <a:gd name="T91" fmla="*/ 2147483647 h 4763"/>
                <a:gd name="T92" fmla="*/ 2147483647 w 5398"/>
                <a:gd name="T93" fmla="*/ 2147483647 h 4763"/>
                <a:gd name="T94" fmla="*/ 2147483647 w 5398"/>
                <a:gd name="T95" fmla="*/ 2147483647 h 4763"/>
                <a:gd name="T96" fmla="*/ 2147483647 w 5398"/>
                <a:gd name="T97" fmla="*/ 2147483647 h 4763"/>
                <a:gd name="T98" fmla="*/ 2147483647 w 5398"/>
                <a:gd name="T99" fmla="*/ 2147483647 h 4763"/>
                <a:gd name="T100" fmla="*/ 2147483647 w 5398"/>
                <a:gd name="T101" fmla="*/ 2147483647 h 4763"/>
                <a:gd name="T102" fmla="*/ 2147483647 w 5398"/>
                <a:gd name="T103" fmla="*/ 2147483647 h 4763"/>
                <a:gd name="T104" fmla="*/ 2147483647 w 5398"/>
                <a:gd name="T105" fmla="*/ 2147483647 h 4763"/>
                <a:gd name="T106" fmla="*/ 2147483647 w 5398"/>
                <a:gd name="T107" fmla="*/ 2147483647 h 4763"/>
                <a:gd name="T108" fmla="*/ 2147483647 w 5398"/>
                <a:gd name="T109" fmla="*/ 2147483647 h 4763"/>
                <a:gd name="T110" fmla="*/ 2147483647 w 5398"/>
                <a:gd name="T111" fmla="*/ 2147483647 h 4763"/>
                <a:gd name="T112" fmla="*/ 2147483647 w 5398"/>
                <a:gd name="T113" fmla="*/ 2147483647 h 4763"/>
                <a:gd name="T114" fmla="*/ 2147483647 w 5398"/>
                <a:gd name="T115" fmla="*/ 2147483647 h 4763"/>
                <a:gd name="T116" fmla="*/ 2147483647 w 5398"/>
                <a:gd name="T117" fmla="*/ 2147483647 h 4763"/>
                <a:gd name="T118" fmla="*/ 2147483647 w 5398"/>
                <a:gd name="T119" fmla="*/ 2147483647 h 4763"/>
                <a:gd name="T120" fmla="*/ 2147483647 w 5398"/>
                <a:gd name="T121" fmla="*/ 2147483647 h 4763"/>
                <a:gd name="T122" fmla="*/ 2147483647 w 5398"/>
                <a:gd name="T123" fmla="*/ 2147483647 h 476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398"/>
                <a:gd name="T187" fmla="*/ 0 h 4763"/>
                <a:gd name="T188" fmla="*/ 5398 w 5398"/>
                <a:gd name="T189" fmla="*/ 4763 h 476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398" h="4763">
                  <a:moveTo>
                    <a:pt x="5307" y="3912"/>
                  </a:moveTo>
                  <a:lnTo>
                    <a:pt x="5307" y="3912"/>
                  </a:lnTo>
                  <a:lnTo>
                    <a:pt x="5328" y="3950"/>
                  </a:lnTo>
                  <a:lnTo>
                    <a:pt x="5345" y="3987"/>
                  </a:lnTo>
                  <a:lnTo>
                    <a:pt x="5360" y="4025"/>
                  </a:lnTo>
                  <a:lnTo>
                    <a:pt x="5374" y="4065"/>
                  </a:lnTo>
                  <a:lnTo>
                    <a:pt x="5383" y="4102"/>
                  </a:lnTo>
                  <a:lnTo>
                    <a:pt x="5391" y="4140"/>
                  </a:lnTo>
                  <a:lnTo>
                    <a:pt x="5395" y="4178"/>
                  </a:lnTo>
                  <a:lnTo>
                    <a:pt x="5398" y="4215"/>
                  </a:lnTo>
                  <a:lnTo>
                    <a:pt x="5398" y="4251"/>
                  </a:lnTo>
                  <a:lnTo>
                    <a:pt x="5397" y="4288"/>
                  </a:lnTo>
                  <a:lnTo>
                    <a:pt x="5391" y="4324"/>
                  </a:lnTo>
                  <a:lnTo>
                    <a:pt x="5384" y="4358"/>
                  </a:lnTo>
                  <a:lnTo>
                    <a:pt x="5376" y="4393"/>
                  </a:lnTo>
                  <a:lnTo>
                    <a:pt x="5366" y="4426"/>
                  </a:lnTo>
                  <a:lnTo>
                    <a:pt x="5352" y="4458"/>
                  </a:lnTo>
                  <a:lnTo>
                    <a:pt x="5337" y="4490"/>
                  </a:lnTo>
                  <a:lnTo>
                    <a:pt x="5319" y="4519"/>
                  </a:lnTo>
                  <a:lnTo>
                    <a:pt x="5301" y="4548"/>
                  </a:lnTo>
                  <a:lnTo>
                    <a:pt x="5279" y="4575"/>
                  </a:lnTo>
                  <a:lnTo>
                    <a:pt x="5256" y="4601"/>
                  </a:lnTo>
                  <a:lnTo>
                    <a:pt x="5230" y="4625"/>
                  </a:lnTo>
                  <a:lnTo>
                    <a:pt x="5204" y="4648"/>
                  </a:lnTo>
                  <a:lnTo>
                    <a:pt x="5176" y="4668"/>
                  </a:lnTo>
                  <a:lnTo>
                    <a:pt x="5145" y="4687"/>
                  </a:lnTo>
                  <a:lnTo>
                    <a:pt x="5114" y="4705"/>
                  </a:lnTo>
                  <a:lnTo>
                    <a:pt x="5080" y="4720"/>
                  </a:lnTo>
                  <a:lnTo>
                    <a:pt x="5045" y="4733"/>
                  </a:lnTo>
                  <a:lnTo>
                    <a:pt x="5008" y="4744"/>
                  </a:lnTo>
                  <a:lnTo>
                    <a:pt x="4970" y="4752"/>
                  </a:lnTo>
                  <a:lnTo>
                    <a:pt x="4931" y="4759"/>
                  </a:lnTo>
                  <a:lnTo>
                    <a:pt x="4889" y="4762"/>
                  </a:lnTo>
                  <a:lnTo>
                    <a:pt x="4847" y="4763"/>
                  </a:lnTo>
                  <a:lnTo>
                    <a:pt x="662" y="4762"/>
                  </a:lnTo>
                  <a:lnTo>
                    <a:pt x="605" y="4760"/>
                  </a:lnTo>
                  <a:lnTo>
                    <a:pt x="550" y="4755"/>
                  </a:lnTo>
                  <a:lnTo>
                    <a:pt x="498" y="4748"/>
                  </a:lnTo>
                  <a:lnTo>
                    <a:pt x="449" y="4737"/>
                  </a:lnTo>
                  <a:lnTo>
                    <a:pt x="402" y="4725"/>
                  </a:lnTo>
                  <a:lnTo>
                    <a:pt x="357" y="4710"/>
                  </a:lnTo>
                  <a:lnTo>
                    <a:pt x="317" y="4693"/>
                  </a:lnTo>
                  <a:lnTo>
                    <a:pt x="277" y="4672"/>
                  </a:lnTo>
                  <a:lnTo>
                    <a:pt x="241" y="4649"/>
                  </a:lnTo>
                  <a:lnTo>
                    <a:pt x="207" y="4626"/>
                  </a:lnTo>
                  <a:lnTo>
                    <a:pt x="176" y="4599"/>
                  </a:lnTo>
                  <a:lnTo>
                    <a:pt x="146" y="4571"/>
                  </a:lnTo>
                  <a:lnTo>
                    <a:pt x="120" y="4541"/>
                  </a:lnTo>
                  <a:lnTo>
                    <a:pt x="96" y="4510"/>
                  </a:lnTo>
                  <a:lnTo>
                    <a:pt x="76" y="4477"/>
                  </a:lnTo>
                  <a:lnTo>
                    <a:pt x="57" y="4444"/>
                  </a:lnTo>
                  <a:lnTo>
                    <a:pt x="41" y="4407"/>
                  </a:lnTo>
                  <a:lnTo>
                    <a:pt x="28" y="4370"/>
                  </a:lnTo>
                  <a:lnTo>
                    <a:pt x="18" y="4333"/>
                  </a:lnTo>
                  <a:lnTo>
                    <a:pt x="9" y="4295"/>
                  </a:lnTo>
                  <a:lnTo>
                    <a:pt x="3" y="4254"/>
                  </a:lnTo>
                  <a:lnTo>
                    <a:pt x="0" y="4215"/>
                  </a:lnTo>
                  <a:lnTo>
                    <a:pt x="0" y="4173"/>
                  </a:lnTo>
                  <a:lnTo>
                    <a:pt x="1" y="4132"/>
                  </a:lnTo>
                  <a:lnTo>
                    <a:pt x="7" y="4090"/>
                  </a:lnTo>
                  <a:lnTo>
                    <a:pt x="14" y="4048"/>
                  </a:lnTo>
                  <a:lnTo>
                    <a:pt x="23" y="4006"/>
                  </a:lnTo>
                  <a:lnTo>
                    <a:pt x="37" y="3964"/>
                  </a:lnTo>
                  <a:lnTo>
                    <a:pt x="51" y="3922"/>
                  </a:lnTo>
                  <a:lnTo>
                    <a:pt x="69" y="3881"/>
                  </a:lnTo>
                  <a:lnTo>
                    <a:pt x="88" y="3839"/>
                  </a:lnTo>
                  <a:lnTo>
                    <a:pt x="111" y="3797"/>
                  </a:lnTo>
                  <a:lnTo>
                    <a:pt x="2166" y="291"/>
                  </a:lnTo>
                  <a:lnTo>
                    <a:pt x="2189" y="254"/>
                  </a:lnTo>
                  <a:lnTo>
                    <a:pt x="2214" y="221"/>
                  </a:lnTo>
                  <a:lnTo>
                    <a:pt x="2241" y="189"/>
                  </a:lnTo>
                  <a:lnTo>
                    <a:pt x="2270" y="160"/>
                  </a:lnTo>
                  <a:lnTo>
                    <a:pt x="2301" y="134"/>
                  </a:lnTo>
                  <a:lnTo>
                    <a:pt x="2332" y="110"/>
                  </a:lnTo>
                  <a:lnTo>
                    <a:pt x="2366" y="88"/>
                  </a:lnTo>
                  <a:lnTo>
                    <a:pt x="2400" y="69"/>
                  </a:lnTo>
                  <a:lnTo>
                    <a:pt x="2435" y="53"/>
                  </a:lnTo>
                  <a:lnTo>
                    <a:pt x="2472" y="38"/>
                  </a:lnTo>
                  <a:lnTo>
                    <a:pt x="2508" y="26"/>
                  </a:lnTo>
                  <a:lnTo>
                    <a:pt x="2546" y="16"/>
                  </a:lnTo>
                  <a:lnTo>
                    <a:pt x="2584" y="8"/>
                  </a:lnTo>
                  <a:lnTo>
                    <a:pt x="2622" y="4"/>
                  </a:lnTo>
                  <a:lnTo>
                    <a:pt x="2661" y="1"/>
                  </a:lnTo>
                  <a:lnTo>
                    <a:pt x="2700" y="0"/>
                  </a:lnTo>
                  <a:lnTo>
                    <a:pt x="2738" y="3"/>
                  </a:lnTo>
                  <a:lnTo>
                    <a:pt x="2776" y="7"/>
                  </a:lnTo>
                  <a:lnTo>
                    <a:pt x="2815" y="14"/>
                  </a:lnTo>
                  <a:lnTo>
                    <a:pt x="2852" y="22"/>
                  </a:lnTo>
                  <a:lnTo>
                    <a:pt x="2890" y="32"/>
                  </a:lnTo>
                  <a:lnTo>
                    <a:pt x="2926" y="46"/>
                  </a:lnTo>
                  <a:lnTo>
                    <a:pt x="2962" y="61"/>
                  </a:lnTo>
                  <a:lnTo>
                    <a:pt x="2995" y="79"/>
                  </a:lnTo>
                  <a:lnTo>
                    <a:pt x="3029" y="97"/>
                  </a:lnTo>
                  <a:lnTo>
                    <a:pt x="3060" y="119"/>
                  </a:lnTo>
                  <a:lnTo>
                    <a:pt x="3092" y="142"/>
                  </a:lnTo>
                  <a:lnTo>
                    <a:pt x="3120" y="168"/>
                  </a:lnTo>
                  <a:lnTo>
                    <a:pt x="3147" y="196"/>
                  </a:lnTo>
                  <a:lnTo>
                    <a:pt x="3173" y="226"/>
                  </a:lnTo>
                  <a:lnTo>
                    <a:pt x="3196" y="259"/>
                  </a:lnTo>
                  <a:lnTo>
                    <a:pt x="3217" y="292"/>
                  </a:lnTo>
                  <a:lnTo>
                    <a:pt x="5307" y="3912"/>
                  </a:lnTo>
                  <a:close/>
                  <a:moveTo>
                    <a:pt x="5119" y="4020"/>
                  </a:moveTo>
                  <a:lnTo>
                    <a:pt x="3031" y="401"/>
                  </a:lnTo>
                  <a:lnTo>
                    <a:pt x="3017" y="379"/>
                  </a:lnTo>
                  <a:lnTo>
                    <a:pt x="3001" y="359"/>
                  </a:lnTo>
                  <a:lnTo>
                    <a:pt x="2985" y="340"/>
                  </a:lnTo>
                  <a:lnTo>
                    <a:pt x="2968" y="322"/>
                  </a:lnTo>
                  <a:lnTo>
                    <a:pt x="2949" y="306"/>
                  </a:lnTo>
                  <a:lnTo>
                    <a:pt x="2929" y="291"/>
                  </a:lnTo>
                  <a:lnTo>
                    <a:pt x="2909" y="277"/>
                  </a:lnTo>
                  <a:lnTo>
                    <a:pt x="2887" y="265"/>
                  </a:lnTo>
                  <a:lnTo>
                    <a:pt x="2865" y="254"/>
                  </a:lnTo>
                  <a:lnTo>
                    <a:pt x="2842" y="245"/>
                  </a:lnTo>
                  <a:lnTo>
                    <a:pt x="2819" y="237"/>
                  </a:lnTo>
                  <a:lnTo>
                    <a:pt x="2795" y="230"/>
                  </a:lnTo>
                  <a:lnTo>
                    <a:pt x="2771" y="225"/>
                  </a:lnTo>
                  <a:lnTo>
                    <a:pt x="2746" y="221"/>
                  </a:lnTo>
                  <a:lnTo>
                    <a:pt x="2721" y="218"/>
                  </a:lnTo>
                  <a:lnTo>
                    <a:pt x="2696" y="217"/>
                  </a:lnTo>
                  <a:lnTo>
                    <a:pt x="2671" y="218"/>
                  </a:lnTo>
                  <a:lnTo>
                    <a:pt x="2646" y="219"/>
                  </a:lnTo>
                  <a:lnTo>
                    <a:pt x="2620" y="222"/>
                  </a:lnTo>
                  <a:lnTo>
                    <a:pt x="2596" y="227"/>
                  </a:lnTo>
                  <a:lnTo>
                    <a:pt x="2572" y="233"/>
                  </a:lnTo>
                  <a:lnTo>
                    <a:pt x="2549" y="241"/>
                  </a:lnTo>
                  <a:lnTo>
                    <a:pt x="2524" y="250"/>
                  </a:lnTo>
                  <a:lnTo>
                    <a:pt x="2503" y="261"/>
                  </a:lnTo>
                  <a:lnTo>
                    <a:pt x="2480" y="273"/>
                  </a:lnTo>
                  <a:lnTo>
                    <a:pt x="2459" y="287"/>
                  </a:lnTo>
                  <a:lnTo>
                    <a:pt x="2439" y="302"/>
                  </a:lnTo>
                  <a:lnTo>
                    <a:pt x="2419" y="318"/>
                  </a:lnTo>
                  <a:lnTo>
                    <a:pt x="2401" y="337"/>
                  </a:lnTo>
                  <a:lnTo>
                    <a:pt x="2384" y="356"/>
                  </a:lnTo>
                  <a:lnTo>
                    <a:pt x="2367" y="378"/>
                  </a:lnTo>
                  <a:lnTo>
                    <a:pt x="2352" y="401"/>
                  </a:lnTo>
                  <a:lnTo>
                    <a:pt x="298" y="3906"/>
                  </a:lnTo>
                  <a:lnTo>
                    <a:pt x="282" y="3937"/>
                  </a:lnTo>
                  <a:lnTo>
                    <a:pt x="267" y="3967"/>
                  </a:lnTo>
                  <a:lnTo>
                    <a:pt x="253" y="3997"/>
                  </a:lnTo>
                  <a:lnTo>
                    <a:pt x="242" y="4027"/>
                  </a:lnTo>
                  <a:lnTo>
                    <a:pt x="233" y="4055"/>
                  </a:lnTo>
                  <a:lnTo>
                    <a:pt x="226" y="4085"/>
                  </a:lnTo>
                  <a:lnTo>
                    <a:pt x="221" y="4113"/>
                  </a:lnTo>
                  <a:lnTo>
                    <a:pt x="217" y="4142"/>
                  </a:lnTo>
                  <a:lnTo>
                    <a:pt x="214" y="4170"/>
                  </a:lnTo>
                  <a:lnTo>
                    <a:pt x="214" y="4197"/>
                  </a:lnTo>
                  <a:lnTo>
                    <a:pt x="215" y="4223"/>
                  </a:lnTo>
                  <a:lnTo>
                    <a:pt x="219" y="4250"/>
                  </a:lnTo>
                  <a:lnTo>
                    <a:pt x="225" y="4274"/>
                  </a:lnTo>
                  <a:lnTo>
                    <a:pt x="231" y="4300"/>
                  </a:lnTo>
                  <a:lnTo>
                    <a:pt x="240" y="4323"/>
                  </a:lnTo>
                  <a:lnTo>
                    <a:pt x="250" y="4346"/>
                  </a:lnTo>
                  <a:lnTo>
                    <a:pt x="263" y="4368"/>
                  </a:lnTo>
                  <a:lnTo>
                    <a:pt x="277" y="4389"/>
                  </a:lnTo>
                  <a:lnTo>
                    <a:pt x="294" y="4408"/>
                  </a:lnTo>
                  <a:lnTo>
                    <a:pt x="311" y="4427"/>
                  </a:lnTo>
                  <a:lnTo>
                    <a:pt x="330" y="4445"/>
                  </a:lnTo>
                  <a:lnTo>
                    <a:pt x="352" y="4461"/>
                  </a:lnTo>
                  <a:lnTo>
                    <a:pt x="375" y="4476"/>
                  </a:lnTo>
                  <a:lnTo>
                    <a:pt x="399" y="4491"/>
                  </a:lnTo>
                  <a:lnTo>
                    <a:pt x="426" y="4503"/>
                  </a:lnTo>
                  <a:lnTo>
                    <a:pt x="455" y="4514"/>
                  </a:lnTo>
                  <a:lnTo>
                    <a:pt x="485" y="4523"/>
                  </a:lnTo>
                  <a:lnTo>
                    <a:pt x="517" y="4530"/>
                  </a:lnTo>
                  <a:lnTo>
                    <a:pt x="551" y="4537"/>
                  </a:lnTo>
                  <a:lnTo>
                    <a:pt x="586" y="4541"/>
                  </a:lnTo>
                  <a:lnTo>
                    <a:pt x="623" y="4544"/>
                  </a:lnTo>
                  <a:lnTo>
                    <a:pt x="662" y="4545"/>
                  </a:lnTo>
                  <a:lnTo>
                    <a:pt x="4847" y="4546"/>
                  </a:lnTo>
                  <a:lnTo>
                    <a:pt x="4873" y="4546"/>
                  </a:lnTo>
                  <a:lnTo>
                    <a:pt x="4897" y="4544"/>
                  </a:lnTo>
                  <a:lnTo>
                    <a:pt x="4922" y="4541"/>
                  </a:lnTo>
                  <a:lnTo>
                    <a:pt x="4945" y="4536"/>
                  </a:lnTo>
                  <a:lnTo>
                    <a:pt x="4966" y="4529"/>
                  </a:lnTo>
                  <a:lnTo>
                    <a:pt x="4988" y="4522"/>
                  </a:lnTo>
                  <a:lnTo>
                    <a:pt x="5008" y="4513"/>
                  </a:lnTo>
                  <a:lnTo>
                    <a:pt x="5028" y="4503"/>
                  </a:lnTo>
                  <a:lnTo>
                    <a:pt x="5046" y="4492"/>
                  </a:lnTo>
                  <a:lnTo>
                    <a:pt x="5064" y="4480"/>
                  </a:lnTo>
                  <a:lnTo>
                    <a:pt x="5081" y="4467"/>
                  </a:lnTo>
                  <a:lnTo>
                    <a:pt x="5096" y="4453"/>
                  </a:lnTo>
                  <a:lnTo>
                    <a:pt x="5110" y="4437"/>
                  </a:lnTo>
                  <a:lnTo>
                    <a:pt x="5123" y="4421"/>
                  </a:lnTo>
                  <a:lnTo>
                    <a:pt x="5135" y="4404"/>
                  </a:lnTo>
                  <a:lnTo>
                    <a:pt x="5146" y="4387"/>
                  </a:lnTo>
                  <a:lnTo>
                    <a:pt x="5156" y="4368"/>
                  </a:lnTo>
                  <a:lnTo>
                    <a:pt x="5164" y="4349"/>
                  </a:lnTo>
                  <a:lnTo>
                    <a:pt x="5171" y="4329"/>
                  </a:lnTo>
                  <a:lnTo>
                    <a:pt x="5176" y="4307"/>
                  </a:lnTo>
                  <a:lnTo>
                    <a:pt x="5180" y="4285"/>
                  </a:lnTo>
                  <a:lnTo>
                    <a:pt x="5181" y="4264"/>
                  </a:lnTo>
                  <a:lnTo>
                    <a:pt x="5183" y="4241"/>
                  </a:lnTo>
                  <a:lnTo>
                    <a:pt x="5183" y="4218"/>
                  </a:lnTo>
                  <a:lnTo>
                    <a:pt x="5180" y="4195"/>
                  </a:lnTo>
                  <a:lnTo>
                    <a:pt x="5177" y="4170"/>
                  </a:lnTo>
                  <a:lnTo>
                    <a:pt x="5172" y="4146"/>
                  </a:lnTo>
                  <a:lnTo>
                    <a:pt x="5165" y="4121"/>
                  </a:lnTo>
                  <a:lnTo>
                    <a:pt x="5156" y="4096"/>
                  </a:lnTo>
                  <a:lnTo>
                    <a:pt x="5146" y="4071"/>
                  </a:lnTo>
                  <a:lnTo>
                    <a:pt x="5134" y="4046"/>
                  </a:lnTo>
                  <a:lnTo>
                    <a:pt x="5119" y="4020"/>
                  </a:lnTo>
                  <a:close/>
                  <a:moveTo>
                    <a:pt x="673" y="4253"/>
                  </a:moveTo>
                  <a:lnTo>
                    <a:pt x="673" y="4253"/>
                  </a:lnTo>
                  <a:lnTo>
                    <a:pt x="651" y="4251"/>
                  </a:lnTo>
                  <a:lnTo>
                    <a:pt x="631" y="4247"/>
                  </a:lnTo>
                  <a:lnTo>
                    <a:pt x="613" y="4242"/>
                  </a:lnTo>
                  <a:lnTo>
                    <a:pt x="597" y="4235"/>
                  </a:lnTo>
                  <a:lnTo>
                    <a:pt x="583" y="4226"/>
                  </a:lnTo>
                  <a:lnTo>
                    <a:pt x="573" y="4216"/>
                  </a:lnTo>
                  <a:lnTo>
                    <a:pt x="562" y="4204"/>
                  </a:lnTo>
                  <a:lnTo>
                    <a:pt x="555" y="4190"/>
                  </a:lnTo>
                  <a:lnTo>
                    <a:pt x="548" y="4177"/>
                  </a:lnTo>
                  <a:lnTo>
                    <a:pt x="545" y="4162"/>
                  </a:lnTo>
                  <a:lnTo>
                    <a:pt x="544" y="4146"/>
                  </a:lnTo>
                  <a:lnTo>
                    <a:pt x="544" y="4130"/>
                  </a:lnTo>
                  <a:lnTo>
                    <a:pt x="547" y="4113"/>
                  </a:lnTo>
                  <a:lnTo>
                    <a:pt x="551" y="4096"/>
                  </a:lnTo>
                  <a:lnTo>
                    <a:pt x="558" y="4079"/>
                  </a:lnTo>
                  <a:lnTo>
                    <a:pt x="567" y="4062"/>
                  </a:lnTo>
                  <a:lnTo>
                    <a:pt x="2615" y="555"/>
                  </a:lnTo>
                  <a:lnTo>
                    <a:pt x="2622" y="544"/>
                  </a:lnTo>
                  <a:lnTo>
                    <a:pt x="2630" y="536"/>
                  </a:lnTo>
                  <a:lnTo>
                    <a:pt x="2639" y="528"/>
                  </a:lnTo>
                  <a:lnTo>
                    <a:pt x="2650" y="522"/>
                  </a:lnTo>
                  <a:lnTo>
                    <a:pt x="2662" y="518"/>
                  </a:lnTo>
                  <a:lnTo>
                    <a:pt x="2675" y="514"/>
                  </a:lnTo>
                  <a:lnTo>
                    <a:pt x="2687" y="513"/>
                  </a:lnTo>
                  <a:lnTo>
                    <a:pt x="2699" y="512"/>
                  </a:lnTo>
                  <a:lnTo>
                    <a:pt x="2711" y="513"/>
                  </a:lnTo>
                  <a:lnTo>
                    <a:pt x="2725" y="514"/>
                  </a:lnTo>
                  <a:lnTo>
                    <a:pt x="2736" y="518"/>
                  </a:lnTo>
                  <a:lnTo>
                    <a:pt x="2748" y="522"/>
                  </a:lnTo>
                  <a:lnTo>
                    <a:pt x="2759" y="528"/>
                  </a:lnTo>
                  <a:lnTo>
                    <a:pt x="2768" y="536"/>
                  </a:lnTo>
                  <a:lnTo>
                    <a:pt x="2776" y="544"/>
                  </a:lnTo>
                  <a:lnTo>
                    <a:pt x="2783" y="555"/>
                  </a:lnTo>
                  <a:lnTo>
                    <a:pt x="4832" y="4062"/>
                  </a:lnTo>
                  <a:lnTo>
                    <a:pt x="4840" y="4079"/>
                  </a:lnTo>
                  <a:lnTo>
                    <a:pt x="4847" y="4096"/>
                  </a:lnTo>
                  <a:lnTo>
                    <a:pt x="4851" y="4113"/>
                  </a:lnTo>
                  <a:lnTo>
                    <a:pt x="4854" y="4130"/>
                  </a:lnTo>
                  <a:lnTo>
                    <a:pt x="4855" y="4146"/>
                  </a:lnTo>
                  <a:lnTo>
                    <a:pt x="4853" y="4162"/>
                  </a:lnTo>
                  <a:lnTo>
                    <a:pt x="4850" y="4177"/>
                  </a:lnTo>
                  <a:lnTo>
                    <a:pt x="4844" y="4190"/>
                  </a:lnTo>
                  <a:lnTo>
                    <a:pt x="4836" y="4204"/>
                  </a:lnTo>
                  <a:lnTo>
                    <a:pt x="4827" y="4216"/>
                  </a:lnTo>
                  <a:lnTo>
                    <a:pt x="4815" y="4226"/>
                  </a:lnTo>
                  <a:lnTo>
                    <a:pt x="4801" y="4235"/>
                  </a:lnTo>
                  <a:lnTo>
                    <a:pt x="4785" y="4242"/>
                  </a:lnTo>
                  <a:lnTo>
                    <a:pt x="4767" y="4247"/>
                  </a:lnTo>
                  <a:lnTo>
                    <a:pt x="4747" y="4251"/>
                  </a:lnTo>
                  <a:lnTo>
                    <a:pt x="4725" y="4253"/>
                  </a:lnTo>
                  <a:lnTo>
                    <a:pt x="673" y="4253"/>
                  </a:lnTo>
                  <a:close/>
                  <a:moveTo>
                    <a:pt x="2699" y="639"/>
                  </a:moveTo>
                  <a:lnTo>
                    <a:pt x="661" y="4117"/>
                  </a:lnTo>
                  <a:lnTo>
                    <a:pt x="658" y="4121"/>
                  </a:lnTo>
                  <a:lnTo>
                    <a:pt x="658" y="4125"/>
                  </a:lnTo>
                  <a:lnTo>
                    <a:pt x="658" y="4130"/>
                  </a:lnTo>
                  <a:lnTo>
                    <a:pt x="659" y="4135"/>
                  </a:lnTo>
                  <a:lnTo>
                    <a:pt x="662" y="4138"/>
                  </a:lnTo>
                  <a:lnTo>
                    <a:pt x="665" y="4142"/>
                  </a:lnTo>
                  <a:lnTo>
                    <a:pt x="669" y="4143"/>
                  </a:lnTo>
                  <a:lnTo>
                    <a:pt x="673" y="4144"/>
                  </a:lnTo>
                  <a:lnTo>
                    <a:pt x="4725" y="4144"/>
                  </a:lnTo>
                  <a:lnTo>
                    <a:pt x="4729" y="4143"/>
                  </a:lnTo>
                  <a:lnTo>
                    <a:pt x="4733" y="4142"/>
                  </a:lnTo>
                  <a:lnTo>
                    <a:pt x="4736" y="4138"/>
                  </a:lnTo>
                  <a:lnTo>
                    <a:pt x="4739" y="4135"/>
                  </a:lnTo>
                  <a:lnTo>
                    <a:pt x="4740" y="4130"/>
                  </a:lnTo>
                  <a:lnTo>
                    <a:pt x="4740" y="4125"/>
                  </a:lnTo>
                  <a:lnTo>
                    <a:pt x="4740" y="4121"/>
                  </a:lnTo>
                  <a:lnTo>
                    <a:pt x="4737" y="4117"/>
                  </a:lnTo>
                  <a:lnTo>
                    <a:pt x="2699" y="639"/>
                  </a:lnTo>
                  <a:close/>
                  <a:moveTo>
                    <a:pt x="2851" y="3051"/>
                  </a:moveTo>
                  <a:lnTo>
                    <a:pt x="2547" y="3051"/>
                  </a:lnTo>
                  <a:lnTo>
                    <a:pt x="2473" y="2428"/>
                  </a:lnTo>
                  <a:lnTo>
                    <a:pt x="2473" y="1494"/>
                  </a:lnTo>
                  <a:lnTo>
                    <a:pt x="2928" y="1494"/>
                  </a:lnTo>
                  <a:lnTo>
                    <a:pt x="2928" y="2428"/>
                  </a:lnTo>
                  <a:lnTo>
                    <a:pt x="2851" y="3051"/>
                  </a:lnTo>
                  <a:close/>
                  <a:moveTo>
                    <a:pt x="2975" y="3525"/>
                  </a:moveTo>
                  <a:lnTo>
                    <a:pt x="2975" y="3525"/>
                  </a:lnTo>
                  <a:lnTo>
                    <a:pt x="2974" y="3552"/>
                  </a:lnTo>
                  <a:lnTo>
                    <a:pt x="2970" y="3579"/>
                  </a:lnTo>
                  <a:lnTo>
                    <a:pt x="2962" y="3606"/>
                  </a:lnTo>
                  <a:lnTo>
                    <a:pt x="2952" y="3631"/>
                  </a:lnTo>
                  <a:lnTo>
                    <a:pt x="2940" y="3656"/>
                  </a:lnTo>
                  <a:lnTo>
                    <a:pt x="2926" y="3677"/>
                  </a:lnTo>
                  <a:lnTo>
                    <a:pt x="2910" y="3699"/>
                  </a:lnTo>
                  <a:lnTo>
                    <a:pt x="2893" y="3718"/>
                  </a:lnTo>
                  <a:lnTo>
                    <a:pt x="2872" y="3737"/>
                  </a:lnTo>
                  <a:lnTo>
                    <a:pt x="2851" y="3753"/>
                  </a:lnTo>
                  <a:lnTo>
                    <a:pt x="2828" y="3767"/>
                  </a:lnTo>
                  <a:lnTo>
                    <a:pt x="2803" y="3779"/>
                  </a:lnTo>
                  <a:lnTo>
                    <a:pt x="2779" y="3788"/>
                  </a:lnTo>
                  <a:lnTo>
                    <a:pt x="2753" y="3795"/>
                  </a:lnTo>
                  <a:lnTo>
                    <a:pt x="2726" y="3799"/>
                  </a:lnTo>
                  <a:lnTo>
                    <a:pt x="2699" y="3801"/>
                  </a:lnTo>
                  <a:lnTo>
                    <a:pt x="2672" y="3799"/>
                  </a:lnTo>
                  <a:lnTo>
                    <a:pt x="2645" y="3795"/>
                  </a:lnTo>
                  <a:lnTo>
                    <a:pt x="2619" y="3788"/>
                  </a:lnTo>
                  <a:lnTo>
                    <a:pt x="2593" y="3779"/>
                  </a:lnTo>
                  <a:lnTo>
                    <a:pt x="2569" y="3767"/>
                  </a:lnTo>
                  <a:lnTo>
                    <a:pt x="2546" y="3753"/>
                  </a:lnTo>
                  <a:lnTo>
                    <a:pt x="2526" y="3737"/>
                  </a:lnTo>
                  <a:lnTo>
                    <a:pt x="2505" y="3718"/>
                  </a:lnTo>
                  <a:lnTo>
                    <a:pt x="2488" y="3699"/>
                  </a:lnTo>
                  <a:lnTo>
                    <a:pt x="2472" y="3677"/>
                  </a:lnTo>
                  <a:lnTo>
                    <a:pt x="2458" y="3656"/>
                  </a:lnTo>
                  <a:lnTo>
                    <a:pt x="2446" y="3631"/>
                  </a:lnTo>
                  <a:lnTo>
                    <a:pt x="2436" y="3606"/>
                  </a:lnTo>
                  <a:lnTo>
                    <a:pt x="2430" y="3579"/>
                  </a:lnTo>
                  <a:lnTo>
                    <a:pt x="2426" y="3552"/>
                  </a:lnTo>
                  <a:lnTo>
                    <a:pt x="2424" y="3525"/>
                  </a:lnTo>
                  <a:lnTo>
                    <a:pt x="2426" y="3496"/>
                  </a:lnTo>
                  <a:lnTo>
                    <a:pt x="2430" y="3470"/>
                  </a:lnTo>
                  <a:lnTo>
                    <a:pt x="2436" y="3445"/>
                  </a:lnTo>
                  <a:lnTo>
                    <a:pt x="2446" y="3419"/>
                  </a:lnTo>
                  <a:lnTo>
                    <a:pt x="2458" y="3395"/>
                  </a:lnTo>
                  <a:lnTo>
                    <a:pt x="2472" y="3372"/>
                  </a:lnTo>
                  <a:lnTo>
                    <a:pt x="2488" y="3350"/>
                  </a:lnTo>
                  <a:lnTo>
                    <a:pt x="2505" y="3331"/>
                  </a:lnTo>
                  <a:lnTo>
                    <a:pt x="2526" y="3312"/>
                  </a:lnTo>
                  <a:lnTo>
                    <a:pt x="2546" y="3297"/>
                  </a:lnTo>
                  <a:lnTo>
                    <a:pt x="2569" y="3282"/>
                  </a:lnTo>
                  <a:lnTo>
                    <a:pt x="2593" y="3270"/>
                  </a:lnTo>
                  <a:lnTo>
                    <a:pt x="2619" y="3261"/>
                  </a:lnTo>
                  <a:lnTo>
                    <a:pt x="2645" y="3254"/>
                  </a:lnTo>
                  <a:lnTo>
                    <a:pt x="2672" y="3250"/>
                  </a:lnTo>
                  <a:lnTo>
                    <a:pt x="2699" y="3248"/>
                  </a:lnTo>
                  <a:lnTo>
                    <a:pt x="2726" y="3250"/>
                  </a:lnTo>
                  <a:lnTo>
                    <a:pt x="2753" y="3254"/>
                  </a:lnTo>
                  <a:lnTo>
                    <a:pt x="2779" y="3261"/>
                  </a:lnTo>
                  <a:lnTo>
                    <a:pt x="2803" y="3270"/>
                  </a:lnTo>
                  <a:lnTo>
                    <a:pt x="2828" y="3282"/>
                  </a:lnTo>
                  <a:lnTo>
                    <a:pt x="2851" y="3297"/>
                  </a:lnTo>
                  <a:lnTo>
                    <a:pt x="2872" y="3312"/>
                  </a:lnTo>
                  <a:lnTo>
                    <a:pt x="2893" y="3331"/>
                  </a:lnTo>
                  <a:lnTo>
                    <a:pt x="2910" y="3350"/>
                  </a:lnTo>
                  <a:lnTo>
                    <a:pt x="2926" y="3372"/>
                  </a:lnTo>
                  <a:lnTo>
                    <a:pt x="2940" y="3395"/>
                  </a:lnTo>
                  <a:lnTo>
                    <a:pt x="2952" y="3419"/>
                  </a:lnTo>
                  <a:lnTo>
                    <a:pt x="2962" y="3445"/>
                  </a:lnTo>
                  <a:lnTo>
                    <a:pt x="2970" y="3470"/>
                  </a:lnTo>
                  <a:lnTo>
                    <a:pt x="2974" y="3496"/>
                  </a:lnTo>
                  <a:lnTo>
                    <a:pt x="2975" y="3525"/>
                  </a:lnTo>
                  <a:close/>
                </a:path>
              </a:pathLst>
            </a:custGeom>
            <a:grpFill/>
            <a:ln>
              <a:solidFill>
                <a:schemeClr val="bg1"/>
              </a:solidFill>
              <a:headEnd/>
              <a:tailEnd/>
            </a:ln>
          </p:spPr>
          <p:style>
            <a:lnRef idx="2">
              <a:schemeClr val="accent6"/>
            </a:lnRef>
            <a:fillRef idx="1">
              <a:schemeClr val="lt1"/>
            </a:fillRef>
            <a:effectRef idx="0">
              <a:schemeClr val="accent6"/>
            </a:effectRef>
            <a:fontRef idx="minor">
              <a:schemeClr val="dk1"/>
            </a:fontRef>
          </p:style>
          <p:txBody>
            <a:bodyPr/>
            <a:lstStyle/>
            <a:p>
              <a:pPr>
                <a:spcBef>
                  <a:spcPct val="20000"/>
                </a:spcBef>
              </a:pPr>
              <a:endParaRPr lang="de-DE">
                <a:solidFill>
                  <a:schemeClr val="tx1"/>
                </a:solidFill>
              </a:endParaRPr>
            </a:p>
          </p:txBody>
        </p:sp>
      </p:grpSp>
      <p:cxnSp>
        <p:nvCxnSpPr>
          <p:cNvPr id="12" name="Gerade Verbindung 125">
            <a:extLst>
              <a:ext uri="{FF2B5EF4-FFF2-40B4-BE49-F238E27FC236}">
                <a16:creationId xmlns:a16="http://schemas.microsoft.com/office/drawing/2014/main" id="{A7B3BDAA-A82B-78D2-5153-48028E8AADA0}"/>
              </a:ext>
            </a:extLst>
          </p:cNvPr>
          <p:cNvCxnSpPr>
            <a:cxnSpLocks/>
            <a:stCxn id="9" idx="3"/>
          </p:cNvCxnSpPr>
          <p:nvPr/>
        </p:nvCxnSpPr>
        <p:spPr bwMode="gray">
          <a:xfrm>
            <a:off x="1367316" y="3841033"/>
            <a:ext cx="425904" cy="0"/>
          </a:xfrm>
          <a:prstGeom prst="line">
            <a:avLst/>
          </a:prstGeom>
          <a:ln w="12700">
            <a:solidFill>
              <a:srgbClr val="004D82"/>
            </a:solidFill>
          </a:ln>
        </p:spPr>
        <p:style>
          <a:lnRef idx="1">
            <a:schemeClr val="accent6"/>
          </a:lnRef>
          <a:fillRef idx="0">
            <a:schemeClr val="accent6"/>
          </a:fillRef>
          <a:effectRef idx="0">
            <a:schemeClr val="accent6"/>
          </a:effectRef>
          <a:fontRef idx="minor">
            <a:schemeClr val="tx1"/>
          </a:fontRef>
        </p:style>
      </p:cxnSp>
      <p:cxnSp>
        <p:nvCxnSpPr>
          <p:cNvPr id="13" name="Gerade Verbindung 126">
            <a:extLst>
              <a:ext uri="{FF2B5EF4-FFF2-40B4-BE49-F238E27FC236}">
                <a16:creationId xmlns:a16="http://schemas.microsoft.com/office/drawing/2014/main" id="{083A166E-DCA9-F1EF-EB01-7D2ADDA1BA82}"/>
              </a:ext>
            </a:extLst>
          </p:cNvPr>
          <p:cNvCxnSpPr>
            <a:cxnSpLocks/>
            <a:endCxn id="25" idx="1"/>
          </p:cNvCxnSpPr>
          <p:nvPr/>
        </p:nvCxnSpPr>
        <p:spPr bwMode="gray">
          <a:xfrm>
            <a:off x="1789914" y="3711321"/>
            <a:ext cx="1418535" cy="0"/>
          </a:xfrm>
          <a:prstGeom prst="line">
            <a:avLst/>
          </a:prstGeom>
          <a:ln w="12700">
            <a:solidFill>
              <a:srgbClr val="004D82"/>
            </a:solidFill>
          </a:ln>
        </p:spPr>
        <p:style>
          <a:lnRef idx="1">
            <a:schemeClr val="accent6"/>
          </a:lnRef>
          <a:fillRef idx="0">
            <a:schemeClr val="accent6"/>
          </a:fillRef>
          <a:effectRef idx="0">
            <a:schemeClr val="accent6"/>
          </a:effectRef>
          <a:fontRef idx="minor">
            <a:schemeClr val="tx1"/>
          </a:fontRef>
        </p:style>
      </p:cxnSp>
      <p:cxnSp>
        <p:nvCxnSpPr>
          <p:cNvPr id="14" name="Gerade Verbindung 127">
            <a:extLst>
              <a:ext uri="{FF2B5EF4-FFF2-40B4-BE49-F238E27FC236}">
                <a16:creationId xmlns:a16="http://schemas.microsoft.com/office/drawing/2014/main" id="{7F5D5354-4AED-2700-D004-6E687BF49393}"/>
              </a:ext>
            </a:extLst>
          </p:cNvPr>
          <p:cNvCxnSpPr>
            <a:cxnSpLocks/>
            <a:endCxn id="21" idx="1"/>
          </p:cNvCxnSpPr>
          <p:nvPr/>
        </p:nvCxnSpPr>
        <p:spPr bwMode="gray">
          <a:xfrm>
            <a:off x="1789914" y="2243556"/>
            <a:ext cx="1415229" cy="0"/>
          </a:xfrm>
          <a:prstGeom prst="line">
            <a:avLst/>
          </a:prstGeom>
          <a:ln w="12700">
            <a:solidFill>
              <a:srgbClr val="004D82"/>
            </a:solidFill>
          </a:ln>
        </p:spPr>
        <p:style>
          <a:lnRef idx="1">
            <a:schemeClr val="accent6"/>
          </a:lnRef>
          <a:fillRef idx="0">
            <a:schemeClr val="accent6"/>
          </a:fillRef>
          <a:effectRef idx="0">
            <a:schemeClr val="accent6"/>
          </a:effectRef>
          <a:fontRef idx="minor">
            <a:schemeClr val="tx1"/>
          </a:fontRef>
        </p:style>
      </p:cxnSp>
      <p:cxnSp>
        <p:nvCxnSpPr>
          <p:cNvPr id="15" name="Gerade Verbindung 128">
            <a:extLst>
              <a:ext uri="{FF2B5EF4-FFF2-40B4-BE49-F238E27FC236}">
                <a16:creationId xmlns:a16="http://schemas.microsoft.com/office/drawing/2014/main" id="{8E64A597-B428-9BC9-92D3-C90D1E8C3701}"/>
              </a:ext>
            </a:extLst>
          </p:cNvPr>
          <p:cNvCxnSpPr>
            <a:cxnSpLocks/>
            <a:endCxn id="35" idx="1"/>
          </p:cNvCxnSpPr>
          <p:nvPr/>
        </p:nvCxnSpPr>
        <p:spPr bwMode="gray">
          <a:xfrm>
            <a:off x="1789914" y="5825906"/>
            <a:ext cx="1424482" cy="0"/>
          </a:xfrm>
          <a:prstGeom prst="line">
            <a:avLst/>
          </a:prstGeom>
          <a:ln w="12700">
            <a:solidFill>
              <a:srgbClr val="004D82"/>
            </a:solidFill>
          </a:ln>
        </p:spPr>
        <p:style>
          <a:lnRef idx="1">
            <a:schemeClr val="accent6"/>
          </a:lnRef>
          <a:fillRef idx="0">
            <a:schemeClr val="accent6"/>
          </a:fillRef>
          <a:effectRef idx="0">
            <a:schemeClr val="accent6"/>
          </a:effectRef>
          <a:fontRef idx="minor">
            <a:schemeClr val="tx1"/>
          </a:fontRef>
        </p:style>
      </p:cxnSp>
      <p:cxnSp>
        <p:nvCxnSpPr>
          <p:cNvPr id="16" name="Straight Connector 15">
            <a:extLst>
              <a:ext uri="{FF2B5EF4-FFF2-40B4-BE49-F238E27FC236}">
                <a16:creationId xmlns:a16="http://schemas.microsoft.com/office/drawing/2014/main" id="{3AD2EC66-2A80-AF1C-1DF6-72E1C3DCA814}"/>
              </a:ext>
            </a:extLst>
          </p:cNvPr>
          <p:cNvCxnSpPr>
            <a:cxnSpLocks/>
          </p:cNvCxnSpPr>
          <p:nvPr/>
        </p:nvCxnSpPr>
        <p:spPr bwMode="auto">
          <a:xfrm>
            <a:off x="1789914" y="2228548"/>
            <a:ext cx="0" cy="3591384"/>
          </a:xfrm>
          <a:prstGeom prst="line">
            <a:avLst/>
          </a:prstGeom>
          <a:ln w="12700">
            <a:solidFill>
              <a:srgbClr val="004D82"/>
            </a:solidFill>
          </a:ln>
        </p:spPr>
        <p:style>
          <a:lnRef idx="1">
            <a:schemeClr val="accent6"/>
          </a:lnRef>
          <a:fillRef idx="0">
            <a:schemeClr val="accent6"/>
          </a:fillRef>
          <a:effectRef idx="0">
            <a:schemeClr val="accent6"/>
          </a:effectRef>
          <a:fontRef idx="minor">
            <a:schemeClr val="tx1"/>
          </a:fontRef>
        </p:style>
      </p:cxnSp>
      <p:cxnSp>
        <p:nvCxnSpPr>
          <p:cNvPr id="17" name="Gerade Verbindung 126">
            <a:extLst>
              <a:ext uri="{FF2B5EF4-FFF2-40B4-BE49-F238E27FC236}">
                <a16:creationId xmlns:a16="http://schemas.microsoft.com/office/drawing/2014/main" id="{D08C83C8-A1CF-AF5D-F87B-04521FF3D41E}"/>
              </a:ext>
            </a:extLst>
          </p:cNvPr>
          <p:cNvCxnSpPr>
            <a:cxnSpLocks/>
            <a:endCxn id="30" idx="1"/>
          </p:cNvCxnSpPr>
          <p:nvPr/>
        </p:nvCxnSpPr>
        <p:spPr bwMode="gray">
          <a:xfrm>
            <a:off x="1789914" y="4854967"/>
            <a:ext cx="1415229" cy="0"/>
          </a:xfrm>
          <a:prstGeom prst="line">
            <a:avLst/>
          </a:prstGeom>
          <a:ln w="12700">
            <a:solidFill>
              <a:srgbClr val="004D82"/>
            </a:solidFill>
          </a:ln>
        </p:spPr>
        <p:style>
          <a:lnRef idx="1">
            <a:schemeClr val="accent6"/>
          </a:lnRef>
          <a:fillRef idx="0">
            <a:schemeClr val="accent6"/>
          </a:fillRef>
          <a:effectRef idx="0">
            <a:schemeClr val="accent6"/>
          </a:effectRef>
          <a:fontRef idx="minor">
            <a:schemeClr val="tx1"/>
          </a:fontRef>
        </p:style>
      </p:cxnSp>
      <p:grpSp>
        <p:nvGrpSpPr>
          <p:cNvPr id="18" name="Group 17">
            <a:extLst>
              <a:ext uri="{FF2B5EF4-FFF2-40B4-BE49-F238E27FC236}">
                <a16:creationId xmlns:a16="http://schemas.microsoft.com/office/drawing/2014/main" id="{5366FEB0-D1C7-A44B-4A37-A025949AE499}"/>
              </a:ext>
            </a:extLst>
          </p:cNvPr>
          <p:cNvGrpSpPr/>
          <p:nvPr/>
        </p:nvGrpSpPr>
        <p:grpSpPr>
          <a:xfrm>
            <a:off x="3205143" y="1830446"/>
            <a:ext cx="837119" cy="826219"/>
            <a:chOff x="4981926" y="1148181"/>
            <a:chExt cx="1080120" cy="1066056"/>
          </a:xfrm>
          <a:solidFill>
            <a:srgbClr val="004D82"/>
          </a:solidFill>
        </p:grpSpPr>
        <p:grpSp>
          <p:nvGrpSpPr>
            <p:cNvPr id="19" name="Gruppieren 6">
              <a:extLst>
                <a:ext uri="{FF2B5EF4-FFF2-40B4-BE49-F238E27FC236}">
                  <a16:creationId xmlns:a16="http://schemas.microsoft.com/office/drawing/2014/main" id="{4C04CE60-489F-607B-ECF2-CA1E159CFD28}"/>
                </a:ext>
              </a:extLst>
            </p:cNvPr>
            <p:cNvGrpSpPr/>
            <p:nvPr/>
          </p:nvGrpSpPr>
          <p:grpSpPr>
            <a:xfrm>
              <a:off x="4981926" y="1148181"/>
              <a:ext cx="1080120" cy="1066056"/>
              <a:chOff x="779463" y="3076385"/>
              <a:chExt cx="1198563" cy="1198563"/>
            </a:xfrm>
            <a:grpFill/>
            <a:effectLst/>
          </p:grpSpPr>
          <p:sp>
            <p:nvSpPr>
              <p:cNvPr id="21" name="AutoShape 161" descr="© INSCALE GmbH, 26.05.2010&#10;http://www.presentationload.com/">
                <a:extLst>
                  <a:ext uri="{FF2B5EF4-FFF2-40B4-BE49-F238E27FC236}">
                    <a16:creationId xmlns:a16="http://schemas.microsoft.com/office/drawing/2014/main" id="{8438AA53-0833-BA4F-FF8D-C40B92F60C84}"/>
                  </a:ext>
                </a:extLst>
              </p:cNvPr>
              <p:cNvSpPr>
                <a:spLocks noChangeAspect="1" noChangeArrowheads="1"/>
              </p:cNvSpPr>
              <p:nvPr/>
            </p:nvSpPr>
            <p:spPr bwMode="gray">
              <a:xfrm>
                <a:off x="779463" y="3076385"/>
                <a:ext cx="1198563" cy="1198563"/>
              </a:xfrm>
              <a:prstGeom prst="rect">
                <a:avLst/>
              </a:prstGeom>
              <a:grpFill/>
              <a:ln>
                <a:headEnd/>
                <a:tailEnd/>
              </a:ln>
            </p:spPr>
            <p:style>
              <a:lnRef idx="2">
                <a:schemeClr val="accent6"/>
              </a:lnRef>
              <a:fillRef idx="1">
                <a:schemeClr val="lt1"/>
              </a:fillRef>
              <a:effectRef idx="0">
                <a:schemeClr val="accent6"/>
              </a:effectRef>
              <a:fontRef idx="minor">
                <a:schemeClr val="dk1"/>
              </a:fontRef>
            </p:style>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sp>
            <p:nvSpPr>
              <p:cNvPr id="22" name="AutoShape 162" descr="© INSCALE GmbH, 26.05.2010&#10;http://www.presentationload.com/">
                <a:extLst>
                  <a:ext uri="{FF2B5EF4-FFF2-40B4-BE49-F238E27FC236}">
                    <a16:creationId xmlns:a16="http://schemas.microsoft.com/office/drawing/2014/main" id="{BF8C3F92-715E-DCD8-D099-74A81DE124FA}"/>
                  </a:ext>
                </a:extLst>
              </p:cNvPr>
              <p:cNvSpPr>
                <a:spLocks noChangeAspect="1" noChangeArrowheads="1"/>
              </p:cNvSpPr>
              <p:nvPr/>
            </p:nvSpPr>
            <p:spPr bwMode="gray">
              <a:xfrm>
                <a:off x="843242" y="3140164"/>
                <a:ext cx="1071005" cy="1071005"/>
              </a:xfrm>
              <a:prstGeom prst="rect">
                <a:avLst/>
              </a:prstGeom>
              <a:grpFill/>
              <a:ln w="25400" cap="flat" cmpd="sng" algn="ctr">
                <a:solidFill>
                  <a:schemeClr val="bg1"/>
                </a:solidFill>
                <a:prstDash val="soli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cs typeface="+mn-cs"/>
                </a:endParaRPr>
              </a:p>
            </p:txBody>
          </p:sp>
          <p:sp>
            <p:nvSpPr>
              <p:cNvPr id="23" name="AutoShape 164" descr="© INSCALE GmbH, 26.05.2010&#10;http://www.presentationload.com/">
                <a:extLst>
                  <a:ext uri="{FF2B5EF4-FFF2-40B4-BE49-F238E27FC236}">
                    <a16:creationId xmlns:a16="http://schemas.microsoft.com/office/drawing/2014/main" id="{28B26293-D561-AE10-9EFD-D14D67BB908A}"/>
                  </a:ext>
                </a:extLst>
              </p:cNvPr>
              <p:cNvSpPr>
                <a:spLocks noChangeAspect="1" noChangeArrowheads="1"/>
              </p:cNvSpPr>
              <p:nvPr/>
            </p:nvSpPr>
            <p:spPr bwMode="gray">
              <a:xfrm>
                <a:off x="891956" y="3178418"/>
                <a:ext cx="986769" cy="989176"/>
              </a:xfrm>
              <a:prstGeom prst="rect">
                <a:avLst/>
              </a:prstGeom>
              <a:grpFill/>
              <a:ln w="9525">
                <a:noFill/>
                <a:roun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grpSp>
        <p:sp>
          <p:nvSpPr>
            <p:cNvPr id="20" name="Freeform 7">
              <a:extLst>
                <a:ext uri="{FF2B5EF4-FFF2-40B4-BE49-F238E27FC236}">
                  <a16:creationId xmlns:a16="http://schemas.microsoft.com/office/drawing/2014/main" id="{C713893A-C680-01DD-0036-EBF1898D0A49}"/>
                </a:ext>
              </a:extLst>
            </p:cNvPr>
            <p:cNvSpPr>
              <a:spLocks noChangeAspect="1" noEditPoints="1"/>
            </p:cNvSpPr>
            <p:nvPr/>
          </p:nvSpPr>
          <p:spPr bwMode="auto">
            <a:xfrm>
              <a:off x="5230948" y="1516288"/>
              <a:ext cx="582077" cy="329842"/>
            </a:xfrm>
            <a:custGeom>
              <a:avLst/>
              <a:gdLst>
                <a:gd name="T0" fmla="*/ 2147483647 w 6734"/>
                <a:gd name="T1" fmla="*/ 2147483647 h 3835"/>
                <a:gd name="T2" fmla="*/ 2147483647 w 6734"/>
                <a:gd name="T3" fmla="*/ 2147483647 h 3835"/>
                <a:gd name="T4" fmla="*/ 2147483647 w 6734"/>
                <a:gd name="T5" fmla="*/ 2147483647 h 3835"/>
                <a:gd name="T6" fmla="*/ 2147483647 w 6734"/>
                <a:gd name="T7" fmla="*/ 2147483647 h 3835"/>
                <a:gd name="T8" fmla="*/ 2147483647 w 6734"/>
                <a:gd name="T9" fmla="*/ 2147483647 h 3835"/>
                <a:gd name="T10" fmla="*/ 2147483647 w 6734"/>
                <a:gd name="T11" fmla="*/ 2147483647 h 3835"/>
                <a:gd name="T12" fmla="*/ 2147483647 w 6734"/>
                <a:gd name="T13" fmla="*/ 2147483647 h 3835"/>
                <a:gd name="T14" fmla="*/ 2147483647 w 6734"/>
                <a:gd name="T15" fmla="*/ 2147483647 h 3835"/>
                <a:gd name="T16" fmla="*/ 2147483647 w 6734"/>
                <a:gd name="T17" fmla="*/ 2147483647 h 3835"/>
                <a:gd name="T18" fmla="*/ 2147483647 w 6734"/>
                <a:gd name="T19" fmla="*/ 2147483647 h 3835"/>
                <a:gd name="T20" fmla="*/ 2147483647 w 6734"/>
                <a:gd name="T21" fmla="*/ 2147483647 h 3835"/>
                <a:gd name="T22" fmla="*/ 2147483647 w 6734"/>
                <a:gd name="T23" fmla="*/ 2147483647 h 3835"/>
                <a:gd name="T24" fmla="*/ 2147483647 w 6734"/>
                <a:gd name="T25" fmla="*/ 2147483647 h 3835"/>
                <a:gd name="T26" fmla="*/ 2147483647 w 6734"/>
                <a:gd name="T27" fmla="*/ 2147483647 h 3835"/>
                <a:gd name="T28" fmla="*/ 2147483647 w 6734"/>
                <a:gd name="T29" fmla="*/ 2147483647 h 3835"/>
                <a:gd name="T30" fmla="*/ 2147483647 w 6734"/>
                <a:gd name="T31" fmla="*/ 2147483647 h 3835"/>
                <a:gd name="T32" fmla="*/ 2147483647 w 6734"/>
                <a:gd name="T33" fmla="*/ 2147483647 h 3835"/>
                <a:gd name="T34" fmla="*/ 2147483647 w 6734"/>
                <a:gd name="T35" fmla="*/ 2147483647 h 3835"/>
                <a:gd name="T36" fmla="*/ 2147483647 w 6734"/>
                <a:gd name="T37" fmla="*/ 2147483647 h 3835"/>
                <a:gd name="T38" fmla="*/ 2147483647 w 6734"/>
                <a:gd name="T39" fmla="*/ 2147483647 h 3835"/>
                <a:gd name="T40" fmla="*/ 2147483647 w 6734"/>
                <a:gd name="T41" fmla="*/ 2147483647 h 3835"/>
                <a:gd name="T42" fmla="*/ 2147483647 w 6734"/>
                <a:gd name="T43" fmla="*/ 2147483647 h 3835"/>
                <a:gd name="T44" fmla="*/ 2147483647 w 6734"/>
                <a:gd name="T45" fmla="*/ 2147483647 h 3835"/>
                <a:gd name="T46" fmla="*/ 2147483647 w 6734"/>
                <a:gd name="T47" fmla="*/ 2147483647 h 3835"/>
                <a:gd name="T48" fmla="*/ 2147483647 w 6734"/>
                <a:gd name="T49" fmla="*/ 2147483647 h 3835"/>
                <a:gd name="T50" fmla="*/ 2147483647 w 6734"/>
                <a:gd name="T51" fmla="*/ 2147483647 h 3835"/>
                <a:gd name="T52" fmla="*/ 2147483647 w 6734"/>
                <a:gd name="T53" fmla="*/ 2147483647 h 3835"/>
                <a:gd name="T54" fmla="*/ 2147483647 w 6734"/>
                <a:gd name="T55" fmla="*/ 2147483647 h 3835"/>
                <a:gd name="T56" fmla="*/ 2147483647 w 6734"/>
                <a:gd name="T57" fmla="*/ 2147483647 h 3835"/>
                <a:gd name="T58" fmla="*/ 2147483647 w 6734"/>
                <a:gd name="T59" fmla="*/ 2147483647 h 3835"/>
                <a:gd name="T60" fmla="*/ 2147483647 w 6734"/>
                <a:gd name="T61" fmla="*/ 2147483647 h 3835"/>
                <a:gd name="T62" fmla="*/ 2147483647 w 6734"/>
                <a:gd name="T63" fmla="*/ 2147483647 h 3835"/>
                <a:gd name="T64" fmla="*/ 2147483647 w 6734"/>
                <a:gd name="T65" fmla="*/ 2147483647 h 3835"/>
                <a:gd name="T66" fmla="*/ 2147483647 w 6734"/>
                <a:gd name="T67" fmla="*/ 2147483647 h 3835"/>
                <a:gd name="T68" fmla="*/ 2147483647 w 6734"/>
                <a:gd name="T69" fmla="*/ 2147483647 h 3835"/>
                <a:gd name="T70" fmla="*/ 2147483647 w 6734"/>
                <a:gd name="T71" fmla="*/ 2147483647 h 3835"/>
                <a:gd name="T72" fmla="*/ 2147483647 w 6734"/>
                <a:gd name="T73" fmla="*/ 2147483647 h 3835"/>
                <a:gd name="T74" fmla="*/ 2147483647 w 6734"/>
                <a:gd name="T75" fmla="*/ 2147483647 h 3835"/>
                <a:gd name="T76" fmla="*/ 2147483647 w 6734"/>
                <a:gd name="T77" fmla="*/ 2147483647 h 3835"/>
                <a:gd name="T78" fmla="*/ 2147483647 w 6734"/>
                <a:gd name="T79" fmla="*/ 2147483647 h 3835"/>
                <a:gd name="T80" fmla="*/ 2147483647 w 6734"/>
                <a:gd name="T81" fmla="*/ 2147483647 h 3835"/>
                <a:gd name="T82" fmla="*/ 2147483647 w 6734"/>
                <a:gd name="T83" fmla="*/ 2147483647 h 3835"/>
                <a:gd name="T84" fmla="*/ 2147483647 w 6734"/>
                <a:gd name="T85" fmla="*/ 2147483647 h 3835"/>
                <a:gd name="T86" fmla="*/ 2147483647 w 6734"/>
                <a:gd name="T87" fmla="*/ 2147483647 h 3835"/>
                <a:gd name="T88" fmla="*/ 2147483647 w 6734"/>
                <a:gd name="T89" fmla="*/ 2147483647 h 3835"/>
                <a:gd name="T90" fmla="*/ 2147483647 w 6734"/>
                <a:gd name="T91" fmla="*/ 2147483647 h 3835"/>
                <a:gd name="T92" fmla="*/ 2147483647 w 6734"/>
                <a:gd name="T93" fmla="*/ 2147483647 h 3835"/>
                <a:gd name="T94" fmla="*/ 2147483647 w 6734"/>
                <a:gd name="T95" fmla="*/ 2147483647 h 3835"/>
                <a:gd name="T96" fmla="*/ 2147483647 w 6734"/>
                <a:gd name="T97" fmla="*/ 2147483647 h 3835"/>
                <a:gd name="T98" fmla="*/ 2147483647 w 6734"/>
                <a:gd name="T99" fmla="*/ 2147483647 h 3835"/>
                <a:gd name="T100" fmla="*/ 2147483647 w 6734"/>
                <a:gd name="T101" fmla="*/ 2147483647 h 3835"/>
                <a:gd name="T102" fmla="*/ 2147483647 w 6734"/>
                <a:gd name="T103" fmla="*/ 2147483647 h 3835"/>
                <a:gd name="T104" fmla="*/ 2147483647 w 6734"/>
                <a:gd name="T105" fmla="*/ 2147483647 h 3835"/>
                <a:gd name="T106" fmla="*/ 2147483647 w 6734"/>
                <a:gd name="T107" fmla="*/ 2147483647 h 3835"/>
                <a:gd name="T108" fmla="*/ 2147483647 w 6734"/>
                <a:gd name="T109" fmla="*/ 2147483647 h 3835"/>
                <a:gd name="T110" fmla="*/ 2147483647 w 6734"/>
                <a:gd name="T111" fmla="*/ 2147483647 h 3835"/>
                <a:gd name="T112" fmla="*/ 2147483647 w 6734"/>
                <a:gd name="T113" fmla="*/ 2147483647 h 383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734"/>
                <a:gd name="T172" fmla="*/ 0 h 3835"/>
                <a:gd name="T173" fmla="*/ 6734 w 6734"/>
                <a:gd name="T174" fmla="*/ 3835 h 383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734" h="3835">
                  <a:moveTo>
                    <a:pt x="6640" y="1028"/>
                  </a:moveTo>
                  <a:lnTo>
                    <a:pt x="6640" y="1028"/>
                  </a:lnTo>
                  <a:lnTo>
                    <a:pt x="6614" y="1007"/>
                  </a:lnTo>
                  <a:lnTo>
                    <a:pt x="6587" y="988"/>
                  </a:lnTo>
                  <a:lnTo>
                    <a:pt x="6558" y="970"/>
                  </a:lnTo>
                  <a:lnTo>
                    <a:pt x="6525" y="956"/>
                  </a:lnTo>
                  <a:lnTo>
                    <a:pt x="6491" y="944"/>
                  </a:lnTo>
                  <a:lnTo>
                    <a:pt x="6456" y="933"/>
                  </a:lnTo>
                  <a:lnTo>
                    <a:pt x="6420" y="926"/>
                  </a:lnTo>
                  <a:lnTo>
                    <a:pt x="6379" y="921"/>
                  </a:lnTo>
                  <a:lnTo>
                    <a:pt x="6339" y="918"/>
                  </a:lnTo>
                  <a:lnTo>
                    <a:pt x="6297" y="918"/>
                  </a:lnTo>
                  <a:lnTo>
                    <a:pt x="6255" y="921"/>
                  </a:lnTo>
                  <a:lnTo>
                    <a:pt x="6210" y="926"/>
                  </a:lnTo>
                  <a:lnTo>
                    <a:pt x="6164" y="935"/>
                  </a:lnTo>
                  <a:lnTo>
                    <a:pt x="6117" y="946"/>
                  </a:lnTo>
                  <a:lnTo>
                    <a:pt x="6070" y="960"/>
                  </a:lnTo>
                  <a:lnTo>
                    <a:pt x="6021" y="975"/>
                  </a:lnTo>
                  <a:lnTo>
                    <a:pt x="4738" y="1449"/>
                  </a:lnTo>
                  <a:lnTo>
                    <a:pt x="3475" y="1449"/>
                  </a:lnTo>
                  <a:lnTo>
                    <a:pt x="3419" y="1293"/>
                  </a:lnTo>
                  <a:lnTo>
                    <a:pt x="3457" y="1273"/>
                  </a:lnTo>
                  <a:lnTo>
                    <a:pt x="3494" y="1252"/>
                  </a:lnTo>
                  <a:lnTo>
                    <a:pt x="3531" y="1229"/>
                  </a:lnTo>
                  <a:lnTo>
                    <a:pt x="3567" y="1204"/>
                  </a:lnTo>
                  <a:lnTo>
                    <a:pt x="3602" y="1178"/>
                  </a:lnTo>
                  <a:lnTo>
                    <a:pt x="3637" y="1154"/>
                  </a:lnTo>
                  <a:lnTo>
                    <a:pt x="3670" y="1126"/>
                  </a:lnTo>
                  <a:lnTo>
                    <a:pt x="3702" y="1099"/>
                  </a:lnTo>
                  <a:lnTo>
                    <a:pt x="3763" y="1044"/>
                  </a:lnTo>
                  <a:lnTo>
                    <a:pt x="3817" y="989"/>
                  </a:lnTo>
                  <a:lnTo>
                    <a:pt x="3866" y="937"/>
                  </a:lnTo>
                  <a:lnTo>
                    <a:pt x="3908" y="888"/>
                  </a:lnTo>
                  <a:lnTo>
                    <a:pt x="3929" y="860"/>
                  </a:lnTo>
                  <a:lnTo>
                    <a:pt x="3950" y="832"/>
                  </a:lnTo>
                  <a:lnTo>
                    <a:pt x="3967" y="804"/>
                  </a:lnTo>
                  <a:lnTo>
                    <a:pt x="3983" y="776"/>
                  </a:lnTo>
                  <a:lnTo>
                    <a:pt x="3999" y="748"/>
                  </a:lnTo>
                  <a:lnTo>
                    <a:pt x="4011" y="720"/>
                  </a:lnTo>
                  <a:lnTo>
                    <a:pt x="4022" y="690"/>
                  </a:lnTo>
                  <a:lnTo>
                    <a:pt x="4032" y="662"/>
                  </a:lnTo>
                  <a:lnTo>
                    <a:pt x="4039" y="635"/>
                  </a:lnTo>
                  <a:lnTo>
                    <a:pt x="4046" y="607"/>
                  </a:lnTo>
                  <a:lnTo>
                    <a:pt x="4051" y="579"/>
                  </a:lnTo>
                  <a:lnTo>
                    <a:pt x="4053" y="551"/>
                  </a:lnTo>
                  <a:lnTo>
                    <a:pt x="4057" y="521"/>
                  </a:lnTo>
                  <a:lnTo>
                    <a:pt x="4057" y="493"/>
                  </a:lnTo>
                  <a:lnTo>
                    <a:pt x="4055" y="465"/>
                  </a:lnTo>
                  <a:lnTo>
                    <a:pt x="4053" y="437"/>
                  </a:lnTo>
                  <a:lnTo>
                    <a:pt x="4050" y="409"/>
                  </a:lnTo>
                  <a:lnTo>
                    <a:pt x="4044" y="381"/>
                  </a:lnTo>
                  <a:lnTo>
                    <a:pt x="4039" y="353"/>
                  </a:lnTo>
                  <a:lnTo>
                    <a:pt x="4032" y="325"/>
                  </a:lnTo>
                  <a:lnTo>
                    <a:pt x="4016" y="271"/>
                  </a:lnTo>
                  <a:lnTo>
                    <a:pt x="3995" y="215"/>
                  </a:lnTo>
                  <a:lnTo>
                    <a:pt x="3971" y="161"/>
                  </a:lnTo>
                  <a:lnTo>
                    <a:pt x="3943" y="107"/>
                  </a:lnTo>
                  <a:lnTo>
                    <a:pt x="3912" y="52"/>
                  </a:lnTo>
                  <a:lnTo>
                    <a:pt x="3878" y="0"/>
                  </a:lnTo>
                  <a:lnTo>
                    <a:pt x="3106" y="327"/>
                  </a:lnTo>
                  <a:lnTo>
                    <a:pt x="3043" y="315"/>
                  </a:lnTo>
                  <a:lnTo>
                    <a:pt x="2982" y="302"/>
                  </a:lnTo>
                  <a:lnTo>
                    <a:pt x="2922" y="294"/>
                  </a:lnTo>
                  <a:lnTo>
                    <a:pt x="2863" y="287"/>
                  </a:lnTo>
                  <a:lnTo>
                    <a:pt x="2803" y="280"/>
                  </a:lnTo>
                  <a:lnTo>
                    <a:pt x="2746" y="274"/>
                  </a:lnTo>
                  <a:lnTo>
                    <a:pt x="2690" y="271"/>
                  </a:lnTo>
                  <a:lnTo>
                    <a:pt x="2634" y="269"/>
                  </a:lnTo>
                  <a:lnTo>
                    <a:pt x="2580" y="269"/>
                  </a:lnTo>
                  <a:lnTo>
                    <a:pt x="2526" y="271"/>
                  </a:lnTo>
                  <a:lnTo>
                    <a:pt x="2471" y="274"/>
                  </a:lnTo>
                  <a:lnTo>
                    <a:pt x="2421" y="278"/>
                  </a:lnTo>
                  <a:lnTo>
                    <a:pt x="2368" y="285"/>
                  </a:lnTo>
                  <a:lnTo>
                    <a:pt x="2318" y="292"/>
                  </a:lnTo>
                  <a:lnTo>
                    <a:pt x="2269" y="301"/>
                  </a:lnTo>
                  <a:lnTo>
                    <a:pt x="2220" y="311"/>
                  </a:lnTo>
                  <a:lnTo>
                    <a:pt x="2171" y="323"/>
                  </a:lnTo>
                  <a:lnTo>
                    <a:pt x="2124" y="337"/>
                  </a:lnTo>
                  <a:lnTo>
                    <a:pt x="2078" y="353"/>
                  </a:lnTo>
                  <a:lnTo>
                    <a:pt x="2033" y="371"/>
                  </a:lnTo>
                  <a:lnTo>
                    <a:pt x="1987" y="388"/>
                  </a:lnTo>
                  <a:lnTo>
                    <a:pt x="1944" y="409"/>
                  </a:lnTo>
                  <a:lnTo>
                    <a:pt x="1900" y="430"/>
                  </a:lnTo>
                  <a:lnTo>
                    <a:pt x="1858" y="453"/>
                  </a:lnTo>
                  <a:lnTo>
                    <a:pt x="1816" y="479"/>
                  </a:lnTo>
                  <a:lnTo>
                    <a:pt x="1774" y="505"/>
                  </a:lnTo>
                  <a:lnTo>
                    <a:pt x="1734" y="533"/>
                  </a:lnTo>
                  <a:lnTo>
                    <a:pt x="1695" y="563"/>
                  </a:lnTo>
                  <a:lnTo>
                    <a:pt x="1657" y="593"/>
                  </a:lnTo>
                  <a:lnTo>
                    <a:pt x="1618" y="626"/>
                  </a:lnTo>
                  <a:lnTo>
                    <a:pt x="1582" y="661"/>
                  </a:lnTo>
                  <a:lnTo>
                    <a:pt x="1545" y="696"/>
                  </a:lnTo>
                  <a:lnTo>
                    <a:pt x="1542" y="1129"/>
                  </a:lnTo>
                  <a:lnTo>
                    <a:pt x="1550" y="1134"/>
                  </a:lnTo>
                  <a:lnTo>
                    <a:pt x="1587" y="1080"/>
                  </a:lnTo>
                  <a:lnTo>
                    <a:pt x="1625" y="1028"/>
                  </a:lnTo>
                  <a:lnTo>
                    <a:pt x="1664" y="981"/>
                  </a:lnTo>
                  <a:lnTo>
                    <a:pt x="1704" y="933"/>
                  </a:lnTo>
                  <a:lnTo>
                    <a:pt x="1744" y="891"/>
                  </a:lnTo>
                  <a:lnTo>
                    <a:pt x="1786" y="851"/>
                  </a:lnTo>
                  <a:lnTo>
                    <a:pt x="1828" y="815"/>
                  </a:lnTo>
                  <a:lnTo>
                    <a:pt x="1870" y="780"/>
                  </a:lnTo>
                  <a:lnTo>
                    <a:pt x="1914" y="748"/>
                  </a:lnTo>
                  <a:lnTo>
                    <a:pt x="1958" y="718"/>
                  </a:lnTo>
                  <a:lnTo>
                    <a:pt x="2003" y="692"/>
                  </a:lnTo>
                  <a:lnTo>
                    <a:pt x="2048" y="668"/>
                  </a:lnTo>
                  <a:lnTo>
                    <a:pt x="2096" y="647"/>
                  </a:lnTo>
                  <a:lnTo>
                    <a:pt x="2143" y="628"/>
                  </a:lnTo>
                  <a:lnTo>
                    <a:pt x="2190" y="610"/>
                  </a:lnTo>
                  <a:lnTo>
                    <a:pt x="2239" y="594"/>
                  </a:lnTo>
                  <a:lnTo>
                    <a:pt x="2288" y="582"/>
                  </a:lnTo>
                  <a:lnTo>
                    <a:pt x="2339" y="572"/>
                  </a:lnTo>
                  <a:lnTo>
                    <a:pt x="2391" y="565"/>
                  </a:lnTo>
                  <a:lnTo>
                    <a:pt x="2442" y="558"/>
                  </a:lnTo>
                  <a:lnTo>
                    <a:pt x="2496" y="552"/>
                  </a:lnTo>
                  <a:lnTo>
                    <a:pt x="2548" y="551"/>
                  </a:lnTo>
                  <a:lnTo>
                    <a:pt x="2602" y="551"/>
                  </a:lnTo>
                  <a:lnTo>
                    <a:pt x="2658" y="551"/>
                  </a:lnTo>
                  <a:lnTo>
                    <a:pt x="2714" y="554"/>
                  </a:lnTo>
                  <a:lnTo>
                    <a:pt x="2772" y="559"/>
                  </a:lnTo>
                  <a:lnTo>
                    <a:pt x="2830" y="565"/>
                  </a:lnTo>
                  <a:lnTo>
                    <a:pt x="2889" y="573"/>
                  </a:lnTo>
                  <a:lnTo>
                    <a:pt x="2949" y="582"/>
                  </a:lnTo>
                  <a:lnTo>
                    <a:pt x="3008" y="593"/>
                  </a:lnTo>
                  <a:lnTo>
                    <a:pt x="3069" y="607"/>
                  </a:lnTo>
                  <a:lnTo>
                    <a:pt x="3132" y="619"/>
                  </a:lnTo>
                  <a:lnTo>
                    <a:pt x="3758" y="355"/>
                  </a:lnTo>
                  <a:lnTo>
                    <a:pt x="3763" y="376"/>
                  </a:lnTo>
                  <a:lnTo>
                    <a:pt x="3768" y="399"/>
                  </a:lnTo>
                  <a:lnTo>
                    <a:pt x="3772" y="421"/>
                  </a:lnTo>
                  <a:lnTo>
                    <a:pt x="3773" y="442"/>
                  </a:lnTo>
                  <a:lnTo>
                    <a:pt x="3775" y="465"/>
                  </a:lnTo>
                  <a:lnTo>
                    <a:pt x="3775" y="488"/>
                  </a:lnTo>
                  <a:lnTo>
                    <a:pt x="3773" y="510"/>
                  </a:lnTo>
                  <a:lnTo>
                    <a:pt x="3772" y="535"/>
                  </a:lnTo>
                  <a:lnTo>
                    <a:pt x="3766" y="558"/>
                  </a:lnTo>
                  <a:lnTo>
                    <a:pt x="3761" y="580"/>
                  </a:lnTo>
                  <a:lnTo>
                    <a:pt x="3753" y="603"/>
                  </a:lnTo>
                  <a:lnTo>
                    <a:pt x="3744" y="626"/>
                  </a:lnTo>
                  <a:lnTo>
                    <a:pt x="3733" y="647"/>
                  </a:lnTo>
                  <a:lnTo>
                    <a:pt x="3721" y="669"/>
                  </a:lnTo>
                  <a:lnTo>
                    <a:pt x="3707" y="690"/>
                  </a:lnTo>
                  <a:lnTo>
                    <a:pt x="3691" y="711"/>
                  </a:lnTo>
                  <a:lnTo>
                    <a:pt x="3651" y="759"/>
                  </a:lnTo>
                  <a:lnTo>
                    <a:pt x="3613" y="801"/>
                  </a:lnTo>
                  <a:lnTo>
                    <a:pt x="3576" y="839"/>
                  </a:lnTo>
                  <a:lnTo>
                    <a:pt x="3538" y="874"/>
                  </a:lnTo>
                  <a:lnTo>
                    <a:pt x="3501" y="907"/>
                  </a:lnTo>
                  <a:lnTo>
                    <a:pt x="3462" y="935"/>
                  </a:lnTo>
                  <a:lnTo>
                    <a:pt x="3426" y="963"/>
                  </a:lnTo>
                  <a:lnTo>
                    <a:pt x="3385" y="988"/>
                  </a:lnTo>
                  <a:lnTo>
                    <a:pt x="3347" y="1010"/>
                  </a:lnTo>
                  <a:lnTo>
                    <a:pt x="3305" y="1033"/>
                  </a:lnTo>
                  <a:lnTo>
                    <a:pt x="3263" y="1054"/>
                  </a:lnTo>
                  <a:lnTo>
                    <a:pt x="3218" y="1075"/>
                  </a:lnTo>
                  <a:lnTo>
                    <a:pt x="3123" y="1117"/>
                  </a:lnTo>
                  <a:lnTo>
                    <a:pt x="3018" y="1162"/>
                  </a:lnTo>
                  <a:lnTo>
                    <a:pt x="3284" y="1729"/>
                  </a:lnTo>
                  <a:lnTo>
                    <a:pt x="4789" y="1729"/>
                  </a:lnTo>
                  <a:lnTo>
                    <a:pt x="6103" y="1238"/>
                  </a:lnTo>
                  <a:lnTo>
                    <a:pt x="6143" y="1224"/>
                  </a:lnTo>
                  <a:lnTo>
                    <a:pt x="6187" y="1211"/>
                  </a:lnTo>
                  <a:lnTo>
                    <a:pt x="6229" y="1203"/>
                  </a:lnTo>
                  <a:lnTo>
                    <a:pt x="6271" y="1196"/>
                  </a:lnTo>
                  <a:lnTo>
                    <a:pt x="6311" y="1192"/>
                  </a:lnTo>
                  <a:lnTo>
                    <a:pt x="6348" y="1192"/>
                  </a:lnTo>
                  <a:lnTo>
                    <a:pt x="6383" y="1196"/>
                  </a:lnTo>
                  <a:lnTo>
                    <a:pt x="6397" y="1199"/>
                  </a:lnTo>
                  <a:lnTo>
                    <a:pt x="6411" y="1203"/>
                  </a:lnTo>
                  <a:lnTo>
                    <a:pt x="6423" y="1208"/>
                  </a:lnTo>
                  <a:lnTo>
                    <a:pt x="6434" y="1213"/>
                  </a:lnTo>
                  <a:lnTo>
                    <a:pt x="6442" y="1220"/>
                  </a:lnTo>
                  <a:lnTo>
                    <a:pt x="6449" y="1229"/>
                  </a:lnTo>
                  <a:lnTo>
                    <a:pt x="6455" y="1238"/>
                  </a:lnTo>
                  <a:lnTo>
                    <a:pt x="6456" y="1248"/>
                  </a:lnTo>
                  <a:lnTo>
                    <a:pt x="6458" y="1259"/>
                  </a:lnTo>
                  <a:lnTo>
                    <a:pt x="6456" y="1271"/>
                  </a:lnTo>
                  <a:lnTo>
                    <a:pt x="6451" y="1285"/>
                  </a:lnTo>
                  <a:lnTo>
                    <a:pt x="6444" y="1299"/>
                  </a:lnTo>
                  <a:lnTo>
                    <a:pt x="6435" y="1314"/>
                  </a:lnTo>
                  <a:lnTo>
                    <a:pt x="6421" y="1332"/>
                  </a:lnTo>
                  <a:lnTo>
                    <a:pt x="6406" y="1349"/>
                  </a:lnTo>
                  <a:lnTo>
                    <a:pt x="6388" y="1370"/>
                  </a:lnTo>
                  <a:lnTo>
                    <a:pt x="6365" y="1391"/>
                  </a:lnTo>
                  <a:lnTo>
                    <a:pt x="6341" y="1412"/>
                  </a:lnTo>
                  <a:lnTo>
                    <a:pt x="6021" y="1682"/>
                  </a:lnTo>
                  <a:lnTo>
                    <a:pt x="5624" y="2015"/>
                  </a:lnTo>
                  <a:lnTo>
                    <a:pt x="5142" y="2421"/>
                  </a:lnTo>
                  <a:lnTo>
                    <a:pt x="5098" y="2456"/>
                  </a:lnTo>
                  <a:lnTo>
                    <a:pt x="5053" y="2487"/>
                  </a:lnTo>
                  <a:lnTo>
                    <a:pt x="5006" y="2517"/>
                  </a:lnTo>
                  <a:lnTo>
                    <a:pt x="4958" y="2543"/>
                  </a:lnTo>
                  <a:lnTo>
                    <a:pt x="4910" y="2568"/>
                  </a:lnTo>
                  <a:lnTo>
                    <a:pt x="4859" y="2590"/>
                  </a:lnTo>
                  <a:lnTo>
                    <a:pt x="4808" y="2610"/>
                  </a:lnTo>
                  <a:lnTo>
                    <a:pt x="4757" y="2625"/>
                  </a:lnTo>
                  <a:lnTo>
                    <a:pt x="4705" y="2641"/>
                  </a:lnTo>
                  <a:lnTo>
                    <a:pt x="4653" y="2653"/>
                  </a:lnTo>
                  <a:lnTo>
                    <a:pt x="4600" y="2664"/>
                  </a:lnTo>
                  <a:lnTo>
                    <a:pt x="4548" y="2671"/>
                  </a:lnTo>
                  <a:lnTo>
                    <a:pt x="4495" y="2678"/>
                  </a:lnTo>
                  <a:lnTo>
                    <a:pt x="4443" y="2681"/>
                  </a:lnTo>
                  <a:lnTo>
                    <a:pt x="4390" y="2683"/>
                  </a:lnTo>
                  <a:lnTo>
                    <a:pt x="4338" y="2685"/>
                  </a:lnTo>
                  <a:lnTo>
                    <a:pt x="1535" y="2664"/>
                  </a:lnTo>
                  <a:lnTo>
                    <a:pt x="1533" y="2944"/>
                  </a:lnTo>
                  <a:lnTo>
                    <a:pt x="4336" y="2965"/>
                  </a:lnTo>
                  <a:lnTo>
                    <a:pt x="4399" y="2963"/>
                  </a:lnTo>
                  <a:lnTo>
                    <a:pt x="4462" y="2959"/>
                  </a:lnTo>
                  <a:lnTo>
                    <a:pt x="4529" y="2954"/>
                  </a:lnTo>
                  <a:lnTo>
                    <a:pt x="4595" y="2945"/>
                  </a:lnTo>
                  <a:lnTo>
                    <a:pt x="4663" y="2933"/>
                  </a:lnTo>
                  <a:lnTo>
                    <a:pt x="4733" y="2919"/>
                  </a:lnTo>
                  <a:lnTo>
                    <a:pt x="4801" y="2902"/>
                  </a:lnTo>
                  <a:lnTo>
                    <a:pt x="4871" y="2881"/>
                  </a:lnTo>
                  <a:lnTo>
                    <a:pt x="4941" y="2856"/>
                  </a:lnTo>
                  <a:lnTo>
                    <a:pt x="5009" y="2828"/>
                  </a:lnTo>
                  <a:lnTo>
                    <a:pt x="5079" y="2795"/>
                  </a:lnTo>
                  <a:lnTo>
                    <a:pt x="5146" y="2760"/>
                  </a:lnTo>
                  <a:lnTo>
                    <a:pt x="5212" y="2720"/>
                  </a:lnTo>
                  <a:lnTo>
                    <a:pt x="5245" y="2699"/>
                  </a:lnTo>
                  <a:lnTo>
                    <a:pt x="5278" y="2676"/>
                  </a:lnTo>
                  <a:lnTo>
                    <a:pt x="5310" y="2653"/>
                  </a:lnTo>
                  <a:lnTo>
                    <a:pt x="5341" y="2629"/>
                  </a:lnTo>
                  <a:lnTo>
                    <a:pt x="5373" y="2603"/>
                  </a:lnTo>
                  <a:lnTo>
                    <a:pt x="5402" y="2576"/>
                  </a:lnTo>
                  <a:lnTo>
                    <a:pt x="6542" y="1543"/>
                  </a:lnTo>
                  <a:lnTo>
                    <a:pt x="6577" y="1510"/>
                  </a:lnTo>
                  <a:lnTo>
                    <a:pt x="6610" y="1475"/>
                  </a:lnTo>
                  <a:lnTo>
                    <a:pt x="6638" y="1442"/>
                  </a:lnTo>
                  <a:lnTo>
                    <a:pt x="6664" y="1409"/>
                  </a:lnTo>
                  <a:lnTo>
                    <a:pt x="6685" y="1376"/>
                  </a:lnTo>
                  <a:lnTo>
                    <a:pt x="6705" y="1342"/>
                  </a:lnTo>
                  <a:lnTo>
                    <a:pt x="6719" y="1309"/>
                  </a:lnTo>
                  <a:lnTo>
                    <a:pt x="6729" y="1276"/>
                  </a:lnTo>
                  <a:lnTo>
                    <a:pt x="6733" y="1259"/>
                  </a:lnTo>
                  <a:lnTo>
                    <a:pt x="6734" y="1243"/>
                  </a:lnTo>
                  <a:lnTo>
                    <a:pt x="6734" y="1227"/>
                  </a:lnTo>
                  <a:lnTo>
                    <a:pt x="6734" y="1211"/>
                  </a:lnTo>
                  <a:lnTo>
                    <a:pt x="6734" y="1194"/>
                  </a:lnTo>
                  <a:lnTo>
                    <a:pt x="6733" y="1178"/>
                  </a:lnTo>
                  <a:lnTo>
                    <a:pt x="6729" y="1162"/>
                  </a:lnTo>
                  <a:lnTo>
                    <a:pt x="6724" y="1147"/>
                  </a:lnTo>
                  <a:lnTo>
                    <a:pt x="6717" y="1133"/>
                  </a:lnTo>
                  <a:lnTo>
                    <a:pt x="6710" y="1117"/>
                  </a:lnTo>
                  <a:lnTo>
                    <a:pt x="6703" y="1101"/>
                  </a:lnTo>
                  <a:lnTo>
                    <a:pt x="6692" y="1085"/>
                  </a:lnTo>
                  <a:lnTo>
                    <a:pt x="6682" y="1071"/>
                  </a:lnTo>
                  <a:lnTo>
                    <a:pt x="6670" y="1056"/>
                  </a:lnTo>
                  <a:lnTo>
                    <a:pt x="6656" y="1042"/>
                  </a:lnTo>
                  <a:lnTo>
                    <a:pt x="6640" y="1028"/>
                  </a:lnTo>
                  <a:close/>
                  <a:moveTo>
                    <a:pt x="178" y="701"/>
                  </a:moveTo>
                  <a:lnTo>
                    <a:pt x="178" y="701"/>
                  </a:lnTo>
                  <a:lnTo>
                    <a:pt x="161" y="703"/>
                  </a:lnTo>
                  <a:lnTo>
                    <a:pt x="142" y="706"/>
                  </a:lnTo>
                  <a:lnTo>
                    <a:pt x="124" y="710"/>
                  </a:lnTo>
                  <a:lnTo>
                    <a:pt x="107" y="717"/>
                  </a:lnTo>
                  <a:lnTo>
                    <a:pt x="91" y="724"/>
                  </a:lnTo>
                  <a:lnTo>
                    <a:pt x="75" y="732"/>
                  </a:lnTo>
                  <a:lnTo>
                    <a:pt x="61" y="743"/>
                  </a:lnTo>
                  <a:lnTo>
                    <a:pt x="47" y="753"/>
                  </a:lnTo>
                  <a:lnTo>
                    <a:pt x="35" y="767"/>
                  </a:lnTo>
                  <a:lnTo>
                    <a:pt x="24" y="780"/>
                  </a:lnTo>
                  <a:lnTo>
                    <a:pt x="16" y="795"/>
                  </a:lnTo>
                  <a:lnTo>
                    <a:pt x="9" y="809"/>
                  </a:lnTo>
                  <a:lnTo>
                    <a:pt x="3" y="827"/>
                  </a:lnTo>
                  <a:lnTo>
                    <a:pt x="2" y="843"/>
                  </a:lnTo>
                  <a:lnTo>
                    <a:pt x="0" y="860"/>
                  </a:lnTo>
                  <a:lnTo>
                    <a:pt x="2" y="877"/>
                  </a:lnTo>
                  <a:lnTo>
                    <a:pt x="556" y="3835"/>
                  </a:lnTo>
                  <a:lnTo>
                    <a:pt x="1251" y="3835"/>
                  </a:lnTo>
                  <a:lnTo>
                    <a:pt x="1251" y="703"/>
                  </a:lnTo>
                  <a:lnTo>
                    <a:pt x="178" y="701"/>
                  </a:lnTo>
                  <a:close/>
                </a:path>
              </a:pathLst>
            </a:custGeom>
            <a:grpFill/>
            <a:ln w="9525">
              <a:solidFill>
                <a:schemeClr val="bg1"/>
              </a:solidFill>
              <a:round/>
              <a:headEnd/>
              <a:tailEnd/>
            </a:ln>
          </p:spPr>
          <p:txBody>
            <a:bodyPr/>
            <a:lstStyle/>
            <a:p>
              <a:endParaRPr lang="de-DE"/>
            </a:p>
          </p:txBody>
        </p:sp>
      </p:grpSp>
      <p:grpSp>
        <p:nvGrpSpPr>
          <p:cNvPr id="24" name="Gruppieren 6">
            <a:extLst>
              <a:ext uri="{FF2B5EF4-FFF2-40B4-BE49-F238E27FC236}">
                <a16:creationId xmlns:a16="http://schemas.microsoft.com/office/drawing/2014/main" id="{2849B831-16D5-3A8E-6D03-755FB932DA6D}"/>
              </a:ext>
            </a:extLst>
          </p:cNvPr>
          <p:cNvGrpSpPr/>
          <p:nvPr/>
        </p:nvGrpSpPr>
        <p:grpSpPr>
          <a:xfrm>
            <a:off x="3208449" y="3298211"/>
            <a:ext cx="837119" cy="826219"/>
            <a:chOff x="779463" y="3076385"/>
            <a:chExt cx="1198563" cy="1198563"/>
          </a:xfrm>
          <a:solidFill>
            <a:srgbClr val="004D82"/>
          </a:solidFill>
          <a:effectLst/>
        </p:grpSpPr>
        <p:sp>
          <p:nvSpPr>
            <p:cNvPr id="25" name="AutoShape 161" descr="© INSCALE GmbH, 26.05.2010&#10;http://www.presentationload.com/">
              <a:extLst>
                <a:ext uri="{FF2B5EF4-FFF2-40B4-BE49-F238E27FC236}">
                  <a16:creationId xmlns:a16="http://schemas.microsoft.com/office/drawing/2014/main" id="{81A25355-77D1-BA5F-9A2B-D8196615FC9F}"/>
                </a:ext>
              </a:extLst>
            </p:cNvPr>
            <p:cNvSpPr>
              <a:spLocks noChangeAspect="1" noChangeArrowheads="1"/>
            </p:cNvSpPr>
            <p:nvPr/>
          </p:nvSpPr>
          <p:spPr bwMode="gray">
            <a:xfrm>
              <a:off x="779463" y="3076385"/>
              <a:ext cx="1198563" cy="1198563"/>
            </a:xfrm>
            <a:prstGeom prst="rect">
              <a:avLst/>
            </a:prstGeom>
            <a:grpFill/>
            <a:ln>
              <a:headEnd/>
              <a:tailEnd/>
            </a:ln>
          </p:spPr>
          <p:style>
            <a:lnRef idx="2">
              <a:schemeClr val="accent6"/>
            </a:lnRef>
            <a:fillRef idx="1">
              <a:schemeClr val="lt1"/>
            </a:fillRef>
            <a:effectRef idx="0">
              <a:schemeClr val="accent6"/>
            </a:effectRef>
            <a:fontRef idx="minor">
              <a:schemeClr val="dk1"/>
            </a:fontRef>
          </p:style>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sp>
          <p:nvSpPr>
            <p:cNvPr id="26" name="AutoShape 162" descr="© INSCALE GmbH, 26.05.2010&#10;http://www.presentationload.com/">
              <a:extLst>
                <a:ext uri="{FF2B5EF4-FFF2-40B4-BE49-F238E27FC236}">
                  <a16:creationId xmlns:a16="http://schemas.microsoft.com/office/drawing/2014/main" id="{7F676C0C-9C59-DC93-0386-198D3302392C}"/>
                </a:ext>
              </a:extLst>
            </p:cNvPr>
            <p:cNvSpPr>
              <a:spLocks noChangeAspect="1" noChangeArrowheads="1"/>
            </p:cNvSpPr>
            <p:nvPr/>
          </p:nvSpPr>
          <p:spPr bwMode="gray">
            <a:xfrm>
              <a:off x="843242" y="3140164"/>
              <a:ext cx="1071005" cy="1071005"/>
            </a:xfrm>
            <a:prstGeom prst="rect">
              <a:avLst/>
            </a:prstGeom>
            <a:grpFill/>
            <a:ln w="25400" cap="flat" cmpd="sng" algn="ctr">
              <a:solidFill>
                <a:schemeClr val="bg1"/>
              </a:solidFill>
              <a:prstDash val="soli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cs typeface="+mn-cs"/>
              </a:endParaRPr>
            </a:p>
          </p:txBody>
        </p:sp>
        <p:sp>
          <p:nvSpPr>
            <p:cNvPr id="27" name="AutoShape 164" descr="© INSCALE GmbH, 26.05.2010&#10;http://www.presentationload.com/">
              <a:extLst>
                <a:ext uri="{FF2B5EF4-FFF2-40B4-BE49-F238E27FC236}">
                  <a16:creationId xmlns:a16="http://schemas.microsoft.com/office/drawing/2014/main" id="{686D5FFC-02F3-4C28-603B-FA577ADF4FF4}"/>
                </a:ext>
              </a:extLst>
            </p:cNvPr>
            <p:cNvSpPr>
              <a:spLocks noChangeAspect="1" noChangeArrowheads="1"/>
            </p:cNvSpPr>
            <p:nvPr/>
          </p:nvSpPr>
          <p:spPr bwMode="gray">
            <a:xfrm>
              <a:off x="891956" y="3178418"/>
              <a:ext cx="986769" cy="989176"/>
            </a:xfrm>
            <a:prstGeom prst="rect">
              <a:avLst/>
            </a:prstGeom>
            <a:grpFill/>
            <a:ln w="9525">
              <a:noFill/>
              <a:roun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grpSp>
      <p:sp>
        <p:nvSpPr>
          <p:cNvPr id="28" name="Freeform 301">
            <a:extLst>
              <a:ext uri="{FF2B5EF4-FFF2-40B4-BE49-F238E27FC236}">
                <a16:creationId xmlns:a16="http://schemas.microsoft.com/office/drawing/2014/main" id="{2E4D8B76-00F5-3495-0C96-A05F823DD458}"/>
              </a:ext>
            </a:extLst>
          </p:cNvPr>
          <p:cNvSpPr>
            <a:spLocks noChangeArrowheads="1"/>
          </p:cNvSpPr>
          <p:nvPr/>
        </p:nvSpPr>
        <p:spPr bwMode="auto">
          <a:xfrm>
            <a:off x="3460874" y="3433408"/>
            <a:ext cx="300047" cy="445231"/>
          </a:xfrm>
          <a:custGeom>
            <a:avLst/>
            <a:gdLst>
              <a:gd name="T0" fmla="*/ 0 w 694"/>
              <a:gd name="T1" fmla="*/ 2147483647 h 1021"/>
              <a:gd name="T2" fmla="*/ 0 w 694"/>
              <a:gd name="T3" fmla="*/ 2147483647 h 1021"/>
              <a:gd name="T4" fmla="*/ 2147483647 w 694"/>
              <a:gd name="T5" fmla="*/ 0 h 1021"/>
              <a:gd name="T6" fmla="*/ 2147483647 w 694"/>
              <a:gd name="T7" fmla="*/ 2147483647 h 1021"/>
              <a:gd name="T8" fmla="*/ 2147483647 w 694"/>
              <a:gd name="T9" fmla="*/ 2147483647 h 1021"/>
              <a:gd name="T10" fmla="*/ 2147483647 w 694"/>
              <a:gd name="T11" fmla="*/ 2147483647 h 1021"/>
              <a:gd name="T12" fmla="*/ 2147483647 w 694"/>
              <a:gd name="T13" fmla="*/ 2147483647 h 1021"/>
              <a:gd name="T14" fmla="*/ 2147483647 w 694"/>
              <a:gd name="T15" fmla="*/ 2147483647 h 1021"/>
              <a:gd name="T16" fmla="*/ 2147483647 w 694"/>
              <a:gd name="T17" fmla="*/ 2147483647 h 1021"/>
              <a:gd name="T18" fmla="*/ 2147483647 w 694"/>
              <a:gd name="T19" fmla="*/ 2147483647 h 1021"/>
              <a:gd name="T20" fmla="*/ 2147483647 w 694"/>
              <a:gd name="T21" fmla="*/ 2147483647 h 1021"/>
              <a:gd name="T22" fmla="*/ 0 w 694"/>
              <a:gd name="T23" fmla="*/ 2147483647 h 1021"/>
              <a:gd name="T24" fmla="*/ 2147483647 w 694"/>
              <a:gd name="T25" fmla="*/ 2147483647 h 1021"/>
              <a:gd name="T26" fmla="*/ 2147483647 w 694"/>
              <a:gd name="T27" fmla="*/ 2147483647 h 1021"/>
              <a:gd name="T28" fmla="*/ 2147483647 w 694"/>
              <a:gd name="T29" fmla="*/ 2147483647 h 1021"/>
              <a:gd name="T30" fmla="*/ 2147483647 w 694"/>
              <a:gd name="T31" fmla="*/ 2147483647 h 1021"/>
              <a:gd name="T32" fmla="*/ 2147483647 w 694"/>
              <a:gd name="T33" fmla="*/ 2147483647 h 1021"/>
              <a:gd name="T34" fmla="*/ 2147483647 w 694"/>
              <a:gd name="T35" fmla="*/ 2147483647 h 10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94" h="1021">
                <a:moveTo>
                  <a:pt x="0" y="346"/>
                </a:moveTo>
                <a:lnTo>
                  <a:pt x="0" y="346"/>
                </a:lnTo>
                <a:cubicBezTo>
                  <a:pt x="7" y="150"/>
                  <a:pt x="138" y="0"/>
                  <a:pt x="340" y="0"/>
                </a:cubicBezTo>
                <a:cubicBezTo>
                  <a:pt x="608" y="0"/>
                  <a:pt x="693" y="163"/>
                  <a:pt x="693" y="274"/>
                </a:cubicBezTo>
                <a:cubicBezTo>
                  <a:pt x="693" y="535"/>
                  <a:pt x="457" y="503"/>
                  <a:pt x="439" y="673"/>
                </a:cubicBezTo>
                <a:cubicBezTo>
                  <a:pt x="439" y="725"/>
                  <a:pt x="439" y="725"/>
                  <a:pt x="439" y="725"/>
                </a:cubicBezTo>
                <a:cubicBezTo>
                  <a:pt x="249" y="725"/>
                  <a:pt x="249" y="725"/>
                  <a:pt x="249" y="725"/>
                </a:cubicBezTo>
                <a:cubicBezTo>
                  <a:pt x="249" y="660"/>
                  <a:pt x="249" y="660"/>
                  <a:pt x="249" y="660"/>
                </a:cubicBezTo>
                <a:cubicBezTo>
                  <a:pt x="269" y="418"/>
                  <a:pt x="478" y="444"/>
                  <a:pt x="471" y="294"/>
                </a:cubicBezTo>
                <a:cubicBezTo>
                  <a:pt x="471" y="209"/>
                  <a:pt x="425" y="163"/>
                  <a:pt x="354" y="163"/>
                </a:cubicBezTo>
                <a:cubicBezTo>
                  <a:pt x="255" y="163"/>
                  <a:pt x="209" y="248"/>
                  <a:pt x="209" y="346"/>
                </a:cubicBezTo>
                <a:lnTo>
                  <a:pt x="0" y="346"/>
                </a:lnTo>
                <a:close/>
                <a:moveTo>
                  <a:pt x="229" y="809"/>
                </a:moveTo>
                <a:lnTo>
                  <a:pt x="229" y="809"/>
                </a:lnTo>
                <a:cubicBezTo>
                  <a:pt x="445" y="809"/>
                  <a:pt x="445" y="809"/>
                  <a:pt x="445" y="809"/>
                </a:cubicBezTo>
                <a:cubicBezTo>
                  <a:pt x="445" y="1020"/>
                  <a:pt x="445" y="1020"/>
                  <a:pt x="445" y="1020"/>
                </a:cubicBezTo>
                <a:cubicBezTo>
                  <a:pt x="229" y="1020"/>
                  <a:pt x="229" y="1020"/>
                  <a:pt x="229" y="1020"/>
                </a:cubicBezTo>
                <a:lnTo>
                  <a:pt x="229" y="809"/>
                </a:lnTo>
                <a:close/>
              </a:path>
            </a:pathLst>
          </a:custGeom>
          <a:solidFill>
            <a:srgbClr val="004D82"/>
          </a:solidFill>
          <a:ln>
            <a:solidFill>
              <a:schemeClr val="bg1"/>
            </a:solidFill>
          </a:ln>
        </p:spPr>
        <p:txBody>
          <a:bodyPr wrap="none" anchor="ctr"/>
          <a:lstStyle/>
          <a:p>
            <a:pPr algn="ctr" fontAlgn="base">
              <a:spcBef>
                <a:spcPct val="0"/>
              </a:spcBef>
              <a:spcAft>
                <a:spcPct val="0"/>
              </a:spcAft>
              <a:defRPr/>
            </a:pPr>
            <a:endParaRPr lang="en-US" sz="1600">
              <a:solidFill>
                <a:srgbClr val="646464"/>
              </a:solidFill>
            </a:endParaRPr>
          </a:p>
        </p:txBody>
      </p:sp>
      <p:grpSp>
        <p:nvGrpSpPr>
          <p:cNvPr id="29" name="Gruppieren 6">
            <a:extLst>
              <a:ext uri="{FF2B5EF4-FFF2-40B4-BE49-F238E27FC236}">
                <a16:creationId xmlns:a16="http://schemas.microsoft.com/office/drawing/2014/main" id="{6807515F-DAE6-2FCA-A719-E7AB760402D0}"/>
              </a:ext>
            </a:extLst>
          </p:cNvPr>
          <p:cNvGrpSpPr/>
          <p:nvPr/>
        </p:nvGrpSpPr>
        <p:grpSpPr>
          <a:xfrm>
            <a:off x="3205143" y="4441857"/>
            <a:ext cx="837119" cy="826219"/>
            <a:chOff x="779463" y="3076385"/>
            <a:chExt cx="1198563" cy="1198563"/>
          </a:xfrm>
          <a:solidFill>
            <a:srgbClr val="004D82"/>
          </a:solidFill>
          <a:effectLst/>
        </p:grpSpPr>
        <p:sp>
          <p:nvSpPr>
            <p:cNvPr id="30" name="AutoShape 161" descr="© INSCALE GmbH, 26.05.2010&#10;http://www.presentationload.com/">
              <a:extLst>
                <a:ext uri="{FF2B5EF4-FFF2-40B4-BE49-F238E27FC236}">
                  <a16:creationId xmlns:a16="http://schemas.microsoft.com/office/drawing/2014/main" id="{774004CF-C236-AE7E-C036-C7A0E4B393A0}"/>
                </a:ext>
              </a:extLst>
            </p:cNvPr>
            <p:cNvSpPr>
              <a:spLocks noChangeAspect="1" noChangeArrowheads="1"/>
            </p:cNvSpPr>
            <p:nvPr/>
          </p:nvSpPr>
          <p:spPr bwMode="gray">
            <a:xfrm>
              <a:off x="779463" y="3076385"/>
              <a:ext cx="1198563" cy="1198563"/>
            </a:xfrm>
            <a:prstGeom prst="rect">
              <a:avLst/>
            </a:prstGeom>
            <a:grpFill/>
            <a:ln>
              <a:headEnd/>
              <a:tailEnd/>
            </a:ln>
          </p:spPr>
          <p:style>
            <a:lnRef idx="2">
              <a:schemeClr val="accent6"/>
            </a:lnRef>
            <a:fillRef idx="1">
              <a:schemeClr val="lt1"/>
            </a:fillRef>
            <a:effectRef idx="0">
              <a:schemeClr val="accent6"/>
            </a:effectRef>
            <a:fontRef idx="minor">
              <a:schemeClr val="dk1"/>
            </a:fontRef>
          </p:style>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sp>
          <p:nvSpPr>
            <p:cNvPr id="31" name="AutoShape 162" descr="© INSCALE GmbH, 26.05.2010&#10;http://www.presentationload.com/">
              <a:extLst>
                <a:ext uri="{FF2B5EF4-FFF2-40B4-BE49-F238E27FC236}">
                  <a16:creationId xmlns:a16="http://schemas.microsoft.com/office/drawing/2014/main" id="{FCCA7AFB-A488-D37A-76F8-E691225F75B8}"/>
                </a:ext>
              </a:extLst>
            </p:cNvPr>
            <p:cNvSpPr>
              <a:spLocks noChangeAspect="1" noChangeArrowheads="1"/>
            </p:cNvSpPr>
            <p:nvPr/>
          </p:nvSpPr>
          <p:spPr bwMode="gray">
            <a:xfrm>
              <a:off x="843242" y="3140164"/>
              <a:ext cx="1071005" cy="1071005"/>
            </a:xfrm>
            <a:prstGeom prst="rect">
              <a:avLst/>
            </a:prstGeom>
            <a:grpFill/>
            <a:ln w="25400" cap="flat" cmpd="sng" algn="ctr">
              <a:solidFill>
                <a:schemeClr val="bg1"/>
              </a:solidFill>
              <a:prstDash val="soli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cs typeface="+mn-cs"/>
              </a:endParaRPr>
            </a:p>
          </p:txBody>
        </p:sp>
        <p:sp>
          <p:nvSpPr>
            <p:cNvPr id="32" name="AutoShape 164" descr="© INSCALE GmbH, 26.05.2010&#10;http://www.presentationload.com/">
              <a:extLst>
                <a:ext uri="{FF2B5EF4-FFF2-40B4-BE49-F238E27FC236}">
                  <a16:creationId xmlns:a16="http://schemas.microsoft.com/office/drawing/2014/main" id="{E9839F59-4413-D4AC-A700-73CEC24B5E0F}"/>
                </a:ext>
              </a:extLst>
            </p:cNvPr>
            <p:cNvSpPr>
              <a:spLocks noChangeAspect="1" noChangeArrowheads="1"/>
            </p:cNvSpPr>
            <p:nvPr/>
          </p:nvSpPr>
          <p:spPr bwMode="gray">
            <a:xfrm>
              <a:off x="891956" y="3178418"/>
              <a:ext cx="986769" cy="989176"/>
            </a:xfrm>
            <a:prstGeom prst="rect">
              <a:avLst/>
            </a:prstGeom>
            <a:grpFill/>
            <a:ln w="9525">
              <a:noFill/>
              <a:roun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grpSp>
      <p:sp>
        <p:nvSpPr>
          <p:cNvPr id="33" name="Freeform 46">
            <a:extLst>
              <a:ext uri="{FF2B5EF4-FFF2-40B4-BE49-F238E27FC236}">
                <a16:creationId xmlns:a16="http://schemas.microsoft.com/office/drawing/2014/main" id="{2C1F7992-BA54-CF92-C2DA-8221EBFE586E}"/>
              </a:ext>
            </a:extLst>
          </p:cNvPr>
          <p:cNvSpPr>
            <a:spLocks noChangeAspect="1" noEditPoints="1"/>
          </p:cNvSpPr>
          <p:nvPr/>
        </p:nvSpPr>
        <p:spPr bwMode="auto">
          <a:xfrm>
            <a:off x="3413367" y="4567388"/>
            <a:ext cx="491055" cy="491055"/>
          </a:xfrm>
          <a:custGeom>
            <a:avLst/>
            <a:gdLst>
              <a:gd name="T0" fmla="*/ 2147483647 w 4760"/>
              <a:gd name="T1" fmla="*/ 2147483647 h 4763"/>
              <a:gd name="T2" fmla="*/ 2147483647 w 4760"/>
              <a:gd name="T3" fmla="*/ 2147483647 h 4763"/>
              <a:gd name="T4" fmla="*/ 2147483647 w 4760"/>
              <a:gd name="T5" fmla="*/ 2147483647 h 4763"/>
              <a:gd name="T6" fmla="*/ 2147483647 w 4760"/>
              <a:gd name="T7" fmla="*/ 2147483647 h 4763"/>
              <a:gd name="T8" fmla="*/ 2147483647 w 4760"/>
              <a:gd name="T9" fmla="*/ 2147483647 h 4763"/>
              <a:gd name="T10" fmla="*/ 2147483647 w 4760"/>
              <a:gd name="T11" fmla="*/ 2147483647 h 4763"/>
              <a:gd name="T12" fmla="*/ 2147483647 w 4760"/>
              <a:gd name="T13" fmla="*/ 2147483647 h 4763"/>
              <a:gd name="T14" fmla="*/ 2147483647 w 4760"/>
              <a:gd name="T15" fmla="*/ 2147483647 h 4763"/>
              <a:gd name="T16" fmla="*/ 2147483647 w 4760"/>
              <a:gd name="T17" fmla="*/ 2147483647 h 4763"/>
              <a:gd name="T18" fmla="*/ 2147483647 w 4760"/>
              <a:gd name="T19" fmla="*/ 2147483647 h 4763"/>
              <a:gd name="T20" fmla="*/ 2147483647 w 4760"/>
              <a:gd name="T21" fmla="*/ 2147483647 h 4763"/>
              <a:gd name="T22" fmla="*/ 2147483647 w 4760"/>
              <a:gd name="T23" fmla="*/ 2147483647 h 4763"/>
              <a:gd name="T24" fmla="*/ 2147483647 w 4760"/>
              <a:gd name="T25" fmla="*/ 2147483647 h 4763"/>
              <a:gd name="T26" fmla="*/ 2147483647 w 4760"/>
              <a:gd name="T27" fmla="*/ 2147483647 h 4763"/>
              <a:gd name="T28" fmla="*/ 2147483647 w 4760"/>
              <a:gd name="T29" fmla="*/ 2147483647 h 4763"/>
              <a:gd name="T30" fmla="*/ 2147483647 w 4760"/>
              <a:gd name="T31" fmla="*/ 2147483647 h 4763"/>
              <a:gd name="T32" fmla="*/ 2147483647 w 4760"/>
              <a:gd name="T33" fmla="*/ 2147483647 h 4763"/>
              <a:gd name="T34" fmla="*/ 2147483647 w 4760"/>
              <a:gd name="T35" fmla="*/ 2147483647 h 4763"/>
              <a:gd name="T36" fmla="*/ 2147483647 w 4760"/>
              <a:gd name="T37" fmla="*/ 2147483647 h 4763"/>
              <a:gd name="T38" fmla="*/ 2147483647 w 4760"/>
              <a:gd name="T39" fmla="*/ 2147483647 h 4763"/>
              <a:gd name="T40" fmla="*/ 2147483647 w 4760"/>
              <a:gd name="T41" fmla="*/ 2147483647 h 4763"/>
              <a:gd name="T42" fmla="*/ 2147483647 w 4760"/>
              <a:gd name="T43" fmla="*/ 2147483647 h 4763"/>
              <a:gd name="T44" fmla="*/ 2147483647 w 4760"/>
              <a:gd name="T45" fmla="*/ 2147483647 h 4763"/>
              <a:gd name="T46" fmla="*/ 2147483647 w 4760"/>
              <a:gd name="T47" fmla="*/ 2147483647 h 4763"/>
              <a:gd name="T48" fmla="*/ 2147483647 w 4760"/>
              <a:gd name="T49" fmla="*/ 2147483647 h 4763"/>
              <a:gd name="T50" fmla="*/ 2147483647 w 4760"/>
              <a:gd name="T51" fmla="*/ 2147483647 h 4763"/>
              <a:gd name="T52" fmla="*/ 2147483647 w 4760"/>
              <a:gd name="T53" fmla="*/ 2147483647 h 4763"/>
              <a:gd name="T54" fmla="*/ 2147483647 w 4760"/>
              <a:gd name="T55" fmla="*/ 2147483647 h 4763"/>
              <a:gd name="T56" fmla="*/ 2147483647 w 4760"/>
              <a:gd name="T57" fmla="*/ 2147483647 h 4763"/>
              <a:gd name="T58" fmla="*/ 2147483647 w 4760"/>
              <a:gd name="T59" fmla="*/ 2147483647 h 4763"/>
              <a:gd name="T60" fmla="*/ 2147483647 w 4760"/>
              <a:gd name="T61" fmla="*/ 2147483647 h 4763"/>
              <a:gd name="T62" fmla="*/ 2147483647 w 4760"/>
              <a:gd name="T63" fmla="*/ 2147483647 h 4763"/>
              <a:gd name="T64" fmla="*/ 2147483647 w 4760"/>
              <a:gd name="T65" fmla="*/ 2147483647 h 4763"/>
              <a:gd name="T66" fmla="*/ 2147483647 w 4760"/>
              <a:gd name="T67" fmla="*/ 2147483647 h 4763"/>
              <a:gd name="T68" fmla="*/ 2147483647 w 4760"/>
              <a:gd name="T69" fmla="*/ 2147483647 h 4763"/>
              <a:gd name="T70" fmla="*/ 2147483647 w 4760"/>
              <a:gd name="T71" fmla="*/ 2147483647 h 4763"/>
              <a:gd name="T72" fmla="*/ 2147483647 w 4760"/>
              <a:gd name="T73" fmla="*/ 2147483647 h 4763"/>
              <a:gd name="T74" fmla="*/ 2147483647 w 4760"/>
              <a:gd name="T75" fmla="*/ 2147483647 h 4763"/>
              <a:gd name="T76" fmla="*/ 2147483647 w 4760"/>
              <a:gd name="T77" fmla="*/ 2147483647 h 4763"/>
              <a:gd name="T78" fmla="*/ 2147483647 w 4760"/>
              <a:gd name="T79" fmla="*/ 2147483647 h 4763"/>
              <a:gd name="T80" fmla="*/ 2147483647 w 4760"/>
              <a:gd name="T81" fmla="*/ 2147483647 h 4763"/>
              <a:gd name="T82" fmla="*/ 2147483647 w 4760"/>
              <a:gd name="T83" fmla="*/ 2147483647 h 4763"/>
              <a:gd name="T84" fmla="*/ 2147483647 w 4760"/>
              <a:gd name="T85" fmla="*/ 2147483647 h 4763"/>
              <a:gd name="T86" fmla="*/ 2147483647 w 4760"/>
              <a:gd name="T87" fmla="*/ 2147483647 h 4763"/>
              <a:gd name="T88" fmla="*/ 2147483647 w 4760"/>
              <a:gd name="T89" fmla="*/ 2147483647 h 4763"/>
              <a:gd name="T90" fmla="*/ 2147483647 w 4760"/>
              <a:gd name="T91" fmla="*/ 2147483647 h 4763"/>
              <a:gd name="T92" fmla="*/ 2147483647 w 4760"/>
              <a:gd name="T93" fmla="*/ 2147483647 h 4763"/>
              <a:gd name="T94" fmla="*/ 2147483647 w 4760"/>
              <a:gd name="T95" fmla="*/ 2147483647 h 4763"/>
              <a:gd name="T96" fmla="*/ 2147483647 w 4760"/>
              <a:gd name="T97" fmla="*/ 2147483647 h 4763"/>
              <a:gd name="T98" fmla="*/ 2147483647 w 4760"/>
              <a:gd name="T99" fmla="*/ 2147483647 h 4763"/>
              <a:gd name="T100" fmla="*/ 2147483647 w 4760"/>
              <a:gd name="T101" fmla="*/ 2147483647 h 4763"/>
              <a:gd name="T102" fmla="*/ 2147483647 w 4760"/>
              <a:gd name="T103" fmla="*/ 2147483647 h 4763"/>
              <a:gd name="T104" fmla="*/ 2147483647 w 4760"/>
              <a:gd name="T105" fmla="*/ 2147483647 h 4763"/>
              <a:gd name="T106" fmla="*/ 2147483647 w 4760"/>
              <a:gd name="T107" fmla="*/ 2147483647 h 4763"/>
              <a:gd name="T108" fmla="*/ 2147483647 w 4760"/>
              <a:gd name="T109" fmla="*/ 2147483647 h 4763"/>
              <a:gd name="T110" fmla="*/ 2147483647 w 4760"/>
              <a:gd name="T111" fmla="*/ 2147483647 h 4763"/>
              <a:gd name="T112" fmla="*/ 2147483647 w 4760"/>
              <a:gd name="T113" fmla="*/ 2147483647 h 4763"/>
              <a:gd name="T114" fmla="*/ 2147483647 w 4760"/>
              <a:gd name="T115" fmla="*/ 2147483647 h 4763"/>
              <a:gd name="T116" fmla="*/ 2147483647 w 4760"/>
              <a:gd name="T117" fmla="*/ 2147483647 h 4763"/>
              <a:gd name="T118" fmla="*/ 2147483647 w 4760"/>
              <a:gd name="T119" fmla="*/ 2147483647 h 4763"/>
              <a:gd name="T120" fmla="*/ 2147483647 w 4760"/>
              <a:gd name="T121" fmla="*/ 2147483647 h 4763"/>
              <a:gd name="T122" fmla="*/ 2147483647 w 4760"/>
              <a:gd name="T123" fmla="*/ 2147483647 h 476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760"/>
              <a:gd name="T187" fmla="*/ 0 h 4763"/>
              <a:gd name="T188" fmla="*/ 4760 w 4760"/>
              <a:gd name="T189" fmla="*/ 4763 h 476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760" h="4763">
                <a:moveTo>
                  <a:pt x="4475" y="765"/>
                </a:moveTo>
                <a:lnTo>
                  <a:pt x="4475" y="765"/>
                </a:lnTo>
                <a:lnTo>
                  <a:pt x="4460" y="767"/>
                </a:lnTo>
                <a:lnTo>
                  <a:pt x="4444" y="769"/>
                </a:lnTo>
                <a:lnTo>
                  <a:pt x="4429" y="771"/>
                </a:lnTo>
                <a:lnTo>
                  <a:pt x="4413" y="772"/>
                </a:lnTo>
                <a:lnTo>
                  <a:pt x="4382" y="771"/>
                </a:lnTo>
                <a:lnTo>
                  <a:pt x="4353" y="768"/>
                </a:lnTo>
                <a:lnTo>
                  <a:pt x="4323" y="762"/>
                </a:lnTo>
                <a:lnTo>
                  <a:pt x="4295" y="754"/>
                </a:lnTo>
                <a:lnTo>
                  <a:pt x="4266" y="743"/>
                </a:lnTo>
                <a:lnTo>
                  <a:pt x="4239" y="730"/>
                </a:lnTo>
                <a:lnTo>
                  <a:pt x="4211" y="716"/>
                </a:lnTo>
                <a:lnTo>
                  <a:pt x="4187" y="699"/>
                </a:lnTo>
                <a:lnTo>
                  <a:pt x="4162" y="682"/>
                </a:lnTo>
                <a:lnTo>
                  <a:pt x="4139" y="663"/>
                </a:lnTo>
                <a:lnTo>
                  <a:pt x="4116" y="641"/>
                </a:lnTo>
                <a:lnTo>
                  <a:pt x="4096" y="619"/>
                </a:lnTo>
                <a:lnTo>
                  <a:pt x="4077" y="595"/>
                </a:lnTo>
                <a:lnTo>
                  <a:pt x="4059" y="570"/>
                </a:lnTo>
                <a:lnTo>
                  <a:pt x="4044" y="545"/>
                </a:lnTo>
                <a:lnTo>
                  <a:pt x="4030" y="519"/>
                </a:lnTo>
                <a:lnTo>
                  <a:pt x="4018" y="492"/>
                </a:lnTo>
                <a:lnTo>
                  <a:pt x="4007" y="464"/>
                </a:lnTo>
                <a:lnTo>
                  <a:pt x="3999" y="437"/>
                </a:lnTo>
                <a:lnTo>
                  <a:pt x="3993" y="408"/>
                </a:lnTo>
                <a:lnTo>
                  <a:pt x="3989" y="381"/>
                </a:lnTo>
                <a:lnTo>
                  <a:pt x="3987" y="353"/>
                </a:lnTo>
                <a:lnTo>
                  <a:pt x="3988" y="325"/>
                </a:lnTo>
                <a:lnTo>
                  <a:pt x="3992" y="298"/>
                </a:lnTo>
                <a:lnTo>
                  <a:pt x="3998" y="271"/>
                </a:lnTo>
                <a:lnTo>
                  <a:pt x="4006" y="245"/>
                </a:lnTo>
                <a:lnTo>
                  <a:pt x="4012" y="232"/>
                </a:lnTo>
                <a:lnTo>
                  <a:pt x="4018" y="218"/>
                </a:lnTo>
                <a:lnTo>
                  <a:pt x="4024" y="207"/>
                </a:lnTo>
                <a:lnTo>
                  <a:pt x="4032" y="194"/>
                </a:lnTo>
                <a:lnTo>
                  <a:pt x="4040" y="182"/>
                </a:lnTo>
                <a:lnTo>
                  <a:pt x="4049" y="171"/>
                </a:lnTo>
                <a:lnTo>
                  <a:pt x="4059" y="159"/>
                </a:lnTo>
                <a:lnTo>
                  <a:pt x="4070" y="148"/>
                </a:lnTo>
                <a:lnTo>
                  <a:pt x="4089" y="129"/>
                </a:lnTo>
                <a:lnTo>
                  <a:pt x="4112" y="114"/>
                </a:lnTo>
                <a:lnTo>
                  <a:pt x="4134" y="101"/>
                </a:lnTo>
                <a:lnTo>
                  <a:pt x="4159" y="89"/>
                </a:lnTo>
                <a:lnTo>
                  <a:pt x="4184" y="81"/>
                </a:lnTo>
                <a:lnTo>
                  <a:pt x="4210" y="74"/>
                </a:lnTo>
                <a:lnTo>
                  <a:pt x="4238" y="70"/>
                </a:lnTo>
                <a:lnTo>
                  <a:pt x="4265" y="68"/>
                </a:lnTo>
                <a:lnTo>
                  <a:pt x="4293" y="68"/>
                </a:lnTo>
                <a:lnTo>
                  <a:pt x="4322" y="71"/>
                </a:lnTo>
                <a:lnTo>
                  <a:pt x="4350" y="76"/>
                </a:lnTo>
                <a:lnTo>
                  <a:pt x="4380" y="83"/>
                </a:lnTo>
                <a:lnTo>
                  <a:pt x="4409" y="93"/>
                </a:lnTo>
                <a:lnTo>
                  <a:pt x="4436" y="104"/>
                </a:lnTo>
                <a:lnTo>
                  <a:pt x="4464" y="119"/>
                </a:lnTo>
                <a:lnTo>
                  <a:pt x="4492" y="135"/>
                </a:lnTo>
                <a:lnTo>
                  <a:pt x="4439" y="214"/>
                </a:lnTo>
                <a:lnTo>
                  <a:pt x="4413" y="198"/>
                </a:lnTo>
                <a:lnTo>
                  <a:pt x="4388" y="185"/>
                </a:lnTo>
                <a:lnTo>
                  <a:pt x="4363" y="176"/>
                </a:lnTo>
                <a:lnTo>
                  <a:pt x="4338" y="167"/>
                </a:lnTo>
                <a:lnTo>
                  <a:pt x="4315" y="163"/>
                </a:lnTo>
                <a:lnTo>
                  <a:pt x="4292" y="160"/>
                </a:lnTo>
                <a:lnTo>
                  <a:pt x="4271" y="159"/>
                </a:lnTo>
                <a:lnTo>
                  <a:pt x="4249" y="161"/>
                </a:lnTo>
                <a:lnTo>
                  <a:pt x="4229" y="165"/>
                </a:lnTo>
                <a:lnTo>
                  <a:pt x="4210" y="171"/>
                </a:lnTo>
                <a:lnTo>
                  <a:pt x="4191" y="178"/>
                </a:lnTo>
                <a:lnTo>
                  <a:pt x="4175" y="188"/>
                </a:lnTo>
                <a:lnTo>
                  <a:pt x="4159" y="198"/>
                </a:lnTo>
                <a:lnTo>
                  <a:pt x="4145" y="210"/>
                </a:lnTo>
                <a:lnTo>
                  <a:pt x="4132" y="224"/>
                </a:lnTo>
                <a:lnTo>
                  <a:pt x="4120" y="240"/>
                </a:lnTo>
                <a:lnTo>
                  <a:pt x="4109" y="255"/>
                </a:lnTo>
                <a:lnTo>
                  <a:pt x="4101" y="273"/>
                </a:lnTo>
                <a:lnTo>
                  <a:pt x="4094" y="292"/>
                </a:lnTo>
                <a:lnTo>
                  <a:pt x="4089" y="311"/>
                </a:lnTo>
                <a:lnTo>
                  <a:pt x="4086" y="331"/>
                </a:lnTo>
                <a:lnTo>
                  <a:pt x="4084" y="353"/>
                </a:lnTo>
                <a:lnTo>
                  <a:pt x="4084" y="374"/>
                </a:lnTo>
                <a:lnTo>
                  <a:pt x="4087" y="395"/>
                </a:lnTo>
                <a:lnTo>
                  <a:pt x="4090" y="418"/>
                </a:lnTo>
                <a:lnTo>
                  <a:pt x="4097" y="441"/>
                </a:lnTo>
                <a:lnTo>
                  <a:pt x="4106" y="463"/>
                </a:lnTo>
                <a:lnTo>
                  <a:pt x="4116" y="486"/>
                </a:lnTo>
                <a:lnTo>
                  <a:pt x="4130" y="509"/>
                </a:lnTo>
                <a:lnTo>
                  <a:pt x="4146" y="532"/>
                </a:lnTo>
                <a:lnTo>
                  <a:pt x="4164" y="555"/>
                </a:lnTo>
                <a:lnTo>
                  <a:pt x="4184" y="576"/>
                </a:lnTo>
                <a:lnTo>
                  <a:pt x="4201" y="591"/>
                </a:lnTo>
                <a:lnTo>
                  <a:pt x="4217" y="606"/>
                </a:lnTo>
                <a:lnTo>
                  <a:pt x="4234" y="619"/>
                </a:lnTo>
                <a:lnTo>
                  <a:pt x="4252" y="629"/>
                </a:lnTo>
                <a:lnTo>
                  <a:pt x="4270" y="640"/>
                </a:lnTo>
                <a:lnTo>
                  <a:pt x="4286" y="648"/>
                </a:lnTo>
                <a:lnTo>
                  <a:pt x="4304" y="657"/>
                </a:lnTo>
                <a:lnTo>
                  <a:pt x="4322" y="663"/>
                </a:lnTo>
                <a:lnTo>
                  <a:pt x="4340" y="667"/>
                </a:lnTo>
                <a:lnTo>
                  <a:pt x="4357" y="671"/>
                </a:lnTo>
                <a:lnTo>
                  <a:pt x="4374" y="674"/>
                </a:lnTo>
                <a:lnTo>
                  <a:pt x="4391" y="676"/>
                </a:lnTo>
                <a:lnTo>
                  <a:pt x="4407" y="676"/>
                </a:lnTo>
                <a:lnTo>
                  <a:pt x="4424" y="676"/>
                </a:lnTo>
                <a:lnTo>
                  <a:pt x="4439" y="674"/>
                </a:lnTo>
                <a:lnTo>
                  <a:pt x="4455" y="671"/>
                </a:lnTo>
                <a:lnTo>
                  <a:pt x="4475" y="765"/>
                </a:lnTo>
                <a:close/>
                <a:moveTo>
                  <a:pt x="2669" y="2745"/>
                </a:moveTo>
                <a:lnTo>
                  <a:pt x="2669" y="2745"/>
                </a:lnTo>
                <a:lnTo>
                  <a:pt x="2676" y="2780"/>
                </a:lnTo>
                <a:lnTo>
                  <a:pt x="2681" y="2814"/>
                </a:lnTo>
                <a:lnTo>
                  <a:pt x="2686" y="2849"/>
                </a:lnTo>
                <a:lnTo>
                  <a:pt x="2688" y="2884"/>
                </a:lnTo>
                <a:lnTo>
                  <a:pt x="2498" y="2884"/>
                </a:lnTo>
                <a:lnTo>
                  <a:pt x="2496" y="2857"/>
                </a:lnTo>
                <a:lnTo>
                  <a:pt x="2492" y="2831"/>
                </a:lnTo>
                <a:lnTo>
                  <a:pt x="2669" y="2745"/>
                </a:lnTo>
                <a:close/>
                <a:moveTo>
                  <a:pt x="2688" y="2979"/>
                </a:moveTo>
                <a:lnTo>
                  <a:pt x="2688" y="2979"/>
                </a:lnTo>
                <a:lnTo>
                  <a:pt x="2685" y="3020"/>
                </a:lnTo>
                <a:lnTo>
                  <a:pt x="2680" y="3060"/>
                </a:lnTo>
                <a:lnTo>
                  <a:pt x="2673" y="3101"/>
                </a:lnTo>
                <a:lnTo>
                  <a:pt x="2664" y="3139"/>
                </a:lnTo>
                <a:lnTo>
                  <a:pt x="2654" y="3178"/>
                </a:lnTo>
                <a:lnTo>
                  <a:pt x="2642" y="3215"/>
                </a:lnTo>
                <a:lnTo>
                  <a:pt x="2628" y="3251"/>
                </a:lnTo>
                <a:lnTo>
                  <a:pt x="2613" y="3287"/>
                </a:lnTo>
                <a:lnTo>
                  <a:pt x="2596" y="3323"/>
                </a:lnTo>
                <a:lnTo>
                  <a:pt x="2578" y="3357"/>
                </a:lnTo>
                <a:lnTo>
                  <a:pt x="2558" y="3390"/>
                </a:lnTo>
                <a:lnTo>
                  <a:pt x="2536" y="3422"/>
                </a:lnTo>
                <a:lnTo>
                  <a:pt x="2514" y="3453"/>
                </a:lnTo>
                <a:lnTo>
                  <a:pt x="2490" y="3483"/>
                </a:lnTo>
                <a:lnTo>
                  <a:pt x="2464" y="3511"/>
                </a:lnTo>
                <a:lnTo>
                  <a:pt x="2438" y="3540"/>
                </a:lnTo>
                <a:lnTo>
                  <a:pt x="2409" y="3566"/>
                </a:lnTo>
                <a:lnTo>
                  <a:pt x="2381" y="3591"/>
                </a:lnTo>
                <a:lnTo>
                  <a:pt x="2351" y="3616"/>
                </a:lnTo>
                <a:lnTo>
                  <a:pt x="2320" y="3638"/>
                </a:lnTo>
                <a:lnTo>
                  <a:pt x="2287" y="3660"/>
                </a:lnTo>
                <a:lnTo>
                  <a:pt x="2255" y="3679"/>
                </a:lnTo>
                <a:lnTo>
                  <a:pt x="2220" y="3698"/>
                </a:lnTo>
                <a:lnTo>
                  <a:pt x="2185" y="3714"/>
                </a:lnTo>
                <a:lnTo>
                  <a:pt x="2149" y="3730"/>
                </a:lnTo>
                <a:lnTo>
                  <a:pt x="2112" y="3743"/>
                </a:lnTo>
                <a:lnTo>
                  <a:pt x="2075" y="3755"/>
                </a:lnTo>
                <a:lnTo>
                  <a:pt x="2037" y="3766"/>
                </a:lnTo>
                <a:lnTo>
                  <a:pt x="1998" y="3774"/>
                </a:lnTo>
                <a:lnTo>
                  <a:pt x="1959" y="3781"/>
                </a:lnTo>
                <a:lnTo>
                  <a:pt x="1919" y="3786"/>
                </a:lnTo>
                <a:lnTo>
                  <a:pt x="1878" y="3789"/>
                </a:lnTo>
                <a:lnTo>
                  <a:pt x="1878" y="3599"/>
                </a:lnTo>
                <a:lnTo>
                  <a:pt x="1909" y="3596"/>
                </a:lnTo>
                <a:lnTo>
                  <a:pt x="1940" y="3592"/>
                </a:lnTo>
                <a:lnTo>
                  <a:pt x="1970" y="3586"/>
                </a:lnTo>
                <a:lnTo>
                  <a:pt x="1999" y="3579"/>
                </a:lnTo>
                <a:lnTo>
                  <a:pt x="2028" y="3571"/>
                </a:lnTo>
                <a:lnTo>
                  <a:pt x="2056" y="3561"/>
                </a:lnTo>
                <a:lnTo>
                  <a:pt x="2084" y="3551"/>
                </a:lnTo>
                <a:lnTo>
                  <a:pt x="2111" y="3539"/>
                </a:lnTo>
                <a:lnTo>
                  <a:pt x="2138" y="3526"/>
                </a:lnTo>
                <a:lnTo>
                  <a:pt x="2163" y="3511"/>
                </a:lnTo>
                <a:lnTo>
                  <a:pt x="2189" y="3497"/>
                </a:lnTo>
                <a:lnTo>
                  <a:pt x="2213" y="3481"/>
                </a:lnTo>
                <a:lnTo>
                  <a:pt x="2237" y="3463"/>
                </a:lnTo>
                <a:lnTo>
                  <a:pt x="2259" y="3445"/>
                </a:lnTo>
                <a:lnTo>
                  <a:pt x="2282" y="3426"/>
                </a:lnTo>
                <a:lnTo>
                  <a:pt x="2303" y="3406"/>
                </a:lnTo>
                <a:lnTo>
                  <a:pt x="2324" y="3384"/>
                </a:lnTo>
                <a:lnTo>
                  <a:pt x="2343" y="3362"/>
                </a:lnTo>
                <a:lnTo>
                  <a:pt x="2362" y="3339"/>
                </a:lnTo>
                <a:lnTo>
                  <a:pt x="2378" y="3315"/>
                </a:lnTo>
                <a:lnTo>
                  <a:pt x="2395" y="3291"/>
                </a:lnTo>
                <a:lnTo>
                  <a:pt x="2410" y="3266"/>
                </a:lnTo>
                <a:lnTo>
                  <a:pt x="2425" y="3239"/>
                </a:lnTo>
                <a:lnTo>
                  <a:pt x="2438" y="3213"/>
                </a:lnTo>
                <a:lnTo>
                  <a:pt x="2449" y="3186"/>
                </a:lnTo>
                <a:lnTo>
                  <a:pt x="2460" y="3159"/>
                </a:lnTo>
                <a:lnTo>
                  <a:pt x="2470" y="3130"/>
                </a:lnTo>
                <a:lnTo>
                  <a:pt x="2478" y="3101"/>
                </a:lnTo>
                <a:lnTo>
                  <a:pt x="2485" y="3071"/>
                </a:lnTo>
                <a:lnTo>
                  <a:pt x="2491" y="3041"/>
                </a:lnTo>
                <a:lnTo>
                  <a:pt x="2495" y="3010"/>
                </a:lnTo>
                <a:lnTo>
                  <a:pt x="2498" y="2979"/>
                </a:lnTo>
                <a:lnTo>
                  <a:pt x="2688" y="2979"/>
                </a:lnTo>
                <a:close/>
                <a:moveTo>
                  <a:pt x="1783" y="3789"/>
                </a:moveTo>
                <a:lnTo>
                  <a:pt x="1783" y="3789"/>
                </a:lnTo>
                <a:lnTo>
                  <a:pt x="1743" y="3786"/>
                </a:lnTo>
                <a:lnTo>
                  <a:pt x="1703" y="3781"/>
                </a:lnTo>
                <a:lnTo>
                  <a:pt x="1663" y="3774"/>
                </a:lnTo>
                <a:lnTo>
                  <a:pt x="1624" y="3766"/>
                </a:lnTo>
                <a:lnTo>
                  <a:pt x="1586" y="3755"/>
                </a:lnTo>
                <a:lnTo>
                  <a:pt x="1548" y="3743"/>
                </a:lnTo>
                <a:lnTo>
                  <a:pt x="1511" y="3729"/>
                </a:lnTo>
                <a:lnTo>
                  <a:pt x="1476" y="3713"/>
                </a:lnTo>
                <a:lnTo>
                  <a:pt x="1440" y="3697"/>
                </a:lnTo>
                <a:lnTo>
                  <a:pt x="1407" y="3679"/>
                </a:lnTo>
                <a:lnTo>
                  <a:pt x="1374" y="3659"/>
                </a:lnTo>
                <a:lnTo>
                  <a:pt x="1342" y="3637"/>
                </a:lnTo>
                <a:lnTo>
                  <a:pt x="1310" y="3615"/>
                </a:lnTo>
                <a:lnTo>
                  <a:pt x="1280" y="3590"/>
                </a:lnTo>
                <a:lnTo>
                  <a:pt x="1251" y="3565"/>
                </a:lnTo>
                <a:lnTo>
                  <a:pt x="1223" y="3539"/>
                </a:lnTo>
                <a:lnTo>
                  <a:pt x="1197" y="3510"/>
                </a:lnTo>
                <a:lnTo>
                  <a:pt x="1172" y="3482"/>
                </a:lnTo>
                <a:lnTo>
                  <a:pt x="1148" y="3452"/>
                </a:lnTo>
                <a:lnTo>
                  <a:pt x="1126" y="3420"/>
                </a:lnTo>
                <a:lnTo>
                  <a:pt x="1104" y="3388"/>
                </a:lnTo>
                <a:lnTo>
                  <a:pt x="1084" y="3355"/>
                </a:lnTo>
                <a:lnTo>
                  <a:pt x="1066" y="3321"/>
                </a:lnTo>
                <a:lnTo>
                  <a:pt x="1048" y="3286"/>
                </a:lnTo>
                <a:lnTo>
                  <a:pt x="1034" y="3250"/>
                </a:lnTo>
                <a:lnTo>
                  <a:pt x="1020" y="3213"/>
                </a:lnTo>
                <a:lnTo>
                  <a:pt x="1008" y="3177"/>
                </a:lnTo>
                <a:lnTo>
                  <a:pt x="997" y="3139"/>
                </a:lnTo>
                <a:lnTo>
                  <a:pt x="989" y="3099"/>
                </a:lnTo>
                <a:lnTo>
                  <a:pt x="982" y="3060"/>
                </a:lnTo>
                <a:lnTo>
                  <a:pt x="977" y="3020"/>
                </a:lnTo>
                <a:lnTo>
                  <a:pt x="974" y="2979"/>
                </a:lnTo>
                <a:lnTo>
                  <a:pt x="1165" y="2979"/>
                </a:lnTo>
                <a:lnTo>
                  <a:pt x="1167" y="3010"/>
                </a:lnTo>
                <a:lnTo>
                  <a:pt x="1172" y="3041"/>
                </a:lnTo>
                <a:lnTo>
                  <a:pt x="1177" y="3071"/>
                </a:lnTo>
                <a:lnTo>
                  <a:pt x="1184" y="3099"/>
                </a:lnTo>
                <a:lnTo>
                  <a:pt x="1192" y="3129"/>
                </a:lnTo>
                <a:lnTo>
                  <a:pt x="1202" y="3158"/>
                </a:lnTo>
                <a:lnTo>
                  <a:pt x="1212" y="3185"/>
                </a:lnTo>
                <a:lnTo>
                  <a:pt x="1224" y="3212"/>
                </a:lnTo>
                <a:lnTo>
                  <a:pt x="1237" y="3238"/>
                </a:lnTo>
                <a:lnTo>
                  <a:pt x="1251" y="3264"/>
                </a:lnTo>
                <a:lnTo>
                  <a:pt x="1267" y="3291"/>
                </a:lnTo>
                <a:lnTo>
                  <a:pt x="1282" y="3314"/>
                </a:lnTo>
                <a:lnTo>
                  <a:pt x="1300" y="3338"/>
                </a:lnTo>
                <a:lnTo>
                  <a:pt x="1318" y="3361"/>
                </a:lnTo>
                <a:lnTo>
                  <a:pt x="1338" y="3383"/>
                </a:lnTo>
                <a:lnTo>
                  <a:pt x="1358" y="3405"/>
                </a:lnTo>
                <a:lnTo>
                  <a:pt x="1378" y="3425"/>
                </a:lnTo>
                <a:lnTo>
                  <a:pt x="1401" y="3444"/>
                </a:lnTo>
                <a:lnTo>
                  <a:pt x="1424" y="3463"/>
                </a:lnTo>
                <a:lnTo>
                  <a:pt x="1447" y="3479"/>
                </a:lnTo>
                <a:lnTo>
                  <a:pt x="1472" y="3496"/>
                </a:lnTo>
                <a:lnTo>
                  <a:pt x="1497" y="3511"/>
                </a:lnTo>
                <a:lnTo>
                  <a:pt x="1523" y="3526"/>
                </a:lnTo>
                <a:lnTo>
                  <a:pt x="1549" y="3539"/>
                </a:lnTo>
                <a:lnTo>
                  <a:pt x="1577" y="3551"/>
                </a:lnTo>
                <a:lnTo>
                  <a:pt x="1605" y="3561"/>
                </a:lnTo>
                <a:lnTo>
                  <a:pt x="1634" y="3571"/>
                </a:lnTo>
                <a:lnTo>
                  <a:pt x="1662" y="3579"/>
                </a:lnTo>
                <a:lnTo>
                  <a:pt x="1692" y="3586"/>
                </a:lnTo>
                <a:lnTo>
                  <a:pt x="1722" y="3592"/>
                </a:lnTo>
                <a:lnTo>
                  <a:pt x="1752" y="3596"/>
                </a:lnTo>
                <a:lnTo>
                  <a:pt x="1783" y="3599"/>
                </a:lnTo>
                <a:lnTo>
                  <a:pt x="1783" y="3789"/>
                </a:lnTo>
                <a:close/>
                <a:moveTo>
                  <a:pt x="974" y="2884"/>
                </a:moveTo>
                <a:lnTo>
                  <a:pt x="974" y="2884"/>
                </a:lnTo>
                <a:lnTo>
                  <a:pt x="977" y="2844"/>
                </a:lnTo>
                <a:lnTo>
                  <a:pt x="982" y="2804"/>
                </a:lnTo>
                <a:lnTo>
                  <a:pt x="989" y="2763"/>
                </a:lnTo>
                <a:lnTo>
                  <a:pt x="997" y="2725"/>
                </a:lnTo>
                <a:lnTo>
                  <a:pt x="1008" y="2686"/>
                </a:lnTo>
                <a:lnTo>
                  <a:pt x="1020" y="2649"/>
                </a:lnTo>
                <a:lnTo>
                  <a:pt x="1034" y="2612"/>
                </a:lnTo>
                <a:lnTo>
                  <a:pt x="1050" y="2577"/>
                </a:lnTo>
                <a:lnTo>
                  <a:pt x="1066" y="2541"/>
                </a:lnTo>
                <a:lnTo>
                  <a:pt x="1085" y="2507"/>
                </a:lnTo>
                <a:lnTo>
                  <a:pt x="1104" y="2475"/>
                </a:lnTo>
                <a:lnTo>
                  <a:pt x="1126" y="2441"/>
                </a:lnTo>
                <a:lnTo>
                  <a:pt x="1149" y="2411"/>
                </a:lnTo>
                <a:lnTo>
                  <a:pt x="1173" y="2381"/>
                </a:lnTo>
                <a:lnTo>
                  <a:pt x="1198" y="2352"/>
                </a:lnTo>
                <a:lnTo>
                  <a:pt x="1225" y="2324"/>
                </a:lnTo>
                <a:lnTo>
                  <a:pt x="1253" y="2298"/>
                </a:lnTo>
                <a:lnTo>
                  <a:pt x="1281" y="2273"/>
                </a:lnTo>
                <a:lnTo>
                  <a:pt x="1312" y="2248"/>
                </a:lnTo>
                <a:lnTo>
                  <a:pt x="1343" y="2225"/>
                </a:lnTo>
                <a:lnTo>
                  <a:pt x="1375" y="2205"/>
                </a:lnTo>
                <a:lnTo>
                  <a:pt x="1408" y="2185"/>
                </a:lnTo>
                <a:lnTo>
                  <a:pt x="1443" y="2166"/>
                </a:lnTo>
                <a:lnTo>
                  <a:pt x="1477" y="2149"/>
                </a:lnTo>
                <a:lnTo>
                  <a:pt x="1513" y="2134"/>
                </a:lnTo>
                <a:lnTo>
                  <a:pt x="1549" y="2121"/>
                </a:lnTo>
                <a:lnTo>
                  <a:pt x="1587" y="2109"/>
                </a:lnTo>
                <a:lnTo>
                  <a:pt x="1625" y="2098"/>
                </a:lnTo>
                <a:lnTo>
                  <a:pt x="1663" y="2090"/>
                </a:lnTo>
                <a:lnTo>
                  <a:pt x="1703" y="2083"/>
                </a:lnTo>
                <a:lnTo>
                  <a:pt x="1743" y="2078"/>
                </a:lnTo>
                <a:lnTo>
                  <a:pt x="1783" y="2075"/>
                </a:lnTo>
                <a:lnTo>
                  <a:pt x="1783" y="2265"/>
                </a:lnTo>
                <a:lnTo>
                  <a:pt x="1752" y="2268"/>
                </a:lnTo>
                <a:lnTo>
                  <a:pt x="1723" y="2272"/>
                </a:lnTo>
                <a:lnTo>
                  <a:pt x="1693" y="2278"/>
                </a:lnTo>
                <a:lnTo>
                  <a:pt x="1663" y="2285"/>
                </a:lnTo>
                <a:lnTo>
                  <a:pt x="1634" y="2293"/>
                </a:lnTo>
                <a:lnTo>
                  <a:pt x="1605" y="2303"/>
                </a:lnTo>
                <a:lnTo>
                  <a:pt x="1578" y="2313"/>
                </a:lnTo>
                <a:lnTo>
                  <a:pt x="1551" y="2325"/>
                </a:lnTo>
                <a:lnTo>
                  <a:pt x="1525" y="2338"/>
                </a:lnTo>
                <a:lnTo>
                  <a:pt x="1498" y="2352"/>
                </a:lnTo>
                <a:lnTo>
                  <a:pt x="1473" y="2367"/>
                </a:lnTo>
                <a:lnTo>
                  <a:pt x="1449" y="2383"/>
                </a:lnTo>
                <a:lnTo>
                  <a:pt x="1425" y="2401"/>
                </a:lnTo>
                <a:lnTo>
                  <a:pt x="1402" y="2419"/>
                </a:lnTo>
                <a:lnTo>
                  <a:pt x="1380" y="2438"/>
                </a:lnTo>
                <a:lnTo>
                  <a:pt x="1359" y="2459"/>
                </a:lnTo>
                <a:lnTo>
                  <a:pt x="1338" y="2479"/>
                </a:lnTo>
                <a:lnTo>
                  <a:pt x="1319" y="2502"/>
                </a:lnTo>
                <a:lnTo>
                  <a:pt x="1301" y="2525"/>
                </a:lnTo>
                <a:lnTo>
                  <a:pt x="1284" y="2548"/>
                </a:lnTo>
                <a:lnTo>
                  <a:pt x="1267" y="2573"/>
                </a:lnTo>
                <a:lnTo>
                  <a:pt x="1251" y="2598"/>
                </a:lnTo>
                <a:lnTo>
                  <a:pt x="1237" y="2624"/>
                </a:lnTo>
                <a:lnTo>
                  <a:pt x="1224" y="2650"/>
                </a:lnTo>
                <a:lnTo>
                  <a:pt x="1212" y="2678"/>
                </a:lnTo>
                <a:lnTo>
                  <a:pt x="1202" y="2706"/>
                </a:lnTo>
                <a:lnTo>
                  <a:pt x="1192" y="2735"/>
                </a:lnTo>
                <a:lnTo>
                  <a:pt x="1184" y="2763"/>
                </a:lnTo>
                <a:lnTo>
                  <a:pt x="1177" y="2793"/>
                </a:lnTo>
                <a:lnTo>
                  <a:pt x="1172" y="2823"/>
                </a:lnTo>
                <a:lnTo>
                  <a:pt x="1167" y="2854"/>
                </a:lnTo>
                <a:lnTo>
                  <a:pt x="1165" y="2884"/>
                </a:lnTo>
                <a:lnTo>
                  <a:pt x="974" y="2884"/>
                </a:lnTo>
                <a:close/>
                <a:moveTo>
                  <a:pt x="3081" y="2436"/>
                </a:moveTo>
                <a:lnTo>
                  <a:pt x="3081" y="2436"/>
                </a:lnTo>
                <a:lnTo>
                  <a:pt x="3101" y="2488"/>
                </a:lnTo>
                <a:lnTo>
                  <a:pt x="3118" y="2542"/>
                </a:lnTo>
                <a:lnTo>
                  <a:pt x="3133" y="2597"/>
                </a:lnTo>
                <a:lnTo>
                  <a:pt x="3146" y="2653"/>
                </a:lnTo>
                <a:lnTo>
                  <a:pt x="3157" y="2710"/>
                </a:lnTo>
                <a:lnTo>
                  <a:pt x="3165" y="2767"/>
                </a:lnTo>
                <a:lnTo>
                  <a:pt x="3171" y="2825"/>
                </a:lnTo>
                <a:lnTo>
                  <a:pt x="3175" y="2884"/>
                </a:lnTo>
                <a:lnTo>
                  <a:pt x="2985" y="2884"/>
                </a:lnTo>
                <a:lnTo>
                  <a:pt x="2983" y="2845"/>
                </a:lnTo>
                <a:lnTo>
                  <a:pt x="2979" y="2806"/>
                </a:lnTo>
                <a:lnTo>
                  <a:pt x="2974" y="2768"/>
                </a:lnTo>
                <a:lnTo>
                  <a:pt x="2968" y="2730"/>
                </a:lnTo>
                <a:lnTo>
                  <a:pt x="2961" y="2692"/>
                </a:lnTo>
                <a:lnTo>
                  <a:pt x="2953" y="2654"/>
                </a:lnTo>
                <a:lnTo>
                  <a:pt x="2942" y="2617"/>
                </a:lnTo>
                <a:lnTo>
                  <a:pt x="2932" y="2582"/>
                </a:lnTo>
                <a:lnTo>
                  <a:pt x="3081" y="2436"/>
                </a:lnTo>
                <a:close/>
                <a:moveTo>
                  <a:pt x="3175" y="2979"/>
                </a:moveTo>
                <a:lnTo>
                  <a:pt x="3175" y="2979"/>
                </a:lnTo>
                <a:lnTo>
                  <a:pt x="3174" y="3013"/>
                </a:lnTo>
                <a:lnTo>
                  <a:pt x="3171" y="3045"/>
                </a:lnTo>
                <a:lnTo>
                  <a:pt x="3168" y="3078"/>
                </a:lnTo>
                <a:lnTo>
                  <a:pt x="3164" y="3110"/>
                </a:lnTo>
                <a:lnTo>
                  <a:pt x="3159" y="3142"/>
                </a:lnTo>
                <a:lnTo>
                  <a:pt x="3154" y="3174"/>
                </a:lnTo>
                <a:lnTo>
                  <a:pt x="3148" y="3205"/>
                </a:lnTo>
                <a:lnTo>
                  <a:pt x="3142" y="3237"/>
                </a:lnTo>
                <a:lnTo>
                  <a:pt x="3133" y="3268"/>
                </a:lnTo>
                <a:lnTo>
                  <a:pt x="3125" y="3299"/>
                </a:lnTo>
                <a:lnTo>
                  <a:pt x="3117" y="3329"/>
                </a:lnTo>
                <a:lnTo>
                  <a:pt x="3106" y="3359"/>
                </a:lnTo>
                <a:lnTo>
                  <a:pt x="3097" y="3389"/>
                </a:lnTo>
                <a:lnTo>
                  <a:pt x="3085" y="3419"/>
                </a:lnTo>
                <a:lnTo>
                  <a:pt x="3074" y="3447"/>
                </a:lnTo>
                <a:lnTo>
                  <a:pt x="3061" y="3477"/>
                </a:lnTo>
                <a:lnTo>
                  <a:pt x="3048" y="3504"/>
                </a:lnTo>
                <a:lnTo>
                  <a:pt x="3035" y="3533"/>
                </a:lnTo>
                <a:lnTo>
                  <a:pt x="3021" y="3561"/>
                </a:lnTo>
                <a:lnTo>
                  <a:pt x="3005" y="3589"/>
                </a:lnTo>
                <a:lnTo>
                  <a:pt x="2990" y="3615"/>
                </a:lnTo>
                <a:lnTo>
                  <a:pt x="2974" y="3642"/>
                </a:lnTo>
                <a:lnTo>
                  <a:pt x="2956" y="3668"/>
                </a:lnTo>
                <a:lnTo>
                  <a:pt x="2940" y="3693"/>
                </a:lnTo>
                <a:lnTo>
                  <a:pt x="2903" y="3744"/>
                </a:lnTo>
                <a:lnTo>
                  <a:pt x="2865" y="3792"/>
                </a:lnTo>
                <a:lnTo>
                  <a:pt x="2825" y="3839"/>
                </a:lnTo>
                <a:lnTo>
                  <a:pt x="2782" y="3883"/>
                </a:lnTo>
                <a:lnTo>
                  <a:pt x="2737" y="3926"/>
                </a:lnTo>
                <a:lnTo>
                  <a:pt x="2690" y="3966"/>
                </a:lnTo>
                <a:lnTo>
                  <a:pt x="2642" y="4005"/>
                </a:lnTo>
                <a:lnTo>
                  <a:pt x="2592" y="4041"/>
                </a:lnTo>
                <a:lnTo>
                  <a:pt x="2566" y="4059"/>
                </a:lnTo>
                <a:lnTo>
                  <a:pt x="2540" y="4075"/>
                </a:lnTo>
                <a:lnTo>
                  <a:pt x="2514" y="4091"/>
                </a:lnTo>
                <a:lnTo>
                  <a:pt x="2486" y="4106"/>
                </a:lnTo>
                <a:lnTo>
                  <a:pt x="2459" y="4122"/>
                </a:lnTo>
                <a:lnTo>
                  <a:pt x="2432" y="4136"/>
                </a:lnTo>
                <a:lnTo>
                  <a:pt x="2403" y="4149"/>
                </a:lnTo>
                <a:lnTo>
                  <a:pt x="2375" y="4162"/>
                </a:lnTo>
                <a:lnTo>
                  <a:pt x="2346" y="4175"/>
                </a:lnTo>
                <a:lnTo>
                  <a:pt x="2316" y="4186"/>
                </a:lnTo>
                <a:lnTo>
                  <a:pt x="2288" y="4198"/>
                </a:lnTo>
                <a:lnTo>
                  <a:pt x="2257" y="4207"/>
                </a:lnTo>
                <a:lnTo>
                  <a:pt x="2227" y="4218"/>
                </a:lnTo>
                <a:lnTo>
                  <a:pt x="2197" y="4226"/>
                </a:lnTo>
                <a:lnTo>
                  <a:pt x="2167" y="4235"/>
                </a:lnTo>
                <a:lnTo>
                  <a:pt x="2136" y="4243"/>
                </a:lnTo>
                <a:lnTo>
                  <a:pt x="2104" y="4249"/>
                </a:lnTo>
                <a:lnTo>
                  <a:pt x="2073" y="4255"/>
                </a:lnTo>
                <a:lnTo>
                  <a:pt x="2041" y="4261"/>
                </a:lnTo>
                <a:lnTo>
                  <a:pt x="2009" y="4265"/>
                </a:lnTo>
                <a:lnTo>
                  <a:pt x="1977" y="4269"/>
                </a:lnTo>
                <a:lnTo>
                  <a:pt x="1944" y="4273"/>
                </a:lnTo>
                <a:lnTo>
                  <a:pt x="1912" y="4275"/>
                </a:lnTo>
                <a:lnTo>
                  <a:pt x="1878" y="4276"/>
                </a:lnTo>
                <a:lnTo>
                  <a:pt x="1878" y="4086"/>
                </a:lnTo>
                <a:lnTo>
                  <a:pt x="1934" y="4083"/>
                </a:lnTo>
                <a:lnTo>
                  <a:pt x="1990" y="4077"/>
                </a:lnTo>
                <a:lnTo>
                  <a:pt x="2043" y="4067"/>
                </a:lnTo>
                <a:lnTo>
                  <a:pt x="2097" y="4056"/>
                </a:lnTo>
                <a:lnTo>
                  <a:pt x="2150" y="4042"/>
                </a:lnTo>
                <a:lnTo>
                  <a:pt x="2201" y="4027"/>
                </a:lnTo>
                <a:lnTo>
                  <a:pt x="2251" y="4008"/>
                </a:lnTo>
                <a:lnTo>
                  <a:pt x="2301" y="3988"/>
                </a:lnTo>
                <a:lnTo>
                  <a:pt x="2349" y="3965"/>
                </a:lnTo>
                <a:lnTo>
                  <a:pt x="2396" y="3940"/>
                </a:lnTo>
                <a:lnTo>
                  <a:pt x="2441" y="3913"/>
                </a:lnTo>
                <a:lnTo>
                  <a:pt x="2485" y="3883"/>
                </a:lnTo>
                <a:lnTo>
                  <a:pt x="2528" y="3852"/>
                </a:lnTo>
                <a:lnTo>
                  <a:pt x="2569" y="3820"/>
                </a:lnTo>
                <a:lnTo>
                  <a:pt x="2610" y="3786"/>
                </a:lnTo>
                <a:lnTo>
                  <a:pt x="2648" y="3749"/>
                </a:lnTo>
                <a:lnTo>
                  <a:pt x="2683" y="3711"/>
                </a:lnTo>
                <a:lnTo>
                  <a:pt x="2719" y="3672"/>
                </a:lnTo>
                <a:lnTo>
                  <a:pt x="2751" y="3630"/>
                </a:lnTo>
                <a:lnTo>
                  <a:pt x="2782" y="3587"/>
                </a:lnTo>
                <a:lnTo>
                  <a:pt x="2812" y="3543"/>
                </a:lnTo>
                <a:lnTo>
                  <a:pt x="2838" y="3497"/>
                </a:lnTo>
                <a:lnTo>
                  <a:pt x="2863" y="3451"/>
                </a:lnTo>
                <a:lnTo>
                  <a:pt x="2886" y="3402"/>
                </a:lnTo>
                <a:lnTo>
                  <a:pt x="2907" y="3353"/>
                </a:lnTo>
                <a:lnTo>
                  <a:pt x="2926" y="3302"/>
                </a:lnTo>
                <a:lnTo>
                  <a:pt x="2941" y="3251"/>
                </a:lnTo>
                <a:lnTo>
                  <a:pt x="2955" y="3198"/>
                </a:lnTo>
                <a:lnTo>
                  <a:pt x="2966" y="3144"/>
                </a:lnTo>
                <a:lnTo>
                  <a:pt x="2975" y="3091"/>
                </a:lnTo>
                <a:lnTo>
                  <a:pt x="2981" y="3035"/>
                </a:lnTo>
                <a:lnTo>
                  <a:pt x="2985" y="2979"/>
                </a:lnTo>
                <a:lnTo>
                  <a:pt x="3175" y="2979"/>
                </a:lnTo>
                <a:close/>
                <a:moveTo>
                  <a:pt x="1783" y="4276"/>
                </a:moveTo>
                <a:lnTo>
                  <a:pt x="1783" y="4276"/>
                </a:lnTo>
                <a:lnTo>
                  <a:pt x="1750" y="4275"/>
                </a:lnTo>
                <a:lnTo>
                  <a:pt x="1718" y="4273"/>
                </a:lnTo>
                <a:lnTo>
                  <a:pt x="1685" y="4269"/>
                </a:lnTo>
                <a:lnTo>
                  <a:pt x="1653" y="4265"/>
                </a:lnTo>
                <a:lnTo>
                  <a:pt x="1621" y="4261"/>
                </a:lnTo>
                <a:lnTo>
                  <a:pt x="1589" y="4255"/>
                </a:lnTo>
                <a:lnTo>
                  <a:pt x="1558" y="4249"/>
                </a:lnTo>
                <a:lnTo>
                  <a:pt x="1526" y="4242"/>
                </a:lnTo>
                <a:lnTo>
                  <a:pt x="1495" y="4235"/>
                </a:lnTo>
                <a:lnTo>
                  <a:pt x="1464" y="4226"/>
                </a:lnTo>
                <a:lnTo>
                  <a:pt x="1434" y="4217"/>
                </a:lnTo>
                <a:lnTo>
                  <a:pt x="1403" y="4207"/>
                </a:lnTo>
                <a:lnTo>
                  <a:pt x="1374" y="4198"/>
                </a:lnTo>
                <a:lnTo>
                  <a:pt x="1345" y="4186"/>
                </a:lnTo>
                <a:lnTo>
                  <a:pt x="1316" y="4174"/>
                </a:lnTo>
                <a:lnTo>
                  <a:pt x="1287" y="4162"/>
                </a:lnTo>
                <a:lnTo>
                  <a:pt x="1259" y="4149"/>
                </a:lnTo>
                <a:lnTo>
                  <a:pt x="1230" y="4136"/>
                </a:lnTo>
                <a:lnTo>
                  <a:pt x="1203" y="4122"/>
                </a:lnTo>
                <a:lnTo>
                  <a:pt x="1175" y="4106"/>
                </a:lnTo>
                <a:lnTo>
                  <a:pt x="1148" y="4091"/>
                </a:lnTo>
                <a:lnTo>
                  <a:pt x="1122" y="4074"/>
                </a:lnTo>
                <a:lnTo>
                  <a:pt x="1096" y="4058"/>
                </a:lnTo>
                <a:lnTo>
                  <a:pt x="1070" y="4041"/>
                </a:lnTo>
                <a:lnTo>
                  <a:pt x="1020" y="4004"/>
                </a:lnTo>
                <a:lnTo>
                  <a:pt x="971" y="3966"/>
                </a:lnTo>
                <a:lnTo>
                  <a:pt x="925" y="3926"/>
                </a:lnTo>
                <a:lnTo>
                  <a:pt x="880" y="3883"/>
                </a:lnTo>
                <a:lnTo>
                  <a:pt x="837" y="3838"/>
                </a:lnTo>
                <a:lnTo>
                  <a:pt x="797" y="3792"/>
                </a:lnTo>
                <a:lnTo>
                  <a:pt x="759" y="3743"/>
                </a:lnTo>
                <a:lnTo>
                  <a:pt x="722" y="3693"/>
                </a:lnTo>
                <a:lnTo>
                  <a:pt x="705" y="3667"/>
                </a:lnTo>
                <a:lnTo>
                  <a:pt x="689" y="3641"/>
                </a:lnTo>
                <a:lnTo>
                  <a:pt x="672" y="3615"/>
                </a:lnTo>
                <a:lnTo>
                  <a:pt x="657" y="3587"/>
                </a:lnTo>
                <a:lnTo>
                  <a:pt x="641" y="3560"/>
                </a:lnTo>
                <a:lnTo>
                  <a:pt x="627" y="3533"/>
                </a:lnTo>
                <a:lnTo>
                  <a:pt x="614" y="3504"/>
                </a:lnTo>
                <a:lnTo>
                  <a:pt x="601" y="3476"/>
                </a:lnTo>
                <a:lnTo>
                  <a:pt x="589" y="3447"/>
                </a:lnTo>
                <a:lnTo>
                  <a:pt x="577" y="3418"/>
                </a:lnTo>
                <a:lnTo>
                  <a:pt x="565" y="3388"/>
                </a:lnTo>
                <a:lnTo>
                  <a:pt x="556" y="3358"/>
                </a:lnTo>
                <a:lnTo>
                  <a:pt x="546" y="3329"/>
                </a:lnTo>
                <a:lnTo>
                  <a:pt x="537" y="3298"/>
                </a:lnTo>
                <a:lnTo>
                  <a:pt x="528" y="3267"/>
                </a:lnTo>
                <a:lnTo>
                  <a:pt x="521" y="3236"/>
                </a:lnTo>
                <a:lnTo>
                  <a:pt x="514" y="3205"/>
                </a:lnTo>
                <a:lnTo>
                  <a:pt x="508" y="3174"/>
                </a:lnTo>
                <a:lnTo>
                  <a:pt x="502" y="3142"/>
                </a:lnTo>
                <a:lnTo>
                  <a:pt x="497" y="3110"/>
                </a:lnTo>
                <a:lnTo>
                  <a:pt x="494" y="3078"/>
                </a:lnTo>
                <a:lnTo>
                  <a:pt x="492" y="3045"/>
                </a:lnTo>
                <a:lnTo>
                  <a:pt x="489" y="3013"/>
                </a:lnTo>
                <a:lnTo>
                  <a:pt x="487" y="2979"/>
                </a:lnTo>
                <a:lnTo>
                  <a:pt x="677" y="2979"/>
                </a:lnTo>
                <a:lnTo>
                  <a:pt x="680" y="3035"/>
                </a:lnTo>
                <a:lnTo>
                  <a:pt x="687" y="3090"/>
                </a:lnTo>
                <a:lnTo>
                  <a:pt x="696" y="3144"/>
                </a:lnTo>
                <a:lnTo>
                  <a:pt x="708" y="3198"/>
                </a:lnTo>
                <a:lnTo>
                  <a:pt x="721" y="3250"/>
                </a:lnTo>
                <a:lnTo>
                  <a:pt x="737" y="3302"/>
                </a:lnTo>
                <a:lnTo>
                  <a:pt x="755" y="3352"/>
                </a:lnTo>
                <a:lnTo>
                  <a:pt x="775" y="3402"/>
                </a:lnTo>
                <a:lnTo>
                  <a:pt x="799" y="3450"/>
                </a:lnTo>
                <a:lnTo>
                  <a:pt x="824" y="3497"/>
                </a:lnTo>
                <a:lnTo>
                  <a:pt x="850" y="3542"/>
                </a:lnTo>
                <a:lnTo>
                  <a:pt x="880" y="3586"/>
                </a:lnTo>
                <a:lnTo>
                  <a:pt x="911" y="3629"/>
                </a:lnTo>
                <a:lnTo>
                  <a:pt x="943" y="3671"/>
                </a:lnTo>
                <a:lnTo>
                  <a:pt x="978" y="3710"/>
                </a:lnTo>
                <a:lnTo>
                  <a:pt x="1014" y="3749"/>
                </a:lnTo>
                <a:lnTo>
                  <a:pt x="1052" y="3785"/>
                </a:lnTo>
                <a:lnTo>
                  <a:pt x="1092" y="3819"/>
                </a:lnTo>
                <a:lnTo>
                  <a:pt x="1133" y="3852"/>
                </a:lnTo>
                <a:lnTo>
                  <a:pt x="1175" y="3883"/>
                </a:lnTo>
                <a:lnTo>
                  <a:pt x="1221" y="3913"/>
                </a:lnTo>
                <a:lnTo>
                  <a:pt x="1266" y="3939"/>
                </a:lnTo>
                <a:lnTo>
                  <a:pt x="1313" y="3964"/>
                </a:lnTo>
                <a:lnTo>
                  <a:pt x="1361" y="3988"/>
                </a:lnTo>
                <a:lnTo>
                  <a:pt x="1411" y="4008"/>
                </a:lnTo>
                <a:lnTo>
                  <a:pt x="1460" y="4026"/>
                </a:lnTo>
                <a:lnTo>
                  <a:pt x="1513" y="4042"/>
                </a:lnTo>
                <a:lnTo>
                  <a:pt x="1565" y="4056"/>
                </a:lnTo>
                <a:lnTo>
                  <a:pt x="1618" y="4067"/>
                </a:lnTo>
                <a:lnTo>
                  <a:pt x="1673" y="4077"/>
                </a:lnTo>
                <a:lnTo>
                  <a:pt x="1728" y="4083"/>
                </a:lnTo>
                <a:lnTo>
                  <a:pt x="1783" y="4086"/>
                </a:lnTo>
                <a:lnTo>
                  <a:pt x="1783" y="4276"/>
                </a:lnTo>
                <a:close/>
                <a:moveTo>
                  <a:pt x="487" y="2884"/>
                </a:moveTo>
                <a:lnTo>
                  <a:pt x="487" y="2884"/>
                </a:lnTo>
                <a:lnTo>
                  <a:pt x="489" y="2851"/>
                </a:lnTo>
                <a:lnTo>
                  <a:pt x="492" y="2819"/>
                </a:lnTo>
                <a:lnTo>
                  <a:pt x="494" y="2786"/>
                </a:lnTo>
                <a:lnTo>
                  <a:pt x="497" y="2754"/>
                </a:lnTo>
                <a:lnTo>
                  <a:pt x="502" y="2722"/>
                </a:lnTo>
                <a:lnTo>
                  <a:pt x="508" y="2690"/>
                </a:lnTo>
                <a:lnTo>
                  <a:pt x="514" y="2659"/>
                </a:lnTo>
                <a:lnTo>
                  <a:pt x="521" y="2627"/>
                </a:lnTo>
                <a:lnTo>
                  <a:pt x="528" y="2596"/>
                </a:lnTo>
                <a:lnTo>
                  <a:pt x="537" y="2565"/>
                </a:lnTo>
                <a:lnTo>
                  <a:pt x="546" y="2535"/>
                </a:lnTo>
                <a:lnTo>
                  <a:pt x="556" y="2504"/>
                </a:lnTo>
                <a:lnTo>
                  <a:pt x="566" y="2475"/>
                </a:lnTo>
                <a:lnTo>
                  <a:pt x="577" y="2445"/>
                </a:lnTo>
                <a:lnTo>
                  <a:pt x="589" y="2417"/>
                </a:lnTo>
                <a:lnTo>
                  <a:pt x="601" y="2388"/>
                </a:lnTo>
                <a:lnTo>
                  <a:pt x="614" y="2360"/>
                </a:lnTo>
                <a:lnTo>
                  <a:pt x="628" y="2331"/>
                </a:lnTo>
                <a:lnTo>
                  <a:pt x="642" y="2304"/>
                </a:lnTo>
                <a:lnTo>
                  <a:pt x="657" y="2276"/>
                </a:lnTo>
                <a:lnTo>
                  <a:pt x="672" y="2249"/>
                </a:lnTo>
                <a:lnTo>
                  <a:pt x="689" y="2222"/>
                </a:lnTo>
                <a:lnTo>
                  <a:pt x="705" y="2196"/>
                </a:lnTo>
                <a:lnTo>
                  <a:pt x="723" y="2171"/>
                </a:lnTo>
                <a:lnTo>
                  <a:pt x="759" y="2121"/>
                </a:lnTo>
                <a:lnTo>
                  <a:pt x="797" y="2072"/>
                </a:lnTo>
                <a:lnTo>
                  <a:pt x="838" y="2026"/>
                </a:lnTo>
                <a:lnTo>
                  <a:pt x="881" y="1981"/>
                </a:lnTo>
                <a:lnTo>
                  <a:pt x="925" y="1938"/>
                </a:lnTo>
                <a:lnTo>
                  <a:pt x="971" y="1898"/>
                </a:lnTo>
                <a:lnTo>
                  <a:pt x="1020" y="1858"/>
                </a:lnTo>
                <a:lnTo>
                  <a:pt x="1071" y="1823"/>
                </a:lnTo>
                <a:lnTo>
                  <a:pt x="1096" y="1805"/>
                </a:lnTo>
                <a:lnTo>
                  <a:pt x="1122" y="1788"/>
                </a:lnTo>
                <a:lnTo>
                  <a:pt x="1149" y="1773"/>
                </a:lnTo>
                <a:lnTo>
                  <a:pt x="1175" y="1757"/>
                </a:lnTo>
                <a:lnTo>
                  <a:pt x="1203" y="1742"/>
                </a:lnTo>
                <a:lnTo>
                  <a:pt x="1231" y="1728"/>
                </a:lnTo>
                <a:lnTo>
                  <a:pt x="1259" y="1715"/>
                </a:lnTo>
                <a:lnTo>
                  <a:pt x="1287" y="1702"/>
                </a:lnTo>
                <a:lnTo>
                  <a:pt x="1317" y="1689"/>
                </a:lnTo>
                <a:lnTo>
                  <a:pt x="1345" y="1678"/>
                </a:lnTo>
                <a:lnTo>
                  <a:pt x="1375" y="1666"/>
                </a:lnTo>
                <a:lnTo>
                  <a:pt x="1405" y="1657"/>
                </a:lnTo>
                <a:lnTo>
                  <a:pt x="1434" y="1646"/>
                </a:lnTo>
                <a:lnTo>
                  <a:pt x="1465" y="1638"/>
                </a:lnTo>
                <a:lnTo>
                  <a:pt x="1496" y="1629"/>
                </a:lnTo>
                <a:lnTo>
                  <a:pt x="1527" y="1622"/>
                </a:lnTo>
                <a:lnTo>
                  <a:pt x="1558" y="1615"/>
                </a:lnTo>
                <a:lnTo>
                  <a:pt x="1590" y="1609"/>
                </a:lnTo>
                <a:lnTo>
                  <a:pt x="1621" y="1603"/>
                </a:lnTo>
                <a:lnTo>
                  <a:pt x="1653" y="1598"/>
                </a:lnTo>
                <a:lnTo>
                  <a:pt x="1686" y="1595"/>
                </a:lnTo>
                <a:lnTo>
                  <a:pt x="1718" y="1591"/>
                </a:lnTo>
                <a:lnTo>
                  <a:pt x="1750" y="1589"/>
                </a:lnTo>
                <a:lnTo>
                  <a:pt x="1783" y="1588"/>
                </a:lnTo>
                <a:lnTo>
                  <a:pt x="1783" y="1778"/>
                </a:lnTo>
                <a:lnTo>
                  <a:pt x="1728" y="1781"/>
                </a:lnTo>
                <a:lnTo>
                  <a:pt x="1673" y="1788"/>
                </a:lnTo>
                <a:lnTo>
                  <a:pt x="1618" y="1797"/>
                </a:lnTo>
                <a:lnTo>
                  <a:pt x="1565" y="1807"/>
                </a:lnTo>
                <a:lnTo>
                  <a:pt x="1513" y="1822"/>
                </a:lnTo>
                <a:lnTo>
                  <a:pt x="1462" y="1837"/>
                </a:lnTo>
                <a:lnTo>
                  <a:pt x="1411" y="1856"/>
                </a:lnTo>
                <a:lnTo>
                  <a:pt x="1362" y="1876"/>
                </a:lnTo>
                <a:lnTo>
                  <a:pt x="1313" y="1900"/>
                </a:lnTo>
                <a:lnTo>
                  <a:pt x="1267" y="1925"/>
                </a:lnTo>
                <a:lnTo>
                  <a:pt x="1221" y="1951"/>
                </a:lnTo>
                <a:lnTo>
                  <a:pt x="1177" y="1981"/>
                </a:lnTo>
                <a:lnTo>
                  <a:pt x="1134" y="2012"/>
                </a:lnTo>
                <a:lnTo>
                  <a:pt x="1092" y="2044"/>
                </a:lnTo>
                <a:lnTo>
                  <a:pt x="1053" y="2078"/>
                </a:lnTo>
                <a:lnTo>
                  <a:pt x="1015" y="2115"/>
                </a:lnTo>
                <a:lnTo>
                  <a:pt x="978" y="2153"/>
                </a:lnTo>
                <a:lnTo>
                  <a:pt x="944" y="2193"/>
                </a:lnTo>
                <a:lnTo>
                  <a:pt x="911" y="2234"/>
                </a:lnTo>
                <a:lnTo>
                  <a:pt x="880" y="2276"/>
                </a:lnTo>
                <a:lnTo>
                  <a:pt x="851" y="2320"/>
                </a:lnTo>
                <a:lnTo>
                  <a:pt x="824" y="2367"/>
                </a:lnTo>
                <a:lnTo>
                  <a:pt x="799" y="2413"/>
                </a:lnTo>
                <a:lnTo>
                  <a:pt x="777" y="2462"/>
                </a:lnTo>
                <a:lnTo>
                  <a:pt x="755" y="2510"/>
                </a:lnTo>
                <a:lnTo>
                  <a:pt x="737" y="2561"/>
                </a:lnTo>
                <a:lnTo>
                  <a:pt x="721" y="2612"/>
                </a:lnTo>
                <a:lnTo>
                  <a:pt x="708" y="2666"/>
                </a:lnTo>
                <a:lnTo>
                  <a:pt x="696" y="2719"/>
                </a:lnTo>
                <a:lnTo>
                  <a:pt x="687" y="2773"/>
                </a:lnTo>
                <a:lnTo>
                  <a:pt x="680" y="2829"/>
                </a:lnTo>
                <a:lnTo>
                  <a:pt x="677" y="2884"/>
                </a:lnTo>
                <a:lnTo>
                  <a:pt x="487" y="2884"/>
                </a:lnTo>
                <a:close/>
                <a:moveTo>
                  <a:pt x="1878" y="2075"/>
                </a:moveTo>
                <a:lnTo>
                  <a:pt x="1878" y="2075"/>
                </a:lnTo>
                <a:lnTo>
                  <a:pt x="1908" y="2077"/>
                </a:lnTo>
                <a:lnTo>
                  <a:pt x="1938" y="2080"/>
                </a:lnTo>
                <a:lnTo>
                  <a:pt x="1966" y="2084"/>
                </a:lnTo>
                <a:lnTo>
                  <a:pt x="1995" y="2089"/>
                </a:lnTo>
                <a:lnTo>
                  <a:pt x="2023" y="2095"/>
                </a:lnTo>
                <a:lnTo>
                  <a:pt x="2052" y="2102"/>
                </a:lnTo>
                <a:lnTo>
                  <a:pt x="2079" y="2110"/>
                </a:lnTo>
                <a:lnTo>
                  <a:pt x="2106" y="2118"/>
                </a:lnTo>
                <a:lnTo>
                  <a:pt x="2201" y="1921"/>
                </a:lnTo>
                <a:lnTo>
                  <a:pt x="2262" y="1861"/>
                </a:lnTo>
                <a:lnTo>
                  <a:pt x="2217" y="1843"/>
                </a:lnTo>
                <a:lnTo>
                  <a:pt x="2170" y="1828"/>
                </a:lnTo>
                <a:lnTo>
                  <a:pt x="2124" y="1814"/>
                </a:lnTo>
                <a:lnTo>
                  <a:pt x="2077" y="1803"/>
                </a:lnTo>
                <a:lnTo>
                  <a:pt x="2028" y="1794"/>
                </a:lnTo>
                <a:lnTo>
                  <a:pt x="1979" y="1786"/>
                </a:lnTo>
                <a:lnTo>
                  <a:pt x="1929" y="1781"/>
                </a:lnTo>
                <a:lnTo>
                  <a:pt x="1878" y="1778"/>
                </a:lnTo>
                <a:lnTo>
                  <a:pt x="1878" y="1588"/>
                </a:lnTo>
                <a:lnTo>
                  <a:pt x="1914" y="1590"/>
                </a:lnTo>
                <a:lnTo>
                  <a:pt x="1948" y="1592"/>
                </a:lnTo>
                <a:lnTo>
                  <a:pt x="1984" y="1596"/>
                </a:lnTo>
                <a:lnTo>
                  <a:pt x="2018" y="1600"/>
                </a:lnTo>
                <a:lnTo>
                  <a:pt x="2052" y="1605"/>
                </a:lnTo>
                <a:lnTo>
                  <a:pt x="2086" y="1611"/>
                </a:lnTo>
                <a:lnTo>
                  <a:pt x="2119" y="1619"/>
                </a:lnTo>
                <a:lnTo>
                  <a:pt x="2153" y="1626"/>
                </a:lnTo>
                <a:lnTo>
                  <a:pt x="2186" y="1634"/>
                </a:lnTo>
                <a:lnTo>
                  <a:pt x="2218" y="1643"/>
                </a:lnTo>
                <a:lnTo>
                  <a:pt x="2251" y="1654"/>
                </a:lnTo>
                <a:lnTo>
                  <a:pt x="2282" y="1665"/>
                </a:lnTo>
                <a:lnTo>
                  <a:pt x="2314" y="1677"/>
                </a:lnTo>
                <a:lnTo>
                  <a:pt x="2345" y="1689"/>
                </a:lnTo>
                <a:lnTo>
                  <a:pt x="2376" y="1702"/>
                </a:lnTo>
                <a:lnTo>
                  <a:pt x="2407" y="1716"/>
                </a:lnTo>
                <a:lnTo>
                  <a:pt x="2626" y="1496"/>
                </a:lnTo>
                <a:lnTo>
                  <a:pt x="2582" y="1472"/>
                </a:lnTo>
                <a:lnTo>
                  <a:pt x="2536" y="1450"/>
                </a:lnTo>
                <a:lnTo>
                  <a:pt x="2490" y="1429"/>
                </a:lnTo>
                <a:lnTo>
                  <a:pt x="2444" y="1408"/>
                </a:lnTo>
                <a:lnTo>
                  <a:pt x="2396" y="1391"/>
                </a:lnTo>
                <a:lnTo>
                  <a:pt x="2347" y="1374"/>
                </a:lnTo>
                <a:lnTo>
                  <a:pt x="2299" y="1358"/>
                </a:lnTo>
                <a:lnTo>
                  <a:pt x="2249" y="1344"/>
                </a:lnTo>
                <a:lnTo>
                  <a:pt x="2199" y="1332"/>
                </a:lnTo>
                <a:lnTo>
                  <a:pt x="2148" y="1320"/>
                </a:lnTo>
                <a:lnTo>
                  <a:pt x="2096" y="1312"/>
                </a:lnTo>
                <a:lnTo>
                  <a:pt x="2045" y="1304"/>
                </a:lnTo>
                <a:lnTo>
                  <a:pt x="1991" y="1298"/>
                </a:lnTo>
                <a:lnTo>
                  <a:pt x="1939" y="1294"/>
                </a:lnTo>
                <a:lnTo>
                  <a:pt x="1885" y="1292"/>
                </a:lnTo>
                <a:lnTo>
                  <a:pt x="1831" y="1291"/>
                </a:lnTo>
                <a:lnTo>
                  <a:pt x="1789" y="1291"/>
                </a:lnTo>
                <a:lnTo>
                  <a:pt x="1747" y="1293"/>
                </a:lnTo>
                <a:lnTo>
                  <a:pt x="1705" y="1296"/>
                </a:lnTo>
                <a:lnTo>
                  <a:pt x="1663" y="1299"/>
                </a:lnTo>
                <a:lnTo>
                  <a:pt x="1622" y="1304"/>
                </a:lnTo>
                <a:lnTo>
                  <a:pt x="1582" y="1310"/>
                </a:lnTo>
                <a:lnTo>
                  <a:pt x="1541" y="1316"/>
                </a:lnTo>
                <a:lnTo>
                  <a:pt x="1501" y="1324"/>
                </a:lnTo>
                <a:lnTo>
                  <a:pt x="1460" y="1332"/>
                </a:lnTo>
                <a:lnTo>
                  <a:pt x="1421" y="1342"/>
                </a:lnTo>
                <a:lnTo>
                  <a:pt x="1382" y="1353"/>
                </a:lnTo>
                <a:lnTo>
                  <a:pt x="1343" y="1364"/>
                </a:lnTo>
                <a:lnTo>
                  <a:pt x="1305" y="1376"/>
                </a:lnTo>
                <a:lnTo>
                  <a:pt x="1267" y="1391"/>
                </a:lnTo>
                <a:lnTo>
                  <a:pt x="1229" y="1405"/>
                </a:lnTo>
                <a:lnTo>
                  <a:pt x="1192" y="1419"/>
                </a:lnTo>
                <a:lnTo>
                  <a:pt x="1155" y="1436"/>
                </a:lnTo>
                <a:lnTo>
                  <a:pt x="1120" y="1452"/>
                </a:lnTo>
                <a:lnTo>
                  <a:pt x="1084" y="1470"/>
                </a:lnTo>
                <a:lnTo>
                  <a:pt x="1048" y="1489"/>
                </a:lnTo>
                <a:lnTo>
                  <a:pt x="1014" y="1508"/>
                </a:lnTo>
                <a:lnTo>
                  <a:pt x="980" y="1528"/>
                </a:lnTo>
                <a:lnTo>
                  <a:pt x="946" y="1550"/>
                </a:lnTo>
                <a:lnTo>
                  <a:pt x="913" y="1571"/>
                </a:lnTo>
                <a:lnTo>
                  <a:pt x="881" y="1594"/>
                </a:lnTo>
                <a:lnTo>
                  <a:pt x="849" y="1616"/>
                </a:lnTo>
                <a:lnTo>
                  <a:pt x="818" y="1641"/>
                </a:lnTo>
                <a:lnTo>
                  <a:pt x="787" y="1665"/>
                </a:lnTo>
                <a:lnTo>
                  <a:pt x="758" y="1691"/>
                </a:lnTo>
                <a:lnTo>
                  <a:pt x="728" y="1717"/>
                </a:lnTo>
                <a:lnTo>
                  <a:pt x="699" y="1743"/>
                </a:lnTo>
                <a:lnTo>
                  <a:pt x="671" y="1772"/>
                </a:lnTo>
                <a:lnTo>
                  <a:pt x="644" y="1799"/>
                </a:lnTo>
                <a:lnTo>
                  <a:pt x="616" y="1829"/>
                </a:lnTo>
                <a:lnTo>
                  <a:pt x="590" y="1857"/>
                </a:lnTo>
                <a:lnTo>
                  <a:pt x="565" y="1888"/>
                </a:lnTo>
                <a:lnTo>
                  <a:pt x="540" y="1919"/>
                </a:lnTo>
                <a:lnTo>
                  <a:pt x="516" y="1950"/>
                </a:lnTo>
                <a:lnTo>
                  <a:pt x="493" y="1982"/>
                </a:lnTo>
                <a:lnTo>
                  <a:pt x="470" y="2014"/>
                </a:lnTo>
                <a:lnTo>
                  <a:pt x="449" y="2047"/>
                </a:lnTo>
                <a:lnTo>
                  <a:pt x="427" y="2080"/>
                </a:lnTo>
                <a:lnTo>
                  <a:pt x="407" y="2115"/>
                </a:lnTo>
                <a:lnTo>
                  <a:pt x="388" y="2149"/>
                </a:lnTo>
                <a:lnTo>
                  <a:pt x="369" y="2185"/>
                </a:lnTo>
                <a:lnTo>
                  <a:pt x="351" y="2221"/>
                </a:lnTo>
                <a:lnTo>
                  <a:pt x="335" y="2256"/>
                </a:lnTo>
                <a:lnTo>
                  <a:pt x="319" y="2293"/>
                </a:lnTo>
                <a:lnTo>
                  <a:pt x="304" y="2330"/>
                </a:lnTo>
                <a:lnTo>
                  <a:pt x="290" y="2368"/>
                </a:lnTo>
                <a:lnTo>
                  <a:pt x="277" y="2406"/>
                </a:lnTo>
                <a:lnTo>
                  <a:pt x="264" y="2444"/>
                </a:lnTo>
                <a:lnTo>
                  <a:pt x="252" y="2483"/>
                </a:lnTo>
                <a:lnTo>
                  <a:pt x="241" y="2522"/>
                </a:lnTo>
                <a:lnTo>
                  <a:pt x="232" y="2561"/>
                </a:lnTo>
                <a:lnTo>
                  <a:pt x="223" y="2601"/>
                </a:lnTo>
                <a:lnTo>
                  <a:pt x="216" y="2641"/>
                </a:lnTo>
                <a:lnTo>
                  <a:pt x="209" y="2683"/>
                </a:lnTo>
                <a:lnTo>
                  <a:pt x="203" y="2723"/>
                </a:lnTo>
                <a:lnTo>
                  <a:pt x="198" y="2764"/>
                </a:lnTo>
                <a:lnTo>
                  <a:pt x="195" y="2806"/>
                </a:lnTo>
                <a:lnTo>
                  <a:pt x="192" y="2848"/>
                </a:lnTo>
                <a:lnTo>
                  <a:pt x="190" y="2889"/>
                </a:lnTo>
                <a:lnTo>
                  <a:pt x="190" y="2932"/>
                </a:lnTo>
                <a:lnTo>
                  <a:pt x="190" y="2975"/>
                </a:lnTo>
                <a:lnTo>
                  <a:pt x="192" y="3016"/>
                </a:lnTo>
                <a:lnTo>
                  <a:pt x="195" y="3058"/>
                </a:lnTo>
                <a:lnTo>
                  <a:pt x="198" y="3099"/>
                </a:lnTo>
                <a:lnTo>
                  <a:pt x="203" y="3141"/>
                </a:lnTo>
                <a:lnTo>
                  <a:pt x="209" y="3182"/>
                </a:lnTo>
                <a:lnTo>
                  <a:pt x="216" y="3223"/>
                </a:lnTo>
                <a:lnTo>
                  <a:pt x="223" y="3263"/>
                </a:lnTo>
                <a:lnTo>
                  <a:pt x="232" y="3302"/>
                </a:lnTo>
                <a:lnTo>
                  <a:pt x="241" y="3342"/>
                </a:lnTo>
                <a:lnTo>
                  <a:pt x="252" y="3381"/>
                </a:lnTo>
                <a:lnTo>
                  <a:pt x="264" y="3420"/>
                </a:lnTo>
                <a:lnTo>
                  <a:pt x="277" y="3458"/>
                </a:lnTo>
                <a:lnTo>
                  <a:pt x="290" y="3496"/>
                </a:lnTo>
                <a:lnTo>
                  <a:pt x="304" y="3534"/>
                </a:lnTo>
                <a:lnTo>
                  <a:pt x="319" y="3571"/>
                </a:lnTo>
                <a:lnTo>
                  <a:pt x="335" y="3608"/>
                </a:lnTo>
                <a:lnTo>
                  <a:pt x="351" y="3643"/>
                </a:lnTo>
                <a:lnTo>
                  <a:pt x="369" y="3679"/>
                </a:lnTo>
                <a:lnTo>
                  <a:pt x="388" y="3714"/>
                </a:lnTo>
                <a:lnTo>
                  <a:pt x="407" y="3749"/>
                </a:lnTo>
                <a:lnTo>
                  <a:pt x="427" y="3783"/>
                </a:lnTo>
                <a:lnTo>
                  <a:pt x="449" y="3817"/>
                </a:lnTo>
                <a:lnTo>
                  <a:pt x="470" y="3850"/>
                </a:lnTo>
                <a:lnTo>
                  <a:pt x="493" y="3882"/>
                </a:lnTo>
                <a:lnTo>
                  <a:pt x="516" y="3914"/>
                </a:lnTo>
                <a:lnTo>
                  <a:pt x="540" y="3945"/>
                </a:lnTo>
                <a:lnTo>
                  <a:pt x="565" y="3976"/>
                </a:lnTo>
                <a:lnTo>
                  <a:pt x="590" y="4007"/>
                </a:lnTo>
                <a:lnTo>
                  <a:pt x="616" y="4035"/>
                </a:lnTo>
                <a:lnTo>
                  <a:pt x="644" y="4065"/>
                </a:lnTo>
                <a:lnTo>
                  <a:pt x="671" y="4092"/>
                </a:lnTo>
                <a:lnTo>
                  <a:pt x="699" y="4121"/>
                </a:lnTo>
                <a:lnTo>
                  <a:pt x="728" y="4147"/>
                </a:lnTo>
                <a:lnTo>
                  <a:pt x="758" y="4173"/>
                </a:lnTo>
                <a:lnTo>
                  <a:pt x="787" y="4199"/>
                </a:lnTo>
                <a:lnTo>
                  <a:pt x="818" y="4223"/>
                </a:lnTo>
                <a:lnTo>
                  <a:pt x="849" y="4248"/>
                </a:lnTo>
                <a:lnTo>
                  <a:pt x="881" y="4270"/>
                </a:lnTo>
                <a:lnTo>
                  <a:pt x="913" y="4293"/>
                </a:lnTo>
                <a:lnTo>
                  <a:pt x="946" y="4315"/>
                </a:lnTo>
                <a:lnTo>
                  <a:pt x="980" y="4336"/>
                </a:lnTo>
                <a:lnTo>
                  <a:pt x="1014" y="4356"/>
                </a:lnTo>
                <a:lnTo>
                  <a:pt x="1048" y="4375"/>
                </a:lnTo>
                <a:lnTo>
                  <a:pt x="1084" y="4394"/>
                </a:lnTo>
                <a:lnTo>
                  <a:pt x="1120" y="4412"/>
                </a:lnTo>
                <a:lnTo>
                  <a:pt x="1155" y="4428"/>
                </a:lnTo>
                <a:lnTo>
                  <a:pt x="1192" y="4445"/>
                </a:lnTo>
                <a:lnTo>
                  <a:pt x="1229" y="4459"/>
                </a:lnTo>
                <a:lnTo>
                  <a:pt x="1267" y="4473"/>
                </a:lnTo>
                <a:lnTo>
                  <a:pt x="1305" y="4488"/>
                </a:lnTo>
                <a:lnTo>
                  <a:pt x="1343" y="4499"/>
                </a:lnTo>
                <a:lnTo>
                  <a:pt x="1382" y="4511"/>
                </a:lnTo>
                <a:lnTo>
                  <a:pt x="1421" y="4522"/>
                </a:lnTo>
                <a:lnTo>
                  <a:pt x="1460" y="4531"/>
                </a:lnTo>
                <a:lnTo>
                  <a:pt x="1501" y="4540"/>
                </a:lnTo>
                <a:lnTo>
                  <a:pt x="1541" y="4548"/>
                </a:lnTo>
                <a:lnTo>
                  <a:pt x="1582" y="4554"/>
                </a:lnTo>
                <a:lnTo>
                  <a:pt x="1622" y="4560"/>
                </a:lnTo>
                <a:lnTo>
                  <a:pt x="1663" y="4565"/>
                </a:lnTo>
                <a:lnTo>
                  <a:pt x="1705" y="4568"/>
                </a:lnTo>
                <a:lnTo>
                  <a:pt x="1747" y="4571"/>
                </a:lnTo>
                <a:lnTo>
                  <a:pt x="1789" y="4573"/>
                </a:lnTo>
                <a:lnTo>
                  <a:pt x="1831" y="4573"/>
                </a:lnTo>
                <a:lnTo>
                  <a:pt x="1874" y="4573"/>
                </a:lnTo>
                <a:lnTo>
                  <a:pt x="1915" y="4571"/>
                </a:lnTo>
                <a:lnTo>
                  <a:pt x="1958" y="4568"/>
                </a:lnTo>
                <a:lnTo>
                  <a:pt x="1999" y="4565"/>
                </a:lnTo>
                <a:lnTo>
                  <a:pt x="2040" y="4560"/>
                </a:lnTo>
                <a:lnTo>
                  <a:pt x="2081" y="4554"/>
                </a:lnTo>
                <a:lnTo>
                  <a:pt x="2122" y="4548"/>
                </a:lnTo>
                <a:lnTo>
                  <a:pt x="2162" y="4540"/>
                </a:lnTo>
                <a:lnTo>
                  <a:pt x="2201" y="4531"/>
                </a:lnTo>
                <a:lnTo>
                  <a:pt x="2242" y="4522"/>
                </a:lnTo>
                <a:lnTo>
                  <a:pt x="2281" y="4511"/>
                </a:lnTo>
                <a:lnTo>
                  <a:pt x="2319" y="4499"/>
                </a:lnTo>
                <a:lnTo>
                  <a:pt x="2358" y="4488"/>
                </a:lnTo>
                <a:lnTo>
                  <a:pt x="2395" y="4473"/>
                </a:lnTo>
                <a:lnTo>
                  <a:pt x="2433" y="4459"/>
                </a:lnTo>
                <a:lnTo>
                  <a:pt x="2470" y="4445"/>
                </a:lnTo>
                <a:lnTo>
                  <a:pt x="2506" y="4428"/>
                </a:lnTo>
                <a:lnTo>
                  <a:pt x="2542" y="4412"/>
                </a:lnTo>
                <a:lnTo>
                  <a:pt x="2578" y="4394"/>
                </a:lnTo>
                <a:lnTo>
                  <a:pt x="2613" y="4375"/>
                </a:lnTo>
                <a:lnTo>
                  <a:pt x="2648" y="4356"/>
                </a:lnTo>
                <a:lnTo>
                  <a:pt x="2682" y="4336"/>
                </a:lnTo>
                <a:lnTo>
                  <a:pt x="2715" y="4315"/>
                </a:lnTo>
                <a:lnTo>
                  <a:pt x="2749" y="4293"/>
                </a:lnTo>
                <a:lnTo>
                  <a:pt x="2781" y="4270"/>
                </a:lnTo>
                <a:lnTo>
                  <a:pt x="2813" y="4248"/>
                </a:lnTo>
                <a:lnTo>
                  <a:pt x="2845" y="4223"/>
                </a:lnTo>
                <a:lnTo>
                  <a:pt x="2875" y="4199"/>
                </a:lnTo>
                <a:lnTo>
                  <a:pt x="2905" y="4173"/>
                </a:lnTo>
                <a:lnTo>
                  <a:pt x="2935" y="4147"/>
                </a:lnTo>
                <a:lnTo>
                  <a:pt x="2964" y="4121"/>
                </a:lnTo>
                <a:lnTo>
                  <a:pt x="2992" y="4092"/>
                </a:lnTo>
                <a:lnTo>
                  <a:pt x="3019" y="4065"/>
                </a:lnTo>
                <a:lnTo>
                  <a:pt x="3045" y="4035"/>
                </a:lnTo>
                <a:lnTo>
                  <a:pt x="3072" y="4007"/>
                </a:lnTo>
                <a:lnTo>
                  <a:pt x="3098" y="3976"/>
                </a:lnTo>
                <a:lnTo>
                  <a:pt x="3123" y="3945"/>
                </a:lnTo>
                <a:lnTo>
                  <a:pt x="3146" y="3914"/>
                </a:lnTo>
                <a:lnTo>
                  <a:pt x="3169" y="3882"/>
                </a:lnTo>
                <a:lnTo>
                  <a:pt x="3192" y="3850"/>
                </a:lnTo>
                <a:lnTo>
                  <a:pt x="3214" y="3817"/>
                </a:lnTo>
                <a:lnTo>
                  <a:pt x="3234" y="3783"/>
                </a:lnTo>
                <a:lnTo>
                  <a:pt x="3254" y="3749"/>
                </a:lnTo>
                <a:lnTo>
                  <a:pt x="3275" y="3714"/>
                </a:lnTo>
                <a:lnTo>
                  <a:pt x="3292" y="3679"/>
                </a:lnTo>
                <a:lnTo>
                  <a:pt x="3310" y="3643"/>
                </a:lnTo>
                <a:lnTo>
                  <a:pt x="3327" y="3608"/>
                </a:lnTo>
                <a:lnTo>
                  <a:pt x="3344" y="3571"/>
                </a:lnTo>
                <a:lnTo>
                  <a:pt x="3359" y="3534"/>
                </a:lnTo>
                <a:lnTo>
                  <a:pt x="3373" y="3496"/>
                </a:lnTo>
                <a:lnTo>
                  <a:pt x="3386" y="3458"/>
                </a:lnTo>
                <a:lnTo>
                  <a:pt x="3398" y="3420"/>
                </a:lnTo>
                <a:lnTo>
                  <a:pt x="3410" y="3381"/>
                </a:lnTo>
                <a:lnTo>
                  <a:pt x="3421" y="3342"/>
                </a:lnTo>
                <a:lnTo>
                  <a:pt x="3430" y="3302"/>
                </a:lnTo>
                <a:lnTo>
                  <a:pt x="3439" y="3263"/>
                </a:lnTo>
                <a:lnTo>
                  <a:pt x="3447" y="3223"/>
                </a:lnTo>
                <a:lnTo>
                  <a:pt x="3454" y="3182"/>
                </a:lnTo>
                <a:lnTo>
                  <a:pt x="3459" y="3141"/>
                </a:lnTo>
                <a:lnTo>
                  <a:pt x="3463" y="3099"/>
                </a:lnTo>
                <a:lnTo>
                  <a:pt x="3467" y="3058"/>
                </a:lnTo>
                <a:lnTo>
                  <a:pt x="3471" y="3016"/>
                </a:lnTo>
                <a:lnTo>
                  <a:pt x="3472" y="2975"/>
                </a:lnTo>
                <a:lnTo>
                  <a:pt x="3472" y="2932"/>
                </a:lnTo>
                <a:lnTo>
                  <a:pt x="3472" y="2883"/>
                </a:lnTo>
                <a:lnTo>
                  <a:pt x="3469" y="2836"/>
                </a:lnTo>
                <a:lnTo>
                  <a:pt x="3466" y="2788"/>
                </a:lnTo>
                <a:lnTo>
                  <a:pt x="3461" y="2742"/>
                </a:lnTo>
                <a:lnTo>
                  <a:pt x="3455" y="2694"/>
                </a:lnTo>
                <a:lnTo>
                  <a:pt x="3448" y="2648"/>
                </a:lnTo>
                <a:lnTo>
                  <a:pt x="3440" y="2603"/>
                </a:lnTo>
                <a:lnTo>
                  <a:pt x="3429" y="2558"/>
                </a:lnTo>
                <a:lnTo>
                  <a:pt x="3418" y="2513"/>
                </a:lnTo>
                <a:lnTo>
                  <a:pt x="3405" y="2468"/>
                </a:lnTo>
                <a:lnTo>
                  <a:pt x="3392" y="2425"/>
                </a:lnTo>
                <a:lnTo>
                  <a:pt x="3378" y="2381"/>
                </a:lnTo>
                <a:lnTo>
                  <a:pt x="3361" y="2338"/>
                </a:lnTo>
                <a:lnTo>
                  <a:pt x="3345" y="2297"/>
                </a:lnTo>
                <a:lnTo>
                  <a:pt x="3327" y="2254"/>
                </a:lnTo>
                <a:lnTo>
                  <a:pt x="3307" y="2213"/>
                </a:lnTo>
                <a:lnTo>
                  <a:pt x="3449" y="2073"/>
                </a:lnTo>
                <a:lnTo>
                  <a:pt x="3474" y="2122"/>
                </a:lnTo>
                <a:lnTo>
                  <a:pt x="3498" y="2172"/>
                </a:lnTo>
                <a:lnTo>
                  <a:pt x="3519" y="2222"/>
                </a:lnTo>
                <a:lnTo>
                  <a:pt x="3539" y="2273"/>
                </a:lnTo>
                <a:lnTo>
                  <a:pt x="3558" y="2324"/>
                </a:lnTo>
                <a:lnTo>
                  <a:pt x="3576" y="2376"/>
                </a:lnTo>
                <a:lnTo>
                  <a:pt x="3593" y="2430"/>
                </a:lnTo>
                <a:lnTo>
                  <a:pt x="3607" y="2483"/>
                </a:lnTo>
                <a:lnTo>
                  <a:pt x="3619" y="2536"/>
                </a:lnTo>
                <a:lnTo>
                  <a:pt x="3631" y="2591"/>
                </a:lnTo>
                <a:lnTo>
                  <a:pt x="3640" y="2647"/>
                </a:lnTo>
                <a:lnTo>
                  <a:pt x="3649" y="2703"/>
                </a:lnTo>
                <a:lnTo>
                  <a:pt x="3655" y="2760"/>
                </a:lnTo>
                <a:lnTo>
                  <a:pt x="3658" y="2817"/>
                </a:lnTo>
                <a:lnTo>
                  <a:pt x="3662" y="2874"/>
                </a:lnTo>
                <a:lnTo>
                  <a:pt x="3662" y="2932"/>
                </a:lnTo>
                <a:lnTo>
                  <a:pt x="3662" y="2979"/>
                </a:lnTo>
                <a:lnTo>
                  <a:pt x="3659" y="3026"/>
                </a:lnTo>
                <a:lnTo>
                  <a:pt x="3657" y="3073"/>
                </a:lnTo>
                <a:lnTo>
                  <a:pt x="3652" y="3120"/>
                </a:lnTo>
                <a:lnTo>
                  <a:pt x="3647" y="3165"/>
                </a:lnTo>
                <a:lnTo>
                  <a:pt x="3642" y="3211"/>
                </a:lnTo>
                <a:lnTo>
                  <a:pt x="3633" y="3256"/>
                </a:lnTo>
                <a:lnTo>
                  <a:pt x="3625" y="3301"/>
                </a:lnTo>
                <a:lnTo>
                  <a:pt x="3615" y="3345"/>
                </a:lnTo>
                <a:lnTo>
                  <a:pt x="3605" y="3389"/>
                </a:lnTo>
                <a:lnTo>
                  <a:pt x="3593" y="3433"/>
                </a:lnTo>
                <a:lnTo>
                  <a:pt x="3580" y="3477"/>
                </a:lnTo>
                <a:lnTo>
                  <a:pt x="3566" y="3520"/>
                </a:lnTo>
                <a:lnTo>
                  <a:pt x="3551" y="3561"/>
                </a:lnTo>
                <a:lnTo>
                  <a:pt x="3535" y="3604"/>
                </a:lnTo>
                <a:lnTo>
                  <a:pt x="3518" y="3644"/>
                </a:lnTo>
                <a:lnTo>
                  <a:pt x="3500" y="3686"/>
                </a:lnTo>
                <a:lnTo>
                  <a:pt x="3481" y="3726"/>
                </a:lnTo>
                <a:lnTo>
                  <a:pt x="3462" y="3766"/>
                </a:lnTo>
                <a:lnTo>
                  <a:pt x="3441" y="3805"/>
                </a:lnTo>
                <a:lnTo>
                  <a:pt x="3420" y="3844"/>
                </a:lnTo>
                <a:lnTo>
                  <a:pt x="3397" y="3882"/>
                </a:lnTo>
                <a:lnTo>
                  <a:pt x="3373" y="3919"/>
                </a:lnTo>
                <a:lnTo>
                  <a:pt x="3349" y="3956"/>
                </a:lnTo>
                <a:lnTo>
                  <a:pt x="3325" y="3992"/>
                </a:lnTo>
                <a:lnTo>
                  <a:pt x="3298" y="4028"/>
                </a:lnTo>
                <a:lnTo>
                  <a:pt x="3272" y="4062"/>
                </a:lnTo>
                <a:lnTo>
                  <a:pt x="3244" y="4097"/>
                </a:lnTo>
                <a:lnTo>
                  <a:pt x="3215" y="4130"/>
                </a:lnTo>
                <a:lnTo>
                  <a:pt x="3187" y="4163"/>
                </a:lnTo>
                <a:lnTo>
                  <a:pt x="3157" y="4195"/>
                </a:lnTo>
                <a:lnTo>
                  <a:pt x="3126" y="4227"/>
                </a:lnTo>
                <a:lnTo>
                  <a:pt x="3094" y="4257"/>
                </a:lnTo>
                <a:lnTo>
                  <a:pt x="3062" y="4288"/>
                </a:lnTo>
                <a:lnTo>
                  <a:pt x="3029" y="4317"/>
                </a:lnTo>
                <a:lnTo>
                  <a:pt x="2996" y="4345"/>
                </a:lnTo>
                <a:lnTo>
                  <a:pt x="2961" y="4372"/>
                </a:lnTo>
                <a:lnTo>
                  <a:pt x="2927" y="4400"/>
                </a:lnTo>
                <a:lnTo>
                  <a:pt x="2891" y="4426"/>
                </a:lnTo>
                <a:lnTo>
                  <a:pt x="2854" y="4451"/>
                </a:lnTo>
                <a:lnTo>
                  <a:pt x="2818" y="4474"/>
                </a:lnTo>
                <a:lnTo>
                  <a:pt x="2781" y="4498"/>
                </a:lnTo>
                <a:lnTo>
                  <a:pt x="2743" y="4521"/>
                </a:lnTo>
                <a:lnTo>
                  <a:pt x="2704" y="4542"/>
                </a:lnTo>
                <a:lnTo>
                  <a:pt x="2664" y="4564"/>
                </a:lnTo>
                <a:lnTo>
                  <a:pt x="2625" y="4583"/>
                </a:lnTo>
                <a:lnTo>
                  <a:pt x="2585" y="4602"/>
                </a:lnTo>
                <a:lnTo>
                  <a:pt x="2544" y="4619"/>
                </a:lnTo>
                <a:lnTo>
                  <a:pt x="2503" y="4636"/>
                </a:lnTo>
                <a:lnTo>
                  <a:pt x="2460" y="4653"/>
                </a:lnTo>
                <a:lnTo>
                  <a:pt x="2419" y="4667"/>
                </a:lnTo>
                <a:lnTo>
                  <a:pt x="2376" y="4681"/>
                </a:lnTo>
                <a:lnTo>
                  <a:pt x="2332" y="4694"/>
                </a:lnTo>
                <a:lnTo>
                  <a:pt x="2289" y="4706"/>
                </a:lnTo>
                <a:lnTo>
                  <a:pt x="2245" y="4717"/>
                </a:lnTo>
                <a:lnTo>
                  <a:pt x="2200" y="4726"/>
                </a:lnTo>
                <a:lnTo>
                  <a:pt x="2155" y="4735"/>
                </a:lnTo>
                <a:lnTo>
                  <a:pt x="2110" y="4743"/>
                </a:lnTo>
                <a:lnTo>
                  <a:pt x="2065" y="4749"/>
                </a:lnTo>
                <a:lnTo>
                  <a:pt x="2018" y="4754"/>
                </a:lnTo>
                <a:lnTo>
                  <a:pt x="1972" y="4758"/>
                </a:lnTo>
                <a:lnTo>
                  <a:pt x="1926" y="4761"/>
                </a:lnTo>
                <a:lnTo>
                  <a:pt x="1878" y="4763"/>
                </a:lnTo>
                <a:lnTo>
                  <a:pt x="1831" y="4763"/>
                </a:lnTo>
                <a:lnTo>
                  <a:pt x="1783" y="4763"/>
                </a:lnTo>
                <a:lnTo>
                  <a:pt x="1737" y="4761"/>
                </a:lnTo>
                <a:lnTo>
                  <a:pt x="1691" y="4758"/>
                </a:lnTo>
                <a:lnTo>
                  <a:pt x="1644" y="4754"/>
                </a:lnTo>
                <a:lnTo>
                  <a:pt x="1598" y="4749"/>
                </a:lnTo>
                <a:lnTo>
                  <a:pt x="1552" y="4743"/>
                </a:lnTo>
                <a:lnTo>
                  <a:pt x="1507" y="4735"/>
                </a:lnTo>
                <a:lnTo>
                  <a:pt x="1462" y="4726"/>
                </a:lnTo>
                <a:lnTo>
                  <a:pt x="1418" y="4717"/>
                </a:lnTo>
                <a:lnTo>
                  <a:pt x="1374" y="4706"/>
                </a:lnTo>
                <a:lnTo>
                  <a:pt x="1330" y="4694"/>
                </a:lnTo>
                <a:lnTo>
                  <a:pt x="1287" y="4681"/>
                </a:lnTo>
                <a:lnTo>
                  <a:pt x="1244" y="4667"/>
                </a:lnTo>
                <a:lnTo>
                  <a:pt x="1202" y="4653"/>
                </a:lnTo>
                <a:lnTo>
                  <a:pt x="1160" y="4636"/>
                </a:lnTo>
                <a:lnTo>
                  <a:pt x="1118" y="4619"/>
                </a:lnTo>
                <a:lnTo>
                  <a:pt x="1078" y="4602"/>
                </a:lnTo>
                <a:lnTo>
                  <a:pt x="1038" y="4583"/>
                </a:lnTo>
                <a:lnTo>
                  <a:pt x="997" y="4564"/>
                </a:lnTo>
                <a:lnTo>
                  <a:pt x="958" y="4542"/>
                </a:lnTo>
                <a:lnTo>
                  <a:pt x="920" y="4521"/>
                </a:lnTo>
                <a:lnTo>
                  <a:pt x="882" y="4498"/>
                </a:lnTo>
                <a:lnTo>
                  <a:pt x="844" y="4474"/>
                </a:lnTo>
                <a:lnTo>
                  <a:pt x="807" y="4451"/>
                </a:lnTo>
                <a:lnTo>
                  <a:pt x="771" y="4426"/>
                </a:lnTo>
                <a:lnTo>
                  <a:pt x="735" y="4400"/>
                </a:lnTo>
                <a:lnTo>
                  <a:pt x="701" y="4372"/>
                </a:lnTo>
                <a:lnTo>
                  <a:pt x="666" y="4345"/>
                </a:lnTo>
                <a:lnTo>
                  <a:pt x="633" y="4317"/>
                </a:lnTo>
                <a:lnTo>
                  <a:pt x="600" y="4288"/>
                </a:lnTo>
                <a:lnTo>
                  <a:pt x="568" y="4257"/>
                </a:lnTo>
                <a:lnTo>
                  <a:pt x="537" y="4227"/>
                </a:lnTo>
                <a:lnTo>
                  <a:pt x="506" y="4195"/>
                </a:lnTo>
                <a:lnTo>
                  <a:pt x="476" y="4163"/>
                </a:lnTo>
                <a:lnTo>
                  <a:pt x="446" y="4130"/>
                </a:lnTo>
                <a:lnTo>
                  <a:pt x="418" y="4097"/>
                </a:lnTo>
                <a:lnTo>
                  <a:pt x="391" y="4062"/>
                </a:lnTo>
                <a:lnTo>
                  <a:pt x="363" y="4028"/>
                </a:lnTo>
                <a:lnTo>
                  <a:pt x="338" y="3992"/>
                </a:lnTo>
                <a:lnTo>
                  <a:pt x="312" y="3956"/>
                </a:lnTo>
                <a:lnTo>
                  <a:pt x="289" y="3919"/>
                </a:lnTo>
                <a:lnTo>
                  <a:pt x="265" y="3882"/>
                </a:lnTo>
                <a:lnTo>
                  <a:pt x="242" y="3844"/>
                </a:lnTo>
                <a:lnTo>
                  <a:pt x="221" y="3805"/>
                </a:lnTo>
                <a:lnTo>
                  <a:pt x="201" y="3766"/>
                </a:lnTo>
                <a:lnTo>
                  <a:pt x="180" y="3726"/>
                </a:lnTo>
                <a:lnTo>
                  <a:pt x="161" y="3686"/>
                </a:lnTo>
                <a:lnTo>
                  <a:pt x="144" y="3644"/>
                </a:lnTo>
                <a:lnTo>
                  <a:pt x="127" y="3604"/>
                </a:lnTo>
                <a:lnTo>
                  <a:pt x="112" y="3561"/>
                </a:lnTo>
                <a:lnTo>
                  <a:pt x="96" y="3520"/>
                </a:lnTo>
                <a:lnTo>
                  <a:pt x="82" y="3477"/>
                </a:lnTo>
                <a:lnTo>
                  <a:pt x="69" y="3433"/>
                </a:lnTo>
                <a:lnTo>
                  <a:pt x="58" y="3389"/>
                </a:lnTo>
                <a:lnTo>
                  <a:pt x="46" y="3345"/>
                </a:lnTo>
                <a:lnTo>
                  <a:pt x="37" y="3301"/>
                </a:lnTo>
                <a:lnTo>
                  <a:pt x="28" y="3256"/>
                </a:lnTo>
                <a:lnTo>
                  <a:pt x="21" y="3211"/>
                </a:lnTo>
                <a:lnTo>
                  <a:pt x="14" y="3165"/>
                </a:lnTo>
                <a:lnTo>
                  <a:pt x="9" y="3120"/>
                </a:lnTo>
                <a:lnTo>
                  <a:pt x="5" y="3073"/>
                </a:lnTo>
                <a:lnTo>
                  <a:pt x="2" y="3026"/>
                </a:lnTo>
                <a:lnTo>
                  <a:pt x="0" y="2979"/>
                </a:lnTo>
                <a:lnTo>
                  <a:pt x="0" y="2932"/>
                </a:lnTo>
                <a:lnTo>
                  <a:pt x="0" y="2884"/>
                </a:lnTo>
                <a:lnTo>
                  <a:pt x="2" y="2838"/>
                </a:lnTo>
                <a:lnTo>
                  <a:pt x="5" y="2791"/>
                </a:lnTo>
                <a:lnTo>
                  <a:pt x="9" y="2744"/>
                </a:lnTo>
                <a:lnTo>
                  <a:pt x="14" y="2699"/>
                </a:lnTo>
                <a:lnTo>
                  <a:pt x="21" y="2653"/>
                </a:lnTo>
                <a:lnTo>
                  <a:pt x="28" y="2608"/>
                </a:lnTo>
                <a:lnTo>
                  <a:pt x="37" y="2563"/>
                </a:lnTo>
                <a:lnTo>
                  <a:pt x="46" y="2519"/>
                </a:lnTo>
                <a:lnTo>
                  <a:pt x="58" y="2475"/>
                </a:lnTo>
                <a:lnTo>
                  <a:pt x="69" y="2431"/>
                </a:lnTo>
                <a:lnTo>
                  <a:pt x="82" y="2387"/>
                </a:lnTo>
                <a:lnTo>
                  <a:pt x="96" y="2344"/>
                </a:lnTo>
                <a:lnTo>
                  <a:pt x="112" y="2303"/>
                </a:lnTo>
                <a:lnTo>
                  <a:pt x="127" y="2261"/>
                </a:lnTo>
                <a:lnTo>
                  <a:pt x="144" y="2219"/>
                </a:lnTo>
                <a:lnTo>
                  <a:pt x="161" y="2178"/>
                </a:lnTo>
                <a:lnTo>
                  <a:pt x="180" y="2137"/>
                </a:lnTo>
                <a:lnTo>
                  <a:pt x="201" y="2098"/>
                </a:lnTo>
                <a:lnTo>
                  <a:pt x="221" y="2059"/>
                </a:lnTo>
                <a:lnTo>
                  <a:pt x="242" y="2020"/>
                </a:lnTo>
                <a:lnTo>
                  <a:pt x="265" y="1982"/>
                </a:lnTo>
                <a:lnTo>
                  <a:pt x="289" y="1945"/>
                </a:lnTo>
                <a:lnTo>
                  <a:pt x="312" y="1908"/>
                </a:lnTo>
                <a:lnTo>
                  <a:pt x="338" y="1871"/>
                </a:lnTo>
                <a:lnTo>
                  <a:pt x="363" y="1836"/>
                </a:lnTo>
                <a:lnTo>
                  <a:pt x="391" y="1801"/>
                </a:lnTo>
                <a:lnTo>
                  <a:pt x="418" y="1767"/>
                </a:lnTo>
                <a:lnTo>
                  <a:pt x="446" y="1734"/>
                </a:lnTo>
                <a:lnTo>
                  <a:pt x="476" y="1700"/>
                </a:lnTo>
                <a:lnTo>
                  <a:pt x="506" y="1668"/>
                </a:lnTo>
                <a:lnTo>
                  <a:pt x="537" y="1638"/>
                </a:lnTo>
                <a:lnTo>
                  <a:pt x="568" y="1607"/>
                </a:lnTo>
                <a:lnTo>
                  <a:pt x="600" y="1576"/>
                </a:lnTo>
                <a:lnTo>
                  <a:pt x="633" y="1547"/>
                </a:lnTo>
                <a:lnTo>
                  <a:pt x="666" y="1519"/>
                </a:lnTo>
                <a:lnTo>
                  <a:pt x="701" y="1491"/>
                </a:lnTo>
                <a:lnTo>
                  <a:pt x="735" y="1464"/>
                </a:lnTo>
                <a:lnTo>
                  <a:pt x="771" y="1438"/>
                </a:lnTo>
                <a:lnTo>
                  <a:pt x="807" y="1413"/>
                </a:lnTo>
                <a:lnTo>
                  <a:pt x="844" y="1389"/>
                </a:lnTo>
                <a:lnTo>
                  <a:pt x="882" y="1366"/>
                </a:lnTo>
                <a:lnTo>
                  <a:pt x="920" y="1343"/>
                </a:lnTo>
                <a:lnTo>
                  <a:pt x="958" y="1322"/>
                </a:lnTo>
                <a:lnTo>
                  <a:pt x="997" y="1301"/>
                </a:lnTo>
                <a:lnTo>
                  <a:pt x="1038" y="1281"/>
                </a:lnTo>
                <a:lnTo>
                  <a:pt x="1078" y="1262"/>
                </a:lnTo>
                <a:lnTo>
                  <a:pt x="1118" y="1244"/>
                </a:lnTo>
                <a:lnTo>
                  <a:pt x="1160" y="1228"/>
                </a:lnTo>
                <a:lnTo>
                  <a:pt x="1202" y="1211"/>
                </a:lnTo>
                <a:lnTo>
                  <a:pt x="1244" y="1197"/>
                </a:lnTo>
                <a:lnTo>
                  <a:pt x="1287" y="1183"/>
                </a:lnTo>
                <a:lnTo>
                  <a:pt x="1330" y="1170"/>
                </a:lnTo>
                <a:lnTo>
                  <a:pt x="1374" y="1158"/>
                </a:lnTo>
                <a:lnTo>
                  <a:pt x="1418" y="1147"/>
                </a:lnTo>
                <a:lnTo>
                  <a:pt x="1462" y="1138"/>
                </a:lnTo>
                <a:lnTo>
                  <a:pt x="1507" y="1129"/>
                </a:lnTo>
                <a:lnTo>
                  <a:pt x="1552" y="1122"/>
                </a:lnTo>
                <a:lnTo>
                  <a:pt x="1598" y="1115"/>
                </a:lnTo>
                <a:lnTo>
                  <a:pt x="1644" y="1110"/>
                </a:lnTo>
                <a:lnTo>
                  <a:pt x="1691" y="1106"/>
                </a:lnTo>
                <a:lnTo>
                  <a:pt x="1737" y="1103"/>
                </a:lnTo>
                <a:lnTo>
                  <a:pt x="1783" y="1101"/>
                </a:lnTo>
                <a:lnTo>
                  <a:pt x="1831" y="1101"/>
                </a:lnTo>
                <a:lnTo>
                  <a:pt x="1895" y="1102"/>
                </a:lnTo>
                <a:lnTo>
                  <a:pt x="1958" y="1104"/>
                </a:lnTo>
                <a:lnTo>
                  <a:pt x="2021" y="1110"/>
                </a:lnTo>
                <a:lnTo>
                  <a:pt x="2083" y="1117"/>
                </a:lnTo>
                <a:lnTo>
                  <a:pt x="2144" y="1127"/>
                </a:lnTo>
                <a:lnTo>
                  <a:pt x="2205" y="1139"/>
                </a:lnTo>
                <a:lnTo>
                  <a:pt x="2264" y="1152"/>
                </a:lnTo>
                <a:lnTo>
                  <a:pt x="2324" y="1167"/>
                </a:lnTo>
                <a:lnTo>
                  <a:pt x="2382" y="1185"/>
                </a:lnTo>
                <a:lnTo>
                  <a:pt x="2440" y="1204"/>
                </a:lnTo>
                <a:lnTo>
                  <a:pt x="2497" y="1225"/>
                </a:lnTo>
                <a:lnTo>
                  <a:pt x="2553" y="1248"/>
                </a:lnTo>
                <a:lnTo>
                  <a:pt x="2607" y="1273"/>
                </a:lnTo>
                <a:lnTo>
                  <a:pt x="2661" y="1299"/>
                </a:lnTo>
                <a:lnTo>
                  <a:pt x="2714" y="1328"/>
                </a:lnTo>
                <a:lnTo>
                  <a:pt x="2765" y="1357"/>
                </a:lnTo>
                <a:lnTo>
                  <a:pt x="3964" y="158"/>
                </a:lnTo>
                <a:lnTo>
                  <a:pt x="4021" y="100"/>
                </a:lnTo>
                <a:lnTo>
                  <a:pt x="4037" y="87"/>
                </a:lnTo>
                <a:lnTo>
                  <a:pt x="4052" y="74"/>
                </a:lnTo>
                <a:lnTo>
                  <a:pt x="4069" y="62"/>
                </a:lnTo>
                <a:lnTo>
                  <a:pt x="4086" y="51"/>
                </a:lnTo>
                <a:lnTo>
                  <a:pt x="4102" y="40"/>
                </a:lnTo>
                <a:lnTo>
                  <a:pt x="4120" y="32"/>
                </a:lnTo>
                <a:lnTo>
                  <a:pt x="4138" y="25"/>
                </a:lnTo>
                <a:lnTo>
                  <a:pt x="4156" y="18"/>
                </a:lnTo>
                <a:lnTo>
                  <a:pt x="4175" y="13"/>
                </a:lnTo>
                <a:lnTo>
                  <a:pt x="4194" y="8"/>
                </a:lnTo>
                <a:lnTo>
                  <a:pt x="4213" y="5"/>
                </a:lnTo>
                <a:lnTo>
                  <a:pt x="4233" y="2"/>
                </a:lnTo>
                <a:lnTo>
                  <a:pt x="4252" y="0"/>
                </a:lnTo>
                <a:lnTo>
                  <a:pt x="4272" y="0"/>
                </a:lnTo>
                <a:lnTo>
                  <a:pt x="4292" y="0"/>
                </a:lnTo>
                <a:lnTo>
                  <a:pt x="4312" y="2"/>
                </a:lnTo>
                <a:lnTo>
                  <a:pt x="4331" y="5"/>
                </a:lnTo>
                <a:lnTo>
                  <a:pt x="4352" y="7"/>
                </a:lnTo>
                <a:lnTo>
                  <a:pt x="4372" y="12"/>
                </a:lnTo>
                <a:lnTo>
                  <a:pt x="4392" y="17"/>
                </a:lnTo>
                <a:lnTo>
                  <a:pt x="4412" y="23"/>
                </a:lnTo>
                <a:lnTo>
                  <a:pt x="4431" y="30"/>
                </a:lnTo>
                <a:lnTo>
                  <a:pt x="4451" y="38"/>
                </a:lnTo>
                <a:lnTo>
                  <a:pt x="4470" y="46"/>
                </a:lnTo>
                <a:lnTo>
                  <a:pt x="4489" y="56"/>
                </a:lnTo>
                <a:lnTo>
                  <a:pt x="4508" y="66"/>
                </a:lnTo>
                <a:lnTo>
                  <a:pt x="4527" y="78"/>
                </a:lnTo>
                <a:lnTo>
                  <a:pt x="4545" y="90"/>
                </a:lnTo>
                <a:lnTo>
                  <a:pt x="4563" y="103"/>
                </a:lnTo>
                <a:lnTo>
                  <a:pt x="4580" y="118"/>
                </a:lnTo>
                <a:lnTo>
                  <a:pt x="4596" y="132"/>
                </a:lnTo>
                <a:lnTo>
                  <a:pt x="4613" y="148"/>
                </a:lnTo>
                <a:lnTo>
                  <a:pt x="4628" y="164"/>
                </a:lnTo>
                <a:lnTo>
                  <a:pt x="4642" y="180"/>
                </a:lnTo>
                <a:lnTo>
                  <a:pt x="4657" y="198"/>
                </a:lnTo>
                <a:lnTo>
                  <a:pt x="4670" y="216"/>
                </a:lnTo>
                <a:lnTo>
                  <a:pt x="4683" y="234"/>
                </a:lnTo>
                <a:lnTo>
                  <a:pt x="4694" y="252"/>
                </a:lnTo>
                <a:lnTo>
                  <a:pt x="4704" y="271"/>
                </a:lnTo>
                <a:lnTo>
                  <a:pt x="4714" y="290"/>
                </a:lnTo>
                <a:lnTo>
                  <a:pt x="4723" y="310"/>
                </a:lnTo>
                <a:lnTo>
                  <a:pt x="4730" y="329"/>
                </a:lnTo>
                <a:lnTo>
                  <a:pt x="4737" y="349"/>
                </a:lnTo>
                <a:lnTo>
                  <a:pt x="4743" y="368"/>
                </a:lnTo>
                <a:lnTo>
                  <a:pt x="4749" y="388"/>
                </a:lnTo>
                <a:lnTo>
                  <a:pt x="4753" y="408"/>
                </a:lnTo>
                <a:lnTo>
                  <a:pt x="4756" y="429"/>
                </a:lnTo>
                <a:lnTo>
                  <a:pt x="4759" y="449"/>
                </a:lnTo>
                <a:lnTo>
                  <a:pt x="4760" y="469"/>
                </a:lnTo>
                <a:lnTo>
                  <a:pt x="4760" y="489"/>
                </a:lnTo>
                <a:lnTo>
                  <a:pt x="4760" y="508"/>
                </a:lnTo>
                <a:lnTo>
                  <a:pt x="4759" y="528"/>
                </a:lnTo>
                <a:lnTo>
                  <a:pt x="4756" y="547"/>
                </a:lnTo>
                <a:lnTo>
                  <a:pt x="4753" y="568"/>
                </a:lnTo>
                <a:lnTo>
                  <a:pt x="4748" y="587"/>
                </a:lnTo>
                <a:lnTo>
                  <a:pt x="4742" y="604"/>
                </a:lnTo>
                <a:lnTo>
                  <a:pt x="4736" y="623"/>
                </a:lnTo>
                <a:lnTo>
                  <a:pt x="4728" y="641"/>
                </a:lnTo>
                <a:lnTo>
                  <a:pt x="4720" y="659"/>
                </a:lnTo>
                <a:lnTo>
                  <a:pt x="4710" y="676"/>
                </a:lnTo>
                <a:lnTo>
                  <a:pt x="4699" y="692"/>
                </a:lnTo>
                <a:lnTo>
                  <a:pt x="4688" y="708"/>
                </a:lnTo>
                <a:lnTo>
                  <a:pt x="4675" y="724"/>
                </a:lnTo>
                <a:lnTo>
                  <a:pt x="4660" y="739"/>
                </a:lnTo>
                <a:lnTo>
                  <a:pt x="4436" y="963"/>
                </a:lnTo>
                <a:lnTo>
                  <a:pt x="2812" y="2570"/>
                </a:lnTo>
                <a:lnTo>
                  <a:pt x="2211" y="2862"/>
                </a:lnTo>
                <a:lnTo>
                  <a:pt x="2213" y="2880"/>
                </a:lnTo>
                <a:lnTo>
                  <a:pt x="2216" y="2896"/>
                </a:lnTo>
                <a:lnTo>
                  <a:pt x="2217" y="2914"/>
                </a:lnTo>
                <a:lnTo>
                  <a:pt x="2217" y="2932"/>
                </a:lnTo>
                <a:lnTo>
                  <a:pt x="2217" y="2952"/>
                </a:lnTo>
                <a:lnTo>
                  <a:pt x="2216" y="2971"/>
                </a:lnTo>
                <a:lnTo>
                  <a:pt x="2213" y="2991"/>
                </a:lnTo>
                <a:lnTo>
                  <a:pt x="2210" y="3010"/>
                </a:lnTo>
                <a:lnTo>
                  <a:pt x="2205" y="3028"/>
                </a:lnTo>
                <a:lnTo>
                  <a:pt x="2200" y="3047"/>
                </a:lnTo>
                <a:lnTo>
                  <a:pt x="2194" y="3065"/>
                </a:lnTo>
                <a:lnTo>
                  <a:pt x="2187" y="3083"/>
                </a:lnTo>
                <a:lnTo>
                  <a:pt x="2179" y="3099"/>
                </a:lnTo>
                <a:lnTo>
                  <a:pt x="2170" y="3116"/>
                </a:lnTo>
                <a:lnTo>
                  <a:pt x="2161" y="3133"/>
                </a:lnTo>
                <a:lnTo>
                  <a:pt x="2151" y="3148"/>
                </a:lnTo>
                <a:lnTo>
                  <a:pt x="2141" y="3163"/>
                </a:lnTo>
                <a:lnTo>
                  <a:pt x="2129" y="3178"/>
                </a:lnTo>
                <a:lnTo>
                  <a:pt x="2117" y="3192"/>
                </a:lnTo>
                <a:lnTo>
                  <a:pt x="2104" y="3205"/>
                </a:lnTo>
                <a:lnTo>
                  <a:pt x="2091" y="3218"/>
                </a:lnTo>
                <a:lnTo>
                  <a:pt x="2077" y="3230"/>
                </a:lnTo>
                <a:lnTo>
                  <a:pt x="2062" y="3242"/>
                </a:lnTo>
                <a:lnTo>
                  <a:pt x="2047" y="3253"/>
                </a:lnTo>
                <a:lnTo>
                  <a:pt x="2032" y="3262"/>
                </a:lnTo>
                <a:lnTo>
                  <a:pt x="2015" y="3272"/>
                </a:lnTo>
                <a:lnTo>
                  <a:pt x="1998" y="3280"/>
                </a:lnTo>
                <a:lnTo>
                  <a:pt x="1982" y="3288"/>
                </a:lnTo>
                <a:lnTo>
                  <a:pt x="1964" y="3294"/>
                </a:lnTo>
                <a:lnTo>
                  <a:pt x="1946" y="3301"/>
                </a:lnTo>
                <a:lnTo>
                  <a:pt x="1927" y="3306"/>
                </a:lnTo>
                <a:lnTo>
                  <a:pt x="1909" y="3311"/>
                </a:lnTo>
                <a:lnTo>
                  <a:pt x="1890" y="3313"/>
                </a:lnTo>
                <a:lnTo>
                  <a:pt x="1870" y="3315"/>
                </a:lnTo>
                <a:lnTo>
                  <a:pt x="1851" y="3318"/>
                </a:lnTo>
                <a:lnTo>
                  <a:pt x="1831" y="3318"/>
                </a:lnTo>
                <a:lnTo>
                  <a:pt x="1811" y="3318"/>
                </a:lnTo>
                <a:lnTo>
                  <a:pt x="1792" y="3315"/>
                </a:lnTo>
                <a:lnTo>
                  <a:pt x="1773" y="3313"/>
                </a:lnTo>
                <a:lnTo>
                  <a:pt x="1754" y="3311"/>
                </a:lnTo>
                <a:lnTo>
                  <a:pt x="1735" y="3306"/>
                </a:lnTo>
                <a:lnTo>
                  <a:pt x="1717" y="3301"/>
                </a:lnTo>
                <a:lnTo>
                  <a:pt x="1698" y="3294"/>
                </a:lnTo>
                <a:lnTo>
                  <a:pt x="1681" y="3288"/>
                </a:lnTo>
                <a:lnTo>
                  <a:pt x="1663" y="3280"/>
                </a:lnTo>
                <a:lnTo>
                  <a:pt x="1647" y="3272"/>
                </a:lnTo>
                <a:lnTo>
                  <a:pt x="1631" y="3262"/>
                </a:lnTo>
                <a:lnTo>
                  <a:pt x="1615" y="3253"/>
                </a:lnTo>
                <a:lnTo>
                  <a:pt x="1601" y="3242"/>
                </a:lnTo>
                <a:lnTo>
                  <a:pt x="1585" y="3230"/>
                </a:lnTo>
                <a:lnTo>
                  <a:pt x="1572" y="3218"/>
                </a:lnTo>
                <a:lnTo>
                  <a:pt x="1558" y="3205"/>
                </a:lnTo>
                <a:lnTo>
                  <a:pt x="1546" y="3192"/>
                </a:lnTo>
                <a:lnTo>
                  <a:pt x="1533" y="3178"/>
                </a:lnTo>
                <a:lnTo>
                  <a:pt x="1522" y="3163"/>
                </a:lnTo>
                <a:lnTo>
                  <a:pt x="1511" y="3148"/>
                </a:lnTo>
                <a:lnTo>
                  <a:pt x="1501" y="3133"/>
                </a:lnTo>
                <a:lnTo>
                  <a:pt x="1491" y="3116"/>
                </a:lnTo>
                <a:lnTo>
                  <a:pt x="1483" y="3099"/>
                </a:lnTo>
                <a:lnTo>
                  <a:pt x="1476" y="3083"/>
                </a:lnTo>
                <a:lnTo>
                  <a:pt x="1469" y="3065"/>
                </a:lnTo>
                <a:lnTo>
                  <a:pt x="1463" y="3047"/>
                </a:lnTo>
                <a:lnTo>
                  <a:pt x="1457" y="3028"/>
                </a:lnTo>
                <a:lnTo>
                  <a:pt x="1453" y="3010"/>
                </a:lnTo>
                <a:lnTo>
                  <a:pt x="1450" y="2991"/>
                </a:lnTo>
                <a:lnTo>
                  <a:pt x="1447" y="2971"/>
                </a:lnTo>
                <a:lnTo>
                  <a:pt x="1446" y="2952"/>
                </a:lnTo>
                <a:lnTo>
                  <a:pt x="1445" y="2932"/>
                </a:lnTo>
                <a:lnTo>
                  <a:pt x="1446" y="2912"/>
                </a:lnTo>
                <a:lnTo>
                  <a:pt x="1447" y="2893"/>
                </a:lnTo>
                <a:lnTo>
                  <a:pt x="1450" y="2874"/>
                </a:lnTo>
                <a:lnTo>
                  <a:pt x="1453" y="2855"/>
                </a:lnTo>
                <a:lnTo>
                  <a:pt x="1457" y="2836"/>
                </a:lnTo>
                <a:lnTo>
                  <a:pt x="1463" y="2817"/>
                </a:lnTo>
                <a:lnTo>
                  <a:pt x="1469" y="2799"/>
                </a:lnTo>
                <a:lnTo>
                  <a:pt x="1476" y="2781"/>
                </a:lnTo>
                <a:lnTo>
                  <a:pt x="1483" y="2764"/>
                </a:lnTo>
                <a:lnTo>
                  <a:pt x="1491" y="2748"/>
                </a:lnTo>
                <a:lnTo>
                  <a:pt x="1501" y="2731"/>
                </a:lnTo>
                <a:lnTo>
                  <a:pt x="1511" y="2716"/>
                </a:lnTo>
                <a:lnTo>
                  <a:pt x="1522" y="2702"/>
                </a:lnTo>
                <a:lnTo>
                  <a:pt x="1533" y="2686"/>
                </a:lnTo>
                <a:lnTo>
                  <a:pt x="1546" y="2672"/>
                </a:lnTo>
                <a:lnTo>
                  <a:pt x="1558" y="2659"/>
                </a:lnTo>
                <a:lnTo>
                  <a:pt x="1572" y="2646"/>
                </a:lnTo>
                <a:lnTo>
                  <a:pt x="1585" y="2634"/>
                </a:lnTo>
                <a:lnTo>
                  <a:pt x="1601" y="2623"/>
                </a:lnTo>
                <a:lnTo>
                  <a:pt x="1615" y="2611"/>
                </a:lnTo>
                <a:lnTo>
                  <a:pt x="1631" y="2602"/>
                </a:lnTo>
                <a:lnTo>
                  <a:pt x="1647" y="2592"/>
                </a:lnTo>
                <a:lnTo>
                  <a:pt x="1663" y="2584"/>
                </a:lnTo>
                <a:lnTo>
                  <a:pt x="1681" y="2576"/>
                </a:lnTo>
                <a:lnTo>
                  <a:pt x="1698" y="2570"/>
                </a:lnTo>
                <a:lnTo>
                  <a:pt x="1717" y="2564"/>
                </a:lnTo>
                <a:lnTo>
                  <a:pt x="1735" y="2558"/>
                </a:lnTo>
                <a:lnTo>
                  <a:pt x="1754" y="2554"/>
                </a:lnTo>
                <a:lnTo>
                  <a:pt x="1773" y="2551"/>
                </a:lnTo>
                <a:lnTo>
                  <a:pt x="1792" y="2548"/>
                </a:lnTo>
                <a:lnTo>
                  <a:pt x="1811" y="2546"/>
                </a:lnTo>
                <a:lnTo>
                  <a:pt x="1831" y="2546"/>
                </a:lnTo>
                <a:lnTo>
                  <a:pt x="1864" y="2547"/>
                </a:lnTo>
                <a:lnTo>
                  <a:pt x="1896" y="2552"/>
                </a:lnTo>
                <a:lnTo>
                  <a:pt x="2022" y="2291"/>
                </a:lnTo>
                <a:lnTo>
                  <a:pt x="1988" y="2282"/>
                </a:lnTo>
                <a:lnTo>
                  <a:pt x="1952" y="2274"/>
                </a:lnTo>
                <a:lnTo>
                  <a:pt x="1915" y="2268"/>
                </a:lnTo>
                <a:lnTo>
                  <a:pt x="1878" y="2265"/>
                </a:lnTo>
                <a:lnTo>
                  <a:pt x="1878" y="2075"/>
                </a:lnTo>
                <a:close/>
                <a:moveTo>
                  <a:pt x="1827" y="2692"/>
                </a:moveTo>
                <a:lnTo>
                  <a:pt x="1827" y="2692"/>
                </a:lnTo>
                <a:lnTo>
                  <a:pt x="1804" y="2694"/>
                </a:lnTo>
                <a:lnTo>
                  <a:pt x="1780" y="2698"/>
                </a:lnTo>
                <a:lnTo>
                  <a:pt x="1757" y="2704"/>
                </a:lnTo>
                <a:lnTo>
                  <a:pt x="1736" y="2712"/>
                </a:lnTo>
                <a:lnTo>
                  <a:pt x="1715" y="2722"/>
                </a:lnTo>
                <a:lnTo>
                  <a:pt x="1696" y="2735"/>
                </a:lnTo>
                <a:lnTo>
                  <a:pt x="1678" y="2748"/>
                </a:lnTo>
                <a:lnTo>
                  <a:pt x="1661" y="2763"/>
                </a:lnTo>
                <a:lnTo>
                  <a:pt x="1646" y="2781"/>
                </a:lnTo>
                <a:lnTo>
                  <a:pt x="1631" y="2799"/>
                </a:lnTo>
                <a:lnTo>
                  <a:pt x="1620" y="2819"/>
                </a:lnTo>
                <a:lnTo>
                  <a:pt x="1610" y="2839"/>
                </a:lnTo>
                <a:lnTo>
                  <a:pt x="1602" y="2862"/>
                </a:lnTo>
                <a:lnTo>
                  <a:pt x="1596" y="2884"/>
                </a:lnTo>
                <a:lnTo>
                  <a:pt x="1592" y="2908"/>
                </a:lnTo>
                <a:lnTo>
                  <a:pt x="1591" y="2932"/>
                </a:lnTo>
                <a:lnTo>
                  <a:pt x="1592" y="2957"/>
                </a:lnTo>
                <a:lnTo>
                  <a:pt x="1597" y="2981"/>
                </a:lnTo>
                <a:lnTo>
                  <a:pt x="1602" y="3003"/>
                </a:lnTo>
                <a:lnTo>
                  <a:pt x="1610" y="3026"/>
                </a:lnTo>
                <a:lnTo>
                  <a:pt x="1621" y="3046"/>
                </a:lnTo>
                <a:lnTo>
                  <a:pt x="1633" y="3066"/>
                </a:lnTo>
                <a:lnTo>
                  <a:pt x="1646" y="3084"/>
                </a:lnTo>
                <a:lnTo>
                  <a:pt x="1662" y="3102"/>
                </a:lnTo>
                <a:lnTo>
                  <a:pt x="1679" y="3117"/>
                </a:lnTo>
                <a:lnTo>
                  <a:pt x="1697" y="3130"/>
                </a:lnTo>
                <a:lnTo>
                  <a:pt x="1717" y="3142"/>
                </a:lnTo>
                <a:lnTo>
                  <a:pt x="1738" y="3153"/>
                </a:lnTo>
                <a:lnTo>
                  <a:pt x="1760" y="3161"/>
                </a:lnTo>
                <a:lnTo>
                  <a:pt x="1783" y="3167"/>
                </a:lnTo>
                <a:lnTo>
                  <a:pt x="1807" y="3171"/>
                </a:lnTo>
                <a:lnTo>
                  <a:pt x="1831" y="3172"/>
                </a:lnTo>
                <a:lnTo>
                  <a:pt x="1856" y="3171"/>
                </a:lnTo>
                <a:lnTo>
                  <a:pt x="1880" y="3167"/>
                </a:lnTo>
                <a:lnTo>
                  <a:pt x="1902" y="3161"/>
                </a:lnTo>
                <a:lnTo>
                  <a:pt x="1925" y="3153"/>
                </a:lnTo>
                <a:lnTo>
                  <a:pt x="1945" y="3142"/>
                </a:lnTo>
                <a:lnTo>
                  <a:pt x="1965" y="3130"/>
                </a:lnTo>
                <a:lnTo>
                  <a:pt x="1984" y="3117"/>
                </a:lnTo>
                <a:lnTo>
                  <a:pt x="2001" y="3102"/>
                </a:lnTo>
                <a:lnTo>
                  <a:pt x="2016" y="3084"/>
                </a:lnTo>
                <a:lnTo>
                  <a:pt x="2030" y="3066"/>
                </a:lnTo>
                <a:lnTo>
                  <a:pt x="2042" y="3046"/>
                </a:lnTo>
                <a:lnTo>
                  <a:pt x="2052" y="3026"/>
                </a:lnTo>
                <a:lnTo>
                  <a:pt x="2060" y="3003"/>
                </a:lnTo>
                <a:lnTo>
                  <a:pt x="2066" y="2981"/>
                </a:lnTo>
                <a:lnTo>
                  <a:pt x="2070" y="2957"/>
                </a:lnTo>
                <a:lnTo>
                  <a:pt x="2071" y="2932"/>
                </a:lnTo>
                <a:lnTo>
                  <a:pt x="2071" y="2931"/>
                </a:lnTo>
                <a:lnTo>
                  <a:pt x="1862" y="3033"/>
                </a:lnTo>
                <a:lnTo>
                  <a:pt x="1728" y="2899"/>
                </a:lnTo>
                <a:lnTo>
                  <a:pt x="1827" y="2692"/>
                </a:lnTo>
                <a:close/>
                <a:moveTo>
                  <a:pt x="2056" y="2832"/>
                </a:moveTo>
                <a:lnTo>
                  <a:pt x="2527" y="2609"/>
                </a:lnTo>
                <a:lnTo>
                  <a:pt x="2495" y="2601"/>
                </a:lnTo>
                <a:lnTo>
                  <a:pt x="2464" y="2589"/>
                </a:lnTo>
                <a:lnTo>
                  <a:pt x="2433" y="2576"/>
                </a:lnTo>
                <a:lnTo>
                  <a:pt x="2402" y="2559"/>
                </a:lnTo>
                <a:lnTo>
                  <a:pt x="2373" y="2541"/>
                </a:lnTo>
                <a:lnTo>
                  <a:pt x="2345" y="2521"/>
                </a:lnTo>
                <a:lnTo>
                  <a:pt x="2318" y="2498"/>
                </a:lnTo>
                <a:lnTo>
                  <a:pt x="2292" y="2475"/>
                </a:lnTo>
                <a:lnTo>
                  <a:pt x="2267" y="2449"/>
                </a:lnTo>
                <a:lnTo>
                  <a:pt x="2244" y="2421"/>
                </a:lnTo>
                <a:lnTo>
                  <a:pt x="2224" y="2392"/>
                </a:lnTo>
                <a:lnTo>
                  <a:pt x="2206" y="2363"/>
                </a:lnTo>
                <a:lnTo>
                  <a:pt x="2189" y="2332"/>
                </a:lnTo>
                <a:lnTo>
                  <a:pt x="2176" y="2301"/>
                </a:lnTo>
                <a:lnTo>
                  <a:pt x="2164" y="2269"/>
                </a:lnTo>
                <a:lnTo>
                  <a:pt x="2156" y="2237"/>
                </a:lnTo>
                <a:lnTo>
                  <a:pt x="1929" y="2706"/>
                </a:lnTo>
                <a:lnTo>
                  <a:pt x="1947" y="2719"/>
                </a:lnTo>
                <a:lnTo>
                  <a:pt x="1965" y="2734"/>
                </a:lnTo>
                <a:lnTo>
                  <a:pt x="1983" y="2749"/>
                </a:lnTo>
                <a:lnTo>
                  <a:pt x="2001" y="2766"/>
                </a:lnTo>
                <a:lnTo>
                  <a:pt x="2016" y="2781"/>
                </a:lnTo>
                <a:lnTo>
                  <a:pt x="2030" y="2798"/>
                </a:lnTo>
                <a:lnTo>
                  <a:pt x="2043" y="2814"/>
                </a:lnTo>
                <a:lnTo>
                  <a:pt x="2056" y="2832"/>
                </a:lnTo>
                <a:close/>
                <a:moveTo>
                  <a:pt x="4202" y="1063"/>
                </a:moveTo>
                <a:lnTo>
                  <a:pt x="4202" y="1063"/>
                </a:lnTo>
                <a:lnTo>
                  <a:pt x="4181" y="1063"/>
                </a:lnTo>
                <a:lnTo>
                  <a:pt x="4160" y="1063"/>
                </a:lnTo>
                <a:lnTo>
                  <a:pt x="4139" y="1060"/>
                </a:lnTo>
                <a:lnTo>
                  <a:pt x="4119" y="1058"/>
                </a:lnTo>
                <a:lnTo>
                  <a:pt x="4097" y="1054"/>
                </a:lnTo>
                <a:lnTo>
                  <a:pt x="4077" y="1050"/>
                </a:lnTo>
                <a:lnTo>
                  <a:pt x="4056" y="1044"/>
                </a:lnTo>
                <a:lnTo>
                  <a:pt x="4036" y="1037"/>
                </a:lnTo>
                <a:lnTo>
                  <a:pt x="4014" y="1028"/>
                </a:lnTo>
                <a:lnTo>
                  <a:pt x="3994" y="1020"/>
                </a:lnTo>
                <a:lnTo>
                  <a:pt x="3975" y="1011"/>
                </a:lnTo>
                <a:lnTo>
                  <a:pt x="3955" y="1000"/>
                </a:lnTo>
                <a:lnTo>
                  <a:pt x="3936" y="988"/>
                </a:lnTo>
                <a:lnTo>
                  <a:pt x="3917" y="975"/>
                </a:lnTo>
                <a:lnTo>
                  <a:pt x="3898" y="962"/>
                </a:lnTo>
                <a:lnTo>
                  <a:pt x="3880" y="948"/>
                </a:lnTo>
                <a:lnTo>
                  <a:pt x="2396" y="2432"/>
                </a:lnTo>
                <a:lnTo>
                  <a:pt x="2420" y="2450"/>
                </a:lnTo>
                <a:lnTo>
                  <a:pt x="2445" y="2468"/>
                </a:lnTo>
                <a:lnTo>
                  <a:pt x="2471" y="2482"/>
                </a:lnTo>
                <a:lnTo>
                  <a:pt x="2497" y="2495"/>
                </a:lnTo>
                <a:lnTo>
                  <a:pt x="2524" y="2507"/>
                </a:lnTo>
                <a:lnTo>
                  <a:pt x="2552" y="2515"/>
                </a:lnTo>
                <a:lnTo>
                  <a:pt x="2579" y="2521"/>
                </a:lnTo>
                <a:lnTo>
                  <a:pt x="2606" y="2526"/>
                </a:lnTo>
                <a:lnTo>
                  <a:pt x="2633" y="2527"/>
                </a:lnTo>
                <a:lnTo>
                  <a:pt x="2648" y="2527"/>
                </a:lnTo>
                <a:lnTo>
                  <a:pt x="2662" y="2526"/>
                </a:lnTo>
                <a:lnTo>
                  <a:pt x="2675" y="2523"/>
                </a:lnTo>
                <a:lnTo>
                  <a:pt x="2688" y="2521"/>
                </a:lnTo>
                <a:lnTo>
                  <a:pt x="2702" y="2517"/>
                </a:lnTo>
                <a:lnTo>
                  <a:pt x="2715" y="2514"/>
                </a:lnTo>
                <a:lnTo>
                  <a:pt x="2728" y="2508"/>
                </a:lnTo>
                <a:lnTo>
                  <a:pt x="2742" y="2503"/>
                </a:lnTo>
                <a:lnTo>
                  <a:pt x="2755" y="2496"/>
                </a:lnTo>
                <a:lnTo>
                  <a:pt x="2766" y="2489"/>
                </a:lnTo>
                <a:lnTo>
                  <a:pt x="2780" y="2481"/>
                </a:lnTo>
                <a:lnTo>
                  <a:pt x="2791" y="2471"/>
                </a:lnTo>
                <a:lnTo>
                  <a:pt x="2803" y="2462"/>
                </a:lnTo>
                <a:lnTo>
                  <a:pt x="2815" y="2450"/>
                </a:lnTo>
                <a:lnTo>
                  <a:pt x="4202" y="1063"/>
                </a:lnTo>
                <a:close/>
                <a:moveTo>
                  <a:pt x="2330" y="2364"/>
                </a:moveTo>
                <a:lnTo>
                  <a:pt x="3814" y="880"/>
                </a:lnTo>
                <a:lnTo>
                  <a:pt x="3798" y="862"/>
                </a:lnTo>
                <a:lnTo>
                  <a:pt x="3785" y="844"/>
                </a:lnTo>
                <a:lnTo>
                  <a:pt x="3773" y="825"/>
                </a:lnTo>
                <a:lnTo>
                  <a:pt x="3761" y="805"/>
                </a:lnTo>
                <a:lnTo>
                  <a:pt x="3751" y="786"/>
                </a:lnTo>
                <a:lnTo>
                  <a:pt x="3741" y="766"/>
                </a:lnTo>
                <a:lnTo>
                  <a:pt x="3732" y="746"/>
                </a:lnTo>
                <a:lnTo>
                  <a:pt x="3725" y="726"/>
                </a:lnTo>
                <a:lnTo>
                  <a:pt x="3718" y="704"/>
                </a:lnTo>
                <a:lnTo>
                  <a:pt x="3712" y="684"/>
                </a:lnTo>
                <a:lnTo>
                  <a:pt x="3707" y="663"/>
                </a:lnTo>
                <a:lnTo>
                  <a:pt x="3703" y="642"/>
                </a:lnTo>
                <a:lnTo>
                  <a:pt x="3700" y="621"/>
                </a:lnTo>
                <a:lnTo>
                  <a:pt x="3699" y="601"/>
                </a:lnTo>
                <a:lnTo>
                  <a:pt x="3697" y="579"/>
                </a:lnTo>
                <a:lnTo>
                  <a:pt x="3697" y="559"/>
                </a:lnTo>
                <a:lnTo>
                  <a:pt x="2311" y="1946"/>
                </a:lnTo>
                <a:lnTo>
                  <a:pt x="2300" y="1958"/>
                </a:lnTo>
                <a:lnTo>
                  <a:pt x="2289" y="1970"/>
                </a:lnTo>
                <a:lnTo>
                  <a:pt x="2281" y="1982"/>
                </a:lnTo>
                <a:lnTo>
                  <a:pt x="2273" y="1994"/>
                </a:lnTo>
                <a:lnTo>
                  <a:pt x="2264" y="2007"/>
                </a:lnTo>
                <a:lnTo>
                  <a:pt x="2258" y="2020"/>
                </a:lnTo>
                <a:lnTo>
                  <a:pt x="2252" y="2033"/>
                </a:lnTo>
                <a:lnTo>
                  <a:pt x="2248" y="2046"/>
                </a:lnTo>
                <a:lnTo>
                  <a:pt x="2243" y="2059"/>
                </a:lnTo>
                <a:lnTo>
                  <a:pt x="2240" y="2072"/>
                </a:lnTo>
                <a:lnTo>
                  <a:pt x="2237" y="2085"/>
                </a:lnTo>
                <a:lnTo>
                  <a:pt x="2236" y="2099"/>
                </a:lnTo>
                <a:lnTo>
                  <a:pt x="2235" y="2113"/>
                </a:lnTo>
                <a:lnTo>
                  <a:pt x="2235" y="2127"/>
                </a:lnTo>
                <a:lnTo>
                  <a:pt x="2236" y="2154"/>
                </a:lnTo>
                <a:lnTo>
                  <a:pt x="2239" y="2183"/>
                </a:lnTo>
                <a:lnTo>
                  <a:pt x="2245" y="2210"/>
                </a:lnTo>
                <a:lnTo>
                  <a:pt x="2255" y="2237"/>
                </a:lnTo>
                <a:lnTo>
                  <a:pt x="2265" y="2263"/>
                </a:lnTo>
                <a:lnTo>
                  <a:pt x="2278" y="2291"/>
                </a:lnTo>
                <a:lnTo>
                  <a:pt x="2294" y="2316"/>
                </a:lnTo>
                <a:lnTo>
                  <a:pt x="2311" y="2341"/>
                </a:lnTo>
                <a:lnTo>
                  <a:pt x="2330" y="2364"/>
                </a:lnTo>
                <a:close/>
              </a:path>
            </a:pathLst>
          </a:custGeom>
          <a:solidFill>
            <a:schemeClr val="bg1"/>
          </a:solidFill>
          <a:ln w="9525">
            <a:noFill/>
            <a:round/>
            <a:headEnd/>
            <a:tailEnd/>
          </a:ln>
        </p:spPr>
        <p:txBody>
          <a:bodyPr/>
          <a:lstStyle/>
          <a:p>
            <a:endParaRPr lang="de-DE"/>
          </a:p>
        </p:txBody>
      </p:sp>
      <p:grpSp>
        <p:nvGrpSpPr>
          <p:cNvPr id="34" name="Gruppieren 6">
            <a:extLst>
              <a:ext uri="{FF2B5EF4-FFF2-40B4-BE49-F238E27FC236}">
                <a16:creationId xmlns:a16="http://schemas.microsoft.com/office/drawing/2014/main" id="{1203E06F-BD55-A069-DB72-0E7F8DF11674}"/>
              </a:ext>
            </a:extLst>
          </p:cNvPr>
          <p:cNvGrpSpPr/>
          <p:nvPr/>
        </p:nvGrpSpPr>
        <p:grpSpPr>
          <a:xfrm>
            <a:off x="3214396" y="5412796"/>
            <a:ext cx="837119" cy="826219"/>
            <a:chOff x="779463" y="3076385"/>
            <a:chExt cx="1198563" cy="1198563"/>
          </a:xfrm>
          <a:solidFill>
            <a:srgbClr val="004D82"/>
          </a:solidFill>
          <a:effectLst/>
        </p:grpSpPr>
        <p:sp>
          <p:nvSpPr>
            <p:cNvPr id="35" name="AutoShape 161" descr="© INSCALE GmbH, 26.05.2010&#10;http://www.presentationload.com/">
              <a:extLst>
                <a:ext uri="{FF2B5EF4-FFF2-40B4-BE49-F238E27FC236}">
                  <a16:creationId xmlns:a16="http://schemas.microsoft.com/office/drawing/2014/main" id="{3D48CDFD-506F-E310-C31C-2FA13B390E60}"/>
                </a:ext>
              </a:extLst>
            </p:cNvPr>
            <p:cNvSpPr>
              <a:spLocks noChangeAspect="1" noChangeArrowheads="1"/>
            </p:cNvSpPr>
            <p:nvPr/>
          </p:nvSpPr>
          <p:spPr bwMode="gray">
            <a:xfrm>
              <a:off x="779463" y="3076385"/>
              <a:ext cx="1198563" cy="1198563"/>
            </a:xfrm>
            <a:prstGeom prst="rect">
              <a:avLst/>
            </a:prstGeom>
            <a:grpFill/>
            <a:ln>
              <a:headEnd/>
              <a:tailEnd/>
            </a:ln>
          </p:spPr>
          <p:style>
            <a:lnRef idx="2">
              <a:schemeClr val="accent6"/>
            </a:lnRef>
            <a:fillRef idx="1">
              <a:schemeClr val="lt1"/>
            </a:fillRef>
            <a:effectRef idx="0">
              <a:schemeClr val="accent6"/>
            </a:effectRef>
            <a:fontRef idx="minor">
              <a:schemeClr val="dk1"/>
            </a:fontRef>
          </p:style>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sp>
          <p:nvSpPr>
            <p:cNvPr id="36" name="AutoShape 162" descr="© INSCALE GmbH, 26.05.2010&#10;http://www.presentationload.com/">
              <a:extLst>
                <a:ext uri="{FF2B5EF4-FFF2-40B4-BE49-F238E27FC236}">
                  <a16:creationId xmlns:a16="http://schemas.microsoft.com/office/drawing/2014/main" id="{3043907A-04DF-DE06-EDF7-569E417ACB86}"/>
                </a:ext>
              </a:extLst>
            </p:cNvPr>
            <p:cNvSpPr>
              <a:spLocks noChangeAspect="1" noChangeArrowheads="1"/>
            </p:cNvSpPr>
            <p:nvPr/>
          </p:nvSpPr>
          <p:spPr bwMode="gray">
            <a:xfrm>
              <a:off x="843242" y="3140164"/>
              <a:ext cx="1071005" cy="1071005"/>
            </a:xfrm>
            <a:prstGeom prst="rect">
              <a:avLst/>
            </a:prstGeom>
            <a:grpFill/>
            <a:ln w="25400" cap="flat" cmpd="sng" algn="ctr">
              <a:solidFill>
                <a:schemeClr val="bg1"/>
              </a:solidFill>
              <a:prstDash val="soli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cs typeface="+mn-cs"/>
              </a:endParaRPr>
            </a:p>
          </p:txBody>
        </p:sp>
        <p:sp>
          <p:nvSpPr>
            <p:cNvPr id="37" name="AutoShape 164" descr="© INSCALE GmbH, 26.05.2010&#10;http://www.presentationload.com/">
              <a:extLst>
                <a:ext uri="{FF2B5EF4-FFF2-40B4-BE49-F238E27FC236}">
                  <a16:creationId xmlns:a16="http://schemas.microsoft.com/office/drawing/2014/main" id="{C9F9CFC4-0AA8-16A3-80DA-DDE203837828}"/>
                </a:ext>
              </a:extLst>
            </p:cNvPr>
            <p:cNvSpPr>
              <a:spLocks noChangeAspect="1" noChangeArrowheads="1"/>
            </p:cNvSpPr>
            <p:nvPr/>
          </p:nvSpPr>
          <p:spPr bwMode="gray">
            <a:xfrm>
              <a:off x="891953" y="3178418"/>
              <a:ext cx="986770" cy="989176"/>
            </a:xfrm>
            <a:prstGeom prst="rect">
              <a:avLst/>
            </a:prstGeom>
            <a:grpFill/>
            <a:ln w="9525">
              <a:noFill/>
              <a:round/>
              <a:headEnd/>
              <a:tailEnd/>
            </a:ln>
            <a:effectLst/>
          </p:spPr>
          <p:txBody>
            <a:bodyPr wrap="none" anchor="ctr"/>
            <a:lstStyle/>
            <a:p>
              <a:pPr eaLnBrk="1" fontAlgn="auto" hangingPunct="1">
                <a:spcBef>
                  <a:spcPts val="0"/>
                </a:spcBef>
                <a:spcAft>
                  <a:spcPts val="0"/>
                </a:spcAft>
                <a:defRPr/>
              </a:pPr>
              <a:endParaRPr lang="en-US" sz="1800" kern="0">
                <a:solidFill>
                  <a:srgbClr val="000000"/>
                </a:solidFill>
                <a:latin typeface="Arial"/>
              </a:endParaRPr>
            </a:p>
          </p:txBody>
        </p:sp>
      </p:grpSp>
      <p:sp>
        <p:nvSpPr>
          <p:cNvPr id="38" name="Freeform 180">
            <a:extLst>
              <a:ext uri="{FF2B5EF4-FFF2-40B4-BE49-F238E27FC236}">
                <a16:creationId xmlns:a16="http://schemas.microsoft.com/office/drawing/2014/main" id="{60E81F8F-1F68-4045-5ACE-5BFE6CA8604B}"/>
              </a:ext>
            </a:extLst>
          </p:cNvPr>
          <p:cNvSpPr>
            <a:spLocks noChangeAspect="1" noEditPoints="1"/>
          </p:cNvSpPr>
          <p:nvPr/>
        </p:nvSpPr>
        <p:spPr bwMode="auto">
          <a:xfrm>
            <a:off x="3412637" y="5722648"/>
            <a:ext cx="459939" cy="285999"/>
          </a:xfrm>
          <a:custGeom>
            <a:avLst/>
            <a:gdLst>
              <a:gd name="T0" fmla="*/ 420 w 2750"/>
              <a:gd name="T1" fmla="*/ 634 h 1710"/>
              <a:gd name="T2" fmla="*/ 902 w 2750"/>
              <a:gd name="T3" fmla="*/ 137 h 1710"/>
              <a:gd name="T4" fmla="*/ 618 w 2750"/>
              <a:gd name="T5" fmla="*/ 137 h 1710"/>
              <a:gd name="T6" fmla="*/ 136 w 2750"/>
              <a:gd name="T7" fmla="*/ 634 h 1710"/>
              <a:gd name="T8" fmla="*/ 420 w 2750"/>
              <a:gd name="T9" fmla="*/ 634 h 1710"/>
              <a:gd name="T10" fmla="*/ 133 w 2750"/>
              <a:gd name="T11" fmla="*/ 137 h 1710"/>
              <a:gd name="T12" fmla="*/ 133 w 2750"/>
              <a:gd name="T13" fmla="*/ 345 h 1710"/>
              <a:gd name="T14" fmla="*/ 335 w 2750"/>
              <a:gd name="T15" fmla="*/ 137 h 1710"/>
              <a:gd name="T16" fmla="*/ 133 w 2750"/>
              <a:gd name="T17" fmla="*/ 137 h 1710"/>
              <a:gd name="T18" fmla="*/ 1565 w 2750"/>
              <a:gd name="T19" fmla="*/ 634 h 1710"/>
              <a:gd name="T20" fmla="*/ 2047 w 2750"/>
              <a:gd name="T21" fmla="*/ 137 h 1710"/>
              <a:gd name="T22" fmla="*/ 1771 w 2750"/>
              <a:gd name="T23" fmla="*/ 137 h 1710"/>
              <a:gd name="T24" fmla="*/ 1288 w 2750"/>
              <a:gd name="T25" fmla="*/ 634 h 1710"/>
              <a:gd name="T26" fmla="*/ 1565 w 2750"/>
              <a:gd name="T27" fmla="*/ 634 h 1710"/>
              <a:gd name="T28" fmla="*/ 1006 w 2750"/>
              <a:gd name="T29" fmla="*/ 634 h 1710"/>
              <a:gd name="T30" fmla="*/ 1488 w 2750"/>
              <a:gd name="T31" fmla="*/ 137 h 1710"/>
              <a:gd name="T32" fmla="*/ 1185 w 2750"/>
              <a:gd name="T33" fmla="*/ 137 h 1710"/>
              <a:gd name="T34" fmla="*/ 703 w 2750"/>
              <a:gd name="T35" fmla="*/ 634 h 1710"/>
              <a:gd name="T36" fmla="*/ 1006 w 2750"/>
              <a:gd name="T37" fmla="*/ 634 h 1710"/>
              <a:gd name="T38" fmla="*/ 2133 w 2750"/>
              <a:gd name="T39" fmla="*/ 634 h 1710"/>
              <a:gd name="T40" fmla="*/ 2615 w 2750"/>
              <a:gd name="T41" fmla="*/ 137 h 1710"/>
              <a:gd name="T42" fmla="*/ 2330 w 2750"/>
              <a:gd name="T43" fmla="*/ 137 h 1710"/>
              <a:gd name="T44" fmla="*/ 1848 w 2750"/>
              <a:gd name="T45" fmla="*/ 634 h 1710"/>
              <a:gd name="T46" fmla="*/ 2133 w 2750"/>
              <a:gd name="T47" fmla="*/ 634 h 1710"/>
              <a:gd name="T48" fmla="*/ 2617 w 2750"/>
              <a:gd name="T49" fmla="*/ 634 h 1710"/>
              <a:gd name="T50" fmla="*/ 2617 w 2750"/>
              <a:gd name="T51" fmla="*/ 428 h 1710"/>
              <a:gd name="T52" fmla="*/ 2416 w 2750"/>
              <a:gd name="T53" fmla="*/ 634 h 1710"/>
              <a:gd name="T54" fmla="*/ 2617 w 2750"/>
              <a:gd name="T55" fmla="*/ 634 h 1710"/>
              <a:gd name="T56" fmla="*/ 0 w 2750"/>
              <a:gd name="T57" fmla="*/ 0 h 1710"/>
              <a:gd name="T58" fmla="*/ 0 w 2750"/>
              <a:gd name="T59" fmla="*/ 1710 h 1710"/>
              <a:gd name="T60" fmla="*/ 81 w 2750"/>
              <a:gd name="T61" fmla="*/ 1710 h 1710"/>
              <a:gd name="T62" fmla="*/ 81 w 2750"/>
              <a:gd name="T63" fmla="*/ 734 h 1710"/>
              <a:gd name="T64" fmla="*/ 2668 w 2750"/>
              <a:gd name="T65" fmla="*/ 734 h 1710"/>
              <a:gd name="T66" fmla="*/ 2668 w 2750"/>
              <a:gd name="T67" fmla="*/ 1710 h 1710"/>
              <a:gd name="T68" fmla="*/ 2750 w 2750"/>
              <a:gd name="T69" fmla="*/ 1710 h 1710"/>
              <a:gd name="T70" fmla="*/ 2750 w 2750"/>
              <a:gd name="T71" fmla="*/ 0 h 1710"/>
              <a:gd name="T72" fmla="*/ 0 w 2750"/>
              <a:gd name="T73" fmla="*/ 0 h 1710"/>
              <a:gd name="T74" fmla="*/ 2668 w 2750"/>
              <a:gd name="T75" fmla="*/ 689 h 1710"/>
              <a:gd name="T76" fmla="*/ 81 w 2750"/>
              <a:gd name="T77" fmla="*/ 689 h 1710"/>
              <a:gd name="T78" fmla="*/ 81 w 2750"/>
              <a:gd name="T79" fmla="*/ 81 h 1710"/>
              <a:gd name="T80" fmla="*/ 2668 w 2750"/>
              <a:gd name="T81" fmla="*/ 81 h 1710"/>
              <a:gd name="T82" fmla="*/ 2668 w 2750"/>
              <a:gd name="T83" fmla="*/ 689 h 1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50" h="1710">
                <a:moveTo>
                  <a:pt x="420" y="634"/>
                </a:moveTo>
                <a:lnTo>
                  <a:pt x="902" y="137"/>
                </a:lnTo>
                <a:lnTo>
                  <a:pt x="618" y="137"/>
                </a:lnTo>
                <a:lnTo>
                  <a:pt x="136" y="634"/>
                </a:lnTo>
                <a:lnTo>
                  <a:pt x="420" y="634"/>
                </a:lnTo>
                <a:close/>
                <a:moveTo>
                  <a:pt x="133" y="137"/>
                </a:moveTo>
                <a:lnTo>
                  <a:pt x="133" y="345"/>
                </a:lnTo>
                <a:lnTo>
                  <a:pt x="335" y="137"/>
                </a:lnTo>
                <a:lnTo>
                  <a:pt x="133" y="137"/>
                </a:lnTo>
                <a:close/>
                <a:moveTo>
                  <a:pt x="1565" y="634"/>
                </a:moveTo>
                <a:lnTo>
                  <a:pt x="2047" y="137"/>
                </a:lnTo>
                <a:lnTo>
                  <a:pt x="1771" y="137"/>
                </a:lnTo>
                <a:lnTo>
                  <a:pt x="1288" y="634"/>
                </a:lnTo>
                <a:lnTo>
                  <a:pt x="1565" y="634"/>
                </a:lnTo>
                <a:close/>
                <a:moveTo>
                  <a:pt x="1006" y="634"/>
                </a:moveTo>
                <a:lnTo>
                  <a:pt x="1488" y="137"/>
                </a:lnTo>
                <a:lnTo>
                  <a:pt x="1185" y="137"/>
                </a:lnTo>
                <a:lnTo>
                  <a:pt x="703" y="634"/>
                </a:lnTo>
                <a:lnTo>
                  <a:pt x="1006" y="634"/>
                </a:lnTo>
                <a:close/>
                <a:moveTo>
                  <a:pt x="2133" y="634"/>
                </a:moveTo>
                <a:lnTo>
                  <a:pt x="2615" y="137"/>
                </a:lnTo>
                <a:lnTo>
                  <a:pt x="2330" y="137"/>
                </a:lnTo>
                <a:lnTo>
                  <a:pt x="1848" y="634"/>
                </a:lnTo>
                <a:lnTo>
                  <a:pt x="2133" y="634"/>
                </a:lnTo>
                <a:close/>
                <a:moveTo>
                  <a:pt x="2617" y="634"/>
                </a:moveTo>
                <a:lnTo>
                  <a:pt x="2617" y="428"/>
                </a:lnTo>
                <a:lnTo>
                  <a:pt x="2416" y="634"/>
                </a:lnTo>
                <a:lnTo>
                  <a:pt x="2617" y="634"/>
                </a:lnTo>
                <a:close/>
                <a:moveTo>
                  <a:pt x="0" y="0"/>
                </a:moveTo>
                <a:lnTo>
                  <a:pt x="0" y="1710"/>
                </a:lnTo>
                <a:lnTo>
                  <a:pt x="81" y="1710"/>
                </a:lnTo>
                <a:lnTo>
                  <a:pt x="81" y="734"/>
                </a:lnTo>
                <a:lnTo>
                  <a:pt x="2668" y="734"/>
                </a:lnTo>
                <a:lnTo>
                  <a:pt x="2668" y="1710"/>
                </a:lnTo>
                <a:lnTo>
                  <a:pt x="2750" y="1710"/>
                </a:lnTo>
                <a:lnTo>
                  <a:pt x="2750" y="0"/>
                </a:lnTo>
                <a:lnTo>
                  <a:pt x="0" y="0"/>
                </a:lnTo>
                <a:close/>
                <a:moveTo>
                  <a:pt x="2668" y="689"/>
                </a:moveTo>
                <a:lnTo>
                  <a:pt x="81" y="689"/>
                </a:lnTo>
                <a:lnTo>
                  <a:pt x="81" y="81"/>
                </a:lnTo>
                <a:lnTo>
                  <a:pt x="2668" y="81"/>
                </a:lnTo>
                <a:lnTo>
                  <a:pt x="2668" y="68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de-DE"/>
          </a:p>
        </p:txBody>
      </p:sp>
      <p:sp>
        <p:nvSpPr>
          <p:cNvPr id="39" name="TextBox 38">
            <a:extLst>
              <a:ext uri="{FF2B5EF4-FFF2-40B4-BE49-F238E27FC236}">
                <a16:creationId xmlns:a16="http://schemas.microsoft.com/office/drawing/2014/main" id="{148D9B25-53D8-20CF-CDB2-C949349CC35C}"/>
              </a:ext>
            </a:extLst>
          </p:cNvPr>
          <p:cNvSpPr txBox="1"/>
          <p:nvPr/>
        </p:nvSpPr>
        <p:spPr>
          <a:xfrm>
            <a:off x="-52114" y="2500807"/>
            <a:ext cx="1669215" cy="830997"/>
          </a:xfrm>
          <a:prstGeom prst="rect">
            <a:avLst/>
          </a:prstGeom>
          <a:noFill/>
        </p:spPr>
        <p:txBody>
          <a:bodyPr wrap="square" rtlCol="0">
            <a:spAutoFit/>
          </a:bodyPr>
          <a:lstStyle/>
          <a:p>
            <a:pPr algn="ctr"/>
            <a:r>
              <a:rPr lang="en-US" sz="2400" b="1" dirty="0"/>
              <a:t>Problem statement</a:t>
            </a:r>
          </a:p>
        </p:txBody>
      </p:sp>
      <p:sp>
        <p:nvSpPr>
          <p:cNvPr id="40" name="TextBox 39">
            <a:extLst>
              <a:ext uri="{FF2B5EF4-FFF2-40B4-BE49-F238E27FC236}">
                <a16:creationId xmlns:a16="http://schemas.microsoft.com/office/drawing/2014/main" id="{2C69F5F7-274C-844D-E9C3-12B36D0F31AF}"/>
              </a:ext>
            </a:extLst>
          </p:cNvPr>
          <p:cNvSpPr txBox="1"/>
          <p:nvPr/>
        </p:nvSpPr>
        <p:spPr>
          <a:xfrm>
            <a:off x="2123394" y="1858911"/>
            <a:ext cx="922047" cy="430887"/>
          </a:xfrm>
          <a:prstGeom prst="rect">
            <a:avLst/>
          </a:prstGeom>
          <a:noFill/>
        </p:spPr>
        <p:txBody>
          <a:bodyPr wrap="none" rtlCol="0">
            <a:spAutoFit/>
          </a:bodyPr>
          <a:lstStyle/>
          <a:p>
            <a:r>
              <a:rPr lang="en-US" sz="2200" dirty="0">
                <a:latin typeface="+mn-lt"/>
              </a:rPr>
              <a:t>Given</a:t>
            </a:r>
          </a:p>
        </p:txBody>
      </p:sp>
      <p:sp>
        <p:nvSpPr>
          <p:cNvPr id="41" name="TextBox 40">
            <a:extLst>
              <a:ext uri="{FF2B5EF4-FFF2-40B4-BE49-F238E27FC236}">
                <a16:creationId xmlns:a16="http://schemas.microsoft.com/office/drawing/2014/main" id="{DCD994F5-A8E4-9999-0BF0-6CA5C1A5D4BA}"/>
              </a:ext>
            </a:extLst>
          </p:cNvPr>
          <p:cNvSpPr txBox="1"/>
          <p:nvPr/>
        </p:nvSpPr>
        <p:spPr>
          <a:xfrm>
            <a:off x="2023909" y="3331804"/>
            <a:ext cx="1063112" cy="430887"/>
          </a:xfrm>
          <a:prstGeom prst="rect">
            <a:avLst/>
          </a:prstGeom>
          <a:noFill/>
        </p:spPr>
        <p:txBody>
          <a:bodyPr wrap="none" rtlCol="0">
            <a:spAutoFit/>
          </a:bodyPr>
          <a:lstStyle/>
          <a:p>
            <a:r>
              <a:rPr lang="en-US" sz="2200" dirty="0">
                <a:latin typeface="+mn-lt"/>
              </a:rPr>
              <a:t>Decide</a:t>
            </a:r>
          </a:p>
        </p:txBody>
      </p:sp>
      <p:sp>
        <p:nvSpPr>
          <p:cNvPr id="42" name="TextBox 41">
            <a:extLst>
              <a:ext uri="{FF2B5EF4-FFF2-40B4-BE49-F238E27FC236}">
                <a16:creationId xmlns:a16="http://schemas.microsoft.com/office/drawing/2014/main" id="{C7933D1F-80CB-DCBB-961B-6E85F3BF988B}"/>
              </a:ext>
            </a:extLst>
          </p:cNvPr>
          <p:cNvSpPr txBox="1"/>
          <p:nvPr/>
        </p:nvSpPr>
        <p:spPr>
          <a:xfrm>
            <a:off x="1874830" y="4474982"/>
            <a:ext cx="1361270" cy="430887"/>
          </a:xfrm>
          <a:prstGeom prst="rect">
            <a:avLst/>
          </a:prstGeom>
          <a:noFill/>
        </p:spPr>
        <p:txBody>
          <a:bodyPr wrap="none" rtlCol="0">
            <a:spAutoFit/>
          </a:bodyPr>
          <a:lstStyle/>
          <a:p>
            <a:r>
              <a:rPr lang="en-US" sz="2200" dirty="0">
                <a:latin typeface="+mn-lt"/>
              </a:rPr>
              <a:t>Objective</a:t>
            </a:r>
          </a:p>
        </p:txBody>
      </p:sp>
      <p:sp>
        <p:nvSpPr>
          <p:cNvPr id="43" name="TextBox 42">
            <a:extLst>
              <a:ext uri="{FF2B5EF4-FFF2-40B4-BE49-F238E27FC236}">
                <a16:creationId xmlns:a16="http://schemas.microsoft.com/office/drawing/2014/main" id="{5EECBAD5-2A4D-6949-BE7D-20B236699372}"/>
              </a:ext>
            </a:extLst>
          </p:cNvPr>
          <p:cNvSpPr txBox="1"/>
          <p:nvPr/>
        </p:nvSpPr>
        <p:spPr>
          <a:xfrm>
            <a:off x="1736270" y="5423345"/>
            <a:ext cx="1612942" cy="430887"/>
          </a:xfrm>
          <a:prstGeom prst="rect">
            <a:avLst/>
          </a:prstGeom>
          <a:noFill/>
        </p:spPr>
        <p:txBody>
          <a:bodyPr wrap="none" rtlCol="0">
            <a:spAutoFit/>
          </a:bodyPr>
          <a:lstStyle/>
          <a:p>
            <a:r>
              <a:rPr lang="en-US" sz="2200" dirty="0">
                <a:latin typeface="+mn-lt"/>
              </a:rPr>
              <a:t>Constraints</a:t>
            </a:r>
          </a:p>
        </p:txBody>
      </p:sp>
      <p:sp>
        <p:nvSpPr>
          <p:cNvPr id="44" name="Rectangle 14" descr="© INSCALE GmbH, 26.05.2010&#10;http://www.presentationload.com/">
            <a:extLst>
              <a:ext uri="{FF2B5EF4-FFF2-40B4-BE49-F238E27FC236}">
                <a16:creationId xmlns:a16="http://schemas.microsoft.com/office/drawing/2014/main" id="{7359C2C4-6E58-D5C0-729D-CB829436EE81}"/>
              </a:ext>
            </a:extLst>
          </p:cNvPr>
          <p:cNvSpPr>
            <a:spLocks noChangeArrowheads="1"/>
          </p:cNvSpPr>
          <p:nvPr/>
        </p:nvSpPr>
        <p:spPr bwMode="gray">
          <a:xfrm>
            <a:off x="4038584" y="1958717"/>
            <a:ext cx="8096308" cy="981773"/>
          </a:xfrm>
          <a:prstGeom prst="rect">
            <a:avLst/>
          </a:prstGeom>
          <a:noFill/>
          <a:ln w="25400" cap="flat" cmpd="sng" algn="ctr">
            <a:noFill/>
            <a:prstDash val="solid"/>
            <a:headEnd/>
            <a:tailEnd/>
          </a:ln>
          <a:effectLst/>
        </p:spPr>
        <p:txBody>
          <a:bodyPr lIns="108000" tIns="72000" rIns="108000" bIns="72000" anchor="ctr" anchorCtr="0"/>
          <a:lstStyle/>
          <a:p>
            <a:pPr marL="285750" indent="-285750" defTabSz="801688">
              <a:buClr>
                <a:srgbClr val="000000">
                  <a:lumMod val="75000"/>
                  <a:lumOff val="25000"/>
                </a:srgbClr>
              </a:buClr>
              <a:buFont typeface="Wingdings" panose="05000000000000000000" pitchFamily="2" charset="2"/>
              <a:buChar char="§"/>
              <a:defRPr/>
            </a:pPr>
            <a:r>
              <a:rPr lang="en-US" sz="2400" noProof="1"/>
              <a:t>T</a:t>
            </a:r>
            <a:r>
              <a:rPr lang="en-US" sz="2400" noProof="1">
                <a:latin typeface="+mn-lt"/>
              </a:rPr>
              <a:t>opology and node memory</a:t>
            </a:r>
          </a:p>
          <a:p>
            <a:pPr marL="285750" indent="-285750" defTabSz="801688">
              <a:buClr>
                <a:srgbClr val="000000">
                  <a:lumMod val="75000"/>
                  <a:lumOff val="25000"/>
                </a:srgbClr>
              </a:buClr>
              <a:buFont typeface="Wingdings" panose="05000000000000000000" pitchFamily="2" charset="2"/>
              <a:buChar char="§"/>
              <a:defRPr/>
            </a:pPr>
            <a:r>
              <a:rPr lang="en-US" sz="2400" noProof="1">
                <a:latin typeface="+mn-lt"/>
              </a:rPr>
              <a:t>ER requests with required fidelity</a:t>
            </a:r>
          </a:p>
          <a:p>
            <a:pPr marL="285750" indent="-285750" defTabSz="801688">
              <a:buClr>
                <a:srgbClr val="000000">
                  <a:lumMod val="75000"/>
                  <a:lumOff val="25000"/>
                </a:srgbClr>
              </a:buClr>
              <a:buFont typeface="Wingdings" panose="05000000000000000000" pitchFamily="2" charset="2"/>
              <a:buChar char="§"/>
              <a:defRPr/>
            </a:pPr>
            <a:r>
              <a:rPr lang="en-US" sz="2400" b="1" noProof="1">
                <a:solidFill>
                  <a:srgbClr val="FF0000"/>
                </a:solidFill>
              </a:rPr>
              <a:t>D</a:t>
            </a:r>
            <a:r>
              <a:rPr lang="en-US" sz="2400" b="1" noProof="1">
                <a:solidFill>
                  <a:srgbClr val="FF0000"/>
                </a:solidFill>
                <a:latin typeface="+mn-lt"/>
              </a:rPr>
              <a:t>ifferent link configurations</a:t>
            </a:r>
            <a:r>
              <a:rPr lang="en-US" sz="2400" b="1" noProof="1">
                <a:solidFill>
                  <a:srgbClr val="FF0000"/>
                </a:solidFill>
              </a:rPr>
              <a:t> (fidelity/rate combinations)</a:t>
            </a:r>
            <a:endParaRPr lang="en-US" sz="2400" b="1" noProof="1">
              <a:solidFill>
                <a:srgbClr val="FF0000"/>
              </a:solidFill>
              <a:latin typeface="+mn-lt"/>
            </a:endParaRPr>
          </a:p>
          <a:p>
            <a:pPr marL="285750" indent="-285750" defTabSz="801688">
              <a:buClr>
                <a:srgbClr val="000000">
                  <a:lumMod val="75000"/>
                  <a:lumOff val="25000"/>
                </a:srgbClr>
              </a:buClr>
              <a:buFont typeface="Wingdings" panose="05000000000000000000" pitchFamily="2" charset="2"/>
              <a:buChar char="§"/>
              <a:defRPr/>
            </a:pPr>
            <a:r>
              <a:rPr lang="en-GB" sz="2400" noProof="1"/>
              <a:t>Purification table of fidelity and the number of required EPR pair per purification round</a:t>
            </a:r>
            <a:endParaRPr lang="en-US" sz="2400" noProof="1"/>
          </a:p>
          <a:p>
            <a:pPr marL="285750" indent="-285750" defTabSz="801688">
              <a:buClr>
                <a:srgbClr val="000000">
                  <a:lumMod val="75000"/>
                  <a:lumOff val="25000"/>
                </a:srgbClr>
              </a:buClr>
              <a:buFont typeface="Wingdings" panose="05000000000000000000" pitchFamily="2" charset="2"/>
              <a:buChar char="§"/>
              <a:defRPr/>
            </a:pPr>
            <a:endParaRPr lang="en-US" sz="2400" noProof="1">
              <a:latin typeface="+mn-lt"/>
            </a:endParaRPr>
          </a:p>
        </p:txBody>
      </p:sp>
      <p:sp>
        <p:nvSpPr>
          <p:cNvPr id="45" name="Rectangle 14" descr="© INSCALE GmbH, 26.05.2010&#10;http://www.presentationload.com/">
            <a:extLst>
              <a:ext uri="{FF2B5EF4-FFF2-40B4-BE49-F238E27FC236}">
                <a16:creationId xmlns:a16="http://schemas.microsoft.com/office/drawing/2014/main" id="{F2EA4BDE-5A1C-B663-9FAD-7D8197610412}"/>
              </a:ext>
            </a:extLst>
          </p:cNvPr>
          <p:cNvSpPr>
            <a:spLocks noChangeArrowheads="1"/>
          </p:cNvSpPr>
          <p:nvPr/>
        </p:nvSpPr>
        <p:spPr bwMode="gray">
          <a:xfrm>
            <a:off x="4038584" y="3313944"/>
            <a:ext cx="7495689" cy="794135"/>
          </a:xfrm>
          <a:prstGeom prst="rect">
            <a:avLst/>
          </a:prstGeom>
          <a:noFill/>
          <a:ln w="25400" cap="flat" cmpd="sng" algn="ctr">
            <a:noFill/>
            <a:prstDash val="solid"/>
            <a:headEnd/>
            <a:tailEnd/>
          </a:ln>
          <a:effectLst/>
        </p:spPr>
        <p:txBody>
          <a:bodyPr lIns="108000" tIns="72000" rIns="108000" bIns="72000" anchor="ctr" anchorCtr="0"/>
          <a:lstStyle/>
          <a:p>
            <a:pPr marL="285750" indent="-285750" defTabSz="801688">
              <a:buClr>
                <a:srgbClr val="000000">
                  <a:lumMod val="75000"/>
                  <a:lumOff val="25000"/>
                </a:srgbClr>
              </a:buClr>
              <a:buFont typeface="Wingdings" panose="05000000000000000000" pitchFamily="2" charset="2"/>
              <a:buChar char="§"/>
              <a:defRPr/>
            </a:pPr>
            <a:r>
              <a:rPr lang="en-US" sz="2400" b="1" noProof="1">
                <a:solidFill>
                  <a:srgbClr val="FF0000"/>
                </a:solidFill>
                <a:latin typeface="+mn-lt"/>
              </a:rPr>
              <a:t>Link configuration (fidelity, rate) </a:t>
            </a:r>
            <a:r>
              <a:rPr lang="en-US" sz="2400" noProof="1">
                <a:latin typeface="+mn-lt"/>
              </a:rPr>
              <a:t>for each link</a:t>
            </a:r>
          </a:p>
          <a:p>
            <a:pPr marL="285750" indent="-285750" defTabSz="801688">
              <a:buClr>
                <a:srgbClr val="000000">
                  <a:lumMod val="75000"/>
                  <a:lumOff val="25000"/>
                </a:srgbClr>
              </a:buClr>
              <a:buFont typeface="Wingdings" panose="05000000000000000000" pitchFamily="2" charset="2"/>
              <a:buChar char="§"/>
              <a:defRPr/>
            </a:pPr>
            <a:r>
              <a:rPr lang="en-US" sz="2400" noProof="1"/>
              <a:t>Routing and </a:t>
            </a:r>
            <a:r>
              <a:rPr lang="en-US" sz="2400" b="1" noProof="1">
                <a:solidFill>
                  <a:srgbClr val="FF0000"/>
                </a:solidFill>
              </a:rPr>
              <a:t>purification</a:t>
            </a:r>
            <a:r>
              <a:rPr lang="en-US" sz="2400" noProof="1"/>
              <a:t> in each edge for each request</a:t>
            </a:r>
          </a:p>
        </p:txBody>
      </p:sp>
      <p:sp>
        <p:nvSpPr>
          <p:cNvPr id="46" name="Rectangle 14" descr="© INSCALE GmbH, 26.05.2010&#10;http://www.presentationload.com/">
            <a:extLst>
              <a:ext uri="{FF2B5EF4-FFF2-40B4-BE49-F238E27FC236}">
                <a16:creationId xmlns:a16="http://schemas.microsoft.com/office/drawing/2014/main" id="{38034AD2-E980-39B5-5E21-A52636537343}"/>
              </a:ext>
            </a:extLst>
          </p:cNvPr>
          <p:cNvSpPr>
            <a:spLocks noChangeArrowheads="1"/>
          </p:cNvSpPr>
          <p:nvPr/>
        </p:nvSpPr>
        <p:spPr bwMode="gray">
          <a:xfrm>
            <a:off x="4038584" y="4396712"/>
            <a:ext cx="5495986" cy="1009327"/>
          </a:xfrm>
          <a:prstGeom prst="rect">
            <a:avLst/>
          </a:prstGeom>
          <a:noFill/>
          <a:ln w="25400" cap="flat" cmpd="sng" algn="ctr">
            <a:noFill/>
            <a:prstDash val="solid"/>
            <a:headEnd/>
            <a:tailEnd/>
          </a:ln>
          <a:effectLst/>
        </p:spPr>
        <p:txBody>
          <a:bodyPr lIns="108000" tIns="72000" rIns="108000" bIns="72000" anchor="ctr" anchorCtr="0"/>
          <a:lstStyle/>
          <a:p>
            <a:pPr marL="285750" indent="-285750" defTabSz="801688">
              <a:buClr>
                <a:srgbClr val="000000">
                  <a:lumMod val="75000"/>
                  <a:lumOff val="25000"/>
                </a:srgbClr>
              </a:buClr>
              <a:buFont typeface="Wingdings" panose="05000000000000000000" pitchFamily="2" charset="2"/>
              <a:buChar char="§"/>
              <a:defRPr/>
            </a:pPr>
            <a:r>
              <a:rPr lang="en-US" sz="2400" noProof="1">
                <a:latin typeface="+mn-lt"/>
              </a:rPr>
              <a:t>Maximize served generation rate</a:t>
            </a:r>
          </a:p>
        </p:txBody>
      </p:sp>
      <p:sp>
        <p:nvSpPr>
          <p:cNvPr id="47" name="Rectangle 14" descr="© INSCALE GmbH, 26.05.2010&#10;http://www.presentationload.com/">
            <a:extLst>
              <a:ext uri="{FF2B5EF4-FFF2-40B4-BE49-F238E27FC236}">
                <a16:creationId xmlns:a16="http://schemas.microsoft.com/office/drawing/2014/main" id="{3F4BA317-CCD7-4542-7D91-94D50949393C}"/>
              </a:ext>
            </a:extLst>
          </p:cNvPr>
          <p:cNvSpPr>
            <a:spLocks noChangeArrowheads="1"/>
          </p:cNvSpPr>
          <p:nvPr/>
        </p:nvSpPr>
        <p:spPr bwMode="gray">
          <a:xfrm>
            <a:off x="4038584" y="5308104"/>
            <a:ext cx="6154761" cy="1013946"/>
          </a:xfrm>
          <a:prstGeom prst="rect">
            <a:avLst/>
          </a:prstGeom>
          <a:noFill/>
          <a:ln w="25400" cap="flat" cmpd="sng" algn="ctr">
            <a:noFill/>
            <a:prstDash val="solid"/>
            <a:headEnd/>
            <a:tailEnd/>
          </a:ln>
          <a:effectLst/>
        </p:spPr>
        <p:txBody>
          <a:bodyPr lIns="108000" tIns="72000" rIns="108000" bIns="72000" anchor="ctr" anchorCtr="0"/>
          <a:lstStyle/>
          <a:p>
            <a:pPr marL="285750" indent="-285750" defTabSz="801688">
              <a:buClr>
                <a:srgbClr val="000000">
                  <a:lumMod val="75000"/>
                  <a:lumOff val="25000"/>
                </a:srgbClr>
              </a:buClr>
              <a:buFont typeface="Wingdings" panose="05000000000000000000" pitchFamily="2" charset="2"/>
              <a:buChar char="§"/>
              <a:defRPr/>
            </a:pPr>
            <a:r>
              <a:rPr lang="en-US" sz="2400" noProof="1"/>
              <a:t>Fidelity constraint</a:t>
            </a:r>
          </a:p>
          <a:p>
            <a:pPr marL="285750" indent="-285750" defTabSz="801688">
              <a:buClr>
                <a:srgbClr val="000000">
                  <a:lumMod val="75000"/>
                  <a:lumOff val="25000"/>
                </a:srgbClr>
              </a:buClr>
              <a:buFont typeface="Wingdings" panose="05000000000000000000" pitchFamily="2" charset="2"/>
              <a:buChar char="§"/>
              <a:defRPr/>
            </a:pPr>
            <a:r>
              <a:rPr lang="en-US" sz="2400" noProof="1"/>
              <a:t>Capacity constraints of nodes and links</a:t>
            </a:r>
          </a:p>
        </p:txBody>
      </p:sp>
    </p:spTree>
    <p:extLst>
      <p:ext uri="{BB962C8B-B14F-4D97-AF65-F5344CB8AC3E}">
        <p14:creationId xmlns:p14="http://schemas.microsoft.com/office/powerpoint/2010/main" val="390701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40"/>
                                        </p:tgtEl>
                                        <p:attrNameLst>
                                          <p:attrName>style.fontWeight</p:attrName>
                                        </p:attrNameLst>
                                      </p:cBhvr>
                                      <p:to>
                                        <p:strVal val="bold"/>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5" presetClass="emph" presetSubtype="0" grpId="0" nodeType="clickEffect">
                                  <p:stCondLst>
                                    <p:cond delay="0"/>
                                  </p:stCondLst>
                                  <p:iterate type="lt">
                                    <p:tmAbs val="25"/>
                                  </p:iterate>
                                  <p:childTnLst>
                                    <p:set>
                                      <p:cBhvr override="childStyle">
                                        <p:cTn id="12" dur="indefinite"/>
                                        <p:tgtEl>
                                          <p:spTgt spid="41"/>
                                        </p:tgtEl>
                                        <p:attrNameLst>
                                          <p:attrName>style.fontWeight</p:attrName>
                                        </p:attrNameLst>
                                      </p:cBhvr>
                                      <p:to>
                                        <p:strVal val="bold"/>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5" presetClass="emph" presetSubtype="0" grpId="0" nodeType="clickEffect">
                                  <p:stCondLst>
                                    <p:cond delay="0"/>
                                  </p:stCondLst>
                                  <p:iterate type="lt">
                                    <p:tmAbs val="25"/>
                                  </p:iterate>
                                  <p:childTnLst>
                                    <p:set>
                                      <p:cBhvr override="childStyle">
                                        <p:cTn id="18" dur="indefinite"/>
                                        <p:tgtEl>
                                          <p:spTgt spid="42"/>
                                        </p:tgtEl>
                                        <p:attrNameLst>
                                          <p:attrName>style.fontWeight</p:attrName>
                                        </p:attrNameLst>
                                      </p:cBhvr>
                                      <p:to>
                                        <p:strVal val="bold"/>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5" presetClass="emph" presetSubtype="0" grpId="0" nodeType="clickEffect">
                                  <p:stCondLst>
                                    <p:cond delay="0"/>
                                  </p:stCondLst>
                                  <p:iterate type="lt">
                                    <p:tmAbs val="25"/>
                                  </p:iterate>
                                  <p:childTnLst>
                                    <p:set>
                                      <p:cBhvr override="childStyle">
                                        <p:cTn id="24" dur="indefinite"/>
                                        <p:tgtEl>
                                          <p:spTgt spid="43"/>
                                        </p:tgtEl>
                                        <p:attrNameLst>
                                          <p:attrName>style.fontWeight</p:attrName>
                                        </p:attrNameLst>
                                      </p:cBhvr>
                                      <p:to>
                                        <p:strVal val="bold"/>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1083290" cy="4711459"/>
          </a:xfrm>
        </p:spPr>
        <p:txBody>
          <a:bodyPr/>
          <a:lstStyle/>
          <a:p>
            <a:pPr>
              <a:buFont typeface="Wingdings" pitchFamily="2" charset="2"/>
              <a:buChar char="§"/>
            </a:pPr>
            <a:r>
              <a:rPr lang="en-US" sz="2800" dirty="0"/>
              <a:t>Introduction and Motivation</a:t>
            </a:r>
          </a:p>
          <a:p>
            <a:pPr lvl="4">
              <a:buFont typeface="Wingdings" pitchFamily="2" charset="2"/>
              <a:buChar char="§"/>
            </a:pPr>
            <a:endParaRPr lang="en-IT" dirty="0"/>
          </a:p>
          <a:p>
            <a:pPr>
              <a:buFont typeface="Wingdings" pitchFamily="2" charset="2"/>
              <a:buChar char="§"/>
            </a:pPr>
            <a:r>
              <a:rPr lang="en-US" altLang="zh-CN" sz="2800" dirty="0"/>
              <a:t>System Model and Problem Statement</a:t>
            </a:r>
          </a:p>
          <a:p>
            <a:pPr lvl="1">
              <a:buFont typeface="Wingdings" pitchFamily="2" charset="2"/>
              <a:buChar char="§"/>
            </a:pPr>
            <a:r>
              <a:rPr lang="en-GB" sz="2600" dirty="0"/>
              <a:t>Technical Preliminaries on Quantum Networks</a:t>
            </a:r>
          </a:p>
          <a:p>
            <a:pPr lvl="1">
              <a:buFont typeface="Wingdings" pitchFamily="2" charset="2"/>
              <a:buChar char="§"/>
            </a:pPr>
            <a:r>
              <a:rPr lang="en-GB" sz="2600"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b="1" dirty="0"/>
              <a:t>Integer Linear Programming Model and Link Configuration Algorithm</a:t>
            </a:r>
          </a:p>
          <a:p>
            <a:pPr marL="1828800" lvl="4" indent="0">
              <a:buNone/>
            </a:pPr>
            <a:endParaRPr lang="en-IT" sz="1600" dirty="0"/>
          </a:p>
          <a:p>
            <a:pPr>
              <a:buFont typeface="Wingdings" pitchFamily="2" charset="2"/>
              <a:buChar char="§"/>
            </a:pPr>
            <a:r>
              <a:rPr lang="en-GB" sz="2800" dirty="0"/>
              <a:t>Numerical Results</a:t>
            </a:r>
          </a:p>
          <a:p>
            <a:pPr lvl="4">
              <a:buFont typeface="Wingdings" pitchFamily="2" charset="2"/>
              <a:buChar char="§"/>
            </a:pPr>
            <a:endParaRPr lang="en-GB" sz="1600" dirty="0"/>
          </a:p>
          <a:p>
            <a:pPr>
              <a:buFont typeface="Wingdings" pitchFamily="2" charset="2"/>
              <a:buChar char="§"/>
            </a:pPr>
            <a:r>
              <a:rPr lang="en-GB" sz="2800" dirty="0"/>
              <a:t>Conclusion</a:t>
            </a:r>
            <a:endParaRPr lang="en-IT" sz="2800"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6561483"/>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42AA-08ED-4F3C-5DBE-9B83D5FD8F0F}"/>
              </a:ext>
            </a:extLst>
          </p:cNvPr>
          <p:cNvSpPr>
            <a:spLocks noGrp="1"/>
          </p:cNvSpPr>
          <p:nvPr>
            <p:ph type="title"/>
          </p:nvPr>
        </p:nvSpPr>
        <p:spPr/>
        <p:txBody>
          <a:bodyPr/>
          <a:lstStyle/>
          <a:p>
            <a:r>
              <a:rPr lang="en-US" dirty="0"/>
              <a:t>Mixed Integer Linear Programming (ILP) Model</a:t>
            </a:r>
          </a:p>
        </p:txBody>
      </p:sp>
      <p:sp>
        <p:nvSpPr>
          <p:cNvPr id="7" name="Footer Placeholder 6">
            <a:extLst>
              <a:ext uri="{FF2B5EF4-FFF2-40B4-BE49-F238E27FC236}">
                <a16:creationId xmlns:a16="http://schemas.microsoft.com/office/drawing/2014/main" id="{CBDFB899-75F6-FE89-4691-F078DD627941}"/>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8" name="Slide Number Placeholder 7">
            <a:extLst>
              <a:ext uri="{FF2B5EF4-FFF2-40B4-BE49-F238E27FC236}">
                <a16:creationId xmlns:a16="http://schemas.microsoft.com/office/drawing/2014/main" id="{53F68760-C1AC-05DB-B6AB-D578EF2BB9D4}"/>
              </a:ext>
            </a:extLst>
          </p:cNvPr>
          <p:cNvSpPr>
            <a:spLocks noGrp="1"/>
          </p:cNvSpPr>
          <p:nvPr>
            <p:ph type="sldNum" sz="quarter" idx="12"/>
          </p:nvPr>
        </p:nvSpPr>
        <p:spPr/>
        <p:txBody>
          <a:bodyPr/>
          <a:lstStyle/>
          <a:p>
            <a:fld id="{5AFE0081-1ED4-41E0-88AB-D26DBE160EA6}" type="slidenum">
              <a:rPr lang="en-US" smtClean="0"/>
              <a:t>17</a:t>
            </a:fld>
            <a:endParaRPr lang="en-US"/>
          </a:p>
        </p:txBody>
      </p:sp>
      <p:sp>
        <p:nvSpPr>
          <p:cNvPr id="10" name="Content Placeholder 2">
            <a:extLst>
              <a:ext uri="{FF2B5EF4-FFF2-40B4-BE49-F238E27FC236}">
                <a16:creationId xmlns:a16="http://schemas.microsoft.com/office/drawing/2014/main" id="{3018CF11-776B-3BF0-FA58-37EADB5349CD}"/>
              </a:ext>
            </a:extLst>
          </p:cNvPr>
          <p:cNvSpPr txBox="1">
            <a:spLocks/>
          </p:cNvSpPr>
          <p:nvPr/>
        </p:nvSpPr>
        <p:spPr>
          <a:xfrm>
            <a:off x="726588" y="1723708"/>
            <a:ext cx="10515600" cy="46326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dirty="0"/>
              <a:t>Objective function of ILP: </a:t>
            </a:r>
          </a:p>
          <a:p>
            <a:pPr lvl="1"/>
            <a:r>
              <a:rPr lang="en-GB" sz="2800" dirty="0">
                <a:solidFill>
                  <a:srgbClr val="FF0000"/>
                </a:solidFill>
              </a:rPr>
              <a:t>Maximize served generation rate</a:t>
            </a:r>
          </a:p>
          <a:p>
            <a:pPr lvl="1"/>
            <a:endParaRPr lang="en-GB" sz="2800" dirty="0">
              <a:solidFill>
                <a:srgbClr val="FF0000"/>
              </a:solidFill>
            </a:endParaRPr>
          </a:p>
          <a:p>
            <a:r>
              <a:rPr lang="en-GB" sz="3200" dirty="0"/>
              <a:t>Constraints: </a:t>
            </a:r>
          </a:p>
          <a:p>
            <a:pPr lvl="1"/>
            <a:r>
              <a:rPr lang="en-GB" sz="2800" dirty="0">
                <a:solidFill>
                  <a:srgbClr val="FF0000"/>
                </a:solidFill>
              </a:rPr>
              <a:t>Link configuration </a:t>
            </a:r>
            <a:r>
              <a:rPr lang="en-GB" sz="2800" dirty="0">
                <a:solidFill>
                  <a:srgbClr val="FF0000"/>
                </a:solidFill>
                <a:sym typeface="Wingdings" panose="05000000000000000000" pitchFamily="2" charset="2"/>
              </a:rPr>
              <a:t> choose among a set of configurations</a:t>
            </a:r>
            <a:endParaRPr lang="en-GB" sz="2800" dirty="0">
              <a:solidFill>
                <a:srgbClr val="FF0000"/>
              </a:solidFill>
            </a:endParaRPr>
          </a:p>
          <a:p>
            <a:pPr lvl="1"/>
            <a:r>
              <a:rPr lang="en-GB" sz="2800" dirty="0"/>
              <a:t>Route formulation for swapping to generate entanglements</a:t>
            </a:r>
          </a:p>
          <a:p>
            <a:pPr lvl="1"/>
            <a:r>
              <a:rPr lang="en-GB" sz="2800" dirty="0"/>
              <a:t>Fidelity constraints </a:t>
            </a:r>
            <a:r>
              <a:rPr lang="en-GB" sz="2800" dirty="0">
                <a:sym typeface="Wingdings" panose="05000000000000000000" pitchFamily="2" charset="2"/>
              </a:rPr>
              <a:t> purification decision</a:t>
            </a:r>
            <a:endParaRPr lang="en-GB" sz="2800" dirty="0"/>
          </a:p>
          <a:p>
            <a:pPr lvl="1"/>
            <a:r>
              <a:rPr lang="en-GB" sz="2800" dirty="0"/>
              <a:t>Link capacity constraints</a:t>
            </a:r>
          </a:p>
          <a:p>
            <a:pPr lvl="1"/>
            <a:r>
              <a:rPr lang="en-GB" sz="2800" dirty="0"/>
              <a:t>Quantum memory constraints</a:t>
            </a:r>
            <a:endParaRPr lang="en-GB" sz="3200" dirty="0"/>
          </a:p>
          <a:p>
            <a:endParaRPr lang="en-GB" sz="3200" dirty="0"/>
          </a:p>
          <a:p>
            <a:endParaRPr lang="en-GB" sz="3200" dirty="0"/>
          </a:p>
          <a:p>
            <a:pPr lvl="1"/>
            <a:endParaRPr lang="en-GB" sz="2800" dirty="0"/>
          </a:p>
        </p:txBody>
      </p:sp>
      <p:sp>
        <p:nvSpPr>
          <p:cNvPr id="5" name="Right Brace 4">
            <a:extLst>
              <a:ext uri="{FF2B5EF4-FFF2-40B4-BE49-F238E27FC236}">
                <a16:creationId xmlns:a16="http://schemas.microsoft.com/office/drawing/2014/main" id="{B2891619-2040-97FE-0EF9-8145E56ECE37}"/>
              </a:ext>
            </a:extLst>
          </p:cNvPr>
          <p:cNvSpPr/>
          <p:nvPr/>
        </p:nvSpPr>
        <p:spPr>
          <a:xfrm>
            <a:off x="10045430" y="3892178"/>
            <a:ext cx="457360" cy="1078656"/>
          </a:xfrm>
          <a:prstGeom prst="rightBrace">
            <a:avLst>
              <a:gd name="adj1" fmla="val 8333"/>
              <a:gd name="adj2" fmla="val 48582"/>
            </a:avLst>
          </a:prstGeom>
          <a:ln w="412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 name="Right Brace 5">
            <a:extLst>
              <a:ext uri="{FF2B5EF4-FFF2-40B4-BE49-F238E27FC236}">
                <a16:creationId xmlns:a16="http://schemas.microsoft.com/office/drawing/2014/main" id="{BBAB28DE-A5AF-D1BB-0B8D-81F1B5407B7D}"/>
              </a:ext>
            </a:extLst>
          </p:cNvPr>
          <p:cNvSpPr/>
          <p:nvPr/>
        </p:nvSpPr>
        <p:spPr>
          <a:xfrm>
            <a:off x="10045430" y="5124263"/>
            <a:ext cx="457360" cy="696366"/>
          </a:xfrm>
          <a:prstGeom prst="rightBrace">
            <a:avLst>
              <a:gd name="adj1" fmla="val 8333"/>
              <a:gd name="adj2" fmla="val 48582"/>
            </a:avLst>
          </a:prstGeom>
          <a:ln w="412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TextBox 10">
            <a:extLst>
              <a:ext uri="{FF2B5EF4-FFF2-40B4-BE49-F238E27FC236}">
                <a16:creationId xmlns:a16="http://schemas.microsoft.com/office/drawing/2014/main" id="{2A8B6F7D-AED1-D3C7-7154-7AC4BA12BE27}"/>
              </a:ext>
            </a:extLst>
          </p:cNvPr>
          <p:cNvSpPr txBox="1"/>
          <p:nvPr/>
        </p:nvSpPr>
        <p:spPr>
          <a:xfrm>
            <a:off x="10419154" y="4148464"/>
            <a:ext cx="1646068" cy="523220"/>
          </a:xfrm>
          <a:prstGeom prst="rect">
            <a:avLst/>
          </a:prstGeom>
          <a:noFill/>
        </p:spPr>
        <p:txBody>
          <a:bodyPr wrap="square">
            <a:spAutoFit/>
          </a:bodyPr>
          <a:lstStyle/>
          <a:p>
            <a:r>
              <a:rPr lang="en-GB" sz="2800" dirty="0">
                <a:solidFill>
                  <a:srgbClr val="FF0000"/>
                </a:solidFill>
              </a:rPr>
              <a:t>Find path</a:t>
            </a:r>
            <a:endParaRPr lang="en-US" sz="2400" dirty="0">
              <a:solidFill>
                <a:srgbClr val="FF0000"/>
              </a:solidFill>
            </a:endParaRPr>
          </a:p>
        </p:txBody>
      </p:sp>
      <p:sp>
        <p:nvSpPr>
          <p:cNvPr id="13" name="TextBox 12">
            <a:extLst>
              <a:ext uri="{FF2B5EF4-FFF2-40B4-BE49-F238E27FC236}">
                <a16:creationId xmlns:a16="http://schemas.microsoft.com/office/drawing/2014/main" id="{41A2CF28-64FB-A262-2779-8D8819A468CA}"/>
              </a:ext>
            </a:extLst>
          </p:cNvPr>
          <p:cNvSpPr txBox="1"/>
          <p:nvPr/>
        </p:nvSpPr>
        <p:spPr>
          <a:xfrm>
            <a:off x="10391392" y="4945794"/>
            <a:ext cx="1955148" cy="954107"/>
          </a:xfrm>
          <a:prstGeom prst="rect">
            <a:avLst/>
          </a:prstGeom>
          <a:noFill/>
        </p:spPr>
        <p:txBody>
          <a:bodyPr wrap="square">
            <a:spAutoFit/>
          </a:bodyPr>
          <a:lstStyle/>
          <a:p>
            <a:r>
              <a:rPr lang="en-GB" sz="2800" dirty="0">
                <a:solidFill>
                  <a:srgbClr val="FF0000"/>
                </a:solidFill>
              </a:rPr>
              <a:t>Capacity</a:t>
            </a:r>
          </a:p>
          <a:p>
            <a:r>
              <a:rPr lang="en-GB" sz="2800" dirty="0">
                <a:solidFill>
                  <a:srgbClr val="FF0000"/>
                </a:solidFill>
              </a:rPr>
              <a:t>constraints</a:t>
            </a:r>
            <a:endParaRPr lang="en-US" sz="2400" dirty="0">
              <a:solidFill>
                <a:srgbClr val="FF0000"/>
              </a:solidFill>
            </a:endParaRPr>
          </a:p>
        </p:txBody>
      </p:sp>
    </p:spTree>
    <p:extLst>
      <p:ext uri="{BB962C8B-B14F-4D97-AF65-F5344CB8AC3E}">
        <p14:creationId xmlns:p14="http://schemas.microsoft.com/office/powerpoint/2010/main" val="2284782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7D303-AAD6-4761-65B1-68F9C8A35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12735-7E13-0FFD-4234-8BA3B77F7891}"/>
              </a:ext>
            </a:extLst>
          </p:cNvPr>
          <p:cNvSpPr>
            <a:spLocks noGrp="1"/>
          </p:cNvSpPr>
          <p:nvPr>
            <p:ph type="title"/>
          </p:nvPr>
        </p:nvSpPr>
        <p:spPr/>
        <p:txBody>
          <a:bodyPr/>
          <a:lstStyle/>
          <a:p>
            <a:r>
              <a:rPr lang="en-US" dirty="0"/>
              <a:t>Generalized Procedure of Link Configuration</a:t>
            </a:r>
          </a:p>
        </p:txBody>
      </p:sp>
      <p:sp>
        <p:nvSpPr>
          <p:cNvPr id="3" name="Footer Placeholder 2">
            <a:extLst>
              <a:ext uri="{FF2B5EF4-FFF2-40B4-BE49-F238E27FC236}">
                <a16:creationId xmlns:a16="http://schemas.microsoft.com/office/drawing/2014/main" id="{4C0E3A50-63EA-D1B1-A1E6-B9D8CF65A9A5}"/>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4FD8B184-9A24-7DBA-967D-3DEA2EF2460B}"/>
              </a:ext>
            </a:extLst>
          </p:cNvPr>
          <p:cNvSpPr>
            <a:spLocks noGrp="1"/>
          </p:cNvSpPr>
          <p:nvPr>
            <p:ph type="sldNum" sz="quarter" idx="12"/>
          </p:nvPr>
        </p:nvSpPr>
        <p:spPr/>
        <p:txBody>
          <a:bodyPr/>
          <a:lstStyle/>
          <a:p>
            <a:fld id="{5AFE0081-1ED4-41E0-88AB-D26DBE160EA6}" type="slidenum">
              <a:rPr lang="en-US" smtClean="0"/>
              <a:t>18</a:t>
            </a:fld>
            <a:endParaRPr lang="en-US"/>
          </a:p>
        </p:txBody>
      </p:sp>
      <p:sp>
        <p:nvSpPr>
          <p:cNvPr id="22" name="Rectangle 21">
            <a:extLst>
              <a:ext uri="{FF2B5EF4-FFF2-40B4-BE49-F238E27FC236}">
                <a16:creationId xmlns:a16="http://schemas.microsoft.com/office/drawing/2014/main" id="{7EAEDD4F-E233-9B40-2054-702FC002B285}"/>
              </a:ext>
            </a:extLst>
          </p:cNvPr>
          <p:cNvSpPr/>
          <p:nvPr/>
        </p:nvSpPr>
        <p:spPr>
          <a:xfrm>
            <a:off x="7917896" y="1709123"/>
            <a:ext cx="1502965" cy="685800"/>
          </a:xfrm>
          <a:prstGeom prst="rect">
            <a:avLst/>
          </a:prstGeom>
          <a:solidFill>
            <a:srgbClr val="D6E8D5"/>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cs typeface="Times New Roman" panose="02020603050405020304" pitchFamily="18" charset="0"/>
              </a:rPr>
              <a:t>Entanglement</a:t>
            </a:r>
          </a:p>
          <a:p>
            <a:pPr algn="ctr"/>
            <a:r>
              <a:rPr lang="en-US" altLang="zh-CN" dirty="0">
                <a:cs typeface="Times New Roman" panose="02020603050405020304" pitchFamily="18" charset="0"/>
              </a:rPr>
              <a:t>routing </a:t>
            </a:r>
            <a:endParaRPr lang="en-US" dirty="0">
              <a:solidFill>
                <a:srgbClr val="C00000"/>
              </a:solidFill>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22B4CE93-F324-D6CF-7DBC-20FB232B3A61}"/>
              </a:ext>
            </a:extLst>
          </p:cNvPr>
          <p:cNvCxnSpPr>
            <a:cxnSpLocks/>
            <a:stCxn id="36" idx="1"/>
            <a:endCxn id="22" idx="1"/>
          </p:cNvCxnSpPr>
          <p:nvPr/>
        </p:nvCxnSpPr>
        <p:spPr>
          <a:xfrm>
            <a:off x="6482850" y="2049362"/>
            <a:ext cx="1435046" cy="2661"/>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9B98-6E4D-A235-42BE-80D086067B83}"/>
              </a:ext>
            </a:extLst>
          </p:cNvPr>
          <p:cNvCxnSpPr>
            <a:cxnSpLocks/>
            <a:stCxn id="35" idx="3"/>
            <a:endCxn id="39" idx="1"/>
          </p:cNvCxnSpPr>
          <p:nvPr/>
        </p:nvCxnSpPr>
        <p:spPr>
          <a:xfrm>
            <a:off x="3325019" y="2073287"/>
            <a:ext cx="1924991"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58DF3D4-306B-7CF1-C8B3-99929444F8C3}"/>
              </a:ext>
            </a:extLst>
          </p:cNvPr>
          <p:cNvCxnSpPr>
            <a:cxnSpLocks/>
            <a:stCxn id="22" idx="3"/>
          </p:cNvCxnSpPr>
          <p:nvPr/>
        </p:nvCxnSpPr>
        <p:spPr>
          <a:xfrm>
            <a:off x="9420861" y="2052023"/>
            <a:ext cx="906494"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32D27A-D44D-6512-B062-D51A8F7552D1}"/>
              </a:ext>
            </a:extLst>
          </p:cNvPr>
          <p:cNvCxnSpPr>
            <a:cxnSpLocks/>
          </p:cNvCxnSpPr>
          <p:nvPr/>
        </p:nvCxnSpPr>
        <p:spPr>
          <a:xfrm>
            <a:off x="9546306" y="2073288"/>
            <a:ext cx="0" cy="78286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8FE5C6D-EAC3-1A53-4FAC-EDF0592D92A7}"/>
              </a:ext>
            </a:extLst>
          </p:cNvPr>
          <p:cNvCxnSpPr>
            <a:cxnSpLocks/>
          </p:cNvCxnSpPr>
          <p:nvPr/>
        </p:nvCxnSpPr>
        <p:spPr>
          <a:xfrm flipH="1" flipV="1">
            <a:off x="5713124" y="2856156"/>
            <a:ext cx="3833182" cy="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DB2267D-ADE7-6E3D-1D45-4606264FFAA5}"/>
              </a:ext>
            </a:extLst>
          </p:cNvPr>
          <p:cNvCxnSpPr>
            <a:cxnSpLocks/>
          </p:cNvCxnSpPr>
          <p:nvPr/>
        </p:nvCxnSpPr>
        <p:spPr>
          <a:xfrm flipV="1">
            <a:off x="5713124" y="2416188"/>
            <a:ext cx="0" cy="439968"/>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5B14F-0E26-F8FD-75F9-B400DC7DD7D2}"/>
              </a:ext>
            </a:extLst>
          </p:cNvPr>
          <p:cNvSpPr txBox="1"/>
          <p:nvPr/>
        </p:nvSpPr>
        <p:spPr>
          <a:xfrm>
            <a:off x="6355839" y="2487372"/>
            <a:ext cx="2324034" cy="369332"/>
          </a:xfrm>
          <a:prstGeom prst="rect">
            <a:avLst/>
          </a:prstGeom>
          <a:noFill/>
        </p:spPr>
        <p:txBody>
          <a:bodyPr wrap="none" rtlCol="0">
            <a:spAutoFit/>
          </a:bodyPr>
          <a:lstStyle/>
          <a:p>
            <a:r>
              <a:rPr lang="en-US" dirty="0">
                <a:cs typeface="Times New Roman" panose="02020603050405020304" pitchFamily="18" charset="0"/>
              </a:rPr>
              <a:t>Served generation rate</a:t>
            </a:r>
          </a:p>
        </p:txBody>
      </p:sp>
      <p:sp>
        <p:nvSpPr>
          <p:cNvPr id="30" name="TextBox 29">
            <a:extLst>
              <a:ext uri="{FF2B5EF4-FFF2-40B4-BE49-F238E27FC236}">
                <a16:creationId xmlns:a16="http://schemas.microsoft.com/office/drawing/2014/main" id="{09CF677A-4396-8E7F-4D17-DBA520A2CE33}"/>
              </a:ext>
            </a:extLst>
          </p:cNvPr>
          <p:cNvSpPr txBox="1"/>
          <p:nvPr/>
        </p:nvSpPr>
        <p:spPr>
          <a:xfrm>
            <a:off x="10223588" y="1787589"/>
            <a:ext cx="1858266" cy="646331"/>
          </a:xfrm>
          <a:prstGeom prst="rect">
            <a:avLst/>
          </a:prstGeom>
          <a:noFill/>
        </p:spPr>
        <p:txBody>
          <a:bodyPr wrap="none" rtlCol="0">
            <a:spAutoFit/>
          </a:bodyPr>
          <a:lstStyle/>
          <a:p>
            <a:pPr algn="ctr"/>
            <a:r>
              <a:rPr lang="en-US" b="1" dirty="0">
                <a:cs typeface="Times New Roman" panose="02020603050405020304" pitchFamily="18" charset="0"/>
              </a:rPr>
              <a:t>Selected </a:t>
            </a:r>
          </a:p>
          <a:p>
            <a:pPr algn="ctr"/>
            <a:r>
              <a:rPr lang="en-US" b="1" dirty="0">
                <a:cs typeface="Times New Roman" panose="02020603050405020304" pitchFamily="18" charset="0"/>
              </a:rPr>
              <a:t>link configuration</a:t>
            </a:r>
          </a:p>
        </p:txBody>
      </p:sp>
      <p:sp>
        <p:nvSpPr>
          <p:cNvPr id="31" name="Left Brace 30">
            <a:extLst>
              <a:ext uri="{FF2B5EF4-FFF2-40B4-BE49-F238E27FC236}">
                <a16:creationId xmlns:a16="http://schemas.microsoft.com/office/drawing/2014/main" id="{F39602B0-F136-9727-5917-D9DF7AE999C5}"/>
              </a:ext>
            </a:extLst>
          </p:cNvPr>
          <p:cNvSpPr/>
          <p:nvPr/>
        </p:nvSpPr>
        <p:spPr>
          <a:xfrm rot="16200000">
            <a:off x="5510896" y="-841912"/>
            <a:ext cx="386283" cy="8249096"/>
          </a:xfrm>
          <a:prstGeom prst="leftBrac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cs typeface="Times New Roman" panose="02020603050405020304" pitchFamily="18" charset="0"/>
            </a:endParaRPr>
          </a:p>
        </p:txBody>
      </p:sp>
      <p:sp>
        <p:nvSpPr>
          <p:cNvPr id="33" name="TextBox 32">
            <a:extLst>
              <a:ext uri="{FF2B5EF4-FFF2-40B4-BE49-F238E27FC236}">
                <a16:creationId xmlns:a16="http://schemas.microsoft.com/office/drawing/2014/main" id="{1C2ACE83-E775-856D-1967-8D963401F99E}"/>
              </a:ext>
            </a:extLst>
          </p:cNvPr>
          <p:cNvSpPr txBox="1"/>
          <p:nvPr/>
        </p:nvSpPr>
        <p:spPr>
          <a:xfrm>
            <a:off x="3869564" y="3526433"/>
            <a:ext cx="3963081" cy="400110"/>
          </a:xfrm>
          <a:prstGeom prst="rect">
            <a:avLst/>
          </a:prstGeom>
          <a:noFill/>
        </p:spPr>
        <p:txBody>
          <a:bodyPr wrap="square" rtlCol="0">
            <a:spAutoFit/>
          </a:bodyPr>
          <a:lstStyle/>
          <a:p>
            <a:pPr algn="ctr"/>
            <a:r>
              <a:rPr lang="en-US" sz="2000" b="1" dirty="0">
                <a:cs typeface="Times New Roman" panose="02020603050405020304" pitchFamily="18" charset="0"/>
              </a:rPr>
              <a:t>Link</a:t>
            </a:r>
            <a:r>
              <a:rPr lang="en-US" b="1" dirty="0">
                <a:cs typeface="Times New Roman" panose="02020603050405020304" pitchFamily="18" charset="0"/>
              </a:rPr>
              <a:t> </a:t>
            </a:r>
            <a:r>
              <a:rPr lang="en-US" sz="2000" b="1" dirty="0">
                <a:cs typeface="Times New Roman" panose="02020603050405020304" pitchFamily="18" charset="0"/>
              </a:rPr>
              <a:t>configuration</a:t>
            </a:r>
            <a:endParaRPr lang="en-US" b="1" dirty="0">
              <a:cs typeface="Times New Roman" panose="02020603050405020304" pitchFamily="18" charset="0"/>
            </a:endParaRPr>
          </a:p>
        </p:txBody>
      </p:sp>
      <p:sp>
        <p:nvSpPr>
          <p:cNvPr id="35" name="Rectangle 34">
            <a:extLst>
              <a:ext uri="{FF2B5EF4-FFF2-40B4-BE49-F238E27FC236}">
                <a16:creationId xmlns:a16="http://schemas.microsoft.com/office/drawing/2014/main" id="{798713A9-4B9B-3EA1-C47F-68C69EDCAF46}"/>
              </a:ext>
            </a:extLst>
          </p:cNvPr>
          <p:cNvSpPr/>
          <p:nvPr/>
        </p:nvSpPr>
        <p:spPr>
          <a:xfrm>
            <a:off x="2587797" y="1730387"/>
            <a:ext cx="737222" cy="685800"/>
          </a:xfrm>
          <a:prstGeom prst="rect">
            <a:avLst/>
          </a:prstGeom>
          <a:solidFill>
            <a:srgbClr val="FFE7CC"/>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cs typeface="Times New Roman" panose="02020603050405020304" pitchFamily="18" charset="0"/>
              </a:rPr>
              <a:t>SPFD</a:t>
            </a:r>
            <a:endParaRPr lang="en-US" dirty="0">
              <a:solidFill>
                <a:srgbClr val="C00000"/>
              </a:solidFill>
              <a:cs typeface="Times New Roman" panose="02020603050405020304" pitchFamily="18" charset="0"/>
            </a:endParaRPr>
          </a:p>
        </p:txBody>
      </p:sp>
      <p:sp>
        <p:nvSpPr>
          <p:cNvPr id="36" name="TextBox 14">
            <a:extLst>
              <a:ext uri="{FF2B5EF4-FFF2-40B4-BE49-F238E27FC236}">
                <a16:creationId xmlns:a16="http://schemas.microsoft.com/office/drawing/2014/main" id="{42E86FA9-62FD-AF7D-B1E6-CF52E45493E7}"/>
              </a:ext>
            </a:extLst>
          </p:cNvPr>
          <p:cNvSpPr txBox="1"/>
          <p:nvPr/>
        </p:nvSpPr>
        <p:spPr>
          <a:xfrm>
            <a:off x="6482850" y="1726196"/>
            <a:ext cx="1434495" cy="646331"/>
          </a:xfrm>
          <a:prstGeom prst="rect">
            <a:avLst/>
          </a:prstGeom>
          <a:noFill/>
        </p:spPr>
        <p:txBody>
          <a:bodyPr wrap="none" rtlCol="0">
            <a:spAutoFit/>
          </a:bodyPr>
          <a:lstStyle/>
          <a:p>
            <a:pPr algn="ctr"/>
            <a:r>
              <a:rPr lang="en-US" dirty="0">
                <a:cs typeface="Times New Roman" panose="02020603050405020304" pitchFamily="18" charset="0"/>
              </a:rPr>
              <a:t>Fidelity</a:t>
            </a:r>
          </a:p>
          <a:p>
            <a:r>
              <a:rPr lang="en-US" dirty="0">
                <a:cs typeface="Times New Roman" panose="02020603050405020304" pitchFamily="18" charset="0"/>
              </a:rPr>
              <a:t>configuration</a:t>
            </a:r>
          </a:p>
        </p:txBody>
      </p:sp>
      <p:sp>
        <p:nvSpPr>
          <p:cNvPr id="38" name="TextBox 14">
            <a:extLst>
              <a:ext uri="{FF2B5EF4-FFF2-40B4-BE49-F238E27FC236}">
                <a16:creationId xmlns:a16="http://schemas.microsoft.com/office/drawing/2014/main" id="{5500C3F2-A629-6F64-FB2C-F526F02C8F97}"/>
              </a:ext>
            </a:extLst>
          </p:cNvPr>
          <p:cNvSpPr txBox="1"/>
          <p:nvPr/>
        </p:nvSpPr>
        <p:spPr>
          <a:xfrm>
            <a:off x="3471996" y="1730665"/>
            <a:ext cx="1519130" cy="646331"/>
          </a:xfrm>
          <a:prstGeom prst="rect">
            <a:avLst/>
          </a:prstGeom>
          <a:noFill/>
        </p:spPr>
        <p:txBody>
          <a:bodyPr wrap="square" rtlCol="0">
            <a:spAutoFit/>
          </a:bodyPr>
          <a:lstStyle/>
          <a:p>
            <a:pPr algn="ctr"/>
            <a:r>
              <a:rPr lang="en-US" altLang="zh-CN" dirty="0">
                <a:cs typeface="Times New Roman" panose="02020603050405020304" pitchFamily="18" charset="0"/>
              </a:rPr>
              <a:t>Initial </a:t>
            </a:r>
            <a:r>
              <a:rPr lang="en-US" dirty="0">
                <a:cs typeface="Times New Roman" panose="02020603050405020304" pitchFamily="18" charset="0"/>
              </a:rPr>
              <a:t>Fidelity configuration</a:t>
            </a:r>
          </a:p>
        </p:txBody>
      </p:sp>
      <p:sp>
        <p:nvSpPr>
          <p:cNvPr id="39" name="Rectangle 38">
            <a:extLst>
              <a:ext uri="{FF2B5EF4-FFF2-40B4-BE49-F238E27FC236}">
                <a16:creationId xmlns:a16="http://schemas.microsoft.com/office/drawing/2014/main" id="{11EAFE81-6005-7D1A-5FAC-CD0B93945D0D}"/>
              </a:ext>
            </a:extLst>
          </p:cNvPr>
          <p:cNvSpPr/>
          <p:nvPr/>
        </p:nvSpPr>
        <p:spPr>
          <a:xfrm>
            <a:off x="5250010" y="1730387"/>
            <a:ext cx="1195406" cy="685800"/>
          </a:xfrm>
          <a:prstGeom prst="rect">
            <a:avLst/>
          </a:prstGeom>
          <a:solidFill>
            <a:srgbClr val="E2D5E8"/>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Times New Roman" panose="02020603050405020304" pitchFamily="18" charset="0"/>
              </a:rPr>
              <a:t>Bayesian Optimizer</a:t>
            </a:r>
          </a:p>
        </p:txBody>
      </p:sp>
      <p:cxnSp>
        <p:nvCxnSpPr>
          <p:cNvPr id="40" name="Straight Arrow Connector 10">
            <a:extLst>
              <a:ext uri="{FF2B5EF4-FFF2-40B4-BE49-F238E27FC236}">
                <a16:creationId xmlns:a16="http://schemas.microsoft.com/office/drawing/2014/main" id="{17D18E29-495C-661B-127A-248D3AE450F6}"/>
              </a:ext>
            </a:extLst>
          </p:cNvPr>
          <p:cNvCxnSpPr>
            <a:cxnSpLocks/>
          </p:cNvCxnSpPr>
          <p:nvPr/>
        </p:nvCxnSpPr>
        <p:spPr>
          <a:xfrm>
            <a:off x="1569577" y="2103873"/>
            <a:ext cx="999517"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TextBox 14">
            <a:extLst>
              <a:ext uri="{FF2B5EF4-FFF2-40B4-BE49-F238E27FC236}">
                <a16:creationId xmlns:a16="http://schemas.microsoft.com/office/drawing/2014/main" id="{A1EEBDE7-2065-607A-8F07-E430FCE3CA83}"/>
              </a:ext>
            </a:extLst>
          </p:cNvPr>
          <p:cNvSpPr txBox="1"/>
          <p:nvPr/>
        </p:nvSpPr>
        <p:spPr>
          <a:xfrm>
            <a:off x="1520995" y="1780613"/>
            <a:ext cx="1036920" cy="369332"/>
          </a:xfrm>
          <a:prstGeom prst="rect">
            <a:avLst/>
          </a:prstGeom>
          <a:noFill/>
        </p:spPr>
        <p:txBody>
          <a:bodyPr wrap="square" rtlCol="0">
            <a:spAutoFit/>
          </a:bodyPr>
          <a:lstStyle/>
          <a:p>
            <a:r>
              <a:rPr lang="en-US" altLang="zh-CN" dirty="0">
                <a:cs typeface="Times New Roman" panose="02020603050405020304" pitchFamily="18" charset="0"/>
              </a:rPr>
              <a:t>Requests</a:t>
            </a:r>
            <a:endParaRPr lang="en-US" dirty="0">
              <a:cs typeface="Times New Roman" panose="02020603050405020304" pitchFamily="18" charset="0"/>
            </a:endParaRPr>
          </a:p>
        </p:txBody>
      </p:sp>
      <p:sp>
        <p:nvSpPr>
          <p:cNvPr id="5" name="Content Placeholder 2">
            <a:extLst>
              <a:ext uri="{FF2B5EF4-FFF2-40B4-BE49-F238E27FC236}">
                <a16:creationId xmlns:a16="http://schemas.microsoft.com/office/drawing/2014/main" id="{E9E14923-8040-DE91-DD45-DDA747B9FC2E}"/>
              </a:ext>
            </a:extLst>
          </p:cNvPr>
          <p:cNvSpPr txBox="1">
            <a:spLocks/>
          </p:cNvSpPr>
          <p:nvPr/>
        </p:nvSpPr>
        <p:spPr>
          <a:xfrm>
            <a:off x="515389" y="3927627"/>
            <a:ext cx="11105804" cy="2207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Shortest-path-based fidelity determination (</a:t>
            </a:r>
            <a:r>
              <a:rPr lang="en-GB" sz="2800" dirty="0">
                <a:solidFill>
                  <a:srgbClr val="FF0000"/>
                </a:solidFill>
              </a:rPr>
              <a:t>SPFD</a:t>
            </a:r>
            <a:r>
              <a:rPr lang="en-GB" sz="2800" dirty="0"/>
              <a:t>) algorithm</a:t>
            </a:r>
          </a:p>
          <a:p>
            <a:pPr lvl="1"/>
            <a:r>
              <a:rPr lang="en-GB" sz="2800" dirty="0"/>
              <a:t>All requests are served along shortest path</a:t>
            </a:r>
            <a:endParaRPr lang="en-GB" sz="2600" dirty="0"/>
          </a:p>
          <a:p>
            <a:pPr lvl="1"/>
            <a:r>
              <a:rPr lang="en-GB" sz="2800" dirty="0"/>
              <a:t>For each link, greedily decide link configuration</a:t>
            </a:r>
          </a:p>
          <a:p>
            <a:r>
              <a:rPr lang="en-GB" sz="2800" dirty="0"/>
              <a:t>Bayesian optimization (</a:t>
            </a:r>
            <a:r>
              <a:rPr lang="en-GB" sz="2800" dirty="0">
                <a:solidFill>
                  <a:srgbClr val="FF0000"/>
                </a:solidFill>
              </a:rPr>
              <a:t>BO</a:t>
            </a:r>
            <a:r>
              <a:rPr lang="en-GB" sz="2800" dirty="0"/>
              <a:t>): to further improve link configuration decision</a:t>
            </a:r>
          </a:p>
          <a:p>
            <a:pPr lvl="1"/>
            <a:endParaRPr lang="en-GB" sz="2800" dirty="0"/>
          </a:p>
        </p:txBody>
      </p:sp>
      <p:sp>
        <p:nvSpPr>
          <p:cNvPr id="6" name="Rectangle: Rounded Corners 5">
            <a:extLst>
              <a:ext uri="{FF2B5EF4-FFF2-40B4-BE49-F238E27FC236}">
                <a16:creationId xmlns:a16="http://schemas.microsoft.com/office/drawing/2014/main" id="{6B7AE08A-B765-784A-8325-CB9E4BF9CA7F}"/>
              </a:ext>
            </a:extLst>
          </p:cNvPr>
          <p:cNvSpPr/>
          <p:nvPr/>
        </p:nvSpPr>
        <p:spPr>
          <a:xfrm>
            <a:off x="1392865" y="1499191"/>
            <a:ext cx="1985602" cy="1158301"/>
          </a:xfrm>
          <a:prstGeom prst="round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CEDDE85C-4B56-77BA-B996-DF72618DF070}"/>
              </a:ext>
            </a:extLst>
          </p:cNvPr>
          <p:cNvSpPr/>
          <p:nvPr/>
        </p:nvSpPr>
        <p:spPr>
          <a:xfrm>
            <a:off x="4987904" y="1537927"/>
            <a:ext cx="4801555" cy="1588045"/>
          </a:xfrm>
          <a:prstGeom prst="round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1625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1083290" cy="4711459"/>
          </a:xfrm>
        </p:spPr>
        <p:txBody>
          <a:bodyPr/>
          <a:lstStyle/>
          <a:p>
            <a:pPr>
              <a:buFont typeface="Wingdings" pitchFamily="2" charset="2"/>
              <a:buChar char="§"/>
            </a:pPr>
            <a:r>
              <a:rPr lang="en-US" sz="2800" dirty="0"/>
              <a:t>Introduction and Motivation</a:t>
            </a:r>
          </a:p>
          <a:p>
            <a:pPr lvl="4">
              <a:buFont typeface="Wingdings" pitchFamily="2" charset="2"/>
              <a:buChar char="§"/>
            </a:pPr>
            <a:endParaRPr lang="en-IT" dirty="0"/>
          </a:p>
          <a:p>
            <a:pPr>
              <a:buFont typeface="Wingdings" pitchFamily="2" charset="2"/>
              <a:buChar char="§"/>
            </a:pPr>
            <a:r>
              <a:rPr lang="en-US" altLang="zh-CN" sz="2800" dirty="0"/>
              <a:t>System Model and Problem Statement</a:t>
            </a:r>
          </a:p>
          <a:p>
            <a:pPr lvl="1">
              <a:buFont typeface="Wingdings" pitchFamily="2" charset="2"/>
              <a:buChar char="§"/>
            </a:pPr>
            <a:r>
              <a:rPr lang="en-GB" sz="2600" dirty="0"/>
              <a:t>Technical Preliminaries on Quantum Networks</a:t>
            </a:r>
          </a:p>
          <a:p>
            <a:pPr lvl="1">
              <a:buFont typeface="Wingdings" pitchFamily="2" charset="2"/>
              <a:buChar char="§"/>
            </a:pPr>
            <a:r>
              <a:rPr lang="en-GB" sz="2600"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dirty="0"/>
              <a:t>Integer Linear Programming Model and Link Configuration Algorithm</a:t>
            </a:r>
          </a:p>
          <a:p>
            <a:pPr marL="1828800" lvl="4" indent="0">
              <a:buNone/>
            </a:pPr>
            <a:endParaRPr lang="en-IT" sz="1600" dirty="0"/>
          </a:p>
          <a:p>
            <a:pPr>
              <a:buFont typeface="Wingdings" pitchFamily="2" charset="2"/>
              <a:buChar char="§"/>
            </a:pPr>
            <a:r>
              <a:rPr lang="en-GB" sz="2800" b="1" dirty="0"/>
              <a:t>Numerical Results</a:t>
            </a:r>
          </a:p>
          <a:p>
            <a:pPr lvl="4">
              <a:buFont typeface="Wingdings" pitchFamily="2" charset="2"/>
              <a:buChar char="§"/>
            </a:pPr>
            <a:endParaRPr lang="en-GB" sz="1600" dirty="0"/>
          </a:p>
          <a:p>
            <a:pPr>
              <a:buFont typeface="Wingdings" pitchFamily="2" charset="2"/>
              <a:buChar char="§"/>
            </a:pPr>
            <a:r>
              <a:rPr lang="en-GB" sz="2800" dirty="0"/>
              <a:t>Conclusion</a:t>
            </a:r>
            <a:endParaRPr lang="en-IT" sz="2800"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0910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BAE9-FC6C-4754-9CCF-DFD43EA5D38D}"/>
              </a:ext>
            </a:extLst>
          </p:cNvPr>
          <p:cNvSpPr>
            <a:spLocks noGrp="1"/>
          </p:cNvSpPr>
          <p:nvPr>
            <p:ph type="title"/>
          </p:nvPr>
        </p:nvSpPr>
        <p:spPr/>
        <p:txBody>
          <a:bodyPr/>
          <a:lstStyle/>
          <a:p>
            <a:r>
              <a:rPr lang="en-US" dirty="0"/>
              <a:t>Simulation Settings</a:t>
            </a:r>
          </a:p>
        </p:txBody>
      </p:sp>
      <p:sp>
        <p:nvSpPr>
          <p:cNvPr id="3" name="Footer Placeholder 2">
            <a:extLst>
              <a:ext uri="{FF2B5EF4-FFF2-40B4-BE49-F238E27FC236}">
                <a16:creationId xmlns:a16="http://schemas.microsoft.com/office/drawing/2014/main" id="{11805B5E-0BD4-0143-0086-4B8EA637F3DE}"/>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3374E6C6-6122-E9EF-9E78-9E1104E2BD13}"/>
              </a:ext>
            </a:extLst>
          </p:cNvPr>
          <p:cNvSpPr>
            <a:spLocks noGrp="1"/>
          </p:cNvSpPr>
          <p:nvPr>
            <p:ph type="sldNum" sz="quarter" idx="12"/>
          </p:nvPr>
        </p:nvSpPr>
        <p:spPr/>
        <p:txBody>
          <a:bodyPr/>
          <a:lstStyle/>
          <a:p>
            <a:fld id="{5AFE0081-1ED4-41E0-88AB-D26DBE160EA6}" type="slidenum">
              <a:rPr lang="en-US" smtClean="0"/>
              <a:t>20</a:t>
            </a:fld>
            <a:endParaRPr lang="en-US"/>
          </a:p>
        </p:txBody>
      </p:sp>
      <p:sp>
        <p:nvSpPr>
          <p:cNvPr id="5" name="Content Placeholder 2">
            <a:extLst>
              <a:ext uri="{FF2B5EF4-FFF2-40B4-BE49-F238E27FC236}">
                <a16:creationId xmlns:a16="http://schemas.microsoft.com/office/drawing/2014/main" id="{2CAAD708-31BC-7C20-D43A-17A5CCF6A79B}"/>
              </a:ext>
            </a:extLst>
          </p:cNvPr>
          <p:cNvSpPr txBox="1">
            <a:spLocks/>
          </p:cNvSpPr>
          <p:nvPr/>
        </p:nvSpPr>
        <p:spPr>
          <a:xfrm>
            <a:off x="768402" y="1560594"/>
            <a:ext cx="11501751" cy="13255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Two topologies</a:t>
            </a:r>
          </a:p>
          <a:p>
            <a:pPr lvl="1"/>
            <a:r>
              <a:rPr lang="en-GB" sz="2400" dirty="0"/>
              <a:t>German topology with 7 nodes and 11 links</a:t>
            </a:r>
          </a:p>
          <a:p>
            <a:pPr lvl="1"/>
            <a:r>
              <a:rPr lang="en-GB" sz="2400" dirty="0" err="1"/>
              <a:t>UsNet</a:t>
            </a:r>
            <a:r>
              <a:rPr lang="en-GB" sz="2400" dirty="0"/>
              <a:t> topology with 24 nodes and 43 links</a:t>
            </a:r>
          </a:p>
          <a:p>
            <a:pPr marL="457200" lvl="1" indent="0">
              <a:buNone/>
            </a:pPr>
            <a:endParaRPr lang="en-GB" sz="2800" dirty="0"/>
          </a:p>
        </p:txBody>
      </p:sp>
      <p:pic>
        <p:nvPicPr>
          <p:cNvPr id="1026" name="Picture 2" descr="USnet topology with 24 nodes and 43 links | Download Scientific Diagram">
            <a:extLst>
              <a:ext uri="{FF2B5EF4-FFF2-40B4-BE49-F238E27FC236}">
                <a16:creationId xmlns:a16="http://schemas.microsoft.com/office/drawing/2014/main" id="{3EF68FBD-D023-01DC-8653-9B5533822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290" y="2932572"/>
            <a:ext cx="4505925" cy="2555373"/>
          </a:xfrm>
          <a:prstGeom prst="rect">
            <a:avLst/>
          </a:prstGeom>
          <a:noFill/>
          <a:extLst>
            <a:ext uri="{909E8E84-426E-40DD-AFC4-6F175D3DCCD1}">
              <a14:hiddenFill xmlns:a14="http://schemas.microsoft.com/office/drawing/2010/main">
                <a:solidFill>
                  <a:srgbClr val="FFFFFF"/>
                </a:solidFill>
              </a14:hiddenFill>
            </a:ext>
          </a:extLst>
        </p:spPr>
      </p:pic>
      <p:sp>
        <p:nvSpPr>
          <p:cNvPr id="9" name="Oval 8">
            <a:extLst>
              <a:ext uri="{FF2B5EF4-FFF2-40B4-BE49-F238E27FC236}">
                <a16:creationId xmlns:a16="http://schemas.microsoft.com/office/drawing/2014/main" id="{36CDD818-8B8A-996B-AA03-B8E8684298EF}"/>
              </a:ext>
            </a:extLst>
          </p:cNvPr>
          <p:cNvSpPr/>
          <p:nvPr/>
        </p:nvSpPr>
        <p:spPr>
          <a:xfrm>
            <a:off x="1570892" y="3821014"/>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6F377844-5DA9-9AC9-2801-ADEE3802224E}"/>
              </a:ext>
            </a:extLst>
          </p:cNvPr>
          <p:cNvSpPr/>
          <p:nvPr/>
        </p:nvSpPr>
        <p:spPr>
          <a:xfrm>
            <a:off x="4096849" y="4848040"/>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84F71BBB-D6F0-4E78-DC37-FDDB80D05CF6}"/>
              </a:ext>
            </a:extLst>
          </p:cNvPr>
          <p:cNvSpPr/>
          <p:nvPr/>
        </p:nvSpPr>
        <p:spPr>
          <a:xfrm>
            <a:off x="2266462" y="3404239"/>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D2AFEE1-C536-5DC6-76D4-092297ED54F8}"/>
              </a:ext>
            </a:extLst>
          </p:cNvPr>
          <p:cNvSpPr/>
          <p:nvPr/>
        </p:nvSpPr>
        <p:spPr>
          <a:xfrm>
            <a:off x="3075354" y="3404239"/>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9E445B75-12F6-7E93-532F-F655915FB13F}"/>
              </a:ext>
            </a:extLst>
          </p:cNvPr>
          <p:cNvSpPr/>
          <p:nvPr/>
        </p:nvSpPr>
        <p:spPr>
          <a:xfrm>
            <a:off x="1284217" y="4848040"/>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61403309-E6EF-E921-99B9-9B5864F13B01}"/>
              </a:ext>
            </a:extLst>
          </p:cNvPr>
          <p:cNvSpPr/>
          <p:nvPr/>
        </p:nvSpPr>
        <p:spPr>
          <a:xfrm>
            <a:off x="2743994" y="4848040"/>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0F4AADE6-90D5-8A9E-DD53-97C272E3D72F}"/>
              </a:ext>
            </a:extLst>
          </p:cNvPr>
          <p:cNvSpPr/>
          <p:nvPr/>
        </p:nvSpPr>
        <p:spPr>
          <a:xfrm>
            <a:off x="4096849" y="3404239"/>
            <a:ext cx="382954" cy="3829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1BD33BA7-50F6-453A-2F2C-E7289C016DBF}"/>
              </a:ext>
            </a:extLst>
          </p:cNvPr>
          <p:cNvCxnSpPr>
            <a:stCxn id="11" idx="6"/>
            <a:endCxn id="12" idx="2"/>
          </p:cNvCxnSpPr>
          <p:nvPr/>
        </p:nvCxnSpPr>
        <p:spPr>
          <a:xfrm>
            <a:off x="2649416" y="3595716"/>
            <a:ext cx="42593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7CF6FD6-D4E9-C898-7B20-9E2C34695A02}"/>
              </a:ext>
            </a:extLst>
          </p:cNvPr>
          <p:cNvCxnSpPr>
            <a:stCxn id="12" idx="6"/>
            <a:endCxn id="15" idx="2"/>
          </p:cNvCxnSpPr>
          <p:nvPr/>
        </p:nvCxnSpPr>
        <p:spPr>
          <a:xfrm>
            <a:off x="3458308" y="3595716"/>
            <a:ext cx="6385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B7D1740-4828-40E3-EAD3-C23325F38E53}"/>
              </a:ext>
            </a:extLst>
          </p:cNvPr>
          <p:cNvCxnSpPr>
            <a:stCxn id="15" idx="4"/>
            <a:endCxn id="10" idx="0"/>
          </p:cNvCxnSpPr>
          <p:nvPr/>
        </p:nvCxnSpPr>
        <p:spPr>
          <a:xfrm>
            <a:off x="4288326" y="3787193"/>
            <a:ext cx="0" cy="10608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A9A74AF-E872-F5F1-91C8-02FB1813EBEF}"/>
              </a:ext>
            </a:extLst>
          </p:cNvPr>
          <p:cNvCxnSpPr>
            <a:cxnSpLocks/>
            <a:stCxn id="14" idx="6"/>
            <a:endCxn id="10" idx="2"/>
          </p:cNvCxnSpPr>
          <p:nvPr/>
        </p:nvCxnSpPr>
        <p:spPr>
          <a:xfrm>
            <a:off x="3126948" y="5039517"/>
            <a:ext cx="9699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904C84D-58FD-7A51-D4CF-EC008AF2E347}"/>
              </a:ext>
            </a:extLst>
          </p:cNvPr>
          <p:cNvCxnSpPr>
            <a:stCxn id="13" idx="6"/>
            <a:endCxn id="14" idx="2"/>
          </p:cNvCxnSpPr>
          <p:nvPr/>
        </p:nvCxnSpPr>
        <p:spPr>
          <a:xfrm>
            <a:off x="1667171" y="5039517"/>
            <a:ext cx="10768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2722659-E876-D3DB-B684-815F602983DE}"/>
              </a:ext>
            </a:extLst>
          </p:cNvPr>
          <p:cNvCxnSpPr>
            <a:stCxn id="9" idx="3"/>
            <a:endCxn id="13" idx="0"/>
          </p:cNvCxnSpPr>
          <p:nvPr/>
        </p:nvCxnSpPr>
        <p:spPr>
          <a:xfrm flipH="1">
            <a:off x="1475694" y="4147886"/>
            <a:ext cx="151280" cy="700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E6767B3-BD94-2121-E876-94D60BB9F5B8}"/>
              </a:ext>
            </a:extLst>
          </p:cNvPr>
          <p:cNvCxnSpPr>
            <a:stCxn id="9" idx="7"/>
            <a:endCxn id="11" idx="2"/>
          </p:cNvCxnSpPr>
          <p:nvPr/>
        </p:nvCxnSpPr>
        <p:spPr>
          <a:xfrm flipV="1">
            <a:off x="1897764" y="3595716"/>
            <a:ext cx="368698" cy="2813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3BBE4C1-5DE2-F428-A2FF-7376870F58D3}"/>
              </a:ext>
            </a:extLst>
          </p:cNvPr>
          <p:cNvCxnSpPr>
            <a:stCxn id="9" idx="5"/>
            <a:endCxn id="14" idx="2"/>
          </p:cNvCxnSpPr>
          <p:nvPr/>
        </p:nvCxnSpPr>
        <p:spPr>
          <a:xfrm>
            <a:off x="1897764" y="4147886"/>
            <a:ext cx="846230" cy="8916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5A77C301-0AE0-0F25-79F8-81B21C2DE596}"/>
              </a:ext>
            </a:extLst>
          </p:cNvPr>
          <p:cNvCxnSpPr>
            <a:stCxn id="11" idx="4"/>
            <a:endCxn id="14" idx="1"/>
          </p:cNvCxnSpPr>
          <p:nvPr/>
        </p:nvCxnSpPr>
        <p:spPr>
          <a:xfrm>
            <a:off x="2457939" y="3787193"/>
            <a:ext cx="342137" cy="1116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8" name="Straight Connector 1027">
            <a:extLst>
              <a:ext uri="{FF2B5EF4-FFF2-40B4-BE49-F238E27FC236}">
                <a16:creationId xmlns:a16="http://schemas.microsoft.com/office/drawing/2014/main" id="{A284189D-4739-4E4B-7402-7E1202AF6EE8}"/>
              </a:ext>
            </a:extLst>
          </p:cNvPr>
          <p:cNvCxnSpPr>
            <a:stCxn id="12" idx="4"/>
            <a:endCxn id="14" idx="0"/>
          </p:cNvCxnSpPr>
          <p:nvPr/>
        </p:nvCxnSpPr>
        <p:spPr>
          <a:xfrm flipH="1">
            <a:off x="2935471" y="3787193"/>
            <a:ext cx="331360" cy="10608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0" name="Straight Connector 1029">
            <a:extLst>
              <a:ext uri="{FF2B5EF4-FFF2-40B4-BE49-F238E27FC236}">
                <a16:creationId xmlns:a16="http://schemas.microsoft.com/office/drawing/2014/main" id="{22F37A64-F20F-57F5-FF00-F0823D615163}"/>
              </a:ext>
            </a:extLst>
          </p:cNvPr>
          <p:cNvCxnSpPr>
            <a:stCxn id="12" idx="5"/>
            <a:endCxn id="10" idx="1"/>
          </p:cNvCxnSpPr>
          <p:nvPr/>
        </p:nvCxnSpPr>
        <p:spPr>
          <a:xfrm>
            <a:off x="3402226" y="3731111"/>
            <a:ext cx="750705" cy="11730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6" name="TextBox 1035">
            <a:extLst>
              <a:ext uri="{FF2B5EF4-FFF2-40B4-BE49-F238E27FC236}">
                <a16:creationId xmlns:a16="http://schemas.microsoft.com/office/drawing/2014/main" id="{D1133E07-D654-C6AD-5C0E-DD8CFA370267}"/>
              </a:ext>
            </a:extLst>
          </p:cNvPr>
          <p:cNvSpPr txBox="1"/>
          <p:nvPr/>
        </p:nvSpPr>
        <p:spPr>
          <a:xfrm>
            <a:off x="1608407" y="5487946"/>
            <a:ext cx="2812357" cy="400110"/>
          </a:xfrm>
          <a:prstGeom prst="rect">
            <a:avLst/>
          </a:prstGeom>
          <a:noFill/>
        </p:spPr>
        <p:txBody>
          <a:bodyPr wrap="square">
            <a:spAutoFit/>
          </a:bodyPr>
          <a:lstStyle/>
          <a:p>
            <a:r>
              <a:rPr lang="en-GB" sz="2000" dirty="0"/>
              <a:t>(a)</a:t>
            </a:r>
            <a:r>
              <a:rPr lang="zh-CN" altLang="en-US" sz="2000" dirty="0"/>
              <a:t> </a:t>
            </a:r>
            <a:r>
              <a:rPr lang="en-GB" altLang="zh-CN" sz="2000" dirty="0"/>
              <a:t>German</a:t>
            </a:r>
            <a:r>
              <a:rPr lang="zh-CN" altLang="en-US" sz="2000" dirty="0"/>
              <a:t> </a:t>
            </a:r>
            <a:r>
              <a:rPr lang="en-GB" altLang="zh-CN" sz="2000" dirty="0"/>
              <a:t>topology</a:t>
            </a:r>
            <a:endParaRPr lang="en-GB" dirty="0"/>
          </a:p>
        </p:txBody>
      </p:sp>
      <p:sp>
        <p:nvSpPr>
          <p:cNvPr id="1037" name="TextBox 1036">
            <a:extLst>
              <a:ext uri="{FF2B5EF4-FFF2-40B4-BE49-F238E27FC236}">
                <a16:creationId xmlns:a16="http://schemas.microsoft.com/office/drawing/2014/main" id="{F72AE760-7AC1-EC30-7EA1-C246EFD7BB49}"/>
              </a:ext>
            </a:extLst>
          </p:cNvPr>
          <p:cNvSpPr txBox="1"/>
          <p:nvPr/>
        </p:nvSpPr>
        <p:spPr>
          <a:xfrm>
            <a:off x="7123566" y="5449881"/>
            <a:ext cx="2812357" cy="400110"/>
          </a:xfrm>
          <a:prstGeom prst="rect">
            <a:avLst/>
          </a:prstGeom>
          <a:noFill/>
        </p:spPr>
        <p:txBody>
          <a:bodyPr wrap="square">
            <a:spAutoFit/>
          </a:bodyPr>
          <a:lstStyle/>
          <a:p>
            <a:r>
              <a:rPr lang="en-GB" sz="2000" dirty="0"/>
              <a:t>(b)</a:t>
            </a:r>
            <a:r>
              <a:rPr lang="zh-CN" altLang="en-US" sz="2000" dirty="0"/>
              <a:t> </a:t>
            </a:r>
            <a:r>
              <a:rPr lang="en-GB" altLang="zh-CN" sz="2000" dirty="0" err="1"/>
              <a:t>UsNet</a:t>
            </a:r>
            <a:r>
              <a:rPr lang="zh-CN" altLang="en-US" sz="2000" dirty="0"/>
              <a:t> </a:t>
            </a:r>
            <a:r>
              <a:rPr lang="en-GB" altLang="zh-CN" sz="2000" dirty="0"/>
              <a:t>topology</a:t>
            </a:r>
            <a:endParaRPr lang="en-GB" dirty="0"/>
          </a:p>
        </p:txBody>
      </p:sp>
    </p:spTree>
    <p:extLst>
      <p:ext uri="{BB962C8B-B14F-4D97-AF65-F5344CB8AC3E}">
        <p14:creationId xmlns:p14="http://schemas.microsoft.com/office/powerpoint/2010/main" val="453540950"/>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377B-3424-F0D6-B0E9-89C916F7D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DCAA9-824D-828C-82B8-1853737E8991}"/>
              </a:ext>
            </a:extLst>
          </p:cNvPr>
          <p:cNvSpPr>
            <a:spLocks noGrp="1"/>
          </p:cNvSpPr>
          <p:nvPr>
            <p:ph type="title"/>
          </p:nvPr>
        </p:nvSpPr>
        <p:spPr/>
        <p:txBody>
          <a:bodyPr/>
          <a:lstStyle/>
          <a:p>
            <a:r>
              <a:rPr lang="en-US" dirty="0"/>
              <a:t>Simulation Settings</a:t>
            </a:r>
          </a:p>
        </p:txBody>
      </p:sp>
      <p:sp>
        <p:nvSpPr>
          <p:cNvPr id="3" name="Footer Placeholder 2">
            <a:extLst>
              <a:ext uri="{FF2B5EF4-FFF2-40B4-BE49-F238E27FC236}">
                <a16:creationId xmlns:a16="http://schemas.microsoft.com/office/drawing/2014/main" id="{2AF70F55-44B6-AC58-2079-A7FD777965D4}"/>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5AD1B84D-A403-76FD-4255-5D4CA1CED458}"/>
              </a:ext>
            </a:extLst>
          </p:cNvPr>
          <p:cNvSpPr>
            <a:spLocks noGrp="1"/>
          </p:cNvSpPr>
          <p:nvPr>
            <p:ph type="sldNum" sz="quarter" idx="12"/>
          </p:nvPr>
        </p:nvSpPr>
        <p:spPr/>
        <p:txBody>
          <a:bodyPr/>
          <a:lstStyle/>
          <a:p>
            <a:fld id="{5AFE0081-1ED4-41E0-88AB-D26DBE160EA6}" type="slidenum">
              <a:rPr lang="en-US" smtClean="0"/>
              <a:t>21</a:t>
            </a:fld>
            <a:endParaRPr lang="en-US"/>
          </a:p>
        </p:txBody>
      </p:sp>
      <p:sp>
        <p:nvSpPr>
          <p:cNvPr id="5" name="Content Placeholder 2">
            <a:extLst>
              <a:ext uri="{FF2B5EF4-FFF2-40B4-BE49-F238E27FC236}">
                <a16:creationId xmlns:a16="http://schemas.microsoft.com/office/drawing/2014/main" id="{587B50D8-6090-4136-4119-79A5F2C9488C}"/>
              </a:ext>
            </a:extLst>
          </p:cNvPr>
          <p:cNvSpPr txBox="1">
            <a:spLocks/>
          </p:cNvSpPr>
          <p:nvPr/>
        </p:nvSpPr>
        <p:spPr>
          <a:xfrm>
            <a:off x="768402" y="1560593"/>
            <a:ext cx="11501751" cy="39258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Link capacity: </a:t>
            </a:r>
          </a:p>
          <a:p>
            <a:pPr lvl="1"/>
            <a:r>
              <a:rPr lang="en-GB" sz="2400" dirty="0"/>
              <a:t>Fidelity = 0.8</a:t>
            </a:r>
          </a:p>
          <a:p>
            <a:pPr lvl="1"/>
            <a:r>
              <a:rPr lang="en-GB" sz="2400" dirty="0"/>
              <a:t>Generation rate uniformly distributed in </a:t>
            </a:r>
            <a:r>
              <a:rPr lang="pt-BR" sz="2400" dirty="0"/>
              <a:t>[250, 500] EPR pair/s [1]</a:t>
            </a:r>
          </a:p>
          <a:p>
            <a:pPr lvl="1"/>
            <a:r>
              <a:rPr lang="en-GB" sz="2400" dirty="0"/>
              <a:t>Capacity of different link configuration can be derived with [2,3]</a:t>
            </a:r>
          </a:p>
          <a:p>
            <a:pPr lvl="1"/>
            <a:endParaRPr lang="en-GB" sz="2400" dirty="0"/>
          </a:p>
          <a:p>
            <a:pPr lvl="1"/>
            <a:endParaRPr lang="en-GB" sz="2400" dirty="0"/>
          </a:p>
          <a:p>
            <a:pPr lvl="1"/>
            <a:endParaRPr lang="en-GB" sz="2400" dirty="0"/>
          </a:p>
          <a:p>
            <a:r>
              <a:rPr lang="en-GB" dirty="0"/>
              <a:t>Memory: 12,000 memory slots [1]</a:t>
            </a:r>
          </a:p>
          <a:p>
            <a:r>
              <a:rPr lang="en-GB" dirty="0"/>
              <a:t>Time duration of the entanglement routing period is shorter than the decoherence time</a:t>
            </a:r>
          </a:p>
          <a:p>
            <a:r>
              <a:rPr lang="en-GB" dirty="0"/>
              <a:t>Average requested fidelity: 0.9</a:t>
            </a:r>
          </a:p>
          <a:p>
            <a:pPr lvl="1"/>
            <a:endParaRPr lang="en-GB" sz="2800" dirty="0"/>
          </a:p>
        </p:txBody>
      </p:sp>
      <p:sp>
        <p:nvSpPr>
          <p:cNvPr id="6" name="文本框 9">
            <a:extLst>
              <a:ext uri="{FF2B5EF4-FFF2-40B4-BE49-F238E27FC236}">
                <a16:creationId xmlns:a16="http://schemas.microsoft.com/office/drawing/2014/main" id="{57B8C497-87E4-285B-2819-F081E3F0FAC6}"/>
              </a:ext>
            </a:extLst>
          </p:cNvPr>
          <p:cNvSpPr txBox="1"/>
          <p:nvPr/>
        </p:nvSpPr>
        <p:spPr>
          <a:xfrm>
            <a:off x="483760" y="5799245"/>
            <a:ext cx="1135851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[1] S. </a:t>
            </a:r>
            <a:r>
              <a:rPr kumimoji="0" lang="en-GB" sz="1200" b="0" i="1" u="none" strike="noStrike" kern="1200" cap="none" spc="0" normalizeH="0" baseline="0" noProof="0" dirty="0" err="1">
                <a:ln>
                  <a:noFill/>
                </a:ln>
                <a:solidFill>
                  <a:srgbClr val="000000"/>
                </a:solidFill>
                <a:effectLst/>
                <a:uLnTx/>
                <a:uFillTx/>
                <a:latin typeface="Helvetica" pitchFamily="2" charset="0"/>
                <a:ea typeface="+mn-ea"/>
                <a:cs typeface="+mn-cs"/>
              </a:rPr>
              <a:t>Pouryousef</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N. K. </a:t>
            </a:r>
            <a:r>
              <a:rPr kumimoji="0" lang="en-GB" sz="1200" b="0" i="1" u="none" strike="noStrike" kern="1200" cap="none" spc="0" normalizeH="0" baseline="0" noProof="0" dirty="0" err="1">
                <a:ln>
                  <a:noFill/>
                </a:ln>
                <a:solidFill>
                  <a:srgbClr val="000000"/>
                </a:solidFill>
                <a:effectLst/>
                <a:uLnTx/>
                <a:uFillTx/>
                <a:latin typeface="Helvetica" pitchFamily="2" charset="0"/>
                <a:ea typeface="+mn-ea"/>
                <a:cs typeface="+mn-cs"/>
              </a:rPr>
              <a:t>Panigrahy</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and D. Towsley, “A quantum overlay network for efficient entanglement distribution,” in INFOCOM, 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a:t>
            </a:r>
            <a:r>
              <a:rPr lang="en-GB" sz="1200" i="1" dirty="0">
                <a:solidFill>
                  <a:srgbClr val="000000"/>
                </a:solidFill>
                <a:latin typeface="Helvetica" pitchFamily="2" charset="0"/>
              </a:rPr>
              <a:t>2</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P. C. Humphreys, etc, “Deterministic delivery of remote entanglement on a quantum network,” Nature, 2018.</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dirty="0">
                <a:solidFill>
                  <a:srgbClr val="000000"/>
                </a:solidFill>
                <a:latin typeface="Helvetica" pitchFamily="2" charset="0"/>
              </a:rPr>
              <a:t>[3]. G. </a:t>
            </a:r>
            <a:r>
              <a:rPr lang="en-GB" sz="1200" i="1" dirty="0" err="1">
                <a:solidFill>
                  <a:srgbClr val="000000"/>
                </a:solidFill>
                <a:latin typeface="Helvetica" pitchFamily="2" charset="0"/>
              </a:rPr>
              <a:t>Vardoyan</a:t>
            </a:r>
            <a:r>
              <a:rPr lang="en-GB" sz="1200" i="1" dirty="0">
                <a:solidFill>
                  <a:srgbClr val="000000"/>
                </a:solidFill>
                <a:latin typeface="Helvetica" pitchFamily="2" charset="0"/>
              </a:rPr>
              <a:t> and S. Wehner, “Quantum network utility maximization,” in IEEE International Conference on Quantum Computing and Engineering (QCE), 2023.</a:t>
            </a:r>
            <a:endPar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endParaRPr>
          </a:p>
        </p:txBody>
      </p:sp>
      <p:graphicFrame>
        <p:nvGraphicFramePr>
          <p:cNvPr id="7" name="Table 5">
            <a:extLst>
              <a:ext uri="{FF2B5EF4-FFF2-40B4-BE49-F238E27FC236}">
                <a16:creationId xmlns:a16="http://schemas.microsoft.com/office/drawing/2014/main" id="{1D609B6E-105F-247C-E090-338A8CB175D3}"/>
              </a:ext>
            </a:extLst>
          </p:cNvPr>
          <p:cNvGraphicFramePr>
            <a:graphicFrameLocks noGrp="1"/>
          </p:cNvGraphicFramePr>
          <p:nvPr>
            <p:extLst>
              <p:ext uri="{D42A27DB-BD31-4B8C-83A1-F6EECF244321}">
                <p14:modId xmlns:p14="http://schemas.microsoft.com/office/powerpoint/2010/main" val="588460157"/>
              </p:ext>
            </p:extLst>
          </p:nvPr>
        </p:nvGraphicFramePr>
        <p:xfrm>
          <a:off x="2259843" y="3183156"/>
          <a:ext cx="7851587" cy="1109134"/>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56199708"/>
                    </a:ext>
                  </a:extLst>
                </a:gridCol>
                <a:gridCol w="1344706">
                  <a:extLst>
                    <a:ext uri="{9D8B030D-6E8A-4147-A177-3AD203B41FA5}">
                      <a16:colId xmlns:a16="http://schemas.microsoft.com/office/drawing/2014/main" val="3021179301"/>
                    </a:ext>
                  </a:extLst>
                </a:gridCol>
                <a:gridCol w="1257300">
                  <a:extLst>
                    <a:ext uri="{9D8B030D-6E8A-4147-A177-3AD203B41FA5}">
                      <a16:colId xmlns:a16="http://schemas.microsoft.com/office/drawing/2014/main" val="3824228596"/>
                    </a:ext>
                  </a:extLst>
                </a:gridCol>
                <a:gridCol w="1485900">
                  <a:extLst>
                    <a:ext uri="{9D8B030D-6E8A-4147-A177-3AD203B41FA5}">
                      <a16:colId xmlns:a16="http://schemas.microsoft.com/office/drawing/2014/main" val="300474950"/>
                    </a:ext>
                  </a:extLst>
                </a:gridCol>
                <a:gridCol w="1223681">
                  <a:extLst>
                    <a:ext uri="{9D8B030D-6E8A-4147-A177-3AD203B41FA5}">
                      <a16:colId xmlns:a16="http://schemas.microsoft.com/office/drawing/2014/main" val="710711461"/>
                    </a:ext>
                  </a:extLst>
                </a:gridCol>
              </a:tblGrid>
              <a:tr h="554567">
                <a:tc>
                  <a:txBody>
                    <a:bodyPr/>
                    <a:lstStyle/>
                    <a:p>
                      <a:pPr algn="ctr"/>
                      <a:r>
                        <a:rPr lang="en-GB" sz="2400" b="0" dirty="0">
                          <a:solidFill>
                            <a:schemeClr val="tx1"/>
                          </a:solidFill>
                        </a:rPr>
                        <a:t>Rate (EPR pair /s)</a:t>
                      </a:r>
                    </a:p>
                  </a:txBody>
                  <a:tcPr>
                    <a:solidFill>
                      <a:schemeClr val="accent1">
                        <a:lumMod val="40000"/>
                        <a:lumOff val="60000"/>
                      </a:schemeClr>
                    </a:solidFill>
                  </a:tcPr>
                </a:tc>
                <a:tc>
                  <a:txBody>
                    <a:bodyPr/>
                    <a:lstStyle/>
                    <a:p>
                      <a:pPr algn="ctr"/>
                      <a:r>
                        <a:rPr lang="en-GB" sz="2400" b="0" dirty="0">
                          <a:solidFill>
                            <a:schemeClr val="tx1"/>
                          </a:solidFill>
                        </a:rPr>
                        <a:t>250 </a:t>
                      </a:r>
                    </a:p>
                  </a:txBody>
                  <a:tcPr>
                    <a:solidFill>
                      <a:schemeClr val="accent1">
                        <a:lumMod val="40000"/>
                        <a:lumOff val="60000"/>
                      </a:schemeClr>
                    </a:solidFill>
                  </a:tcPr>
                </a:tc>
                <a:tc>
                  <a:txBody>
                    <a:bodyPr/>
                    <a:lstStyle/>
                    <a:p>
                      <a:pPr algn="ctr"/>
                      <a:r>
                        <a:rPr lang="en-GB" sz="2400" b="1" dirty="0">
                          <a:solidFill>
                            <a:schemeClr val="tx1"/>
                          </a:solidFill>
                        </a:rPr>
                        <a:t>500</a:t>
                      </a:r>
                    </a:p>
                  </a:txBody>
                  <a:tcPr>
                    <a:solidFill>
                      <a:schemeClr val="accent1">
                        <a:lumMod val="40000"/>
                        <a:lumOff val="60000"/>
                      </a:schemeClr>
                    </a:solidFill>
                  </a:tcPr>
                </a:tc>
                <a:tc>
                  <a:txBody>
                    <a:bodyPr/>
                    <a:lstStyle/>
                    <a:p>
                      <a:pPr algn="ctr"/>
                      <a:r>
                        <a:rPr lang="en-GB" sz="2400" b="0" dirty="0">
                          <a:solidFill>
                            <a:schemeClr val="tx1"/>
                          </a:solidFill>
                        </a:rPr>
                        <a:t>750</a:t>
                      </a:r>
                    </a:p>
                  </a:txBody>
                  <a:tcPr>
                    <a:solidFill>
                      <a:schemeClr val="accent1">
                        <a:lumMod val="40000"/>
                        <a:lumOff val="60000"/>
                      </a:schemeClr>
                    </a:solidFill>
                  </a:tcPr>
                </a:tc>
                <a:tc>
                  <a:txBody>
                    <a:bodyPr/>
                    <a:lstStyle/>
                    <a:p>
                      <a:pPr algn="ctr"/>
                      <a:r>
                        <a:rPr lang="en-GB" sz="2400" b="0" dirty="0">
                          <a:solidFill>
                            <a:schemeClr val="tx1"/>
                          </a:solidFill>
                        </a:rPr>
                        <a:t>1000</a:t>
                      </a:r>
                    </a:p>
                  </a:txBody>
                  <a:tcPr>
                    <a:solidFill>
                      <a:schemeClr val="accent1">
                        <a:lumMod val="40000"/>
                        <a:lumOff val="60000"/>
                      </a:schemeClr>
                    </a:solidFill>
                  </a:tcPr>
                </a:tc>
                <a:extLst>
                  <a:ext uri="{0D108BD9-81ED-4DB2-BD59-A6C34878D82A}">
                    <a16:rowId xmlns:a16="http://schemas.microsoft.com/office/drawing/2014/main" val="773132877"/>
                  </a:ext>
                </a:extLst>
              </a:tr>
              <a:tr h="554567">
                <a:tc>
                  <a:txBody>
                    <a:bodyPr/>
                    <a:lstStyle/>
                    <a:p>
                      <a:pPr algn="ctr"/>
                      <a:r>
                        <a:rPr lang="en-GB" sz="2400" b="0" dirty="0"/>
                        <a:t>Fidelity</a:t>
                      </a:r>
                    </a:p>
                  </a:txBody>
                  <a:tcPr>
                    <a:solidFill>
                      <a:schemeClr val="accent1">
                        <a:lumMod val="40000"/>
                        <a:lumOff val="60000"/>
                      </a:schemeClr>
                    </a:solidFill>
                  </a:tcPr>
                </a:tc>
                <a:tc>
                  <a:txBody>
                    <a:bodyPr/>
                    <a:lstStyle/>
                    <a:p>
                      <a:pPr algn="ctr"/>
                      <a:r>
                        <a:rPr lang="en-GB" sz="2400" b="0" dirty="0"/>
                        <a:t>0.9</a:t>
                      </a:r>
                    </a:p>
                  </a:txBody>
                  <a:tcPr>
                    <a:solidFill>
                      <a:schemeClr val="accent1">
                        <a:lumMod val="40000"/>
                        <a:lumOff val="60000"/>
                      </a:schemeClr>
                    </a:solidFill>
                  </a:tcPr>
                </a:tc>
                <a:tc>
                  <a:txBody>
                    <a:bodyPr/>
                    <a:lstStyle/>
                    <a:p>
                      <a:pPr algn="ctr"/>
                      <a:r>
                        <a:rPr lang="en-GB" sz="2400" b="1" dirty="0"/>
                        <a:t>0.8</a:t>
                      </a:r>
                    </a:p>
                  </a:txBody>
                  <a:tcPr>
                    <a:solidFill>
                      <a:schemeClr val="accent1">
                        <a:lumMod val="40000"/>
                        <a:lumOff val="60000"/>
                      </a:schemeClr>
                    </a:solidFill>
                  </a:tcPr>
                </a:tc>
                <a:tc>
                  <a:txBody>
                    <a:bodyPr/>
                    <a:lstStyle/>
                    <a:p>
                      <a:pPr algn="ctr"/>
                      <a:r>
                        <a:rPr lang="en-GB" sz="2400" b="0" dirty="0"/>
                        <a:t>0.7</a:t>
                      </a:r>
                    </a:p>
                  </a:txBody>
                  <a:tcPr>
                    <a:solidFill>
                      <a:schemeClr val="accent1">
                        <a:lumMod val="40000"/>
                        <a:lumOff val="60000"/>
                      </a:schemeClr>
                    </a:solidFill>
                  </a:tcPr>
                </a:tc>
                <a:tc>
                  <a:txBody>
                    <a:bodyPr/>
                    <a:lstStyle/>
                    <a:p>
                      <a:pPr algn="ctr"/>
                      <a:r>
                        <a:rPr lang="en-GB" sz="2400" b="0" dirty="0"/>
                        <a:t>0.6</a:t>
                      </a:r>
                    </a:p>
                  </a:txBody>
                  <a:tcPr>
                    <a:solidFill>
                      <a:schemeClr val="accent1">
                        <a:lumMod val="40000"/>
                        <a:lumOff val="60000"/>
                      </a:schemeClr>
                    </a:solidFill>
                  </a:tcPr>
                </a:tc>
                <a:extLst>
                  <a:ext uri="{0D108BD9-81ED-4DB2-BD59-A6C34878D82A}">
                    <a16:rowId xmlns:a16="http://schemas.microsoft.com/office/drawing/2014/main" val="2358705832"/>
                  </a:ext>
                </a:extLst>
              </a:tr>
            </a:tbl>
          </a:graphicData>
        </a:graphic>
      </p:graphicFrame>
    </p:spTree>
    <p:extLst>
      <p:ext uri="{BB962C8B-B14F-4D97-AF65-F5344CB8AC3E}">
        <p14:creationId xmlns:p14="http://schemas.microsoft.com/office/powerpoint/2010/main" val="393858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6383E-58B5-5BDD-FCD5-FDD5CFB3783A}"/>
              </a:ext>
            </a:extLst>
          </p:cNvPr>
          <p:cNvSpPr>
            <a:spLocks noGrp="1"/>
          </p:cNvSpPr>
          <p:nvPr>
            <p:ph type="title"/>
          </p:nvPr>
        </p:nvSpPr>
        <p:spPr/>
        <p:txBody>
          <a:bodyPr/>
          <a:lstStyle/>
          <a:p>
            <a:r>
              <a:rPr lang="en-US" altLang="zh-CN" dirty="0"/>
              <a:t>Compared Scenarios</a:t>
            </a:r>
            <a:endParaRPr lang="en-GB" dirty="0"/>
          </a:p>
        </p:txBody>
      </p:sp>
      <p:sp>
        <p:nvSpPr>
          <p:cNvPr id="3" name="Content Placeholder 2">
            <a:extLst>
              <a:ext uri="{FF2B5EF4-FFF2-40B4-BE49-F238E27FC236}">
                <a16:creationId xmlns:a16="http://schemas.microsoft.com/office/drawing/2014/main" id="{9C401392-BE68-D870-95CD-2B02F6B10652}"/>
              </a:ext>
            </a:extLst>
          </p:cNvPr>
          <p:cNvSpPr>
            <a:spLocks noGrp="1"/>
          </p:cNvSpPr>
          <p:nvPr>
            <p:ph idx="1"/>
          </p:nvPr>
        </p:nvSpPr>
        <p:spPr/>
        <p:txBody>
          <a:bodyPr/>
          <a:lstStyle/>
          <a:p>
            <a:r>
              <a:rPr lang="en-GB" dirty="0"/>
              <a:t>Starting point: 3  baseline Entanglement Routing (ER) algorithms</a:t>
            </a:r>
          </a:p>
          <a:p>
            <a:pPr lvl="1"/>
            <a:r>
              <a:rPr lang="en-GB" sz="2200" i="1" dirty="0"/>
              <a:t>Progressive Filling </a:t>
            </a:r>
            <a:r>
              <a:rPr lang="en-GB" sz="2200" dirty="0"/>
              <a:t>(PF) [1]: same fidelity on each link</a:t>
            </a:r>
          </a:p>
          <a:p>
            <a:pPr lvl="1"/>
            <a:r>
              <a:rPr lang="en-GB" sz="2200" i="1" dirty="0"/>
              <a:t>Low-complexity Routing </a:t>
            </a:r>
            <a:r>
              <a:rPr lang="en-GB" sz="2200" dirty="0"/>
              <a:t>(</a:t>
            </a:r>
            <a:r>
              <a:rPr lang="en-GB" sz="2200" dirty="0" err="1"/>
              <a:t>Qleap</a:t>
            </a:r>
            <a:r>
              <a:rPr lang="en-GB" sz="2200" dirty="0"/>
              <a:t>) [2]: purification on links to achieve a </a:t>
            </a:r>
            <a:r>
              <a:rPr lang="en-GB" sz="2200" dirty="0">
                <a:solidFill>
                  <a:srgbClr val="FF0000"/>
                </a:solidFill>
              </a:rPr>
              <a:t>fidelity threshold based on each request</a:t>
            </a:r>
          </a:p>
          <a:p>
            <a:pPr lvl="1"/>
            <a:r>
              <a:rPr lang="en-GB" sz="2200" i="1" dirty="0"/>
              <a:t>Purification-enabled Iterative Routing </a:t>
            </a:r>
            <a:r>
              <a:rPr lang="en-GB" sz="2200" dirty="0"/>
              <a:t>(</a:t>
            </a:r>
            <a:r>
              <a:rPr lang="en-GB" sz="2200" dirty="0" err="1"/>
              <a:t>Qpath</a:t>
            </a:r>
            <a:r>
              <a:rPr lang="en-GB" sz="2200" dirty="0"/>
              <a:t>) [2]: purification on </a:t>
            </a:r>
            <a:r>
              <a:rPr lang="en-GB" sz="2200" dirty="0">
                <a:solidFill>
                  <a:srgbClr val="FF0000"/>
                </a:solidFill>
              </a:rPr>
              <a:t>critical links </a:t>
            </a:r>
            <a:r>
              <a:rPr lang="en-GB" sz="2200" dirty="0"/>
              <a:t>that have the highest improvement in fidelity with the least entanglements </a:t>
            </a:r>
            <a:br>
              <a:rPr lang="en-GB" dirty="0"/>
            </a:br>
            <a:br>
              <a:rPr lang="en-GB" dirty="0"/>
            </a:br>
            <a:endParaRPr lang="en-GB" dirty="0"/>
          </a:p>
        </p:txBody>
      </p:sp>
      <p:sp>
        <p:nvSpPr>
          <p:cNvPr id="4" name="Footer Placeholder 3">
            <a:extLst>
              <a:ext uri="{FF2B5EF4-FFF2-40B4-BE49-F238E27FC236}">
                <a16:creationId xmlns:a16="http://schemas.microsoft.com/office/drawing/2014/main" id="{AC469C31-B9EB-EB5F-A5A6-3A1FE2E95ED1}"/>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5" name="Slide Number Placeholder 4">
            <a:extLst>
              <a:ext uri="{FF2B5EF4-FFF2-40B4-BE49-F238E27FC236}">
                <a16:creationId xmlns:a16="http://schemas.microsoft.com/office/drawing/2014/main" id="{85BC0D1B-5498-A8A9-50F0-189C9DD0D0C7}"/>
              </a:ext>
            </a:extLst>
          </p:cNvPr>
          <p:cNvSpPr>
            <a:spLocks noGrp="1"/>
          </p:cNvSpPr>
          <p:nvPr>
            <p:ph type="sldNum" sz="quarter" idx="12"/>
          </p:nvPr>
        </p:nvSpPr>
        <p:spPr/>
        <p:txBody>
          <a:bodyPr/>
          <a:lstStyle/>
          <a:p>
            <a:fld id="{5AFE0081-1ED4-41E0-88AB-D26DBE160EA6}" type="slidenum">
              <a:rPr lang="en-US" smtClean="0"/>
              <a:t>22</a:t>
            </a:fld>
            <a:endParaRPr lang="en-US"/>
          </a:p>
        </p:txBody>
      </p:sp>
      <p:graphicFrame>
        <p:nvGraphicFramePr>
          <p:cNvPr id="6" name="Table 5">
            <a:extLst>
              <a:ext uri="{FF2B5EF4-FFF2-40B4-BE49-F238E27FC236}">
                <a16:creationId xmlns:a16="http://schemas.microsoft.com/office/drawing/2014/main" id="{CC3E99E3-5BF9-7E2A-7647-721C2D76F62C}"/>
              </a:ext>
            </a:extLst>
          </p:cNvPr>
          <p:cNvGraphicFramePr>
            <a:graphicFrameLocks noGrp="1"/>
          </p:cNvGraphicFramePr>
          <p:nvPr>
            <p:extLst>
              <p:ext uri="{D42A27DB-BD31-4B8C-83A1-F6EECF244321}">
                <p14:modId xmlns:p14="http://schemas.microsoft.com/office/powerpoint/2010/main" val="429599723"/>
              </p:ext>
            </p:extLst>
          </p:nvPr>
        </p:nvGraphicFramePr>
        <p:xfrm>
          <a:off x="940888" y="3485662"/>
          <a:ext cx="9978572" cy="2178590"/>
        </p:xfrm>
        <a:graphic>
          <a:graphicData uri="http://schemas.openxmlformats.org/drawingml/2006/table">
            <a:tbl>
              <a:tblPr firstRow="1" bandRow="1">
                <a:tableStyleId>{5C22544A-7EE6-4342-B048-85BDC9FD1C3A}</a:tableStyleId>
              </a:tblPr>
              <a:tblGrid>
                <a:gridCol w="2919912">
                  <a:extLst>
                    <a:ext uri="{9D8B030D-6E8A-4147-A177-3AD203B41FA5}">
                      <a16:colId xmlns:a16="http://schemas.microsoft.com/office/drawing/2014/main" val="3464701665"/>
                    </a:ext>
                  </a:extLst>
                </a:gridCol>
                <a:gridCol w="2069374">
                  <a:extLst>
                    <a:ext uri="{9D8B030D-6E8A-4147-A177-3AD203B41FA5}">
                      <a16:colId xmlns:a16="http://schemas.microsoft.com/office/drawing/2014/main" val="839488027"/>
                    </a:ext>
                  </a:extLst>
                </a:gridCol>
                <a:gridCol w="2494643">
                  <a:extLst>
                    <a:ext uri="{9D8B030D-6E8A-4147-A177-3AD203B41FA5}">
                      <a16:colId xmlns:a16="http://schemas.microsoft.com/office/drawing/2014/main" val="3920755452"/>
                    </a:ext>
                  </a:extLst>
                </a:gridCol>
                <a:gridCol w="2494643">
                  <a:extLst>
                    <a:ext uri="{9D8B030D-6E8A-4147-A177-3AD203B41FA5}">
                      <a16:colId xmlns:a16="http://schemas.microsoft.com/office/drawing/2014/main" val="1689883605"/>
                    </a:ext>
                  </a:extLst>
                </a:gridCol>
              </a:tblGrid>
              <a:tr h="805150">
                <a:tc>
                  <a:txBody>
                    <a:bodyPr/>
                    <a:lstStyle/>
                    <a:p>
                      <a:pPr algn="ctr"/>
                      <a:endParaRPr lang="en-GB" sz="2400" dirty="0"/>
                    </a:p>
                  </a:txBody>
                  <a:tcPr>
                    <a:lnTlToBr w="12700" cap="flat" cmpd="sng" algn="ctr">
                      <a:solidFill>
                        <a:schemeClr val="tx1"/>
                      </a:solidFill>
                      <a:prstDash val="solid"/>
                      <a:round/>
                      <a:headEnd type="none" w="med" len="med"/>
                      <a:tailEnd type="none" w="med" len="med"/>
                    </a:lnTlToBr>
                  </a:tcPr>
                </a:tc>
                <a:tc>
                  <a:txBody>
                    <a:bodyPr/>
                    <a:lstStyle/>
                    <a:p>
                      <a:pPr algn="ctr"/>
                      <a:r>
                        <a:rPr lang="en-GB" sz="2400" dirty="0"/>
                        <a:t>PF</a:t>
                      </a:r>
                    </a:p>
                  </a:txBody>
                  <a:tcPr/>
                </a:tc>
                <a:tc>
                  <a:txBody>
                    <a:bodyPr/>
                    <a:lstStyle/>
                    <a:p>
                      <a:pPr algn="ctr"/>
                      <a:r>
                        <a:rPr lang="en-GB" sz="2400" dirty="0" err="1"/>
                        <a:t>Qleap</a:t>
                      </a:r>
                      <a:endParaRPr lang="en-GB" sz="2400" dirty="0"/>
                    </a:p>
                  </a:txBody>
                  <a:tcPr/>
                </a:tc>
                <a:tc>
                  <a:txBody>
                    <a:bodyPr/>
                    <a:lstStyle/>
                    <a:p>
                      <a:pPr algn="ctr"/>
                      <a:r>
                        <a:rPr lang="en-GB" sz="2400" dirty="0" err="1"/>
                        <a:t>Qpath</a:t>
                      </a:r>
                      <a:endParaRPr lang="en-GB" sz="2400" dirty="0"/>
                    </a:p>
                  </a:txBody>
                  <a:tcPr/>
                </a:tc>
                <a:extLst>
                  <a:ext uri="{0D108BD9-81ED-4DB2-BD59-A6C34878D82A}">
                    <a16:rowId xmlns:a16="http://schemas.microsoft.com/office/drawing/2014/main" val="2739784358"/>
                  </a:ext>
                </a:extLst>
              </a:tr>
              <a:tr h="765742">
                <a:tc>
                  <a:txBody>
                    <a:bodyPr/>
                    <a:lstStyle/>
                    <a:p>
                      <a:pPr algn="ctr"/>
                      <a:r>
                        <a:rPr lang="en-GB" sz="2400" dirty="0"/>
                        <a:t>SPFD</a:t>
                      </a:r>
                    </a:p>
                  </a:txBody>
                  <a:tcPr/>
                </a:tc>
                <a:tc>
                  <a:txBody>
                    <a:bodyPr/>
                    <a:lstStyle/>
                    <a:p>
                      <a:pPr algn="ctr"/>
                      <a:r>
                        <a:rPr lang="en-GB" sz="2400" dirty="0"/>
                        <a:t>SPFD-PF</a:t>
                      </a:r>
                    </a:p>
                  </a:txBody>
                  <a:tcPr/>
                </a:tc>
                <a:tc>
                  <a:txBody>
                    <a:bodyPr/>
                    <a:lstStyle/>
                    <a:p>
                      <a:pPr algn="ctr"/>
                      <a:r>
                        <a:rPr lang="en-GB" sz="2400" dirty="0"/>
                        <a:t>SPFD-</a:t>
                      </a:r>
                      <a:r>
                        <a:rPr lang="en-GB" sz="2400" dirty="0" err="1"/>
                        <a:t>Qleap</a:t>
                      </a:r>
                      <a:endParaRPr lang="en-GB" sz="2400" dirty="0"/>
                    </a:p>
                  </a:txBody>
                  <a:tcPr/>
                </a:tc>
                <a:tc>
                  <a:txBody>
                    <a:bodyPr/>
                    <a:lstStyle/>
                    <a:p>
                      <a:pPr algn="ctr"/>
                      <a:r>
                        <a:rPr lang="en-GB" sz="2400" dirty="0"/>
                        <a:t>SPFD-</a:t>
                      </a:r>
                      <a:r>
                        <a:rPr lang="en-GB" sz="2400" dirty="0" err="1"/>
                        <a:t>Qpath</a:t>
                      </a:r>
                      <a:endParaRPr lang="en-GB" sz="2400" dirty="0"/>
                    </a:p>
                  </a:txBody>
                  <a:tcPr/>
                </a:tc>
                <a:extLst>
                  <a:ext uri="{0D108BD9-81ED-4DB2-BD59-A6C34878D82A}">
                    <a16:rowId xmlns:a16="http://schemas.microsoft.com/office/drawing/2014/main" val="482415994"/>
                  </a:ext>
                </a:extLst>
              </a:tr>
              <a:tr h="607698">
                <a:tc>
                  <a:txBody>
                    <a:bodyPr/>
                    <a:lstStyle/>
                    <a:p>
                      <a:pPr algn="ctr"/>
                      <a:r>
                        <a:rPr lang="en-GB" sz="2400" dirty="0"/>
                        <a:t>BO</a:t>
                      </a:r>
                    </a:p>
                  </a:txBody>
                  <a:tcPr/>
                </a:tc>
                <a:tc>
                  <a:txBody>
                    <a:bodyPr/>
                    <a:lstStyle/>
                    <a:p>
                      <a:pPr algn="ctr"/>
                      <a:r>
                        <a:rPr lang="en-GB" sz="2400" dirty="0"/>
                        <a:t>BO-PF</a:t>
                      </a:r>
                    </a:p>
                  </a:txBody>
                  <a:tcPr/>
                </a:tc>
                <a:tc>
                  <a:txBody>
                    <a:bodyPr/>
                    <a:lstStyle/>
                    <a:p>
                      <a:pPr algn="ctr"/>
                      <a:r>
                        <a:rPr lang="en-GB" sz="2400" dirty="0"/>
                        <a:t>BO-</a:t>
                      </a:r>
                      <a:r>
                        <a:rPr lang="en-GB" sz="2400" dirty="0" err="1"/>
                        <a:t>Qleap</a:t>
                      </a:r>
                      <a:endParaRPr lang="en-GB" sz="2400" dirty="0"/>
                    </a:p>
                  </a:txBody>
                  <a:tcPr/>
                </a:tc>
                <a:tc>
                  <a:txBody>
                    <a:bodyPr/>
                    <a:lstStyle/>
                    <a:p>
                      <a:pPr algn="ctr"/>
                      <a:r>
                        <a:rPr lang="en-GB" sz="2400" dirty="0"/>
                        <a:t>BO-</a:t>
                      </a:r>
                      <a:r>
                        <a:rPr lang="en-GB" sz="2400" dirty="0" err="1"/>
                        <a:t>Qpath</a:t>
                      </a:r>
                      <a:endParaRPr lang="en-GB" sz="2400" dirty="0"/>
                    </a:p>
                  </a:txBody>
                  <a:tcPr/>
                </a:tc>
                <a:extLst>
                  <a:ext uri="{0D108BD9-81ED-4DB2-BD59-A6C34878D82A}">
                    <a16:rowId xmlns:a16="http://schemas.microsoft.com/office/drawing/2014/main" val="357246204"/>
                  </a:ext>
                </a:extLst>
              </a:tr>
            </a:tbl>
          </a:graphicData>
        </a:graphic>
      </p:graphicFrame>
      <p:sp>
        <p:nvSpPr>
          <p:cNvPr id="7" name="文本框 9">
            <a:extLst>
              <a:ext uri="{FF2B5EF4-FFF2-40B4-BE49-F238E27FC236}">
                <a16:creationId xmlns:a16="http://schemas.microsoft.com/office/drawing/2014/main" id="{4F421851-AC8C-0D3D-F455-62B86462240B}"/>
              </a:ext>
            </a:extLst>
          </p:cNvPr>
          <p:cNvSpPr txBox="1"/>
          <p:nvPr/>
        </p:nvSpPr>
        <p:spPr>
          <a:xfrm>
            <a:off x="148808" y="5805319"/>
            <a:ext cx="118835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[1]. C. Li, T. Li, Y.-X. Liu, and P. </a:t>
            </a:r>
            <a:r>
              <a:rPr kumimoji="0" lang="en-GB" sz="1200" b="0" i="1" u="none" strike="noStrike" kern="1200" cap="none" spc="0" normalizeH="0" baseline="0" noProof="0" dirty="0" err="1">
                <a:ln>
                  <a:noFill/>
                </a:ln>
                <a:solidFill>
                  <a:srgbClr val="000000"/>
                </a:solidFill>
                <a:effectLst/>
                <a:uLnTx/>
                <a:uFillTx/>
                <a:latin typeface="Helvetica" pitchFamily="2" charset="0"/>
                <a:ea typeface="+mn-ea"/>
                <a:cs typeface="+mn-cs"/>
              </a:rPr>
              <a:t>Cappellaro</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“Effective routing design for remote entanglement generation on quantum networks,” </a:t>
            </a:r>
            <a:r>
              <a:rPr kumimoji="0" lang="en-GB" sz="1200" b="0" i="1" u="none" strike="noStrike" kern="1200" cap="none" spc="0" normalizeH="0" baseline="0" noProof="0" dirty="0" err="1">
                <a:ln>
                  <a:noFill/>
                </a:ln>
                <a:solidFill>
                  <a:srgbClr val="000000"/>
                </a:solidFill>
                <a:effectLst/>
                <a:uLnTx/>
                <a:uFillTx/>
                <a:latin typeface="Helvetica" pitchFamily="2" charset="0"/>
                <a:ea typeface="+mn-ea"/>
                <a:cs typeface="+mn-cs"/>
              </a:rPr>
              <a:t>npj</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Quantum Information, 2021.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dirty="0">
                <a:solidFill>
                  <a:srgbClr val="000000"/>
                </a:solidFill>
                <a:latin typeface="Helvetica" pitchFamily="2" charset="0"/>
              </a:rPr>
              <a:t>[2]. J. Li, M. Wang, K. Xue, R. Li, N. Yu, Q. Sun, and J. Lu, “Fidelity-guaranteed entanglement routing in quantum networks,” IEEE Transactions on Communications,, 2022</a:t>
            </a:r>
            <a:endPar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endParaRPr>
          </a:p>
        </p:txBody>
      </p:sp>
      <p:sp>
        <p:nvSpPr>
          <p:cNvPr id="8" name="TextBox 7">
            <a:extLst>
              <a:ext uri="{FF2B5EF4-FFF2-40B4-BE49-F238E27FC236}">
                <a16:creationId xmlns:a16="http://schemas.microsoft.com/office/drawing/2014/main" id="{1197D6EB-E1CD-92B8-2F88-3A71413BE8D7}"/>
              </a:ext>
            </a:extLst>
          </p:cNvPr>
          <p:cNvSpPr txBox="1"/>
          <p:nvPr/>
        </p:nvSpPr>
        <p:spPr>
          <a:xfrm>
            <a:off x="940888" y="3563816"/>
            <a:ext cx="1537600" cy="707886"/>
          </a:xfrm>
          <a:prstGeom prst="rect">
            <a:avLst/>
          </a:prstGeom>
          <a:noFill/>
        </p:spPr>
        <p:txBody>
          <a:bodyPr wrap="none" rtlCol="0">
            <a:spAutoFit/>
          </a:bodyPr>
          <a:lstStyle/>
          <a:p>
            <a:r>
              <a:rPr lang="en-GB" sz="2000" b="1" dirty="0">
                <a:solidFill>
                  <a:schemeClr val="bg1"/>
                </a:solidFill>
              </a:rPr>
              <a:t>Added </a:t>
            </a:r>
          </a:p>
          <a:p>
            <a:r>
              <a:rPr lang="en-GB" sz="2000" b="1" dirty="0">
                <a:solidFill>
                  <a:schemeClr val="bg1"/>
                </a:solidFill>
              </a:rPr>
              <a:t>functionality</a:t>
            </a:r>
          </a:p>
        </p:txBody>
      </p:sp>
      <p:sp>
        <p:nvSpPr>
          <p:cNvPr id="9" name="TextBox 8">
            <a:extLst>
              <a:ext uri="{FF2B5EF4-FFF2-40B4-BE49-F238E27FC236}">
                <a16:creationId xmlns:a16="http://schemas.microsoft.com/office/drawing/2014/main" id="{36CDF5FE-C3AD-1C40-7EA8-8C44E5BC6EE6}"/>
              </a:ext>
            </a:extLst>
          </p:cNvPr>
          <p:cNvSpPr txBox="1"/>
          <p:nvPr/>
        </p:nvSpPr>
        <p:spPr>
          <a:xfrm>
            <a:off x="2820488" y="3429000"/>
            <a:ext cx="1078244" cy="707886"/>
          </a:xfrm>
          <a:prstGeom prst="rect">
            <a:avLst/>
          </a:prstGeom>
          <a:noFill/>
        </p:spPr>
        <p:txBody>
          <a:bodyPr wrap="none" rtlCol="0">
            <a:spAutoFit/>
          </a:bodyPr>
          <a:lstStyle/>
          <a:p>
            <a:r>
              <a:rPr lang="en-GB" sz="2000" b="1" dirty="0">
                <a:solidFill>
                  <a:schemeClr val="bg1"/>
                </a:solidFill>
              </a:rPr>
              <a:t>Starting </a:t>
            </a:r>
          </a:p>
          <a:p>
            <a:r>
              <a:rPr lang="en-GB" sz="2000" b="1" dirty="0">
                <a:solidFill>
                  <a:schemeClr val="bg1"/>
                </a:solidFill>
              </a:rPr>
              <a:t>baseline</a:t>
            </a:r>
          </a:p>
        </p:txBody>
      </p:sp>
    </p:spTree>
    <p:extLst>
      <p:ext uri="{BB962C8B-B14F-4D97-AF65-F5344CB8AC3E}">
        <p14:creationId xmlns:p14="http://schemas.microsoft.com/office/powerpoint/2010/main" val="246457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D5F92-41C2-6837-FFFD-C8A3BB53B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94458-A315-2A09-463F-89DD2591CC68}"/>
              </a:ext>
            </a:extLst>
          </p:cNvPr>
          <p:cNvSpPr>
            <a:spLocks noGrp="1"/>
          </p:cNvSpPr>
          <p:nvPr>
            <p:ph type="title"/>
          </p:nvPr>
        </p:nvSpPr>
        <p:spPr/>
        <p:txBody>
          <a:bodyPr/>
          <a:lstStyle/>
          <a:p>
            <a:r>
              <a:rPr lang="en-US" dirty="0"/>
              <a:t>Comparison between ILP and Proposed Heuristics</a:t>
            </a:r>
          </a:p>
        </p:txBody>
      </p:sp>
      <p:sp>
        <p:nvSpPr>
          <p:cNvPr id="3" name="Footer Placeholder 2">
            <a:extLst>
              <a:ext uri="{FF2B5EF4-FFF2-40B4-BE49-F238E27FC236}">
                <a16:creationId xmlns:a16="http://schemas.microsoft.com/office/drawing/2014/main" id="{8FEB04CB-1239-6066-856F-BED00EF3CCAE}"/>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6D37F5D5-BA09-EF5C-2D51-2823AE94C6EA}"/>
              </a:ext>
            </a:extLst>
          </p:cNvPr>
          <p:cNvSpPr>
            <a:spLocks noGrp="1"/>
          </p:cNvSpPr>
          <p:nvPr>
            <p:ph type="sldNum" sz="quarter" idx="12"/>
          </p:nvPr>
        </p:nvSpPr>
        <p:spPr/>
        <p:txBody>
          <a:bodyPr/>
          <a:lstStyle/>
          <a:p>
            <a:fld id="{5AFE0081-1ED4-41E0-88AB-D26DBE160EA6}" type="slidenum">
              <a:rPr lang="en-US" smtClean="0"/>
              <a:t>23</a:t>
            </a:fld>
            <a:endParaRPr lang="en-US"/>
          </a:p>
        </p:txBody>
      </p:sp>
      <p:pic>
        <p:nvPicPr>
          <p:cNvPr id="7" name="Picture 6" descr="A screenshot of a computer&#10;&#10;AI-generated content may be incorrect.">
            <a:extLst>
              <a:ext uri="{FF2B5EF4-FFF2-40B4-BE49-F238E27FC236}">
                <a16:creationId xmlns:a16="http://schemas.microsoft.com/office/drawing/2014/main" id="{43D5F9F3-F210-1AC4-A889-A2C29A8D79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539" y="1766483"/>
            <a:ext cx="7224486" cy="3766511"/>
          </a:xfrm>
          <a:prstGeom prst="rect">
            <a:avLst/>
          </a:prstGeom>
        </p:spPr>
      </p:pic>
    </p:spTree>
    <p:extLst>
      <p:ext uri="{BB962C8B-B14F-4D97-AF65-F5344CB8AC3E}">
        <p14:creationId xmlns:p14="http://schemas.microsoft.com/office/powerpoint/2010/main" val="551309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C1B1C-AF66-A29E-0847-6B2B66A621A7}"/>
            </a:ext>
          </a:extLst>
        </p:cNvPr>
        <p:cNvGrpSpPr/>
        <p:nvPr/>
      </p:nvGrpSpPr>
      <p:grpSpPr>
        <a:xfrm>
          <a:off x="0" y="0"/>
          <a:ext cx="0" cy="0"/>
          <a:chOff x="0" y="0"/>
          <a:chExt cx="0" cy="0"/>
        </a:xfrm>
      </p:grpSpPr>
      <p:pic>
        <p:nvPicPr>
          <p:cNvPr id="6" name="Picture 5" descr="A screen shot of a graph&#10;&#10;AI-generated content may be incorrect.">
            <a:extLst>
              <a:ext uri="{FF2B5EF4-FFF2-40B4-BE49-F238E27FC236}">
                <a16:creationId xmlns:a16="http://schemas.microsoft.com/office/drawing/2014/main" id="{01C5C792-5693-E856-EDED-2D3BEC1B8F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061" y="1772306"/>
            <a:ext cx="7146287" cy="3725742"/>
          </a:xfrm>
          <a:prstGeom prst="rect">
            <a:avLst/>
          </a:prstGeom>
        </p:spPr>
      </p:pic>
      <p:sp>
        <p:nvSpPr>
          <p:cNvPr id="2" name="Title 1">
            <a:extLst>
              <a:ext uri="{FF2B5EF4-FFF2-40B4-BE49-F238E27FC236}">
                <a16:creationId xmlns:a16="http://schemas.microsoft.com/office/drawing/2014/main" id="{0C8F2A2B-6529-592D-A920-B1BEE52BB8B4}"/>
              </a:ext>
            </a:extLst>
          </p:cNvPr>
          <p:cNvSpPr>
            <a:spLocks noGrp="1"/>
          </p:cNvSpPr>
          <p:nvPr>
            <p:ph type="title"/>
          </p:nvPr>
        </p:nvSpPr>
        <p:spPr/>
        <p:txBody>
          <a:bodyPr/>
          <a:lstStyle/>
          <a:p>
            <a:r>
              <a:rPr lang="en-US" dirty="0"/>
              <a:t>Comparison between ILP and Proposed Heuristics</a:t>
            </a:r>
          </a:p>
        </p:txBody>
      </p:sp>
      <p:sp>
        <p:nvSpPr>
          <p:cNvPr id="3" name="Footer Placeholder 2">
            <a:extLst>
              <a:ext uri="{FF2B5EF4-FFF2-40B4-BE49-F238E27FC236}">
                <a16:creationId xmlns:a16="http://schemas.microsoft.com/office/drawing/2014/main" id="{2477544E-7B4A-89AE-E7FB-995FFB724617}"/>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99FADBD8-F8D1-D51A-6B80-FF9FD9B1AEC4}"/>
              </a:ext>
            </a:extLst>
          </p:cNvPr>
          <p:cNvSpPr>
            <a:spLocks noGrp="1"/>
          </p:cNvSpPr>
          <p:nvPr>
            <p:ph type="sldNum" sz="quarter" idx="12"/>
          </p:nvPr>
        </p:nvSpPr>
        <p:spPr/>
        <p:txBody>
          <a:bodyPr/>
          <a:lstStyle/>
          <a:p>
            <a:fld id="{5AFE0081-1ED4-41E0-88AB-D26DBE160EA6}" type="slidenum">
              <a:rPr lang="en-US" smtClean="0"/>
              <a:t>24</a:t>
            </a:fld>
            <a:endParaRPr lang="en-US"/>
          </a:p>
        </p:txBody>
      </p:sp>
      <p:sp>
        <p:nvSpPr>
          <p:cNvPr id="8" name="Content Placeholder 2">
            <a:extLst>
              <a:ext uri="{FF2B5EF4-FFF2-40B4-BE49-F238E27FC236}">
                <a16:creationId xmlns:a16="http://schemas.microsoft.com/office/drawing/2014/main" id="{AC651DC9-31CC-6326-5E24-111F9B7B4C05}"/>
              </a:ext>
            </a:extLst>
          </p:cNvPr>
          <p:cNvSpPr txBox="1">
            <a:spLocks/>
          </p:cNvSpPr>
          <p:nvPr/>
        </p:nvSpPr>
        <p:spPr>
          <a:xfrm>
            <a:off x="7620000" y="1638938"/>
            <a:ext cx="4776869" cy="40379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600" dirty="0"/>
              <a:t>Improvement of acceptance ratio</a:t>
            </a:r>
          </a:p>
          <a:p>
            <a:pPr lvl="1"/>
            <a:r>
              <a:rPr lang="en-GB" sz="2400" dirty="0"/>
              <a:t>SPFD: up to 55%</a:t>
            </a:r>
          </a:p>
        </p:txBody>
      </p:sp>
    </p:spTree>
    <p:extLst>
      <p:ext uri="{BB962C8B-B14F-4D97-AF65-F5344CB8AC3E}">
        <p14:creationId xmlns:p14="http://schemas.microsoft.com/office/powerpoint/2010/main" val="1672002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85856-C8DE-94DF-E41C-AAC7893C3843}"/>
            </a:ext>
          </a:extLst>
        </p:cNvPr>
        <p:cNvGrpSpPr/>
        <p:nvPr/>
      </p:nvGrpSpPr>
      <p:grpSpPr>
        <a:xfrm>
          <a:off x="0" y="0"/>
          <a:ext cx="0" cy="0"/>
          <a:chOff x="0" y="0"/>
          <a:chExt cx="0" cy="0"/>
        </a:xfrm>
      </p:grpSpPr>
      <p:pic>
        <p:nvPicPr>
          <p:cNvPr id="7" name="Picture 6" descr="A graph of different colored bars&#10;&#10;AI-generated content may be incorrect.">
            <a:extLst>
              <a:ext uri="{FF2B5EF4-FFF2-40B4-BE49-F238E27FC236}">
                <a16:creationId xmlns:a16="http://schemas.microsoft.com/office/drawing/2014/main" id="{EB9E8F7E-450E-260A-4BA6-A17745FC09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249" y="1777997"/>
            <a:ext cx="7029436" cy="3664822"/>
          </a:xfrm>
          <a:prstGeom prst="rect">
            <a:avLst/>
          </a:prstGeom>
        </p:spPr>
      </p:pic>
      <p:sp>
        <p:nvSpPr>
          <p:cNvPr id="2" name="Title 1">
            <a:extLst>
              <a:ext uri="{FF2B5EF4-FFF2-40B4-BE49-F238E27FC236}">
                <a16:creationId xmlns:a16="http://schemas.microsoft.com/office/drawing/2014/main" id="{BA9E7B3A-3EF6-8724-ED64-74C0BF5BCF57}"/>
              </a:ext>
            </a:extLst>
          </p:cNvPr>
          <p:cNvSpPr>
            <a:spLocks noGrp="1"/>
          </p:cNvSpPr>
          <p:nvPr>
            <p:ph type="title"/>
          </p:nvPr>
        </p:nvSpPr>
        <p:spPr/>
        <p:txBody>
          <a:bodyPr/>
          <a:lstStyle/>
          <a:p>
            <a:r>
              <a:rPr lang="en-US" dirty="0"/>
              <a:t>Comparison between ILP and Proposed Heuristics</a:t>
            </a:r>
          </a:p>
        </p:txBody>
      </p:sp>
      <p:sp>
        <p:nvSpPr>
          <p:cNvPr id="3" name="Footer Placeholder 2">
            <a:extLst>
              <a:ext uri="{FF2B5EF4-FFF2-40B4-BE49-F238E27FC236}">
                <a16:creationId xmlns:a16="http://schemas.microsoft.com/office/drawing/2014/main" id="{02FEA0D4-4695-339E-0F13-C5B27177285B}"/>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C0E3895F-CDF5-8B5F-A305-3C6E6E0C0066}"/>
              </a:ext>
            </a:extLst>
          </p:cNvPr>
          <p:cNvSpPr>
            <a:spLocks noGrp="1"/>
          </p:cNvSpPr>
          <p:nvPr>
            <p:ph type="sldNum" sz="quarter" idx="12"/>
          </p:nvPr>
        </p:nvSpPr>
        <p:spPr/>
        <p:txBody>
          <a:bodyPr/>
          <a:lstStyle/>
          <a:p>
            <a:fld id="{5AFE0081-1ED4-41E0-88AB-D26DBE160EA6}" type="slidenum">
              <a:rPr lang="en-US" smtClean="0"/>
              <a:t>25</a:t>
            </a:fld>
            <a:endParaRPr lang="en-US"/>
          </a:p>
        </p:txBody>
      </p:sp>
      <p:sp>
        <p:nvSpPr>
          <p:cNvPr id="8" name="Content Placeholder 2">
            <a:extLst>
              <a:ext uri="{FF2B5EF4-FFF2-40B4-BE49-F238E27FC236}">
                <a16:creationId xmlns:a16="http://schemas.microsoft.com/office/drawing/2014/main" id="{203712F6-B4A6-1335-9FA0-E7AB50D70C85}"/>
              </a:ext>
            </a:extLst>
          </p:cNvPr>
          <p:cNvSpPr txBox="1">
            <a:spLocks/>
          </p:cNvSpPr>
          <p:nvPr/>
        </p:nvSpPr>
        <p:spPr>
          <a:xfrm>
            <a:off x="7620000" y="1638938"/>
            <a:ext cx="4776869" cy="40379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600" dirty="0"/>
              <a:t>Improvement of acceptance ratio</a:t>
            </a:r>
          </a:p>
          <a:p>
            <a:pPr lvl="1"/>
            <a:r>
              <a:rPr lang="en-GB" sz="2400" dirty="0"/>
              <a:t>SPFD: up to 55%</a:t>
            </a:r>
          </a:p>
          <a:p>
            <a:pPr lvl="1"/>
            <a:r>
              <a:rPr lang="en-GB" sz="2400" dirty="0"/>
              <a:t>BO: further 9% vs SPFD</a:t>
            </a:r>
          </a:p>
          <a:p>
            <a:endParaRPr lang="en-GB" sz="2600" dirty="0"/>
          </a:p>
        </p:txBody>
      </p:sp>
    </p:spTree>
    <p:extLst>
      <p:ext uri="{BB962C8B-B14F-4D97-AF65-F5344CB8AC3E}">
        <p14:creationId xmlns:p14="http://schemas.microsoft.com/office/powerpoint/2010/main" val="193899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FB73-4CBD-027F-0F77-C85E2621C0A9}"/>
            </a:ext>
          </a:extLst>
        </p:cNvPr>
        <p:cNvGrpSpPr/>
        <p:nvPr/>
      </p:nvGrpSpPr>
      <p:grpSpPr>
        <a:xfrm>
          <a:off x="0" y="0"/>
          <a:ext cx="0" cy="0"/>
          <a:chOff x="0" y="0"/>
          <a:chExt cx="0" cy="0"/>
        </a:xfrm>
      </p:grpSpPr>
      <p:pic>
        <p:nvPicPr>
          <p:cNvPr id="6" name="Picture 5" descr="A graph of different colored bars&#10;&#10;AI-generated content may be incorrect.">
            <a:extLst>
              <a:ext uri="{FF2B5EF4-FFF2-40B4-BE49-F238E27FC236}">
                <a16:creationId xmlns:a16="http://schemas.microsoft.com/office/drawing/2014/main" id="{E2E02E82-90A5-5AE6-E1EC-79A5C1704D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6314" y="1777997"/>
            <a:ext cx="6965371" cy="3631421"/>
          </a:xfrm>
          <a:prstGeom prst="rect">
            <a:avLst/>
          </a:prstGeom>
        </p:spPr>
      </p:pic>
      <p:sp>
        <p:nvSpPr>
          <p:cNvPr id="2" name="Title 1">
            <a:extLst>
              <a:ext uri="{FF2B5EF4-FFF2-40B4-BE49-F238E27FC236}">
                <a16:creationId xmlns:a16="http://schemas.microsoft.com/office/drawing/2014/main" id="{1BBE7BC8-CFFB-665D-4FA7-FB6C2DF6FBA6}"/>
              </a:ext>
            </a:extLst>
          </p:cNvPr>
          <p:cNvSpPr>
            <a:spLocks noGrp="1"/>
          </p:cNvSpPr>
          <p:nvPr>
            <p:ph type="title"/>
          </p:nvPr>
        </p:nvSpPr>
        <p:spPr/>
        <p:txBody>
          <a:bodyPr/>
          <a:lstStyle/>
          <a:p>
            <a:r>
              <a:rPr lang="en-US" dirty="0"/>
              <a:t>Comparison between ILP and Proposed Heuristics</a:t>
            </a:r>
          </a:p>
        </p:txBody>
      </p:sp>
      <p:sp>
        <p:nvSpPr>
          <p:cNvPr id="3" name="Footer Placeholder 2">
            <a:extLst>
              <a:ext uri="{FF2B5EF4-FFF2-40B4-BE49-F238E27FC236}">
                <a16:creationId xmlns:a16="http://schemas.microsoft.com/office/drawing/2014/main" id="{24C04E31-F606-5C1E-5EB5-32B0B25F02B6}"/>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E99FA36B-48FD-29B3-2887-037B0F08BB39}"/>
              </a:ext>
            </a:extLst>
          </p:cNvPr>
          <p:cNvSpPr>
            <a:spLocks noGrp="1"/>
          </p:cNvSpPr>
          <p:nvPr>
            <p:ph type="sldNum" sz="quarter" idx="12"/>
          </p:nvPr>
        </p:nvSpPr>
        <p:spPr/>
        <p:txBody>
          <a:bodyPr/>
          <a:lstStyle/>
          <a:p>
            <a:fld id="{5AFE0081-1ED4-41E0-88AB-D26DBE160EA6}" type="slidenum">
              <a:rPr lang="en-US" smtClean="0"/>
              <a:t>26</a:t>
            </a:fld>
            <a:endParaRPr lang="en-US"/>
          </a:p>
        </p:txBody>
      </p:sp>
      <p:sp>
        <p:nvSpPr>
          <p:cNvPr id="8" name="Content Placeholder 2">
            <a:extLst>
              <a:ext uri="{FF2B5EF4-FFF2-40B4-BE49-F238E27FC236}">
                <a16:creationId xmlns:a16="http://schemas.microsoft.com/office/drawing/2014/main" id="{6AD3F8CE-9BDD-F469-EC56-63AF4EC975EE}"/>
              </a:ext>
            </a:extLst>
          </p:cNvPr>
          <p:cNvSpPr txBox="1">
            <a:spLocks/>
          </p:cNvSpPr>
          <p:nvPr/>
        </p:nvSpPr>
        <p:spPr>
          <a:xfrm>
            <a:off x="7620000" y="1638938"/>
            <a:ext cx="4776869" cy="40379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600" dirty="0"/>
              <a:t>Improvement of acceptance ratio</a:t>
            </a:r>
          </a:p>
          <a:p>
            <a:pPr lvl="1"/>
            <a:r>
              <a:rPr lang="en-GB" sz="2400" dirty="0"/>
              <a:t>SPFD: up to 55%</a:t>
            </a:r>
          </a:p>
          <a:p>
            <a:pPr lvl="1"/>
            <a:r>
              <a:rPr lang="en-GB" sz="2400" dirty="0"/>
              <a:t>BO: further 9% vs SPFD</a:t>
            </a:r>
          </a:p>
          <a:p>
            <a:endParaRPr lang="en-GB" sz="2600" dirty="0"/>
          </a:p>
          <a:p>
            <a:r>
              <a:rPr lang="en-GB" sz="2600" dirty="0"/>
              <a:t>Optimality gap &lt; 6%</a:t>
            </a:r>
          </a:p>
          <a:p>
            <a:endParaRPr lang="en-GB" sz="2600" dirty="0"/>
          </a:p>
        </p:txBody>
      </p:sp>
      <p:sp>
        <p:nvSpPr>
          <p:cNvPr id="9" name="Rectangle: Rounded Corners 8">
            <a:extLst>
              <a:ext uri="{FF2B5EF4-FFF2-40B4-BE49-F238E27FC236}">
                <a16:creationId xmlns:a16="http://schemas.microsoft.com/office/drawing/2014/main" id="{BEE72E1D-E0F3-CFC4-A760-AC3D64E59F30}"/>
              </a:ext>
            </a:extLst>
          </p:cNvPr>
          <p:cNvSpPr/>
          <p:nvPr/>
        </p:nvSpPr>
        <p:spPr>
          <a:xfrm>
            <a:off x="3417496" y="2608581"/>
            <a:ext cx="342092" cy="2254630"/>
          </a:xfrm>
          <a:prstGeom prst="roundRect">
            <a:avLst/>
          </a:prstGeom>
          <a:noFill/>
          <a:ln w="6032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42676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563A7-CBB3-2458-490E-942D21450F68}"/>
            </a:ext>
          </a:extLst>
        </p:cNvPr>
        <p:cNvGrpSpPr/>
        <p:nvPr/>
      </p:nvGrpSpPr>
      <p:grpSpPr>
        <a:xfrm>
          <a:off x="0" y="0"/>
          <a:ext cx="0" cy="0"/>
          <a:chOff x="0" y="0"/>
          <a:chExt cx="0" cy="0"/>
        </a:xfrm>
      </p:grpSpPr>
      <p:pic>
        <p:nvPicPr>
          <p:cNvPr id="10" name="Picture 9" descr="A graph of different colored bars&#10;&#10;AI-generated content may be incorrect.">
            <a:extLst>
              <a:ext uri="{FF2B5EF4-FFF2-40B4-BE49-F238E27FC236}">
                <a16:creationId xmlns:a16="http://schemas.microsoft.com/office/drawing/2014/main" id="{14F86456-13FB-B0E3-7313-C53921474D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6314" y="1786895"/>
            <a:ext cx="6965371" cy="3631421"/>
          </a:xfrm>
          <a:prstGeom prst="rect">
            <a:avLst/>
          </a:prstGeom>
        </p:spPr>
      </p:pic>
      <p:sp>
        <p:nvSpPr>
          <p:cNvPr id="2" name="Title 1">
            <a:extLst>
              <a:ext uri="{FF2B5EF4-FFF2-40B4-BE49-F238E27FC236}">
                <a16:creationId xmlns:a16="http://schemas.microsoft.com/office/drawing/2014/main" id="{F1833599-8029-B8BC-F0E9-3CE908EDB8E5}"/>
              </a:ext>
            </a:extLst>
          </p:cNvPr>
          <p:cNvSpPr>
            <a:spLocks noGrp="1"/>
          </p:cNvSpPr>
          <p:nvPr>
            <p:ph type="title"/>
          </p:nvPr>
        </p:nvSpPr>
        <p:spPr/>
        <p:txBody>
          <a:bodyPr/>
          <a:lstStyle/>
          <a:p>
            <a:r>
              <a:rPr lang="en-US" dirty="0"/>
              <a:t>Comparison between ILP and Proposed Heuristics</a:t>
            </a:r>
          </a:p>
        </p:txBody>
      </p:sp>
      <p:sp>
        <p:nvSpPr>
          <p:cNvPr id="3" name="Footer Placeholder 2">
            <a:extLst>
              <a:ext uri="{FF2B5EF4-FFF2-40B4-BE49-F238E27FC236}">
                <a16:creationId xmlns:a16="http://schemas.microsoft.com/office/drawing/2014/main" id="{AD117B5E-DFE4-0320-C87F-FDC7A822ABCD}"/>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79BADE2E-EEBC-D353-C676-B8907EE54465}"/>
              </a:ext>
            </a:extLst>
          </p:cNvPr>
          <p:cNvSpPr>
            <a:spLocks noGrp="1"/>
          </p:cNvSpPr>
          <p:nvPr>
            <p:ph type="sldNum" sz="quarter" idx="12"/>
          </p:nvPr>
        </p:nvSpPr>
        <p:spPr/>
        <p:txBody>
          <a:bodyPr/>
          <a:lstStyle/>
          <a:p>
            <a:fld id="{5AFE0081-1ED4-41E0-88AB-D26DBE160EA6}" type="slidenum">
              <a:rPr lang="en-US" smtClean="0"/>
              <a:t>27</a:t>
            </a:fld>
            <a:endParaRPr lang="en-US"/>
          </a:p>
        </p:txBody>
      </p:sp>
      <p:sp>
        <p:nvSpPr>
          <p:cNvPr id="5" name="Content Placeholder 2">
            <a:extLst>
              <a:ext uri="{FF2B5EF4-FFF2-40B4-BE49-F238E27FC236}">
                <a16:creationId xmlns:a16="http://schemas.microsoft.com/office/drawing/2014/main" id="{95AD92DA-7594-DB67-5CDF-BAE0E3C9D36E}"/>
              </a:ext>
            </a:extLst>
          </p:cNvPr>
          <p:cNvSpPr txBox="1">
            <a:spLocks/>
          </p:cNvSpPr>
          <p:nvPr/>
        </p:nvSpPr>
        <p:spPr>
          <a:xfrm>
            <a:off x="7620000" y="1638938"/>
            <a:ext cx="4776869" cy="40379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600" dirty="0"/>
              <a:t>Improvement of acceptance ratio</a:t>
            </a:r>
          </a:p>
          <a:p>
            <a:pPr lvl="1"/>
            <a:r>
              <a:rPr lang="en-GB" sz="2400" dirty="0"/>
              <a:t>SPFD: up to 55%</a:t>
            </a:r>
          </a:p>
          <a:p>
            <a:pPr lvl="1"/>
            <a:r>
              <a:rPr lang="en-GB" sz="2400" dirty="0"/>
              <a:t>BO: further 9% vs SPFD</a:t>
            </a:r>
          </a:p>
          <a:p>
            <a:endParaRPr lang="en-GB" sz="2600" dirty="0"/>
          </a:p>
          <a:p>
            <a:r>
              <a:rPr lang="en-GB" sz="2600" dirty="0"/>
              <a:t>Optimality gap &lt; 6%</a:t>
            </a:r>
          </a:p>
          <a:p>
            <a:endParaRPr lang="en-GB" sz="2600" dirty="0"/>
          </a:p>
          <a:p>
            <a:r>
              <a:rPr lang="en-GB" sz="2600" dirty="0"/>
              <a:t>Execution time:</a:t>
            </a:r>
          </a:p>
          <a:p>
            <a:pPr lvl="1"/>
            <a:r>
              <a:rPr lang="en-GB" sz="2200" dirty="0"/>
              <a:t>SPFD: &lt; 1 second</a:t>
            </a:r>
          </a:p>
          <a:p>
            <a:pPr lvl="1"/>
            <a:r>
              <a:rPr lang="en-GB" sz="2200" dirty="0"/>
              <a:t>BO: &lt; 500 second</a:t>
            </a:r>
          </a:p>
        </p:txBody>
      </p:sp>
      <p:sp>
        <p:nvSpPr>
          <p:cNvPr id="11" name="Rectangle: Rounded Corners 10">
            <a:extLst>
              <a:ext uri="{FF2B5EF4-FFF2-40B4-BE49-F238E27FC236}">
                <a16:creationId xmlns:a16="http://schemas.microsoft.com/office/drawing/2014/main" id="{F395461B-E168-407A-2F3B-B2805F88C56A}"/>
              </a:ext>
            </a:extLst>
          </p:cNvPr>
          <p:cNvSpPr/>
          <p:nvPr/>
        </p:nvSpPr>
        <p:spPr>
          <a:xfrm>
            <a:off x="4011564" y="2501482"/>
            <a:ext cx="3653087" cy="2979093"/>
          </a:xfrm>
          <a:prstGeom prst="roundRect">
            <a:avLst/>
          </a:prstGeom>
          <a:noFill/>
          <a:ln w="6032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35088446"/>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BAE9-FC6C-4754-9CCF-DFD43EA5D38D}"/>
              </a:ext>
            </a:extLst>
          </p:cNvPr>
          <p:cNvSpPr>
            <a:spLocks noGrp="1"/>
          </p:cNvSpPr>
          <p:nvPr>
            <p:ph type="title"/>
          </p:nvPr>
        </p:nvSpPr>
        <p:spPr/>
        <p:txBody>
          <a:bodyPr/>
          <a:lstStyle/>
          <a:p>
            <a:r>
              <a:rPr lang="en-US" sz="3600" dirty="0"/>
              <a:t>Performance under different requested generation rate </a:t>
            </a:r>
          </a:p>
        </p:txBody>
      </p:sp>
      <p:sp>
        <p:nvSpPr>
          <p:cNvPr id="3" name="Footer Placeholder 2">
            <a:extLst>
              <a:ext uri="{FF2B5EF4-FFF2-40B4-BE49-F238E27FC236}">
                <a16:creationId xmlns:a16="http://schemas.microsoft.com/office/drawing/2014/main" id="{11805B5E-0BD4-0143-0086-4B8EA637F3DE}"/>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3374E6C6-6122-E9EF-9E78-9E1104E2BD13}"/>
              </a:ext>
            </a:extLst>
          </p:cNvPr>
          <p:cNvSpPr>
            <a:spLocks noGrp="1"/>
          </p:cNvSpPr>
          <p:nvPr>
            <p:ph type="sldNum" sz="quarter" idx="12"/>
          </p:nvPr>
        </p:nvSpPr>
        <p:spPr/>
        <p:txBody>
          <a:bodyPr/>
          <a:lstStyle/>
          <a:p>
            <a:fld id="{5AFE0081-1ED4-41E0-88AB-D26DBE160EA6}" type="slidenum">
              <a:rPr lang="en-US" smtClean="0"/>
              <a:t>28</a:t>
            </a:fld>
            <a:endParaRPr lang="en-US"/>
          </a:p>
        </p:txBody>
      </p:sp>
      <p:pic>
        <p:nvPicPr>
          <p:cNvPr id="6" name="Picture 5">
            <a:extLst>
              <a:ext uri="{FF2B5EF4-FFF2-40B4-BE49-F238E27FC236}">
                <a16:creationId xmlns:a16="http://schemas.microsoft.com/office/drawing/2014/main" id="{56561984-B4E2-C598-1432-0A46E9A78144}"/>
              </a:ext>
            </a:extLst>
          </p:cNvPr>
          <p:cNvPicPr>
            <a:picLocks noChangeAspect="1"/>
          </p:cNvPicPr>
          <p:nvPr/>
        </p:nvPicPr>
        <p:blipFill rotWithShape="1">
          <a:blip r:embed="rId2"/>
          <a:srcRect t="28120"/>
          <a:stretch/>
        </p:blipFill>
        <p:spPr>
          <a:xfrm>
            <a:off x="0" y="1440332"/>
            <a:ext cx="12192000" cy="445306"/>
          </a:xfrm>
          <a:prstGeom prst="rect">
            <a:avLst/>
          </a:prstGeom>
        </p:spPr>
      </p:pic>
      <p:pic>
        <p:nvPicPr>
          <p:cNvPr id="8" name="Picture 7">
            <a:extLst>
              <a:ext uri="{FF2B5EF4-FFF2-40B4-BE49-F238E27FC236}">
                <a16:creationId xmlns:a16="http://schemas.microsoft.com/office/drawing/2014/main" id="{26B30012-89BF-08F5-DF78-5D7DEF62D61C}"/>
              </a:ext>
            </a:extLst>
          </p:cNvPr>
          <p:cNvPicPr>
            <a:picLocks noChangeAspect="1"/>
          </p:cNvPicPr>
          <p:nvPr/>
        </p:nvPicPr>
        <p:blipFill>
          <a:blip r:embed="rId3"/>
          <a:srcRect r="50293" b="7558"/>
          <a:stretch>
            <a:fillRect/>
          </a:stretch>
        </p:blipFill>
        <p:spPr>
          <a:xfrm>
            <a:off x="177522" y="2260021"/>
            <a:ext cx="5925737" cy="3830059"/>
          </a:xfrm>
          <a:prstGeom prst="rect">
            <a:avLst/>
          </a:prstGeom>
        </p:spPr>
      </p:pic>
    </p:spTree>
    <p:extLst>
      <p:ext uri="{BB962C8B-B14F-4D97-AF65-F5344CB8AC3E}">
        <p14:creationId xmlns:p14="http://schemas.microsoft.com/office/powerpoint/2010/main" val="2651195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187F8-35FA-F8A7-0BB9-E42C41A92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DC778-3965-50C2-4B24-790E7C9BC153}"/>
              </a:ext>
            </a:extLst>
          </p:cNvPr>
          <p:cNvSpPr>
            <a:spLocks noGrp="1"/>
          </p:cNvSpPr>
          <p:nvPr>
            <p:ph type="title"/>
          </p:nvPr>
        </p:nvSpPr>
        <p:spPr/>
        <p:txBody>
          <a:bodyPr/>
          <a:lstStyle/>
          <a:p>
            <a:r>
              <a:rPr lang="en-US" sz="3600" dirty="0"/>
              <a:t>Performance under different requested generation rate </a:t>
            </a:r>
          </a:p>
        </p:txBody>
      </p:sp>
      <p:sp>
        <p:nvSpPr>
          <p:cNvPr id="3" name="Footer Placeholder 2">
            <a:extLst>
              <a:ext uri="{FF2B5EF4-FFF2-40B4-BE49-F238E27FC236}">
                <a16:creationId xmlns:a16="http://schemas.microsoft.com/office/drawing/2014/main" id="{691456AF-28B1-1359-89EE-717379AF0299}"/>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C95EDA51-9A15-65A2-9FAA-3707FD4FC7EB}"/>
              </a:ext>
            </a:extLst>
          </p:cNvPr>
          <p:cNvSpPr>
            <a:spLocks noGrp="1"/>
          </p:cNvSpPr>
          <p:nvPr>
            <p:ph type="sldNum" sz="quarter" idx="12"/>
          </p:nvPr>
        </p:nvSpPr>
        <p:spPr/>
        <p:txBody>
          <a:bodyPr/>
          <a:lstStyle/>
          <a:p>
            <a:fld id="{5AFE0081-1ED4-41E0-88AB-D26DBE160EA6}" type="slidenum">
              <a:rPr lang="en-US" smtClean="0"/>
              <a:t>29</a:t>
            </a:fld>
            <a:endParaRPr lang="en-US"/>
          </a:p>
        </p:txBody>
      </p:sp>
      <p:sp>
        <p:nvSpPr>
          <p:cNvPr id="5" name="Content Placeholder 2">
            <a:extLst>
              <a:ext uri="{FF2B5EF4-FFF2-40B4-BE49-F238E27FC236}">
                <a16:creationId xmlns:a16="http://schemas.microsoft.com/office/drawing/2014/main" id="{A45A71A7-6E50-47E2-3FAF-25204C5372AF}"/>
              </a:ext>
            </a:extLst>
          </p:cNvPr>
          <p:cNvSpPr txBox="1">
            <a:spLocks/>
          </p:cNvSpPr>
          <p:nvPr/>
        </p:nvSpPr>
        <p:spPr>
          <a:xfrm>
            <a:off x="5885896" y="2393186"/>
            <a:ext cx="6306104" cy="29067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800" dirty="0"/>
              <a:t>Advantages of link configuration in acceptance ratio</a:t>
            </a:r>
          </a:p>
          <a:p>
            <a:pPr lvl="1">
              <a:buFont typeface="Wingdings" panose="05000000000000000000" pitchFamily="2" charset="2"/>
              <a:buChar char="§"/>
            </a:pPr>
            <a:r>
              <a:rPr lang="en-US" sz="2800" dirty="0"/>
              <a:t>SPFD</a:t>
            </a:r>
            <a:r>
              <a:rPr lang="en-GB" sz="2800" dirty="0"/>
              <a:t>: </a:t>
            </a:r>
            <a:r>
              <a:rPr lang="en-US" sz="2800" dirty="0"/>
              <a:t>improves by up to </a:t>
            </a:r>
            <a:r>
              <a:rPr lang="en-US" sz="2800" dirty="0">
                <a:solidFill>
                  <a:srgbClr val="FF0000"/>
                </a:solidFill>
              </a:rPr>
              <a:t>83%</a:t>
            </a:r>
            <a:endParaRPr lang="en-GB" sz="2800" dirty="0">
              <a:solidFill>
                <a:srgbClr val="FF0000"/>
              </a:solidFill>
            </a:endParaRPr>
          </a:p>
          <a:p>
            <a:pPr>
              <a:buFont typeface="Wingdings" panose="05000000000000000000" pitchFamily="2" charset="2"/>
              <a:buChar char="§"/>
            </a:pPr>
            <a:endParaRPr lang="en-US" sz="2000" b="1" dirty="0">
              <a:solidFill>
                <a:srgbClr val="FF0000"/>
              </a:solidFill>
            </a:endParaRPr>
          </a:p>
        </p:txBody>
      </p:sp>
      <p:pic>
        <p:nvPicPr>
          <p:cNvPr id="6" name="Picture 5">
            <a:extLst>
              <a:ext uri="{FF2B5EF4-FFF2-40B4-BE49-F238E27FC236}">
                <a16:creationId xmlns:a16="http://schemas.microsoft.com/office/drawing/2014/main" id="{E2F166D9-45C4-74AF-C0FC-DEC5B006168D}"/>
              </a:ext>
            </a:extLst>
          </p:cNvPr>
          <p:cNvPicPr>
            <a:picLocks noChangeAspect="1"/>
          </p:cNvPicPr>
          <p:nvPr/>
        </p:nvPicPr>
        <p:blipFill rotWithShape="1">
          <a:blip r:embed="rId2"/>
          <a:srcRect t="28120"/>
          <a:stretch/>
        </p:blipFill>
        <p:spPr>
          <a:xfrm>
            <a:off x="0" y="1440332"/>
            <a:ext cx="12192000" cy="445306"/>
          </a:xfrm>
          <a:prstGeom prst="rect">
            <a:avLst/>
          </a:prstGeom>
        </p:spPr>
      </p:pic>
      <p:pic>
        <p:nvPicPr>
          <p:cNvPr id="9" name="Picture 8">
            <a:extLst>
              <a:ext uri="{FF2B5EF4-FFF2-40B4-BE49-F238E27FC236}">
                <a16:creationId xmlns:a16="http://schemas.microsoft.com/office/drawing/2014/main" id="{39F84DA8-D786-C0E9-600E-1A143731D137}"/>
              </a:ext>
            </a:extLst>
          </p:cNvPr>
          <p:cNvPicPr>
            <a:picLocks noChangeAspect="1"/>
          </p:cNvPicPr>
          <p:nvPr/>
        </p:nvPicPr>
        <p:blipFill>
          <a:blip r:embed="rId3"/>
          <a:srcRect r="50533" b="8250"/>
          <a:stretch>
            <a:fillRect/>
          </a:stretch>
        </p:blipFill>
        <p:spPr>
          <a:xfrm>
            <a:off x="110832" y="2309786"/>
            <a:ext cx="5885896" cy="3746779"/>
          </a:xfrm>
          <a:prstGeom prst="rect">
            <a:avLst/>
          </a:prstGeom>
        </p:spPr>
      </p:pic>
    </p:spTree>
    <p:extLst>
      <p:ext uri="{BB962C8B-B14F-4D97-AF65-F5344CB8AC3E}">
        <p14:creationId xmlns:p14="http://schemas.microsoft.com/office/powerpoint/2010/main" val="239579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91204-136E-4A50-317D-9BF1C2CF4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EAA9A-7789-8D11-4249-FFE002F81C1C}"/>
              </a:ext>
            </a:extLst>
          </p:cNvPr>
          <p:cNvSpPr>
            <a:spLocks noGrp="1"/>
          </p:cNvSpPr>
          <p:nvPr>
            <p:ph type="title"/>
          </p:nvPr>
        </p:nvSpPr>
        <p:spPr/>
        <p:txBody>
          <a:bodyPr/>
          <a:lstStyle/>
          <a:p>
            <a:r>
              <a:rPr lang="en-US" sz="3600" dirty="0"/>
              <a:t>Performance under different requested generation rate </a:t>
            </a:r>
          </a:p>
        </p:txBody>
      </p:sp>
      <p:sp>
        <p:nvSpPr>
          <p:cNvPr id="3" name="Footer Placeholder 2">
            <a:extLst>
              <a:ext uri="{FF2B5EF4-FFF2-40B4-BE49-F238E27FC236}">
                <a16:creationId xmlns:a16="http://schemas.microsoft.com/office/drawing/2014/main" id="{6DF4D101-7081-6DD6-D8D4-036BBB382CD3}"/>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311F9327-6CC3-CEF2-F11D-FF701B5F3CAB}"/>
              </a:ext>
            </a:extLst>
          </p:cNvPr>
          <p:cNvSpPr>
            <a:spLocks noGrp="1"/>
          </p:cNvSpPr>
          <p:nvPr>
            <p:ph type="sldNum" sz="quarter" idx="12"/>
          </p:nvPr>
        </p:nvSpPr>
        <p:spPr/>
        <p:txBody>
          <a:bodyPr/>
          <a:lstStyle/>
          <a:p>
            <a:fld id="{5AFE0081-1ED4-41E0-88AB-D26DBE160EA6}" type="slidenum">
              <a:rPr lang="en-US" smtClean="0"/>
              <a:t>30</a:t>
            </a:fld>
            <a:endParaRPr lang="en-US"/>
          </a:p>
        </p:txBody>
      </p:sp>
      <p:sp>
        <p:nvSpPr>
          <p:cNvPr id="5" name="Content Placeholder 2">
            <a:extLst>
              <a:ext uri="{FF2B5EF4-FFF2-40B4-BE49-F238E27FC236}">
                <a16:creationId xmlns:a16="http://schemas.microsoft.com/office/drawing/2014/main" id="{D6C758FB-5A05-8DD1-B66B-83C46A1914AE}"/>
              </a:ext>
            </a:extLst>
          </p:cNvPr>
          <p:cNvSpPr txBox="1">
            <a:spLocks/>
          </p:cNvSpPr>
          <p:nvPr/>
        </p:nvSpPr>
        <p:spPr>
          <a:xfrm>
            <a:off x="5885896" y="2393186"/>
            <a:ext cx="6306104" cy="29067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800" dirty="0"/>
              <a:t>Advantages of link configuration in acceptance ratio</a:t>
            </a:r>
          </a:p>
          <a:p>
            <a:pPr lvl="1">
              <a:buFont typeface="Wingdings" panose="05000000000000000000" pitchFamily="2" charset="2"/>
              <a:buChar char="§"/>
            </a:pPr>
            <a:r>
              <a:rPr lang="en-US" sz="2800" dirty="0"/>
              <a:t>SPFD</a:t>
            </a:r>
            <a:r>
              <a:rPr lang="en-GB" sz="2800" dirty="0"/>
              <a:t>: </a:t>
            </a:r>
            <a:r>
              <a:rPr lang="en-US" sz="2800" dirty="0"/>
              <a:t>improves by up to </a:t>
            </a:r>
            <a:r>
              <a:rPr lang="en-US" sz="2800" dirty="0">
                <a:solidFill>
                  <a:srgbClr val="FF0000"/>
                </a:solidFill>
              </a:rPr>
              <a:t>83%</a:t>
            </a:r>
            <a:endParaRPr lang="en-GB" sz="2800" dirty="0">
              <a:solidFill>
                <a:srgbClr val="FF0000"/>
              </a:solidFill>
            </a:endParaRPr>
          </a:p>
          <a:p>
            <a:pPr lvl="1">
              <a:buFont typeface="Wingdings" panose="05000000000000000000" pitchFamily="2" charset="2"/>
              <a:buChar char="§"/>
            </a:pPr>
            <a:r>
              <a:rPr lang="en-US" sz="2800" dirty="0"/>
              <a:t>BO further improves by up to </a:t>
            </a:r>
            <a:r>
              <a:rPr lang="en-US" sz="2800" dirty="0">
                <a:solidFill>
                  <a:srgbClr val="FF0000"/>
                </a:solidFill>
              </a:rPr>
              <a:t>3.5%</a:t>
            </a:r>
          </a:p>
          <a:p>
            <a:pPr lvl="2">
              <a:buFont typeface="Wingdings" panose="05000000000000000000" pitchFamily="2" charset="2"/>
              <a:buChar char="§"/>
            </a:pPr>
            <a:r>
              <a:rPr lang="en-US" altLang="zh-CN" sz="2800" dirty="0">
                <a:solidFill>
                  <a:srgbClr val="FF0000"/>
                </a:solidFill>
              </a:rPr>
              <a:t>Up to 6%</a:t>
            </a:r>
            <a:r>
              <a:rPr lang="en-US" altLang="zh-CN" sz="2800" dirty="0"/>
              <a:t> </a:t>
            </a:r>
            <a:r>
              <a:rPr lang="en-US" altLang="zh-CN" sz="2800" dirty="0">
                <a:solidFill>
                  <a:srgbClr val="FF0000"/>
                </a:solidFill>
              </a:rPr>
              <a:t>lower</a:t>
            </a:r>
            <a:r>
              <a:rPr lang="en-US" altLang="zh-CN" sz="2800" dirty="0"/>
              <a:t> fidelity</a:t>
            </a:r>
          </a:p>
          <a:p>
            <a:pPr lvl="2">
              <a:buFont typeface="Wingdings" panose="05000000000000000000" pitchFamily="2" charset="2"/>
              <a:buChar char="§"/>
            </a:pPr>
            <a:r>
              <a:rPr lang="en-US" sz="2800" dirty="0">
                <a:solidFill>
                  <a:srgbClr val="FF0000"/>
                </a:solidFill>
              </a:rPr>
              <a:t>5% additional </a:t>
            </a:r>
            <a:r>
              <a:rPr lang="en-US" sz="2800" dirty="0"/>
              <a:t>resource utilization</a:t>
            </a:r>
          </a:p>
          <a:p>
            <a:pPr>
              <a:buFont typeface="Wingdings" panose="05000000000000000000" pitchFamily="2" charset="2"/>
              <a:buChar char="§"/>
            </a:pPr>
            <a:endParaRPr lang="en-US" sz="2000" b="1" dirty="0">
              <a:solidFill>
                <a:srgbClr val="FF0000"/>
              </a:solidFill>
            </a:endParaRPr>
          </a:p>
        </p:txBody>
      </p:sp>
      <p:pic>
        <p:nvPicPr>
          <p:cNvPr id="6" name="Picture 5">
            <a:extLst>
              <a:ext uri="{FF2B5EF4-FFF2-40B4-BE49-F238E27FC236}">
                <a16:creationId xmlns:a16="http://schemas.microsoft.com/office/drawing/2014/main" id="{605282A0-8FC9-4A79-5EAD-E551C46E8AB1}"/>
              </a:ext>
            </a:extLst>
          </p:cNvPr>
          <p:cNvPicPr>
            <a:picLocks noChangeAspect="1"/>
          </p:cNvPicPr>
          <p:nvPr/>
        </p:nvPicPr>
        <p:blipFill rotWithShape="1">
          <a:blip r:embed="rId3"/>
          <a:srcRect t="28120"/>
          <a:stretch/>
        </p:blipFill>
        <p:spPr>
          <a:xfrm>
            <a:off x="0" y="1440332"/>
            <a:ext cx="12192000" cy="445306"/>
          </a:xfrm>
          <a:prstGeom prst="rect">
            <a:avLst/>
          </a:prstGeom>
        </p:spPr>
      </p:pic>
      <p:pic>
        <p:nvPicPr>
          <p:cNvPr id="11" name="Picture 10">
            <a:extLst>
              <a:ext uri="{FF2B5EF4-FFF2-40B4-BE49-F238E27FC236}">
                <a16:creationId xmlns:a16="http://schemas.microsoft.com/office/drawing/2014/main" id="{45171667-3CB2-4B0A-B5B4-243AD89BA8BE}"/>
              </a:ext>
            </a:extLst>
          </p:cNvPr>
          <p:cNvPicPr>
            <a:picLocks noChangeAspect="1"/>
          </p:cNvPicPr>
          <p:nvPr/>
        </p:nvPicPr>
        <p:blipFill>
          <a:blip r:embed="rId4"/>
          <a:stretch>
            <a:fillRect/>
          </a:stretch>
        </p:blipFill>
        <p:spPr>
          <a:xfrm>
            <a:off x="110832" y="2292637"/>
            <a:ext cx="5885896" cy="3757251"/>
          </a:xfrm>
          <a:prstGeom prst="rect">
            <a:avLst/>
          </a:prstGeom>
        </p:spPr>
      </p:pic>
    </p:spTree>
    <p:extLst>
      <p:ext uri="{BB962C8B-B14F-4D97-AF65-F5344CB8AC3E}">
        <p14:creationId xmlns:p14="http://schemas.microsoft.com/office/powerpoint/2010/main" val="1882338974"/>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F73DF1A6-BFEB-B139-AF8C-6636904AA32D}"/>
              </a:ext>
            </a:extLst>
          </p:cNvPr>
          <p:cNvSpPr>
            <a:spLocks noGrp="1"/>
          </p:cNvSpPr>
          <p:nvPr>
            <p:ph idx="1"/>
          </p:nvPr>
        </p:nvSpPr>
        <p:spPr>
          <a:xfrm>
            <a:off x="838200" y="1644891"/>
            <a:ext cx="11083290" cy="4711459"/>
          </a:xfrm>
        </p:spPr>
        <p:txBody>
          <a:bodyPr/>
          <a:lstStyle/>
          <a:p>
            <a:pPr>
              <a:buFont typeface="Wingdings" pitchFamily="2" charset="2"/>
              <a:buChar char="§"/>
            </a:pPr>
            <a:r>
              <a:rPr lang="en-US" sz="2800" dirty="0"/>
              <a:t>Introduction and Motivation</a:t>
            </a:r>
          </a:p>
          <a:p>
            <a:pPr lvl="4">
              <a:buFont typeface="Wingdings" pitchFamily="2" charset="2"/>
              <a:buChar char="§"/>
            </a:pPr>
            <a:endParaRPr lang="en-IT" dirty="0"/>
          </a:p>
          <a:p>
            <a:pPr>
              <a:buFont typeface="Wingdings" pitchFamily="2" charset="2"/>
              <a:buChar char="§"/>
            </a:pPr>
            <a:r>
              <a:rPr lang="en-US" altLang="zh-CN" sz="2800" dirty="0"/>
              <a:t>System Model and Problem Statement</a:t>
            </a:r>
          </a:p>
          <a:p>
            <a:pPr lvl="1">
              <a:buFont typeface="Wingdings" pitchFamily="2" charset="2"/>
              <a:buChar char="§"/>
            </a:pPr>
            <a:r>
              <a:rPr lang="en-GB" sz="2600" dirty="0"/>
              <a:t>Technical Preliminaries on Quantum Networks</a:t>
            </a:r>
          </a:p>
          <a:p>
            <a:pPr lvl="1">
              <a:buFont typeface="Wingdings" pitchFamily="2" charset="2"/>
              <a:buChar char="§"/>
            </a:pPr>
            <a:r>
              <a:rPr lang="en-GB" sz="2600" dirty="0"/>
              <a:t>Problem Statement of Link Configuration for Entanglement Routing</a:t>
            </a:r>
          </a:p>
          <a:p>
            <a:pPr lvl="1">
              <a:buFont typeface="Wingdings" pitchFamily="2" charset="2"/>
              <a:buChar char="§"/>
            </a:pPr>
            <a:endParaRPr lang="en-GB" sz="2400" dirty="0"/>
          </a:p>
          <a:p>
            <a:pPr>
              <a:buFont typeface="Wingdings" pitchFamily="2" charset="2"/>
              <a:buChar char="§"/>
            </a:pPr>
            <a:r>
              <a:rPr lang="en-GB" sz="2800" dirty="0"/>
              <a:t>Integer Linear Programming Model and Link Configuration Algorithm</a:t>
            </a:r>
          </a:p>
          <a:p>
            <a:pPr marL="1828800" lvl="4" indent="0">
              <a:buNone/>
            </a:pPr>
            <a:endParaRPr lang="en-IT" sz="1600" dirty="0"/>
          </a:p>
          <a:p>
            <a:pPr>
              <a:buFont typeface="Wingdings" pitchFamily="2" charset="2"/>
              <a:buChar char="§"/>
            </a:pPr>
            <a:r>
              <a:rPr lang="en-GB" sz="2800" dirty="0"/>
              <a:t>Numerical Results</a:t>
            </a:r>
          </a:p>
          <a:p>
            <a:pPr lvl="4">
              <a:buFont typeface="Wingdings" pitchFamily="2" charset="2"/>
              <a:buChar char="§"/>
            </a:pPr>
            <a:endParaRPr lang="en-GB" sz="1600" dirty="0"/>
          </a:p>
          <a:p>
            <a:pPr>
              <a:buFont typeface="Wingdings" pitchFamily="2" charset="2"/>
              <a:buChar char="§"/>
            </a:pPr>
            <a:r>
              <a:rPr lang="en-GB" sz="2800" b="1" dirty="0"/>
              <a:t>Conclusion</a:t>
            </a:r>
            <a:endParaRPr lang="en-IT" sz="2800" b="1"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3259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B4C6E-DE92-4301-5681-825F42D5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674EE-5CEB-71B8-E2BF-B21C84310F12}"/>
              </a:ext>
            </a:extLst>
          </p:cNvPr>
          <p:cNvSpPr>
            <a:spLocks noGrp="1"/>
          </p:cNvSpPr>
          <p:nvPr>
            <p:ph type="title"/>
          </p:nvPr>
        </p:nvSpPr>
        <p:spPr/>
        <p:txBody>
          <a:bodyPr/>
          <a:lstStyle/>
          <a:p>
            <a:r>
              <a:rPr lang="en-US" altLang="zh-CN" dirty="0"/>
              <a:t>Conclusion</a:t>
            </a:r>
            <a:endParaRPr lang="en-IT" dirty="0"/>
          </a:p>
        </p:txBody>
      </p:sp>
      <p:sp>
        <p:nvSpPr>
          <p:cNvPr id="4" name="Footer Placeholder 3">
            <a:extLst>
              <a:ext uri="{FF2B5EF4-FFF2-40B4-BE49-F238E27FC236}">
                <a16:creationId xmlns:a16="http://schemas.microsoft.com/office/drawing/2014/main" id="{4159E0C6-2421-AA78-8674-F0275F2EB7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Q. Zhang, Link Configuration for Fidelity-Constrained Entanglement Routing</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ACD1AE28-35D9-D2A1-06C5-FEF83E0E77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E0081-1ED4-41E0-88AB-D26DBE160EA6}" type="slidenum">
              <a:rPr kumimoji="0" lang="en-US" sz="1200" b="0" i="0" u="none" strike="noStrike" kern="1200" cap="none" spc="0" normalizeH="0" baseline="0" noProof="0" smtClean="0">
                <a:ln>
                  <a:noFill/>
                </a:ln>
                <a:solidFill>
                  <a:srgbClr val="6DA4BB"/>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srgbClr val="6DA4BB"/>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99028059-D71B-68B8-2929-DA3E36317817}"/>
              </a:ext>
            </a:extLst>
          </p:cNvPr>
          <p:cNvSpPr>
            <a:spLocks noGrp="1"/>
          </p:cNvSpPr>
          <p:nvPr>
            <p:ph idx="1"/>
          </p:nvPr>
        </p:nvSpPr>
        <p:spPr>
          <a:xfrm>
            <a:off x="566735" y="1601376"/>
            <a:ext cx="11353800" cy="4754974"/>
          </a:xfrm>
        </p:spPr>
        <p:txBody>
          <a:bodyPr/>
          <a:lstStyle/>
          <a:p>
            <a:r>
              <a:rPr lang="en-US" altLang="zh-CN" sz="2600" dirty="0"/>
              <a:t>For the first time, we introduced the concept of </a:t>
            </a:r>
            <a:r>
              <a:rPr lang="en-GB" altLang="zh-CN" sz="2600" b="1" dirty="0"/>
              <a:t>link configuration</a:t>
            </a:r>
            <a:r>
              <a:rPr lang="en-GB" altLang="zh-CN" sz="2600" dirty="0"/>
              <a:t> (rate, fidelity) </a:t>
            </a:r>
            <a:r>
              <a:rPr lang="en-GB" altLang="zh-CN" sz="2600" b="1" dirty="0"/>
              <a:t>for</a:t>
            </a:r>
            <a:r>
              <a:rPr lang="en-GB" altLang="zh-CN" sz="2600" dirty="0"/>
              <a:t> the </a:t>
            </a:r>
            <a:r>
              <a:rPr lang="en-GB" altLang="zh-CN" sz="2600" b="1" dirty="0"/>
              <a:t>entanglement routing</a:t>
            </a:r>
            <a:r>
              <a:rPr lang="en-GB" altLang="zh-CN" sz="2600" dirty="0"/>
              <a:t> (and purification) problem</a:t>
            </a:r>
          </a:p>
          <a:p>
            <a:endParaRPr lang="en-GB" sz="2600" dirty="0"/>
          </a:p>
          <a:p>
            <a:r>
              <a:rPr lang="en-GB" sz="2600" dirty="0"/>
              <a:t>We formulated entanglement routing with link configuration as an MILP model </a:t>
            </a:r>
          </a:p>
          <a:p>
            <a:endParaRPr lang="en-GB" sz="2600" dirty="0"/>
          </a:p>
          <a:p>
            <a:r>
              <a:rPr lang="en-GB" sz="2600" dirty="0"/>
              <a:t>We proposed a scalable entanglement routing with link configuration algorithm with a </a:t>
            </a:r>
            <a:r>
              <a:rPr lang="en-GB" sz="2600" dirty="0">
                <a:solidFill>
                  <a:srgbClr val="FF0000"/>
                </a:solidFill>
              </a:rPr>
              <a:t>low optimality gap</a:t>
            </a:r>
          </a:p>
          <a:p>
            <a:endParaRPr lang="en-GB" sz="2600" dirty="0"/>
          </a:p>
          <a:p>
            <a:r>
              <a:rPr lang="en-GB" sz="2600" dirty="0"/>
              <a:t>Numerical results show that: </a:t>
            </a:r>
          </a:p>
          <a:p>
            <a:pPr lvl="1"/>
            <a:r>
              <a:rPr lang="en-GB" sz="2400" dirty="0"/>
              <a:t>SPFD: improvement of acceptance ratio of </a:t>
            </a:r>
            <a:r>
              <a:rPr lang="en-GB" sz="2400" dirty="0">
                <a:solidFill>
                  <a:srgbClr val="FF0000"/>
                </a:solidFill>
              </a:rPr>
              <a:t>up to 83% </a:t>
            </a:r>
            <a:r>
              <a:rPr lang="en-GB" sz="2400" dirty="0"/>
              <a:t>with similar execution time</a:t>
            </a:r>
            <a:endParaRPr lang="en-GB" sz="2400" dirty="0">
              <a:solidFill>
                <a:srgbClr val="FF0000"/>
              </a:solidFill>
            </a:endParaRPr>
          </a:p>
          <a:p>
            <a:pPr lvl="1"/>
            <a:r>
              <a:rPr lang="en-GB" sz="2400" dirty="0"/>
              <a:t> BO: improvement of acceptance ratio of </a:t>
            </a:r>
            <a:r>
              <a:rPr lang="en-GB" sz="2400" dirty="0">
                <a:solidFill>
                  <a:srgbClr val="FF0000"/>
                </a:solidFill>
              </a:rPr>
              <a:t>up to 87% </a:t>
            </a:r>
            <a:r>
              <a:rPr lang="en-GB" sz="2400" dirty="0"/>
              <a:t>with </a:t>
            </a:r>
            <a:r>
              <a:rPr lang="en-GB" sz="2400" dirty="0">
                <a:solidFill>
                  <a:srgbClr val="FF0000"/>
                </a:solidFill>
              </a:rPr>
              <a:t>500X</a:t>
            </a:r>
            <a:r>
              <a:rPr lang="en-GB" sz="2400" dirty="0"/>
              <a:t> execution time</a:t>
            </a:r>
            <a:endParaRPr lang="en-GB" sz="2400" dirty="0">
              <a:solidFill>
                <a:srgbClr val="FF0000"/>
              </a:solidFill>
            </a:endParaRPr>
          </a:p>
        </p:txBody>
      </p:sp>
    </p:spTree>
    <p:extLst>
      <p:ext uri="{BB962C8B-B14F-4D97-AF65-F5344CB8AC3E}">
        <p14:creationId xmlns:p14="http://schemas.microsoft.com/office/powerpoint/2010/main" val="110178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9C98-3C7D-8642-81B9-7B6B9AFA7ED1}"/>
            </a:ext>
          </a:extLst>
        </p:cNvPr>
        <p:cNvGrpSpPr/>
        <p:nvPr/>
      </p:nvGrpSpPr>
      <p:grpSpPr>
        <a:xfrm>
          <a:off x="0" y="0"/>
          <a:ext cx="0" cy="0"/>
          <a:chOff x="0" y="0"/>
          <a:chExt cx="0" cy="0"/>
        </a:xfrm>
      </p:grpSpPr>
      <p:sp>
        <p:nvSpPr>
          <p:cNvPr id="4" name="页脚占位符 3">
            <a:extLst>
              <a:ext uri="{FF2B5EF4-FFF2-40B4-BE49-F238E27FC236}">
                <a16:creationId xmlns:a16="http://schemas.microsoft.com/office/drawing/2014/main" id="{64F325B8-5FAC-D6A3-5C4A-AE2F886EFCB3}"/>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5" name="灯片编号占位符 4">
            <a:extLst>
              <a:ext uri="{FF2B5EF4-FFF2-40B4-BE49-F238E27FC236}">
                <a16:creationId xmlns:a16="http://schemas.microsoft.com/office/drawing/2014/main" id="{D742B922-4D25-912D-F402-32A308E18640}"/>
              </a:ext>
            </a:extLst>
          </p:cNvPr>
          <p:cNvSpPr>
            <a:spLocks noGrp="1"/>
          </p:cNvSpPr>
          <p:nvPr>
            <p:ph type="sldNum" sz="quarter" idx="12"/>
          </p:nvPr>
        </p:nvSpPr>
        <p:spPr/>
        <p:txBody>
          <a:bodyPr/>
          <a:lstStyle/>
          <a:p>
            <a:fld id="{5AFE0081-1ED4-41E0-88AB-D26DBE160EA6}" type="slidenum">
              <a:rPr lang="en-US" smtClean="0"/>
              <a:t>33</a:t>
            </a:fld>
            <a:endParaRPr lang="en-US"/>
          </a:p>
        </p:txBody>
      </p:sp>
      <p:sp>
        <p:nvSpPr>
          <p:cNvPr id="6" name="Title 5">
            <a:extLst>
              <a:ext uri="{FF2B5EF4-FFF2-40B4-BE49-F238E27FC236}">
                <a16:creationId xmlns:a16="http://schemas.microsoft.com/office/drawing/2014/main" id="{36F57411-CBBB-39C9-6C14-AB824B7D1D57}"/>
              </a:ext>
            </a:extLst>
          </p:cNvPr>
          <p:cNvSpPr>
            <a:spLocks noGrp="1"/>
          </p:cNvSpPr>
          <p:nvPr>
            <p:ph type="title"/>
          </p:nvPr>
        </p:nvSpPr>
        <p:spPr>
          <a:xfrm>
            <a:off x="2303418" y="2766218"/>
            <a:ext cx="7191102" cy="1325563"/>
          </a:xfrm>
        </p:spPr>
        <p:txBody>
          <a:bodyPr/>
          <a:lstStyle/>
          <a:p>
            <a:pPr algn="ctr"/>
            <a:r>
              <a:rPr lang="en-IT" sz="4800" dirty="0"/>
              <a:t>Thank you!</a:t>
            </a:r>
            <a:br>
              <a:rPr lang="en-GB" sz="4800" dirty="0"/>
            </a:br>
            <a:r>
              <a:rPr lang="en-GB" sz="4800" dirty="0"/>
              <a:t>qiaolun.zhang@polimi.it</a:t>
            </a:r>
            <a:endParaRPr lang="en-IT" sz="4800" dirty="0">
              <a:highlight>
                <a:srgbClr val="FFFF00"/>
              </a:highlight>
            </a:endParaRPr>
          </a:p>
        </p:txBody>
      </p:sp>
      <p:pic>
        <p:nvPicPr>
          <p:cNvPr id="2" name="Picture 1">
            <a:extLst>
              <a:ext uri="{FF2B5EF4-FFF2-40B4-BE49-F238E27FC236}">
                <a16:creationId xmlns:a16="http://schemas.microsoft.com/office/drawing/2014/main" id="{26B4C848-7EE5-13E2-DD17-2AA11885DB0C}"/>
              </a:ext>
            </a:extLst>
          </p:cNvPr>
          <p:cNvPicPr>
            <a:picLocks noChangeAspect="1"/>
          </p:cNvPicPr>
          <p:nvPr/>
        </p:nvPicPr>
        <p:blipFill>
          <a:blip r:embed="rId3"/>
          <a:srcRect t="5430" b="1"/>
          <a:stretch/>
        </p:blipFill>
        <p:spPr>
          <a:xfrm>
            <a:off x="0" y="-6783"/>
            <a:ext cx="12192000" cy="1112862"/>
          </a:xfrm>
          <a:prstGeom prst="rect">
            <a:avLst/>
          </a:prstGeom>
        </p:spPr>
      </p:pic>
    </p:spTree>
    <p:extLst>
      <p:ext uri="{BB962C8B-B14F-4D97-AF65-F5344CB8AC3E}">
        <p14:creationId xmlns:p14="http://schemas.microsoft.com/office/powerpoint/2010/main" val="332866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7F356-DDC9-2C36-20F3-60B0A8824309}"/>
              </a:ext>
            </a:extLst>
          </p:cNvPr>
          <p:cNvSpPr>
            <a:spLocks noGrp="1"/>
          </p:cNvSpPr>
          <p:nvPr>
            <p:ph type="title"/>
          </p:nvPr>
        </p:nvSpPr>
        <p:spPr/>
        <p:txBody>
          <a:bodyPr/>
          <a:lstStyle/>
          <a:p>
            <a:r>
              <a:rPr lang="en-GB" dirty="0"/>
              <a:t>Link Configuration: </a:t>
            </a:r>
            <a:r>
              <a:rPr lang="en-GB" dirty="0" err="1"/>
              <a:t>Modeling</a:t>
            </a:r>
            <a:r>
              <a:rPr lang="en-GB" dirty="0"/>
              <a:t> Fidelity and Rate</a:t>
            </a:r>
            <a:endParaRPr lang="en-I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A4EEAD-C625-5650-E5B4-E4615576AA16}"/>
                  </a:ext>
                </a:extLst>
              </p:cNvPr>
              <p:cNvSpPr>
                <a:spLocks noGrp="1"/>
              </p:cNvSpPr>
              <p:nvPr>
                <p:ph idx="1"/>
              </p:nvPr>
            </p:nvSpPr>
            <p:spPr>
              <a:xfrm>
                <a:off x="457201" y="1529183"/>
                <a:ext cx="11471564" cy="4551130"/>
              </a:xfrm>
            </p:spPr>
            <p:txBody>
              <a:bodyPr>
                <a:normAutofit fontScale="92500" lnSpcReduction="10000"/>
              </a:bodyPr>
              <a:lstStyle/>
              <a:p>
                <a:r>
                  <a:rPr lang="en-GB" sz="2600" dirty="0"/>
                  <a:t>Generated entanglement: modelled as Werner states, </a:t>
                </a:r>
                <a14:m>
                  <m:oMath xmlns:m="http://schemas.openxmlformats.org/officeDocument/2006/math">
                    <m:r>
                      <m:rPr>
                        <m:sty m:val="p"/>
                      </m:rPr>
                      <a:rPr lang="el-GR" sz="2600" dirty="0">
                        <a:solidFill>
                          <a:srgbClr val="FF0000"/>
                        </a:solidFill>
                        <a:latin typeface="Cambria Math" panose="02040503050406030204" pitchFamily="18" charset="0"/>
                      </a:rPr>
                      <m:t>ω</m:t>
                    </m:r>
                    <m:r>
                      <a:rPr lang="en-GB" sz="2600" b="0" i="0" dirty="0" smtClean="0">
                        <a:solidFill>
                          <a:srgbClr val="FF0000"/>
                        </a:solidFill>
                        <a:latin typeface="Cambria Math" panose="02040503050406030204" pitchFamily="18" charset="0"/>
                      </a:rPr>
                      <m:t>=1−</m:t>
                    </m:r>
                    <m:f>
                      <m:fPr>
                        <m:ctrlPr>
                          <a:rPr lang="en-GB" sz="2600" i="1" dirty="0">
                            <a:solidFill>
                              <a:srgbClr val="FF0000"/>
                            </a:solidFill>
                            <a:latin typeface="Cambria Math" panose="02040503050406030204" pitchFamily="18" charset="0"/>
                          </a:rPr>
                        </m:ctrlPr>
                      </m:fPr>
                      <m:num>
                        <m:r>
                          <a:rPr lang="en-GB" sz="2600" dirty="0">
                            <a:solidFill>
                              <a:srgbClr val="FF0000"/>
                            </a:solidFill>
                            <a:latin typeface="Cambria Math" panose="02040503050406030204" pitchFamily="18" charset="0"/>
                          </a:rPr>
                          <m:t>4</m:t>
                        </m:r>
                      </m:num>
                      <m:den>
                        <m:r>
                          <a:rPr lang="en-GB" sz="2600" dirty="0">
                            <a:solidFill>
                              <a:srgbClr val="FF0000"/>
                            </a:solidFill>
                            <a:latin typeface="Cambria Math" panose="02040503050406030204" pitchFamily="18" charset="0"/>
                          </a:rPr>
                          <m:t>3</m:t>
                        </m:r>
                      </m:den>
                    </m:f>
                    <m:r>
                      <a:rPr lang="en-GB" sz="2600" i="1" dirty="0" smtClean="0">
                        <a:solidFill>
                          <a:srgbClr val="FF0000"/>
                        </a:solidFill>
                        <a:latin typeface="Cambria Math" panose="02040503050406030204" pitchFamily="18" charset="0"/>
                      </a:rPr>
                      <m:t>𝛼</m:t>
                    </m:r>
                  </m:oMath>
                </a14:m>
                <a:r>
                  <a:rPr lang="en-GB" sz="2600" dirty="0"/>
                  <a:t>, where </a:t>
                </a:r>
              </a:p>
              <a:p>
                <a:pPr lvl="1"/>
                <a:r>
                  <a:rPr lang="el-GR" sz="2400" dirty="0"/>
                  <a:t>α</a:t>
                </a:r>
                <a:r>
                  <a:rPr lang="en-GB" sz="2400" dirty="0"/>
                  <a:t>: probability of one node emitting a photon in one attempt</a:t>
                </a:r>
              </a:p>
              <a:p>
                <a:pPr lvl="1"/>
                <a:endParaRPr lang="en-GB" sz="2200" dirty="0"/>
              </a:p>
              <a:p>
                <a:pPr marL="457200" lvl="1" indent="0">
                  <a:buNone/>
                </a:pPr>
                <a:endParaRPr lang="en-GB" sz="2200" dirty="0">
                  <a:solidFill>
                    <a:srgbClr val="FF0000"/>
                  </a:solidFill>
                </a:endParaRPr>
              </a:p>
              <a:p>
                <a:pPr marL="457200" lvl="1" indent="0">
                  <a:buNone/>
                </a:pPr>
                <a:endParaRPr lang="en-GB" sz="2200" dirty="0">
                  <a:solidFill>
                    <a:srgbClr val="FF0000"/>
                  </a:solidFill>
                </a:endParaRPr>
              </a:p>
              <a:p>
                <a:pPr marL="0" indent="0">
                  <a:buNone/>
                </a:pPr>
                <a:endParaRPr lang="en-GB" sz="2600" dirty="0">
                  <a:solidFill>
                    <a:srgbClr val="FF0000"/>
                  </a:solidFill>
                </a:endParaRPr>
              </a:p>
              <a:p>
                <a:r>
                  <a:rPr lang="en-GB" sz="2600" dirty="0">
                    <a:solidFill>
                      <a:srgbClr val="FF0000"/>
                    </a:solidFill>
                  </a:rPr>
                  <a:t>Link configuration </a:t>
                </a:r>
                <a:r>
                  <a:rPr lang="en-GB" sz="2600" dirty="0"/>
                  <a:t>with single</a:t>
                </a:r>
                <a:r>
                  <a:rPr lang="en-GB" sz="2800" dirty="0"/>
                  <a:t> photon entanglement generation protocol [1,2]</a:t>
                </a:r>
                <a:endParaRPr lang="en-GB" sz="2600" dirty="0"/>
              </a:p>
              <a:p>
                <a:pPr lvl="1"/>
                <a:r>
                  <a:rPr lang="en-GB" sz="2400" dirty="0">
                    <a:solidFill>
                      <a:srgbClr val="FF0000"/>
                    </a:solidFill>
                  </a:rPr>
                  <a:t>Tuning </a:t>
                </a:r>
                <a:r>
                  <a:rPr lang="el-GR" sz="2400" dirty="0">
                    <a:solidFill>
                      <a:srgbClr val="FF0000"/>
                    </a:solidFill>
                  </a:rPr>
                  <a:t>α</a:t>
                </a:r>
                <a:r>
                  <a:rPr lang="en-GB" sz="2400" dirty="0">
                    <a:solidFill>
                      <a:srgbClr val="FF0000"/>
                    </a:solidFill>
                  </a:rPr>
                  <a:t> by changing microwave pulses [1]</a:t>
                </a:r>
              </a:p>
              <a:p>
                <a:pPr lvl="1"/>
                <a:r>
                  <a:rPr lang="en-GB" sz="2400" dirty="0"/>
                  <a:t>Fidelity: F = </a:t>
                </a:r>
                <a14:m>
                  <m:oMath xmlns:m="http://schemas.openxmlformats.org/officeDocument/2006/math">
                    <m:f>
                      <m:fPr>
                        <m:ctrlPr>
                          <a:rPr lang="en-GB" sz="2400" i="1" dirty="0" smtClean="0">
                            <a:solidFill>
                              <a:schemeClr val="tx1"/>
                            </a:solidFill>
                            <a:latin typeface="Cambria Math" panose="02040503050406030204" pitchFamily="18" charset="0"/>
                          </a:rPr>
                        </m:ctrlPr>
                      </m:fPr>
                      <m:num>
                        <m:r>
                          <a:rPr lang="en-GB" sz="2400" b="0" i="0" dirty="0" smtClean="0">
                            <a:solidFill>
                              <a:schemeClr val="tx1"/>
                            </a:solidFill>
                            <a:latin typeface="Cambria Math" panose="02040503050406030204" pitchFamily="18" charset="0"/>
                          </a:rPr>
                          <m:t>3</m:t>
                        </m:r>
                        <m:r>
                          <m:rPr>
                            <m:sty m:val="p"/>
                          </m:rPr>
                          <a:rPr lang="el-GR" sz="2400" dirty="0">
                            <a:solidFill>
                              <a:schemeClr val="tx1"/>
                            </a:solidFill>
                            <a:latin typeface="Cambria Math" panose="02040503050406030204" pitchFamily="18" charset="0"/>
                          </a:rPr>
                          <m:t>ω</m:t>
                        </m:r>
                        <m:r>
                          <a:rPr lang="en-GB" sz="2400" b="0" i="1" dirty="0" smtClean="0">
                            <a:solidFill>
                              <a:schemeClr val="tx1"/>
                            </a:solidFill>
                            <a:latin typeface="Cambria Math" panose="02040503050406030204" pitchFamily="18" charset="0"/>
                          </a:rPr>
                          <m:t>+1</m:t>
                        </m:r>
                      </m:num>
                      <m:den>
                        <m:r>
                          <a:rPr lang="en-GB" sz="2400" b="0" i="0" dirty="0" smtClean="0">
                            <a:solidFill>
                              <a:schemeClr val="tx1"/>
                            </a:solidFill>
                            <a:latin typeface="Cambria Math" panose="02040503050406030204" pitchFamily="18" charset="0"/>
                          </a:rPr>
                          <m:t>4</m:t>
                        </m:r>
                      </m:den>
                    </m:f>
                    <m:r>
                      <m:rPr>
                        <m:nor/>
                      </m:rPr>
                      <a:rPr lang="en-GB" sz="2400" b="0" i="0" dirty="0" smtClean="0">
                        <a:solidFill>
                          <a:schemeClr val="tx1"/>
                        </a:solidFill>
                        <a:latin typeface="Cambria Math" panose="02040503050406030204" pitchFamily="18" charset="0"/>
                      </a:rPr>
                      <m:t>=</m:t>
                    </m:r>
                    <m:r>
                      <m:rPr>
                        <m:nor/>
                      </m:rPr>
                      <a:rPr lang="en-GB" sz="2400" dirty="0"/>
                      <m:t>1</m:t>
                    </m:r>
                    <m:r>
                      <m:rPr>
                        <m:nor/>
                      </m:rPr>
                      <a:rPr lang="en-GB" sz="2400" b="0" i="0" dirty="0" smtClean="0"/>
                      <m:t> </m:t>
                    </m:r>
                    <m:r>
                      <m:rPr>
                        <m:nor/>
                      </m:rPr>
                      <a:rPr lang="en-GB" sz="2400" dirty="0"/>
                      <m:t>− </m:t>
                    </m:r>
                    <m:r>
                      <m:rPr>
                        <m:nor/>
                      </m:rPr>
                      <a:rPr lang="el-GR" sz="2400" dirty="0"/>
                      <m:t>α</m:t>
                    </m:r>
                    <m:r>
                      <m:rPr>
                        <m:nor/>
                      </m:rPr>
                      <a:rPr lang="en-GB" sz="2400" dirty="0"/>
                      <m:t> </m:t>
                    </m:r>
                  </m:oMath>
                </a14:m>
                <a:endParaRPr lang="en-GB" sz="2400" dirty="0"/>
              </a:p>
              <a:p>
                <a:pPr lvl="1"/>
                <a:r>
                  <a:rPr lang="en-GB" sz="2400" dirty="0"/>
                  <a:t>Entanglement generation rate: </a:t>
                </a:r>
                <a14:m>
                  <m:oMath xmlns:m="http://schemas.openxmlformats.org/officeDocument/2006/math">
                    <m:r>
                      <m:rPr>
                        <m:sty m:val="p"/>
                      </m:rPr>
                      <a:rPr lang="en-GB" sz="2400" b="0" i="0" dirty="0" smtClean="0">
                        <a:latin typeface="Cambria Math" panose="02040503050406030204" pitchFamily="18" charset="0"/>
                      </a:rPr>
                      <m:t>R</m:t>
                    </m:r>
                    <m:r>
                      <a:rPr lang="en-GB" sz="2400" b="0" i="0" dirty="0" smtClean="0">
                        <a:latin typeface="Cambria Math" panose="02040503050406030204" pitchFamily="18" charset="0"/>
                      </a:rPr>
                      <m:t>=</m:t>
                    </m:r>
                    <m:f>
                      <m:fPr>
                        <m:ctrlPr>
                          <a:rPr lang="en-GB" sz="2400" i="1" dirty="0">
                            <a:solidFill>
                              <a:srgbClr val="836967"/>
                            </a:solidFill>
                            <a:latin typeface="Cambria Math" panose="02040503050406030204" pitchFamily="18" charset="0"/>
                          </a:rPr>
                        </m:ctrlPr>
                      </m:fPr>
                      <m:num>
                        <m:r>
                          <a:rPr lang="en-GB" sz="2400" dirty="0">
                            <a:latin typeface="Cambria Math" panose="02040503050406030204" pitchFamily="18" charset="0"/>
                          </a:rPr>
                          <m:t>4</m:t>
                        </m:r>
                      </m:num>
                      <m:den>
                        <m:r>
                          <a:rPr lang="en-GB" sz="2400" dirty="0">
                            <a:latin typeface="Cambria Math" panose="02040503050406030204" pitchFamily="18" charset="0"/>
                          </a:rPr>
                          <m:t>3</m:t>
                        </m:r>
                      </m:den>
                    </m:f>
                    <m:r>
                      <a:rPr lang="en-GB" sz="2400" i="0" dirty="0" smtClean="0">
                        <a:latin typeface="Cambria Math" panose="02040503050406030204" pitchFamily="18" charset="0"/>
                      </a:rPr>
                      <m:t>ⅆ</m:t>
                    </m:r>
                    <m:r>
                      <a:rPr lang="en-GB" sz="2400" i="1" dirty="0" smtClean="0">
                        <a:latin typeface="Cambria Math" panose="02040503050406030204" pitchFamily="18" charset="0"/>
                      </a:rPr>
                      <m:t>𝛼</m:t>
                    </m:r>
                    <m:r>
                      <a:rPr lang="en-GB" sz="2400" b="0" i="1" dirty="0" smtClean="0">
                        <a:latin typeface="Cambria Math" panose="02040503050406030204" pitchFamily="18" charset="0"/>
                      </a:rPr>
                      <m:t>, </m:t>
                    </m:r>
                  </m:oMath>
                </a14:m>
                <a:r>
                  <a:rPr lang="en-GB" sz="2400" dirty="0"/>
                  <a:t>where d is a constant related to </a:t>
                </a:r>
              </a:p>
              <a:p>
                <a:pPr lvl="2"/>
                <a:r>
                  <a:rPr lang="en-GB" sz="2400" dirty="0"/>
                  <a:t>System inefficiencies (e.g., </a:t>
                </a:r>
                <a:r>
                  <a:rPr lang="en-GB" sz="2400" dirty="0" err="1"/>
                  <a:t>fiber</a:t>
                </a:r>
                <a:r>
                  <a:rPr lang="en-GB" sz="2400" dirty="0"/>
                  <a:t> loss) </a:t>
                </a:r>
              </a:p>
              <a:p>
                <a:pPr lvl="2"/>
                <a:r>
                  <a:rPr lang="en-GB" sz="2400" dirty="0"/>
                  <a:t>Repetition time</a:t>
                </a:r>
              </a:p>
              <a:p>
                <a:pPr lvl="1"/>
                <a:endParaRPr lang="en-GB" sz="2000" dirty="0"/>
              </a:p>
              <a:p>
                <a:pPr lvl="1"/>
                <a:endParaRPr lang="en-GB" sz="2200" dirty="0">
                  <a:solidFill>
                    <a:srgbClr val="FF0000"/>
                  </a:solidFill>
                </a:endParaRPr>
              </a:p>
              <a:p>
                <a:pPr lvl="1"/>
                <a:endParaRPr lang="en-GB" sz="2200" dirty="0"/>
              </a:p>
              <a:p>
                <a:pPr lvl="1"/>
                <a:endParaRPr lang="en-GB" sz="2600" dirty="0"/>
              </a:p>
              <a:p>
                <a:pPr lvl="1"/>
                <a:endParaRPr lang="en-GB" sz="2600" dirty="0"/>
              </a:p>
              <a:p>
                <a:pPr lvl="1"/>
                <a:endParaRPr lang="el-GR" sz="2200" dirty="0"/>
              </a:p>
              <a:p>
                <a:pPr lvl="1"/>
                <a:endParaRPr lang="en-GB" sz="2600" dirty="0">
                  <a:solidFill>
                    <a:srgbClr val="FF0000"/>
                  </a:solidFill>
                </a:endParaRPr>
              </a:p>
            </p:txBody>
          </p:sp>
        </mc:Choice>
        <mc:Fallback xmlns="">
          <p:sp>
            <p:nvSpPr>
              <p:cNvPr id="3" name="Content Placeholder 2">
                <a:extLst>
                  <a:ext uri="{FF2B5EF4-FFF2-40B4-BE49-F238E27FC236}">
                    <a16:creationId xmlns:a16="http://schemas.microsoft.com/office/drawing/2014/main" id="{F2A4EEAD-C625-5650-E5B4-E4615576AA16}"/>
                  </a:ext>
                </a:extLst>
              </p:cNvPr>
              <p:cNvSpPr>
                <a:spLocks noGrp="1" noRot="1" noChangeAspect="1" noMove="1" noResize="1" noEditPoints="1" noAdjustHandles="1" noChangeArrowheads="1" noChangeShapeType="1" noTextEdit="1"/>
              </p:cNvSpPr>
              <p:nvPr>
                <p:ph idx="1"/>
              </p:nvPr>
            </p:nvSpPr>
            <p:spPr>
              <a:xfrm>
                <a:off x="457201" y="1529183"/>
                <a:ext cx="11471564" cy="4551130"/>
              </a:xfrm>
              <a:blipFill>
                <a:blip r:embed="rId3"/>
                <a:stretch>
                  <a:fillRect l="-691" t="-1072" b="-1877"/>
                </a:stretch>
              </a:blipFill>
            </p:spPr>
            <p:txBody>
              <a:bodyPr/>
              <a:lstStyle/>
              <a:p>
                <a:r>
                  <a:rPr lang="en-GB">
                    <a:noFill/>
                  </a:rPr>
                  <a:t> </a:t>
                </a:r>
              </a:p>
            </p:txBody>
          </p:sp>
        </mc:Fallback>
      </mc:AlternateContent>
      <p:sp>
        <p:nvSpPr>
          <p:cNvPr id="8" name="Footer Placeholder 7">
            <a:extLst>
              <a:ext uri="{FF2B5EF4-FFF2-40B4-BE49-F238E27FC236}">
                <a16:creationId xmlns:a16="http://schemas.microsoft.com/office/drawing/2014/main" id="{C2F4DFCA-2022-3524-AFBE-A2827213848E}"/>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12" name="Slide Number Placeholder 11">
            <a:extLst>
              <a:ext uri="{FF2B5EF4-FFF2-40B4-BE49-F238E27FC236}">
                <a16:creationId xmlns:a16="http://schemas.microsoft.com/office/drawing/2014/main" id="{2CFC297D-32D2-783A-2532-71CB87DD3BF3}"/>
              </a:ext>
            </a:extLst>
          </p:cNvPr>
          <p:cNvSpPr>
            <a:spLocks noGrp="1"/>
          </p:cNvSpPr>
          <p:nvPr>
            <p:ph type="sldNum" sz="quarter" idx="12"/>
          </p:nvPr>
        </p:nvSpPr>
        <p:spPr/>
        <p:txBody>
          <a:bodyPr/>
          <a:lstStyle/>
          <a:p>
            <a:fld id="{5AFE0081-1ED4-41E0-88AB-D26DBE160EA6}" type="slidenum">
              <a:rPr lang="en-US" smtClean="0"/>
              <a:t>34</a:t>
            </a:fld>
            <a:endParaRPr lang="en-US"/>
          </a:p>
        </p:txBody>
      </p:sp>
      <p:sp>
        <p:nvSpPr>
          <p:cNvPr id="13" name="文本框 9">
            <a:extLst>
              <a:ext uri="{FF2B5EF4-FFF2-40B4-BE49-F238E27FC236}">
                <a16:creationId xmlns:a16="http://schemas.microsoft.com/office/drawing/2014/main" id="{005A83EC-35B4-B34E-2580-F83B4B9442B2}"/>
              </a:ext>
            </a:extLst>
          </p:cNvPr>
          <p:cNvSpPr txBox="1"/>
          <p:nvPr/>
        </p:nvSpPr>
        <p:spPr>
          <a:xfrm>
            <a:off x="521860" y="5983773"/>
            <a:ext cx="11358512" cy="461665"/>
          </a:xfrm>
          <a:prstGeom prst="rect">
            <a:avLst/>
          </a:prstGeom>
          <a:noFill/>
        </p:spPr>
        <p:txBody>
          <a:bodyPr wrap="square">
            <a:spAutoFit/>
          </a:bodyPr>
          <a:lstStyle/>
          <a:p>
            <a:pPr>
              <a:defRPr/>
            </a:pPr>
            <a:r>
              <a:rPr lang="en-GB" sz="1200" i="1" dirty="0">
                <a:solidFill>
                  <a:srgbClr val="000000"/>
                </a:solidFill>
                <a:latin typeface="Helvetica" pitchFamily="2" charset="0"/>
              </a:rPr>
              <a:t>[1]. P. C. Humphreys, etc, “Deterministic delivery of remote entanglement on a quantum network,” Nature, 2018.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[2]. G. </a:t>
            </a:r>
            <a:r>
              <a:rPr kumimoji="0" lang="en-GB" sz="1200" b="0" i="1" u="none" strike="noStrike" kern="1200" cap="none" spc="0" normalizeH="0" baseline="0" noProof="0" dirty="0" err="1">
                <a:ln>
                  <a:noFill/>
                </a:ln>
                <a:solidFill>
                  <a:srgbClr val="000000"/>
                </a:solidFill>
                <a:effectLst/>
                <a:uLnTx/>
                <a:uFillTx/>
                <a:latin typeface="Helvetica" pitchFamily="2" charset="0"/>
                <a:ea typeface="+mn-ea"/>
                <a:cs typeface="+mn-cs"/>
              </a:rPr>
              <a:t>Vardoyan</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and S. </a:t>
            </a:r>
            <a:r>
              <a:rPr kumimoji="0" lang="en-GB" sz="1200" b="0" i="1" u="none" strike="noStrike" kern="1200" cap="none" spc="0" normalizeH="0" baseline="0" noProof="0" dirty="0" err="1">
                <a:ln>
                  <a:noFill/>
                </a:ln>
                <a:solidFill>
                  <a:srgbClr val="000000"/>
                </a:solidFill>
                <a:effectLst/>
                <a:uLnTx/>
                <a:uFillTx/>
                <a:latin typeface="Helvetica" pitchFamily="2" charset="0"/>
                <a:ea typeface="+mn-ea"/>
                <a:cs typeface="+mn-cs"/>
              </a:rPr>
              <a:t>Wehner</a:t>
            </a:r>
            <a:r>
              <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rPr>
              <a:t>, “Quantum network utility maximization,” </a:t>
            </a:r>
            <a:r>
              <a:rPr lang="en-GB" sz="1200" b="0" i="1" dirty="0">
                <a:solidFill>
                  <a:srgbClr val="222222"/>
                </a:solidFill>
                <a:effectLst/>
                <a:latin typeface="Arial" panose="020B0604020202020204" pitchFamily="34" charset="0"/>
              </a:rPr>
              <a:t>IEEE International Conference on Quantum Computing and Engineering (QCE)</a:t>
            </a:r>
            <a:r>
              <a:rPr lang="en-GB" sz="1200" i="1" dirty="0">
                <a:solidFill>
                  <a:srgbClr val="222222"/>
                </a:solidFill>
                <a:latin typeface="Arial" panose="020B0604020202020204" pitchFamily="34" charset="0"/>
              </a:rPr>
              <a:t>,</a:t>
            </a:r>
            <a:r>
              <a:rPr lang="zh-CN" altLang="en-US" sz="1200" i="1" dirty="0">
                <a:solidFill>
                  <a:srgbClr val="222222"/>
                </a:solidFill>
                <a:latin typeface="Arial" panose="020B0604020202020204" pitchFamily="34" charset="0"/>
              </a:rPr>
              <a:t> </a:t>
            </a:r>
            <a:r>
              <a:rPr lang="en-GB" altLang="zh-CN" sz="1200" i="1" dirty="0">
                <a:solidFill>
                  <a:srgbClr val="222222"/>
                </a:solidFill>
                <a:latin typeface="Arial" panose="020B0604020202020204" pitchFamily="34" charset="0"/>
              </a:rPr>
              <a:t>2023.</a:t>
            </a:r>
            <a:endParaRPr kumimoji="0" lang="en-GB" sz="1200" b="0" i="1" u="none" strike="noStrike" kern="1200" cap="none" spc="0" normalizeH="0" baseline="0" noProof="0" dirty="0">
              <a:ln>
                <a:noFill/>
              </a:ln>
              <a:solidFill>
                <a:srgbClr val="000000"/>
              </a:solidFill>
              <a:effectLst/>
              <a:uLnTx/>
              <a:uFillTx/>
              <a:latin typeface="Helvetica" pitchFamily="2" charset="0"/>
              <a:ea typeface="+mn-ea"/>
              <a:cs typeface="+mn-cs"/>
            </a:endParaRPr>
          </a:p>
        </p:txBody>
      </p:sp>
      <p:pic>
        <p:nvPicPr>
          <p:cNvPr id="5" name="Picture 4">
            <a:extLst>
              <a:ext uri="{FF2B5EF4-FFF2-40B4-BE49-F238E27FC236}">
                <a16:creationId xmlns:a16="http://schemas.microsoft.com/office/drawing/2014/main" id="{FA3CB550-C139-0AE7-8B2F-8ED52908D2FD}"/>
              </a:ext>
            </a:extLst>
          </p:cNvPr>
          <p:cNvPicPr>
            <a:picLocks noChangeAspect="1"/>
          </p:cNvPicPr>
          <p:nvPr/>
        </p:nvPicPr>
        <p:blipFill rotWithShape="1">
          <a:blip r:embed="rId4"/>
          <a:srcRect t="6839" r="32190" b="5728"/>
          <a:stretch/>
        </p:blipFill>
        <p:spPr>
          <a:xfrm>
            <a:off x="3079079" y="2403919"/>
            <a:ext cx="4632054" cy="897213"/>
          </a:xfrm>
          <a:prstGeom prst="rect">
            <a:avLst/>
          </a:prstGeom>
        </p:spPr>
      </p:pic>
      <p:sp>
        <p:nvSpPr>
          <p:cNvPr id="4" name="TextBox 3">
            <a:extLst>
              <a:ext uri="{FF2B5EF4-FFF2-40B4-BE49-F238E27FC236}">
                <a16:creationId xmlns:a16="http://schemas.microsoft.com/office/drawing/2014/main" id="{F1CF7F2A-216C-7BF6-8017-435A15108EF1}"/>
              </a:ext>
            </a:extLst>
          </p:cNvPr>
          <p:cNvSpPr txBox="1"/>
          <p:nvPr/>
        </p:nvSpPr>
        <p:spPr>
          <a:xfrm>
            <a:off x="3625420" y="3179086"/>
            <a:ext cx="2322381" cy="477054"/>
          </a:xfrm>
          <a:prstGeom prst="rect">
            <a:avLst/>
          </a:prstGeom>
          <a:noFill/>
        </p:spPr>
        <p:txBody>
          <a:bodyPr wrap="square">
            <a:spAutoFit/>
          </a:bodyPr>
          <a:lstStyle/>
          <a:p>
            <a:pPr algn="ctr"/>
            <a:r>
              <a:rPr lang="en-GB" altLang="zh-CN" sz="2500" b="1" dirty="0">
                <a:solidFill>
                  <a:srgbClr val="FF0000"/>
                </a:solidFill>
              </a:rPr>
              <a:t>Bell state</a:t>
            </a:r>
            <a:endParaRPr lang="en-US" altLang="zh-CN" sz="2500" dirty="0">
              <a:solidFill>
                <a:srgbClr val="FF0000"/>
              </a:solidFill>
            </a:endParaRPr>
          </a:p>
        </p:txBody>
      </p:sp>
      <p:sp>
        <p:nvSpPr>
          <p:cNvPr id="6" name="TextBox 5">
            <a:extLst>
              <a:ext uri="{FF2B5EF4-FFF2-40B4-BE49-F238E27FC236}">
                <a16:creationId xmlns:a16="http://schemas.microsoft.com/office/drawing/2014/main" id="{46C387E6-9F62-4642-4E8A-D0C4D80DDCFB}"/>
              </a:ext>
            </a:extLst>
          </p:cNvPr>
          <p:cNvSpPr txBox="1"/>
          <p:nvPr/>
        </p:nvSpPr>
        <p:spPr>
          <a:xfrm>
            <a:off x="7405390" y="3152373"/>
            <a:ext cx="2322381" cy="477054"/>
          </a:xfrm>
          <a:prstGeom prst="rect">
            <a:avLst/>
          </a:prstGeom>
          <a:noFill/>
        </p:spPr>
        <p:txBody>
          <a:bodyPr wrap="square">
            <a:spAutoFit/>
          </a:bodyPr>
          <a:lstStyle/>
          <a:p>
            <a:pPr algn="ctr"/>
            <a:r>
              <a:rPr lang="en-GB" altLang="zh-CN" sz="2500" b="1" dirty="0">
                <a:solidFill>
                  <a:srgbClr val="FF0000"/>
                </a:solidFill>
              </a:rPr>
              <a:t>Identity matrix</a:t>
            </a:r>
            <a:endParaRPr lang="en-US" altLang="zh-CN" sz="2500" dirty="0">
              <a:solidFill>
                <a:srgbClr val="FF0000"/>
              </a:solidFill>
            </a:endParaRPr>
          </a:p>
        </p:txBody>
      </p:sp>
      <p:cxnSp>
        <p:nvCxnSpPr>
          <p:cNvPr id="9" name="Straight Arrow Connector 8">
            <a:extLst>
              <a:ext uri="{FF2B5EF4-FFF2-40B4-BE49-F238E27FC236}">
                <a16:creationId xmlns:a16="http://schemas.microsoft.com/office/drawing/2014/main" id="{AB847A9F-F72A-82FC-9C15-689B5191742C}"/>
              </a:ext>
            </a:extLst>
          </p:cNvPr>
          <p:cNvCxnSpPr>
            <a:cxnSpLocks/>
          </p:cNvCxnSpPr>
          <p:nvPr/>
        </p:nvCxnSpPr>
        <p:spPr>
          <a:xfrm>
            <a:off x="4711226" y="2998261"/>
            <a:ext cx="0" cy="30287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F83241B-5BDF-86A5-4099-AF5896892121}"/>
              </a:ext>
            </a:extLst>
          </p:cNvPr>
          <p:cNvCxnSpPr>
            <a:cxnSpLocks/>
            <a:endCxn id="6" idx="0"/>
          </p:cNvCxnSpPr>
          <p:nvPr/>
        </p:nvCxnSpPr>
        <p:spPr>
          <a:xfrm>
            <a:off x="7711133" y="2695390"/>
            <a:ext cx="855448" cy="456983"/>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97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BAE9-FC6C-4754-9CCF-DFD43EA5D38D}"/>
              </a:ext>
            </a:extLst>
          </p:cNvPr>
          <p:cNvSpPr>
            <a:spLocks noGrp="1"/>
          </p:cNvSpPr>
          <p:nvPr>
            <p:ph type="title"/>
          </p:nvPr>
        </p:nvSpPr>
        <p:spPr/>
        <p:txBody>
          <a:bodyPr/>
          <a:lstStyle/>
          <a:p>
            <a:r>
              <a:rPr lang="en-US" dirty="0"/>
              <a:t>Generalized Procedure of Link Configuration</a:t>
            </a:r>
          </a:p>
        </p:txBody>
      </p:sp>
      <p:sp>
        <p:nvSpPr>
          <p:cNvPr id="3" name="Footer Placeholder 2">
            <a:extLst>
              <a:ext uri="{FF2B5EF4-FFF2-40B4-BE49-F238E27FC236}">
                <a16:creationId xmlns:a16="http://schemas.microsoft.com/office/drawing/2014/main" id="{11805B5E-0BD4-0143-0086-4B8EA637F3DE}"/>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3374E6C6-6122-E9EF-9E78-9E1104E2BD13}"/>
              </a:ext>
            </a:extLst>
          </p:cNvPr>
          <p:cNvSpPr>
            <a:spLocks noGrp="1"/>
          </p:cNvSpPr>
          <p:nvPr>
            <p:ph type="sldNum" sz="quarter" idx="12"/>
          </p:nvPr>
        </p:nvSpPr>
        <p:spPr/>
        <p:txBody>
          <a:bodyPr/>
          <a:lstStyle/>
          <a:p>
            <a:fld id="{5AFE0081-1ED4-41E0-88AB-D26DBE160EA6}" type="slidenum">
              <a:rPr lang="en-US" smtClean="0"/>
              <a:t>35</a:t>
            </a:fld>
            <a:endParaRPr lang="en-US"/>
          </a:p>
        </p:txBody>
      </p:sp>
      <p:sp>
        <p:nvSpPr>
          <p:cNvPr id="22" name="Rectangle 21">
            <a:extLst>
              <a:ext uri="{FF2B5EF4-FFF2-40B4-BE49-F238E27FC236}">
                <a16:creationId xmlns:a16="http://schemas.microsoft.com/office/drawing/2014/main" id="{39DDAD14-1322-4044-AB4F-F5FC048CB26D}"/>
              </a:ext>
            </a:extLst>
          </p:cNvPr>
          <p:cNvSpPr/>
          <p:nvPr/>
        </p:nvSpPr>
        <p:spPr>
          <a:xfrm>
            <a:off x="7144680" y="1730387"/>
            <a:ext cx="1502965" cy="685800"/>
          </a:xfrm>
          <a:prstGeom prst="rect">
            <a:avLst/>
          </a:prstGeom>
          <a:solidFill>
            <a:srgbClr val="D6E8D5"/>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cs typeface="Times New Roman" panose="02020603050405020304" pitchFamily="18" charset="0"/>
              </a:rPr>
              <a:t>Entanglement</a:t>
            </a:r>
          </a:p>
          <a:p>
            <a:pPr algn="ctr"/>
            <a:r>
              <a:rPr lang="en-US" altLang="zh-CN" dirty="0">
                <a:cs typeface="Times New Roman" panose="02020603050405020304" pitchFamily="18" charset="0"/>
              </a:rPr>
              <a:t>routing </a:t>
            </a:r>
            <a:endParaRPr lang="en-US" dirty="0">
              <a:solidFill>
                <a:srgbClr val="C00000"/>
              </a:solidFill>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BBAAE812-2259-10DA-9BAC-4DBE0813B5E0}"/>
              </a:ext>
            </a:extLst>
          </p:cNvPr>
          <p:cNvCxnSpPr>
            <a:cxnSpLocks/>
            <a:endCxn id="22" idx="1"/>
          </p:cNvCxnSpPr>
          <p:nvPr/>
        </p:nvCxnSpPr>
        <p:spPr>
          <a:xfrm>
            <a:off x="5987655" y="2073287"/>
            <a:ext cx="115702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EA77676-4E47-8B46-6C96-8F50C82A2E7C}"/>
              </a:ext>
            </a:extLst>
          </p:cNvPr>
          <p:cNvCxnSpPr>
            <a:cxnSpLocks/>
            <a:stCxn id="35" idx="3"/>
            <a:endCxn id="39" idx="1"/>
          </p:cNvCxnSpPr>
          <p:nvPr/>
        </p:nvCxnSpPr>
        <p:spPr>
          <a:xfrm>
            <a:off x="3325019" y="2073287"/>
            <a:ext cx="161570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B71E8E9-EC87-19C0-AB97-9CBE9AA7D10E}"/>
              </a:ext>
            </a:extLst>
          </p:cNvPr>
          <p:cNvCxnSpPr>
            <a:cxnSpLocks/>
            <a:stCxn id="22" idx="3"/>
          </p:cNvCxnSpPr>
          <p:nvPr/>
        </p:nvCxnSpPr>
        <p:spPr>
          <a:xfrm>
            <a:off x="8647645" y="2073287"/>
            <a:ext cx="906494"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EE40BDA-BFC3-9A28-9092-34EB3E71A27D}"/>
              </a:ext>
            </a:extLst>
          </p:cNvPr>
          <p:cNvCxnSpPr>
            <a:cxnSpLocks/>
          </p:cNvCxnSpPr>
          <p:nvPr/>
        </p:nvCxnSpPr>
        <p:spPr>
          <a:xfrm>
            <a:off x="8773090" y="2073288"/>
            <a:ext cx="0" cy="947673"/>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6DB322E-E56A-649D-2B8D-8681C385F6FC}"/>
              </a:ext>
            </a:extLst>
          </p:cNvPr>
          <p:cNvCxnSpPr>
            <a:cxnSpLocks/>
          </p:cNvCxnSpPr>
          <p:nvPr/>
        </p:nvCxnSpPr>
        <p:spPr>
          <a:xfrm flipH="1">
            <a:off x="5403838" y="3020960"/>
            <a:ext cx="336925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695B789-51FB-D4F4-D34B-9D99FFC24897}"/>
              </a:ext>
            </a:extLst>
          </p:cNvPr>
          <p:cNvCxnSpPr>
            <a:cxnSpLocks/>
          </p:cNvCxnSpPr>
          <p:nvPr/>
        </p:nvCxnSpPr>
        <p:spPr>
          <a:xfrm flipV="1">
            <a:off x="5403838" y="2416188"/>
            <a:ext cx="0" cy="604773"/>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1B0E2ED-3B41-2698-EC17-6922053283AE}"/>
              </a:ext>
            </a:extLst>
          </p:cNvPr>
          <p:cNvSpPr txBox="1"/>
          <p:nvPr/>
        </p:nvSpPr>
        <p:spPr>
          <a:xfrm>
            <a:off x="6046553" y="2657492"/>
            <a:ext cx="2324034" cy="369332"/>
          </a:xfrm>
          <a:prstGeom prst="rect">
            <a:avLst/>
          </a:prstGeom>
          <a:noFill/>
        </p:spPr>
        <p:txBody>
          <a:bodyPr wrap="none" rtlCol="0">
            <a:spAutoFit/>
          </a:bodyPr>
          <a:lstStyle/>
          <a:p>
            <a:r>
              <a:rPr lang="en-US" dirty="0">
                <a:cs typeface="Times New Roman" panose="02020603050405020304" pitchFamily="18" charset="0"/>
              </a:rPr>
              <a:t>Served generation rate</a:t>
            </a:r>
          </a:p>
        </p:txBody>
      </p:sp>
      <p:sp>
        <p:nvSpPr>
          <p:cNvPr id="30" name="TextBox 29">
            <a:extLst>
              <a:ext uri="{FF2B5EF4-FFF2-40B4-BE49-F238E27FC236}">
                <a16:creationId xmlns:a16="http://schemas.microsoft.com/office/drawing/2014/main" id="{AA2535AB-A37C-6757-AAEC-1A60FF566D05}"/>
              </a:ext>
            </a:extLst>
          </p:cNvPr>
          <p:cNvSpPr txBox="1"/>
          <p:nvPr/>
        </p:nvSpPr>
        <p:spPr>
          <a:xfrm>
            <a:off x="9450372" y="1787589"/>
            <a:ext cx="1858266" cy="646331"/>
          </a:xfrm>
          <a:prstGeom prst="rect">
            <a:avLst/>
          </a:prstGeom>
          <a:noFill/>
        </p:spPr>
        <p:txBody>
          <a:bodyPr wrap="none" rtlCol="0">
            <a:spAutoFit/>
          </a:bodyPr>
          <a:lstStyle/>
          <a:p>
            <a:pPr algn="ctr"/>
            <a:r>
              <a:rPr lang="en-US" b="1" dirty="0">
                <a:cs typeface="Times New Roman" panose="02020603050405020304" pitchFamily="18" charset="0"/>
              </a:rPr>
              <a:t>Selected </a:t>
            </a:r>
          </a:p>
          <a:p>
            <a:pPr algn="ctr"/>
            <a:r>
              <a:rPr lang="en-US" b="1" dirty="0">
                <a:cs typeface="Times New Roman" panose="02020603050405020304" pitchFamily="18" charset="0"/>
              </a:rPr>
              <a:t>link configuration</a:t>
            </a:r>
          </a:p>
        </p:txBody>
      </p:sp>
      <p:sp>
        <p:nvSpPr>
          <p:cNvPr id="31" name="Left Brace 30">
            <a:extLst>
              <a:ext uri="{FF2B5EF4-FFF2-40B4-BE49-F238E27FC236}">
                <a16:creationId xmlns:a16="http://schemas.microsoft.com/office/drawing/2014/main" id="{EA809255-AAB3-6E31-0F0F-8CEFA744361D}"/>
              </a:ext>
            </a:extLst>
          </p:cNvPr>
          <p:cNvSpPr/>
          <p:nvPr/>
        </p:nvSpPr>
        <p:spPr>
          <a:xfrm rot="16200000">
            <a:off x="5691091" y="60523"/>
            <a:ext cx="386283" cy="6444226"/>
          </a:xfrm>
          <a:prstGeom prst="leftBrac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cs typeface="Times New Roman" panose="02020603050405020304" pitchFamily="18" charset="0"/>
            </a:endParaRPr>
          </a:p>
        </p:txBody>
      </p:sp>
      <p:sp>
        <p:nvSpPr>
          <p:cNvPr id="33" name="TextBox 32">
            <a:extLst>
              <a:ext uri="{FF2B5EF4-FFF2-40B4-BE49-F238E27FC236}">
                <a16:creationId xmlns:a16="http://schemas.microsoft.com/office/drawing/2014/main" id="{FB40FB14-E575-F38D-6290-1471C37B59F7}"/>
              </a:ext>
            </a:extLst>
          </p:cNvPr>
          <p:cNvSpPr txBox="1"/>
          <p:nvPr/>
        </p:nvSpPr>
        <p:spPr>
          <a:xfrm>
            <a:off x="3869564" y="3526433"/>
            <a:ext cx="3963081" cy="400110"/>
          </a:xfrm>
          <a:prstGeom prst="rect">
            <a:avLst/>
          </a:prstGeom>
          <a:noFill/>
        </p:spPr>
        <p:txBody>
          <a:bodyPr wrap="square" rtlCol="0">
            <a:spAutoFit/>
          </a:bodyPr>
          <a:lstStyle/>
          <a:p>
            <a:pPr algn="ctr"/>
            <a:r>
              <a:rPr lang="en-US" sz="2000" b="1" dirty="0">
                <a:cs typeface="Times New Roman" panose="02020603050405020304" pitchFamily="18" charset="0"/>
              </a:rPr>
              <a:t>Link</a:t>
            </a:r>
            <a:r>
              <a:rPr lang="en-US" b="1" dirty="0">
                <a:cs typeface="Times New Roman" panose="02020603050405020304" pitchFamily="18" charset="0"/>
              </a:rPr>
              <a:t> </a:t>
            </a:r>
            <a:r>
              <a:rPr lang="en-US" sz="2000" b="1" dirty="0">
                <a:cs typeface="Times New Roman" panose="02020603050405020304" pitchFamily="18" charset="0"/>
              </a:rPr>
              <a:t>configuration</a:t>
            </a:r>
            <a:endParaRPr lang="en-US" b="1" dirty="0">
              <a:cs typeface="Times New Roman" panose="02020603050405020304" pitchFamily="18" charset="0"/>
            </a:endParaRPr>
          </a:p>
        </p:txBody>
      </p:sp>
      <p:sp>
        <p:nvSpPr>
          <p:cNvPr id="35" name="Rectangle 34">
            <a:extLst>
              <a:ext uri="{FF2B5EF4-FFF2-40B4-BE49-F238E27FC236}">
                <a16:creationId xmlns:a16="http://schemas.microsoft.com/office/drawing/2014/main" id="{3B6DA6EA-82F1-846C-526D-67C99EB60C8C}"/>
              </a:ext>
            </a:extLst>
          </p:cNvPr>
          <p:cNvSpPr/>
          <p:nvPr/>
        </p:nvSpPr>
        <p:spPr>
          <a:xfrm>
            <a:off x="2587797" y="1730387"/>
            <a:ext cx="737222" cy="685800"/>
          </a:xfrm>
          <a:prstGeom prst="rect">
            <a:avLst/>
          </a:prstGeom>
          <a:solidFill>
            <a:srgbClr val="FFE7CC"/>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cs typeface="Times New Roman" panose="02020603050405020304" pitchFamily="18" charset="0"/>
              </a:rPr>
              <a:t>SPFD</a:t>
            </a:r>
            <a:endParaRPr lang="en-US" dirty="0">
              <a:solidFill>
                <a:srgbClr val="C00000"/>
              </a:solidFill>
              <a:cs typeface="Times New Roman" panose="02020603050405020304" pitchFamily="18" charset="0"/>
            </a:endParaRPr>
          </a:p>
        </p:txBody>
      </p:sp>
      <p:sp>
        <p:nvSpPr>
          <p:cNvPr id="36" name="TextBox 14">
            <a:extLst>
              <a:ext uri="{FF2B5EF4-FFF2-40B4-BE49-F238E27FC236}">
                <a16:creationId xmlns:a16="http://schemas.microsoft.com/office/drawing/2014/main" id="{0EB2CC80-9102-4A20-B5A8-477DBD60D3FC}"/>
              </a:ext>
            </a:extLst>
          </p:cNvPr>
          <p:cNvSpPr txBox="1"/>
          <p:nvPr/>
        </p:nvSpPr>
        <p:spPr>
          <a:xfrm>
            <a:off x="6173564" y="1726196"/>
            <a:ext cx="867545" cy="646331"/>
          </a:xfrm>
          <a:prstGeom prst="rect">
            <a:avLst/>
          </a:prstGeom>
          <a:noFill/>
        </p:spPr>
        <p:txBody>
          <a:bodyPr wrap="none" rtlCol="0">
            <a:spAutoFit/>
          </a:bodyPr>
          <a:lstStyle/>
          <a:p>
            <a:r>
              <a:rPr lang="en-US" dirty="0">
                <a:cs typeface="Times New Roman" panose="02020603050405020304" pitchFamily="18" charset="0"/>
              </a:rPr>
              <a:t>Fidelity</a:t>
            </a:r>
          </a:p>
          <a:p>
            <a:r>
              <a:rPr lang="en-US" dirty="0">
                <a:cs typeface="Times New Roman" panose="02020603050405020304" pitchFamily="18" charset="0"/>
              </a:rPr>
              <a:t>setting</a:t>
            </a:r>
          </a:p>
        </p:txBody>
      </p:sp>
      <p:sp>
        <p:nvSpPr>
          <p:cNvPr id="38" name="TextBox 14">
            <a:extLst>
              <a:ext uri="{FF2B5EF4-FFF2-40B4-BE49-F238E27FC236}">
                <a16:creationId xmlns:a16="http://schemas.microsoft.com/office/drawing/2014/main" id="{0BE0CDE4-23CA-4C47-2D0C-6AD2DB64E6BF}"/>
              </a:ext>
            </a:extLst>
          </p:cNvPr>
          <p:cNvSpPr txBox="1"/>
          <p:nvPr/>
        </p:nvSpPr>
        <p:spPr>
          <a:xfrm>
            <a:off x="3303904" y="1730665"/>
            <a:ext cx="1519130" cy="646331"/>
          </a:xfrm>
          <a:prstGeom prst="rect">
            <a:avLst/>
          </a:prstGeom>
          <a:noFill/>
        </p:spPr>
        <p:txBody>
          <a:bodyPr wrap="square" rtlCol="0">
            <a:spAutoFit/>
          </a:bodyPr>
          <a:lstStyle/>
          <a:p>
            <a:pPr algn="ctr"/>
            <a:r>
              <a:rPr lang="en-US" altLang="zh-CN" dirty="0">
                <a:cs typeface="Times New Roman" panose="02020603050405020304" pitchFamily="18" charset="0"/>
              </a:rPr>
              <a:t>Initial </a:t>
            </a:r>
            <a:r>
              <a:rPr lang="en-US" dirty="0">
                <a:cs typeface="Times New Roman" panose="02020603050405020304" pitchFamily="18" charset="0"/>
              </a:rPr>
              <a:t>Fidelity setting</a:t>
            </a:r>
          </a:p>
        </p:txBody>
      </p:sp>
      <p:sp>
        <p:nvSpPr>
          <p:cNvPr id="39" name="Rectangle 38">
            <a:extLst>
              <a:ext uri="{FF2B5EF4-FFF2-40B4-BE49-F238E27FC236}">
                <a16:creationId xmlns:a16="http://schemas.microsoft.com/office/drawing/2014/main" id="{0C8C3BAF-E530-759D-6833-89FA3C24BA5F}"/>
              </a:ext>
            </a:extLst>
          </p:cNvPr>
          <p:cNvSpPr/>
          <p:nvPr/>
        </p:nvSpPr>
        <p:spPr>
          <a:xfrm>
            <a:off x="4940724" y="1730387"/>
            <a:ext cx="1195406" cy="685800"/>
          </a:xfrm>
          <a:prstGeom prst="rect">
            <a:avLst/>
          </a:prstGeom>
          <a:solidFill>
            <a:srgbClr val="E2D5E8"/>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cs typeface="Times New Roman" panose="02020603050405020304" pitchFamily="18" charset="0"/>
              </a:rPr>
              <a:t>Bayesian Optimizer</a:t>
            </a:r>
          </a:p>
        </p:txBody>
      </p:sp>
      <p:cxnSp>
        <p:nvCxnSpPr>
          <p:cNvPr id="40" name="Straight Arrow Connector 10">
            <a:extLst>
              <a:ext uri="{FF2B5EF4-FFF2-40B4-BE49-F238E27FC236}">
                <a16:creationId xmlns:a16="http://schemas.microsoft.com/office/drawing/2014/main" id="{5205FA3D-E2D4-C9F5-FEAD-61BD3CEDA27D}"/>
              </a:ext>
            </a:extLst>
          </p:cNvPr>
          <p:cNvCxnSpPr>
            <a:cxnSpLocks/>
          </p:cNvCxnSpPr>
          <p:nvPr/>
        </p:nvCxnSpPr>
        <p:spPr>
          <a:xfrm>
            <a:off x="1569577" y="2103873"/>
            <a:ext cx="999517"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TextBox 14">
            <a:extLst>
              <a:ext uri="{FF2B5EF4-FFF2-40B4-BE49-F238E27FC236}">
                <a16:creationId xmlns:a16="http://schemas.microsoft.com/office/drawing/2014/main" id="{6835CD95-856C-C939-40BC-2C18F8E657DD}"/>
              </a:ext>
            </a:extLst>
          </p:cNvPr>
          <p:cNvSpPr txBox="1"/>
          <p:nvPr/>
        </p:nvSpPr>
        <p:spPr>
          <a:xfrm>
            <a:off x="1520995" y="1780613"/>
            <a:ext cx="1036920" cy="369332"/>
          </a:xfrm>
          <a:prstGeom prst="rect">
            <a:avLst/>
          </a:prstGeom>
          <a:noFill/>
        </p:spPr>
        <p:txBody>
          <a:bodyPr wrap="square" rtlCol="0">
            <a:spAutoFit/>
          </a:bodyPr>
          <a:lstStyle/>
          <a:p>
            <a:r>
              <a:rPr lang="en-US" altLang="zh-CN" dirty="0">
                <a:cs typeface="Times New Roman" panose="02020603050405020304" pitchFamily="18" charset="0"/>
              </a:rPr>
              <a:t>Requests</a:t>
            </a:r>
            <a:endParaRPr lang="en-US" dirty="0">
              <a:cs typeface="Times New Roman" panose="02020603050405020304" pitchFamily="18" charset="0"/>
            </a:endParaRPr>
          </a:p>
        </p:txBody>
      </p:sp>
      <p:sp>
        <p:nvSpPr>
          <p:cNvPr id="5" name="Content Placeholder 2">
            <a:extLst>
              <a:ext uri="{FF2B5EF4-FFF2-40B4-BE49-F238E27FC236}">
                <a16:creationId xmlns:a16="http://schemas.microsoft.com/office/drawing/2014/main" id="{2CAAD708-31BC-7C20-D43A-17A5CCF6A79B}"/>
              </a:ext>
            </a:extLst>
          </p:cNvPr>
          <p:cNvSpPr txBox="1">
            <a:spLocks/>
          </p:cNvSpPr>
          <p:nvPr/>
        </p:nvSpPr>
        <p:spPr>
          <a:xfrm>
            <a:off x="726588" y="3927627"/>
            <a:ext cx="10515600" cy="2207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800" dirty="0"/>
              <a:t>Shortest-path based fidelity determination (SPFD) algorithm</a:t>
            </a:r>
          </a:p>
          <a:p>
            <a:pPr lvl="1"/>
            <a:r>
              <a:rPr lang="en-GB" sz="2800" dirty="0"/>
              <a:t>All requests are served along shortest path</a:t>
            </a:r>
            <a:endParaRPr lang="en-GB" sz="2600" dirty="0"/>
          </a:p>
          <a:p>
            <a:pPr lvl="1"/>
            <a:r>
              <a:rPr lang="en-GB" sz="2800" dirty="0"/>
              <a:t>For each link, greedily decide link configuration</a:t>
            </a:r>
          </a:p>
          <a:p>
            <a:r>
              <a:rPr lang="en-GB" sz="2800" dirty="0"/>
              <a:t>Bayesian optimization: further improve link configuration decision</a:t>
            </a:r>
          </a:p>
          <a:p>
            <a:pPr lvl="1"/>
            <a:endParaRPr lang="en-GB" sz="2800" dirty="0"/>
          </a:p>
        </p:txBody>
      </p:sp>
      <p:sp>
        <p:nvSpPr>
          <p:cNvPr id="6" name="Rectangle: Rounded Corners 5">
            <a:extLst>
              <a:ext uri="{FF2B5EF4-FFF2-40B4-BE49-F238E27FC236}">
                <a16:creationId xmlns:a16="http://schemas.microsoft.com/office/drawing/2014/main" id="{FC79DD83-7F6C-E21E-7B44-1213B69F4974}"/>
              </a:ext>
            </a:extLst>
          </p:cNvPr>
          <p:cNvSpPr/>
          <p:nvPr/>
        </p:nvSpPr>
        <p:spPr>
          <a:xfrm>
            <a:off x="1392865" y="1499191"/>
            <a:ext cx="1985602" cy="1158301"/>
          </a:xfrm>
          <a:prstGeom prst="round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AB5E6C85-2E93-B015-D6D7-A7C39EE6D0DC}"/>
              </a:ext>
            </a:extLst>
          </p:cNvPr>
          <p:cNvSpPr/>
          <p:nvPr/>
        </p:nvSpPr>
        <p:spPr>
          <a:xfrm>
            <a:off x="4678618" y="1537927"/>
            <a:ext cx="4359503" cy="1158301"/>
          </a:xfrm>
          <a:prstGeom prst="round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1733E13-5CDA-D489-D0DB-1C475EDF3A82}"/>
                  </a:ext>
                </a:extLst>
              </p:cNvPr>
              <p:cNvSpPr txBox="1"/>
              <p:nvPr/>
            </p:nvSpPr>
            <p:spPr>
              <a:xfrm>
                <a:off x="8350134" y="4480804"/>
                <a:ext cx="2029371" cy="8392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undOvr"/>
                          <m:grow m:val="on"/>
                          <m:supHide m:val="on"/>
                          <m:ctrlPr>
                            <a:rPr lang="en-US" sz="2000" i="1" dirty="0" smtClean="0">
                              <a:solidFill>
                                <a:srgbClr val="FF0000"/>
                              </a:solidFill>
                              <a:latin typeface="Cambria Math" panose="02040503050406030204" pitchFamily="18" charset="0"/>
                            </a:rPr>
                          </m:ctrlPr>
                        </m:naryPr>
                        <m:sub>
                          <m:r>
                            <m:rPr>
                              <m:brk/>
                              <m:aln/>
                            </m:rPr>
                            <a:rPr lang="en-GB" sz="2000" b="0" i="1" dirty="0" smtClean="0">
                              <a:solidFill>
                                <a:srgbClr val="FF0000"/>
                              </a:solidFill>
                              <a:latin typeface="Cambria Math" panose="02040503050406030204" pitchFamily="18" charset="0"/>
                            </a:rPr>
                            <m:t>𝑙</m:t>
                          </m:r>
                          <m:r>
                            <a:rPr lang="en-US" sz="2000" i="1" dirty="0">
                              <a:solidFill>
                                <a:srgbClr val="FF0000"/>
                              </a:solidFill>
                              <a:latin typeface="Cambria Math" panose="02040503050406030204" pitchFamily="18" charset="0"/>
                            </a:rPr>
                            <m:t>𝜖</m:t>
                          </m:r>
                          <m:r>
                            <a:rPr lang="en-GB" sz="2000" b="0" i="1" dirty="0" smtClean="0">
                              <a:solidFill>
                                <a:srgbClr val="FF0000"/>
                              </a:solidFill>
                              <a:latin typeface="Cambria Math" panose="02040503050406030204" pitchFamily="18" charset="0"/>
                            </a:rPr>
                            <m:t>𝑟</m:t>
                          </m:r>
                        </m:sub>
                        <m:sup/>
                        <m:e>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𝜋</m:t>
                              </m:r>
                            </m:e>
                            <m:sub>
                              <m:r>
                                <a:rPr lang="en-US" sz="2000" i="1">
                                  <a:solidFill>
                                    <a:srgbClr val="FF0000"/>
                                  </a:solidFill>
                                  <a:latin typeface="Cambria Math" panose="02040503050406030204" pitchFamily="18" charset="0"/>
                                </a:rPr>
                                <m:t>𝑙</m:t>
                              </m:r>
                            </m:sub>
                          </m:sSub>
                          <m:r>
                            <a:rPr lang="en-US" sz="2000" i="1">
                              <a:solidFill>
                                <a:srgbClr val="FF0000"/>
                              </a:solidFill>
                              <a:latin typeface="Cambria Math" panose="02040503050406030204" pitchFamily="18" charset="0"/>
                            </a:rPr>
                            <m:t>≥</m:t>
                          </m:r>
                          <m:r>
                            <a:rPr lang="en-GB" sz="2000" b="0" i="1" smtClean="0">
                              <a:solidFill>
                                <a:srgbClr val="FF0000"/>
                              </a:solidFill>
                              <a:latin typeface="Cambria Math" panose="02040503050406030204" pitchFamily="18" charset="0"/>
                            </a:rPr>
                            <m:t> </m:t>
                          </m:r>
                        </m:e>
                      </m:nary>
                      <m:sSup>
                        <m:sSupPr>
                          <m:ctrlPr>
                            <a:rPr lang="en-GB" sz="2000" i="1" dirty="0">
                              <a:solidFill>
                                <a:srgbClr val="FF0000"/>
                              </a:solidFill>
                              <a:latin typeface="Cambria Math" panose="02040503050406030204" pitchFamily="18" charset="0"/>
                            </a:rPr>
                          </m:ctrlPr>
                        </m:sSupPr>
                        <m:e>
                          <m:r>
                            <a:rPr lang="el-GR" sz="2000" i="1" dirty="0">
                              <a:solidFill>
                                <a:srgbClr val="FF0000"/>
                              </a:solidFill>
                              <a:latin typeface="Cambria Math" panose="02040503050406030204" pitchFamily="18" charset="0"/>
                            </a:rPr>
                            <m:t>𝜋</m:t>
                          </m:r>
                        </m:e>
                        <m:sup>
                          <m:r>
                            <a:rPr lang="en-GB" sz="2000" i="1" dirty="0">
                              <a:solidFill>
                                <a:srgbClr val="FF0000"/>
                              </a:solidFill>
                              <a:latin typeface="Cambria Math" panose="02040503050406030204" pitchFamily="18" charset="0"/>
                            </a:rPr>
                            <m:t>𝑟𝑒𝑞</m:t>
                          </m:r>
                        </m:sup>
                      </m:sSup>
                    </m:oMath>
                  </m:oMathPara>
                </a14:m>
                <a:endParaRPr lang="en-GB" sz="2000" dirty="0">
                  <a:solidFill>
                    <a:srgbClr val="FF0000"/>
                  </a:solidFill>
                </a:endParaRPr>
              </a:p>
            </p:txBody>
          </p:sp>
        </mc:Choice>
        <mc:Fallback xmlns="">
          <p:sp>
            <p:nvSpPr>
              <p:cNvPr id="8" name="TextBox 7">
                <a:extLst>
                  <a:ext uri="{FF2B5EF4-FFF2-40B4-BE49-F238E27FC236}">
                    <a16:creationId xmlns:a16="http://schemas.microsoft.com/office/drawing/2014/main" id="{91733E13-5CDA-D489-D0DB-1C475EDF3A82}"/>
                  </a:ext>
                </a:extLst>
              </p:cNvPr>
              <p:cNvSpPr txBox="1">
                <a:spLocks noRot="1" noChangeAspect="1" noMove="1" noResize="1" noEditPoints="1" noAdjustHandles="1" noChangeArrowheads="1" noChangeShapeType="1" noTextEdit="1"/>
              </p:cNvSpPr>
              <p:nvPr/>
            </p:nvSpPr>
            <p:spPr>
              <a:xfrm>
                <a:off x="8350134" y="4480804"/>
                <a:ext cx="2029371" cy="83926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22AD603-AC3D-0C25-E59B-109684343F88}"/>
                  </a:ext>
                </a:extLst>
              </p:cNvPr>
              <p:cNvSpPr txBox="1"/>
              <p:nvPr/>
            </p:nvSpPr>
            <p:spPr>
              <a:xfrm>
                <a:off x="10064185" y="3028155"/>
                <a:ext cx="437027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𝜋</m:t>
                          </m:r>
                        </m:e>
                        <m:sub>
                          <m:r>
                            <a:rPr lang="en-US" sz="2400" i="1">
                              <a:solidFill>
                                <a:srgbClr val="FF0000"/>
                              </a:solidFill>
                              <a:latin typeface="Cambria Math" panose="02040503050406030204" pitchFamily="18" charset="0"/>
                            </a:rPr>
                            <m:t>𝑙</m:t>
                          </m:r>
                        </m:sub>
                      </m:sSub>
                      <m:r>
                        <a:rPr lang="en-GB" sz="2400" b="0" i="0" smtClean="0">
                          <a:solidFill>
                            <a:srgbClr val="FF0000"/>
                          </a:solidFill>
                          <a:latin typeface="Cambria Math" panose="02040503050406030204" pitchFamily="18" charset="0"/>
                        </a:rPr>
                        <m:t>= </m:t>
                      </m:r>
                    </m:oMath>
                  </m:oMathPara>
                </a14:m>
                <a:endParaRPr lang="en-GB" sz="2400" dirty="0">
                  <a:solidFill>
                    <a:srgbClr val="FF0000"/>
                  </a:solidFill>
                </a:endParaRPr>
              </a:p>
            </p:txBody>
          </p:sp>
        </mc:Choice>
        <mc:Fallback xmlns="">
          <p:sp>
            <p:nvSpPr>
              <p:cNvPr id="9" name="TextBox 8">
                <a:extLst>
                  <a:ext uri="{FF2B5EF4-FFF2-40B4-BE49-F238E27FC236}">
                    <a16:creationId xmlns:a16="http://schemas.microsoft.com/office/drawing/2014/main" id="{D22AD603-AC3D-0C25-E59B-109684343F88}"/>
                  </a:ext>
                </a:extLst>
              </p:cNvPr>
              <p:cNvSpPr txBox="1">
                <a:spLocks noRot="1" noChangeAspect="1" noMove="1" noResize="1" noEditPoints="1" noAdjustHandles="1" noChangeArrowheads="1" noChangeShapeType="1" noTextEdit="1"/>
              </p:cNvSpPr>
              <p:nvPr/>
            </p:nvSpPr>
            <p:spPr>
              <a:xfrm>
                <a:off x="10064185" y="3028155"/>
                <a:ext cx="4370273" cy="461665"/>
              </a:xfrm>
              <a:prstGeom prst="rect">
                <a:avLst/>
              </a:prstGeom>
              <a:blipFill>
                <a:blip r:embed="rId3"/>
                <a:stretch>
                  <a:fillRect b="-2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CA5980-1A0C-90C5-017C-CA2DA3BAC628}"/>
                  </a:ext>
                </a:extLst>
              </p:cNvPr>
              <p:cNvSpPr txBox="1"/>
              <p:nvPr/>
            </p:nvSpPr>
            <p:spPr>
              <a:xfrm>
                <a:off x="10272712" y="4442803"/>
                <a:ext cx="1783557" cy="7313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𝜋</m:t>
                          </m:r>
                        </m:e>
                        <m:sub>
                          <m:r>
                            <a:rPr lang="en-US" sz="2000" i="1">
                              <a:solidFill>
                                <a:srgbClr val="FF0000"/>
                              </a:solidFill>
                              <a:latin typeface="Cambria Math" panose="02040503050406030204" pitchFamily="18" charset="0"/>
                            </a:rPr>
                            <m:t>𝑙</m:t>
                          </m:r>
                        </m:sub>
                      </m:sSub>
                      <m:r>
                        <a:rPr lang="en-US" sz="2000" i="1">
                          <a:solidFill>
                            <a:srgbClr val="FF0000"/>
                          </a:solidFill>
                          <a:latin typeface="Cambria Math" panose="02040503050406030204" pitchFamily="18" charset="0"/>
                        </a:rPr>
                        <m:t>≥</m:t>
                      </m:r>
                      <m:r>
                        <a:rPr lang="en-GB" sz="2000">
                          <a:solidFill>
                            <a:srgbClr val="FF0000"/>
                          </a:solidFill>
                          <a:latin typeface="Cambria Math" panose="02040503050406030204" pitchFamily="18" charset="0"/>
                        </a:rPr>
                        <m:t>=</m:t>
                      </m:r>
                      <m:f>
                        <m:fPr>
                          <m:ctrlPr>
                            <a:rPr lang="en-GB" sz="2000" i="1" dirty="0" smtClean="0">
                              <a:solidFill>
                                <a:srgbClr val="FF0000"/>
                              </a:solidFill>
                              <a:latin typeface="Cambria Math" panose="02040503050406030204" pitchFamily="18" charset="0"/>
                            </a:rPr>
                          </m:ctrlPr>
                        </m:fPr>
                        <m:num>
                          <m:sSup>
                            <m:sSupPr>
                              <m:ctrlPr>
                                <a:rPr lang="en-GB" sz="2000" i="1" dirty="0">
                                  <a:solidFill>
                                    <a:srgbClr val="FF0000"/>
                                  </a:solidFill>
                                  <a:latin typeface="Cambria Math" panose="02040503050406030204" pitchFamily="18" charset="0"/>
                                </a:rPr>
                              </m:ctrlPr>
                            </m:sSupPr>
                            <m:e>
                              <m:r>
                                <a:rPr lang="el-GR" sz="2000" i="1" dirty="0">
                                  <a:solidFill>
                                    <a:srgbClr val="FF0000"/>
                                  </a:solidFill>
                                  <a:latin typeface="Cambria Math" panose="02040503050406030204" pitchFamily="18" charset="0"/>
                                </a:rPr>
                                <m:t>𝜋</m:t>
                              </m:r>
                            </m:e>
                            <m:sup>
                              <m:r>
                                <a:rPr lang="en-GB" sz="2000" i="1" dirty="0">
                                  <a:solidFill>
                                    <a:srgbClr val="FF0000"/>
                                  </a:solidFill>
                                  <a:latin typeface="Cambria Math" panose="02040503050406030204" pitchFamily="18" charset="0"/>
                                </a:rPr>
                                <m:t>𝑟𝑒𝑞</m:t>
                              </m:r>
                            </m:sup>
                          </m:sSup>
                        </m:num>
                        <m:den>
                          <m:r>
                            <a:rPr lang="en-GB" sz="2000" i="1" dirty="0">
                              <a:solidFill>
                                <a:srgbClr val="FF0000"/>
                              </a:solidFill>
                              <a:latin typeface="Cambria Math" panose="02040503050406030204" pitchFamily="18" charset="0"/>
                            </a:rPr>
                            <m:t>|</m:t>
                          </m:r>
                          <m:r>
                            <a:rPr lang="en-GB" sz="2000" i="1" dirty="0">
                              <a:solidFill>
                                <a:srgbClr val="FF0000"/>
                              </a:solidFill>
                              <a:latin typeface="Cambria Math" panose="02040503050406030204" pitchFamily="18" charset="0"/>
                            </a:rPr>
                            <m:t>𝑟</m:t>
                          </m:r>
                          <m:r>
                            <a:rPr lang="en-GB" sz="2000" i="1" dirty="0">
                              <a:solidFill>
                                <a:srgbClr val="FF0000"/>
                              </a:solidFill>
                              <a:latin typeface="Cambria Math" panose="02040503050406030204" pitchFamily="18" charset="0"/>
                            </a:rPr>
                            <m:t>|</m:t>
                          </m:r>
                        </m:den>
                      </m:f>
                    </m:oMath>
                  </m:oMathPara>
                </a14:m>
                <a:endParaRPr lang="en-GB" dirty="0"/>
              </a:p>
            </p:txBody>
          </p:sp>
        </mc:Choice>
        <mc:Fallback xmlns="">
          <p:sp>
            <p:nvSpPr>
              <p:cNvPr id="12" name="TextBox 11">
                <a:extLst>
                  <a:ext uri="{FF2B5EF4-FFF2-40B4-BE49-F238E27FC236}">
                    <a16:creationId xmlns:a16="http://schemas.microsoft.com/office/drawing/2014/main" id="{9BCA5980-1A0C-90C5-017C-CA2DA3BAC628}"/>
                  </a:ext>
                </a:extLst>
              </p:cNvPr>
              <p:cNvSpPr txBox="1">
                <a:spLocks noRot="1" noChangeAspect="1" noMove="1" noResize="1" noEditPoints="1" noAdjustHandles="1" noChangeArrowheads="1" noChangeShapeType="1" noTextEdit="1"/>
              </p:cNvSpPr>
              <p:nvPr/>
            </p:nvSpPr>
            <p:spPr>
              <a:xfrm>
                <a:off x="10272712" y="4442803"/>
                <a:ext cx="1783557" cy="731354"/>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4683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B0B8-AA50-4445-BF17-045F516A3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B571B-752A-961D-92AB-E60549F79990}"/>
              </a:ext>
            </a:extLst>
          </p:cNvPr>
          <p:cNvSpPr>
            <a:spLocks noGrp="1"/>
          </p:cNvSpPr>
          <p:nvPr>
            <p:ph type="title"/>
          </p:nvPr>
        </p:nvSpPr>
        <p:spPr/>
        <p:txBody>
          <a:bodyPr/>
          <a:lstStyle/>
          <a:p>
            <a:r>
              <a:rPr lang="en-US" dirty="0"/>
              <a:t>Performance under different requested generation rate </a:t>
            </a:r>
          </a:p>
        </p:txBody>
      </p:sp>
      <p:sp>
        <p:nvSpPr>
          <p:cNvPr id="3" name="Footer Placeholder 2">
            <a:extLst>
              <a:ext uri="{FF2B5EF4-FFF2-40B4-BE49-F238E27FC236}">
                <a16:creationId xmlns:a16="http://schemas.microsoft.com/office/drawing/2014/main" id="{B84CD0DF-0D27-2D37-B211-AD73A029225A}"/>
              </a:ext>
            </a:extLst>
          </p:cNvPr>
          <p:cNvSpPr>
            <a:spLocks noGrp="1"/>
          </p:cNvSpPr>
          <p:nvPr>
            <p:ph type="ftr" sz="quarter" idx="11"/>
          </p:nvPr>
        </p:nvSpPr>
        <p:spPr/>
        <p:txBody>
          <a:bodyPr/>
          <a:lstStyle/>
          <a:p>
            <a:r>
              <a:rPr lang="en-GB"/>
              <a:t>Q. Zhang, Link Configuration for Fidelity-Constrained Entanglement Routing</a:t>
            </a:r>
            <a:endParaRPr lang="en-US"/>
          </a:p>
        </p:txBody>
      </p:sp>
      <p:sp>
        <p:nvSpPr>
          <p:cNvPr id="4" name="Slide Number Placeholder 3">
            <a:extLst>
              <a:ext uri="{FF2B5EF4-FFF2-40B4-BE49-F238E27FC236}">
                <a16:creationId xmlns:a16="http://schemas.microsoft.com/office/drawing/2014/main" id="{643D58DD-BBD0-F9CE-897B-EBB9FF3E879A}"/>
              </a:ext>
            </a:extLst>
          </p:cNvPr>
          <p:cNvSpPr>
            <a:spLocks noGrp="1"/>
          </p:cNvSpPr>
          <p:nvPr>
            <p:ph type="sldNum" sz="quarter" idx="12"/>
          </p:nvPr>
        </p:nvSpPr>
        <p:spPr/>
        <p:txBody>
          <a:bodyPr/>
          <a:lstStyle/>
          <a:p>
            <a:fld id="{5AFE0081-1ED4-41E0-88AB-D26DBE160EA6}" type="slidenum">
              <a:rPr lang="en-US" smtClean="0"/>
              <a:t>36</a:t>
            </a:fld>
            <a:endParaRPr lang="en-US"/>
          </a:p>
        </p:txBody>
      </p:sp>
      <p:sp>
        <p:nvSpPr>
          <p:cNvPr id="5" name="Content Placeholder 2">
            <a:extLst>
              <a:ext uri="{FF2B5EF4-FFF2-40B4-BE49-F238E27FC236}">
                <a16:creationId xmlns:a16="http://schemas.microsoft.com/office/drawing/2014/main" id="{8C3DEBB5-D65D-8527-B3E1-B0A29886A158}"/>
              </a:ext>
            </a:extLst>
          </p:cNvPr>
          <p:cNvSpPr txBox="1">
            <a:spLocks/>
          </p:cNvSpPr>
          <p:nvPr/>
        </p:nvSpPr>
        <p:spPr>
          <a:xfrm>
            <a:off x="838200" y="4775979"/>
            <a:ext cx="11633544" cy="16724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2000" dirty="0"/>
              <a:t>Advantages of link configuration</a:t>
            </a:r>
          </a:p>
          <a:p>
            <a:pPr lvl="1">
              <a:buFont typeface="Wingdings" panose="05000000000000000000" pitchFamily="2" charset="2"/>
              <a:buChar char="§"/>
            </a:pPr>
            <a:r>
              <a:rPr lang="en-US" dirty="0">
                <a:solidFill>
                  <a:srgbClr val="FF0000"/>
                </a:solidFill>
              </a:rPr>
              <a:t>SPFD improves </a:t>
            </a:r>
            <a:r>
              <a:rPr lang="en-US" dirty="0"/>
              <a:t>acceptance ratio of all ER algorithms by up to </a:t>
            </a:r>
            <a:r>
              <a:rPr lang="en-US" dirty="0">
                <a:solidFill>
                  <a:srgbClr val="FF0000"/>
                </a:solidFill>
              </a:rPr>
              <a:t>83%</a:t>
            </a:r>
            <a:endParaRPr lang="en-GB" dirty="0"/>
          </a:p>
          <a:p>
            <a:pPr lvl="1">
              <a:buFont typeface="Wingdings" panose="05000000000000000000" pitchFamily="2" charset="2"/>
              <a:buChar char="§"/>
            </a:pPr>
            <a:r>
              <a:rPr lang="en-US" dirty="0">
                <a:solidFill>
                  <a:srgbClr val="FF0000"/>
                </a:solidFill>
              </a:rPr>
              <a:t>BO further improves </a:t>
            </a:r>
            <a:r>
              <a:rPr lang="en-US" dirty="0"/>
              <a:t>the acceptance ratio of SPFD by up to </a:t>
            </a:r>
            <a:r>
              <a:rPr lang="en-US" dirty="0">
                <a:solidFill>
                  <a:srgbClr val="FF0000"/>
                </a:solidFill>
              </a:rPr>
              <a:t>3.5%</a:t>
            </a:r>
          </a:p>
          <a:p>
            <a:pPr lvl="2">
              <a:buFont typeface="Wingdings" panose="05000000000000000000" pitchFamily="2" charset="2"/>
              <a:buChar char="§"/>
            </a:pPr>
            <a:r>
              <a:rPr lang="en-US" altLang="zh-CN" sz="1900" dirty="0"/>
              <a:t>Achieved with up </a:t>
            </a:r>
            <a:r>
              <a:rPr lang="en-US" altLang="zh-CN" sz="1900" dirty="0">
                <a:solidFill>
                  <a:srgbClr val="FF0000"/>
                </a:solidFill>
              </a:rPr>
              <a:t>0.005 lower end-to-end fidelity</a:t>
            </a:r>
          </a:p>
          <a:p>
            <a:pPr lvl="2">
              <a:buFont typeface="Wingdings" panose="05000000000000000000" pitchFamily="2" charset="2"/>
              <a:buChar char="§"/>
            </a:pPr>
            <a:r>
              <a:rPr lang="en-US" sz="1900" dirty="0"/>
              <a:t>Up to </a:t>
            </a:r>
            <a:r>
              <a:rPr lang="en-US" sz="1900" dirty="0">
                <a:solidFill>
                  <a:srgbClr val="FF0000"/>
                </a:solidFill>
              </a:rPr>
              <a:t>5% additional </a:t>
            </a:r>
            <a:r>
              <a:rPr lang="en-US" sz="1900" dirty="0"/>
              <a:t>resource utilization</a:t>
            </a:r>
          </a:p>
          <a:p>
            <a:pPr>
              <a:buFont typeface="Wingdings" panose="05000000000000000000" pitchFamily="2" charset="2"/>
              <a:buChar char="§"/>
            </a:pPr>
            <a:endParaRPr lang="en-US" sz="2000" b="1" dirty="0">
              <a:solidFill>
                <a:srgbClr val="FF0000"/>
              </a:solidFill>
            </a:endParaRPr>
          </a:p>
        </p:txBody>
      </p:sp>
      <p:pic>
        <p:nvPicPr>
          <p:cNvPr id="6" name="Picture 5">
            <a:extLst>
              <a:ext uri="{FF2B5EF4-FFF2-40B4-BE49-F238E27FC236}">
                <a16:creationId xmlns:a16="http://schemas.microsoft.com/office/drawing/2014/main" id="{81FE3899-0077-C564-A6C9-E041F75CB1FD}"/>
              </a:ext>
            </a:extLst>
          </p:cNvPr>
          <p:cNvPicPr>
            <a:picLocks noChangeAspect="1"/>
          </p:cNvPicPr>
          <p:nvPr/>
        </p:nvPicPr>
        <p:blipFill rotWithShape="1">
          <a:blip r:embed="rId2"/>
          <a:srcRect t="28120"/>
          <a:stretch/>
        </p:blipFill>
        <p:spPr>
          <a:xfrm>
            <a:off x="0" y="1440332"/>
            <a:ext cx="12192000" cy="445306"/>
          </a:xfrm>
          <a:prstGeom prst="rect">
            <a:avLst/>
          </a:prstGeom>
        </p:spPr>
      </p:pic>
      <p:pic>
        <p:nvPicPr>
          <p:cNvPr id="8" name="Picture 7">
            <a:extLst>
              <a:ext uri="{FF2B5EF4-FFF2-40B4-BE49-F238E27FC236}">
                <a16:creationId xmlns:a16="http://schemas.microsoft.com/office/drawing/2014/main" id="{D99B7919-42BC-0FDA-1F2D-0506A3B7A66A}"/>
              </a:ext>
            </a:extLst>
          </p:cNvPr>
          <p:cNvPicPr>
            <a:picLocks noChangeAspect="1"/>
          </p:cNvPicPr>
          <p:nvPr/>
        </p:nvPicPr>
        <p:blipFill>
          <a:blip r:embed="rId3"/>
          <a:srcRect r="50533"/>
          <a:stretch>
            <a:fillRect/>
          </a:stretch>
        </p:blipFill>
        <p:spPr>
          <a:xfrm>
            <a:off x="888085" y="1982152"/>
            <a:ext cx="3973646" cy="2756949"/>
          </a:xfrm>
          <a:prstGeom prst="rect">
            <a:avLst/>
          </a:prstGeom>
        </p:spPr>
      </p:pic>
      <p:pic>
        <p:nvPicPr>
          <p:cNvPr id="9" name="Picture 8">
            <a:extLst>
              <a:ext uri="{FF2B5EF4-FFF2-40B4-BE49-F238E27FC236}">
                <a16:creationId xmlns:a16="http://schemas.microsoft.com/office/drawing/2014/main" id="{41B88FAD-E60F-1E8D-8AC0-100A033DD3FC}"/>
              </a:ext>
            </a:extLst>
          </p:cNvPr>
          <p:cNvPicPr>
            <a:picLocks noChangeAspect="1"/>
          </p:cNvPicPr>
          <p:nvPr/>
        </p:nvPicPr>
        <p:blipFill>
          <a:blip r:embed="rId3"/>
          <a:srcRect l="49404" r="-42"/>
          <a:stretch>
            <a:fillRect/>
          </a:stretch>
        </p:blipFill>
        <p:spPr>
          <a:xfrm>
            <a:off x="6360458" y="2000591"/>
            <a:ext cx="4067735" cy="2756949"/>
          </a:xfrm>
          <a:prstGeom prst="rect">
            <a:avLst/>
          </a:prstGeom>
        </p:spPr>
      </p:pic>
    </p:spTree>
    <p:extLst>
      <p:ext uri="{BB962C8B-B14F-4D97-AF65-F5344CB8AC3E}">
        <p14:creationId xmlns:p14="http://schemas.microsoft.com/office/powerpoint/2010/main" val="91365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8d4b70e-563b-4541-9982-67f23ee24c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0FB35141764A047873234D3F30138EE" ma:contentTypeVersion="8" ma:contentTypeDescription="Creare un nuovo documento." ma:contentTypeScope="" ma:versionID="b4084b027217fa550fd8285d46e5146d">
  <xsd:schema xmlns:xsd="http://www.w3.org/2001/XMLSchema" xmlns:xs="http://www.w3.org/2001/XMLSchema" xmlns:p="http://schemas.microsoft.com/office/2006/metadata/properties" xmlns:ns3="58d4b70e-563b-4541-9982-67f23ee24c89" xmlns:ns4="23e2c6a5-7d3e-4882-a1c5-a8a261f1b579" targetNamespace="http://schemas.microsoft.com/office/2006/metadata/properties" ma:root="true" ma:fieldsID="8b9e989c3e187efe1e2a438b2221997a" ns3:_="" ns4:_="">
    <xsd:import namespace="58d4b70e-563b-4541-9982-67f23ee24c89"/>
    <xsd:import namespace="23e2c6a5-7d3e-4882-a1c5-a8a261f1b57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d4b70e-563b-4541-9982-67f23ee24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e2c6a5-7d3e-4882-a1c5-a8a261f1b579" elementFormDefault="qualified">
    <xsd:import namespace="http://schemas.microsoft.com/office/2006/documentManagement/types"/>
    <xsd:import namespace="http://schemas.microsoft.com/office/infopath/2007/PartnerControls"/>
    <xsd:element name="SharedWithUsers" ma:index="13"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Condiviso con dettagli" ma:internalName="SharedWithDetails" ma:readOnly="true">
      <xsd:simpleType>
        <xsd:restriction base="dms:Note">
          <xsd:maxLength value="255"/>
        </xsd:restriction>
      </xsd:simpleType>
    </xsd:element>
    <xsd:element name="SharingHintHash" ma:index="15"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449E40-2135-4438-A5A5-29CD68B19EAF}">
  <ds:schemaRefs>
    <ds:schemaRef ds:uri="http://schemas.microsoft.com/sharepoint/v3/contenttype/forms"/>
  </ds:schemaRefs>
</ds:datastoreItem>
</file>

<file path=customXml/itemProps2.xml><?xml version="1.0" encoding="utf-8"?>
<ds:datastoreItem xmlns:ds="http://schemas.openxmlformats.org/officeDocument/2006/customXml" ds:itemID="{EA52F6AD-D252-4BD4-8266-2AA6497ADE4E}">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23e2c6a5-7d3e-4882-a1c5-a8a261f1b579"/>
    <ds:schemaRef ds:uri="58d4b70e-563b-4541-9982-67f23ee24c89"/>
    <ds:schemaRef ds:uri="http://www.w3.org/XML/1998/namespace"/>
  </ds:schemaRefs>
</ds:datastoreItem>
</file>

<file path=customXml/itemProps3.xml><?xml version="1.0" encoding="utf-8"?>
<ds:datastoreItem xmlns:ds="http://schemas.openxmlformats.org/officeDocument/2006/customXml" ds:itemID="{F14FDC0C-4FCA-4800-AEEE-A24CEFB8FD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d4b70e-563b-4541-9982-67f23ee24c89"/>
    <ds:schemaRef ds:uri="23e2c6a5-7d3e-4882-a1c5-a8a261f1b5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30300</TotalTime>
  <Words>2927</Words>
  <Application>Microsoft Macintosh PowerPoint</Application>
  <PresentationFormat>宽屏</PresentationFormat>
  <Paragraphs>538</Paragraphs>
  <Slides>36</Slides>
  <Notes>13</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36</vt:i4>
      </vt:variant>
    </vt:vector>
  </HeadingPairs>
  <TitlesOfParts>
    <vt:vector size="48" baseType="lpstr">
      <vt:lpstr>宋体</vt:lpstr>
      <vt:lpstr>微软雅黑</vt:lpstr>
      <vt:lpstr>Arial</vt:lpstr>
      <vt:lpstr>Calibri</vt:lpstr>
      <vt:lpstr>Calibri Light</vt:lpstr>
      <vt:lpstr>Cambria Math</vt:lpstr>
      <vt:lpstr>Helvetica</vt:lpstr>
      <vt:lpstr>Times New Roman</vt:lpstr>
      <vt:lpstr>Wingdings</vt:lpstr>
      <vt:lpstr>Office Theme</vt:lpstr>
      <vt:lpstr>Custom Design</vt:lpstr>
      <vt:lpstr>1_Custom Design</vt:lpstr>
      <vt:lpstr>Link Configuration for Fidelity-Constrained  Entanglement Routing in Quantum Networks</vt:lpstr>
      <vt:lpstr>Outline</vt:lpstr>
      <vt:lpstr>Outline</vt:lpstr>
      <vt:lpstr>Quantum Entanglement</vt:lpstr>
      <vt:lpstr>Quantum Entanglement</vt:lpstr>
      <vt:lpstr>Quantum Networks and Entanglement Routing</vt:lpstr>
      <vt:lpstr>Link Configuration for Quantum Networks</vt:lpstr>
      <vt:lpstr>Outline</vt:lpstr>
      <vt:lpstr>Fidelity Improvement with Purification</vt:lpstr>
      <vt:lpstr>Swapping to Establish End-to-End Entanglement</vt:lpstr>
      <vt:lpstr>Outline</vt:lpstr>
      <vt:lpstr>Illustrative Example (Fixed Link Configuration)</vt:lpstr>
      <vt:lpstr>Illustrative Example (Fixed Link Configuration)</vt:lpstr>
      <vt:lpstr>Illustrative Example (Configurable Link Configuration)</vt:lpstr>
      <vt:lpstr>Problem Statement</vt:lpstr>
      <vt:lpstr>Outline</vt:lpstr>
      <vt:lpstr>Mixed Integer Linear Programming (ILP) Model</vt:lpstr>
      <vt:lpstr>Generalized Procedure of Link Configuration</vt:lpstr>
      <vt:lpstr>Outline</vt:lpstr>
      <vt:lpstr>Simulation Settings</vt:lpstr>
      <vt:lpstr>Simulation Settings</vt:lpstr>
      <vt:lpstr>Compared Scenarios</vt:lpstr>
      <vt:lpstr>Comparison between ILP and Proposed Heuristics</vt:lpstr>
      <vt:lpstr>Comparison between ILP and Proposed Heuristics</vt:lpstr>
      <vt:lpstr>Comparison between ILP and Proposed Heuristics</vt:lpstr>
      <vt:lpstr>Comparison between ILP and Proposed Heuristics</vt:lpstr>
      <vt:lpstr>Comparison between ILP and Proposed Heuristics</vt:lpstr>
      <vt:lpstr>Performance under different requested generation rate </vt:lpstr>
      <vt:lpstr>Performance under different requested generation rate </vt:lpstr>
      <vt:lpstr>Performance under different requested generation rate </vt:lpstr>
      <vt:lpstr>Outline</vt:lpstr>
      <vt:lpstr>Conclusion</vt:lpstr>
      <vt:lpstr>Thank you! qiaolun.zhang@polimi.it</vt:lpstr>
      <vt:lpstr>Link Configuration: Modeling Fidelity and Rate</vt:lpstr>
      <vt:lpstr>Generalized Procedure of Link Configuration</vt:lpstr>
      <vt:lpstr>Performance under different requested generation rate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Machine Learning for Design and Optimization  of Optical Networks</dc:title>
  <dc:creator>Mëmëdhe Ibrahimi</dc:creator>
  <cp:lastModifiedBy>Qiaolun Zhang</cp:lastModifiedBy>
  <cp:revision>478</cp:revision>
  <dcterms:created xsi:type="dcterms:W3CDTF">2023-09-07T17:16:43Z</dcterms:created>
  <dcterms:modified xsi:type="dcterms:W3CDTF">2026-08-31T14:03:49Z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0x01010060FB35141764A047873234D3F30138EE</vt:lpwstr>
  </property>
</Properties>
</file>