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73" r:id="rId6"/>
    <p:sldId id="259" r:id="rId7"/>
    <p:sldId id="261" r:id="rId8"/>
    <p:sldId id="263" r:id="rId9"/>
    <p:sldId id="270" r:id="rId10"/>
    <p:sldId id="264" r:id="rId11"/>
    <p:sldId id="271" r:id="rId12"/>
    <p:sldId id="265" r:id="rId13"/>
    <p:sldId id="266" r:id="rId14"/>
    <p:sldId id="269" r:id="rId15"/>
    <p:sldId id="272" r:id="rId16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90" userDrawn="1">
          <p15:clr>
            <a:srgbClr val="A4A3A4"/>
          </p15:clr>
        </p15:guide>
        <p15:guide id="2" pos="291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090"/>
        <p:guide pos="291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9" Type="http://schemas.openxmlformats.org/officeDocument/2006/relationships/tableStyles" Target="tableStyles.xml"/><Relationship Id="rId18" Type="http://schemas.openxmlformats.org/officeDocument/2006/relationships/viewProps" Target="viewProps.xml"/><Relationship Id="rId17" Type="http://schemas.openxmlformats.org/officeDocument/2006/relationships/presProps" Target="presProps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6" Type="http://schemas.openxmlformats.org/officeDocument/2006/relationships/slideLayout" Target="../slideLayouts/slideLayout7.xml"/><Relationship Id="rId5" Type="http://schemas.openxmlformats.org/officeDocument/2006/relationships/tags" Target="../tags/tag3.xml"/><Relationship Id="rId4" Type="http://schemas.openxmlformats.org/officeDocument/2006/relationships/tags" Target="../tags/tag2.xml"/><Relationship Id="rId3" Type="http://schemas.openxmlformats.org/officeDocument/2006/relationships/tags" Target="../tags/tag1.xml"/><Relationship Id="rId2" Type="http://schemas.openxmlformats.org/officeDocument/2006/relationships/image" Target="../media/image1.png"/><Relationship Id="rId1" Type="http://schemas.openxmlformats.org/officeDocument/2006/relationships/hyperlink" Target="https://github.com/vllm-project/vllm/pull/52641" TargetMode="Externa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tags" Target="../tags/tag11.xml"/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1" Type="http://schemas.openxmlformats.org/officeDocument/2006/relationships/slideLayout" Target="../slideLayouts/slideLayout7.xml"/><Relationship Id="rId10" Type="http://schemas.openxmlformats.org/officeDocument/2006/relationships/tags" Target="../tags/tag12.xml"/><Relationship Id="rId1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hyperlink" Target="https://github.com/vllm-project/vllm/pull/52641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496050" cy="6858000"/>
          </a:xfrm>
          <a:prstGeom prst="rect">
            <a:avLst/>
          </a:prstGeom>
          <a:solidFill>
            <a:srgbClr val="EDF3FA"/>
          </a:solidFill>
          <a:ln w="12700">
            <a:solidFill>
              <a:srgbClr val="EDF3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594360"/>
            <a:ext cx="310896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0D8AA6"/>
                </a:solidFill>
                <a:latin typeface="Aptos"/>
              </a:rPr>
              <a:t>vLLM · EPLB</a:t>
            </a:r>
            <a:endParaRPr sz="13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1234440"/>
            <a:ext cx="4343400" cy="2472690"/>
          </a:xfrm>
          <a:prstGeom prst="rect">
            <a:avLst/>
          </a:prstGeom>
          <a:noFill/>
        </p:spPr>
        <p:txBody>
          <a:bodyPr wrap="none" lIns="36576" tIns="36576" rIns="36576" bIns="36576" anchor="t">
            <a:spAutoFit/>
          </a:bodyPr>
          <a:lstStyle/>
          <a:p>
            <a:pPr algn="l"/>
            <a:r>
              <a:rPr lang="en-US" sz="3900" b="1">
                <a:solidFill>
                  <a:srgbClr val="162236"/>
                </a:solidFill>
                <a:latin typeface="Aptos"/>
              </a:rPr>
              <a:t>vllm EPLB:</a:t>
            </a:r>
            <a:endParaRPr lang="en-US" sz="3900" b="1">
              <a:solidFill>
                <a:srgbClr val="162236"/>
              </a:solidFill>
              <a:latin typeface="Aptos"/>
            </a:endParaRPr>
          </a:p>
          <a:p>
            <a:pPr algn="l"/>
            <a:r>
              <a:rPr sz="3900" b="1">
                <a:solidFill>
                  <a:srgbClr val="162236"/>
                </a:solidFill>
                <a:latin typeface="Aptos"/>
              </a:rPr>
              <a:t>Contention-Aware
Expert Migration
Batching</a:t>
            </a:r>
            <a:endParaRPr sz="3900" b="1">
              <a:solidFill>
                <a:srgbClr val="162236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700" b="1">
                <a:solidFill>
                  <a:srgbClr val="162236"/>
                </a:solidFill>
                <a:latin typeface="Aptos"/>
              </a:rPr>
              <a:t>Roadmap</a:t>
            </a:r>
            <a:endParaRPr sz="27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352" y="987552"/>
            <a:ext cx="1097280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Two questions: can contention be optimized, and does it help real serving?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3075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85800" y="166420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4708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139B67"/>
                </a:solidFill>
                <a:latin typeface="Aptos"/>
              </a:rPr>
              <a:t>01</a:t>
            </a:r>
            <a:endParaRPr sz="17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73352" y="1828800"/>
            <a:ext cx="3886200" cy="38404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2236"/>
                </a:solidFill>
                <a:latin typeface="Aptos"/>
              </a:rPr>
              <a:t>Upstream impact</a:t>
            </a:r>
            <a:endParaRPr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673352" y="2322576"/>
            <a:ext cx="3886200" cy="34747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The merged vLLM contribution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355080" y="166420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184708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0D8AA6"/>
                </a:solidFill>
                <a:latin typeface="Aptos"/>
              </a:rPr>
              <a:t>02</a:t>
            </a:r>
            <a:endParaRPr sz="17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42632" y="1828800"/>
            <a:ext cx="3886200" cy="38404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2236"/>
                </a:solidFill>
                <a:latin typeface="Aptos"/>
              </a:rPr>
              <a:t>ILP model</a:t>
            </a:r>
            <a:endParaRPr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42632" y="2322576"/>
            <a:ext cx="3886200" cy="34747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Theoretical optimum and trade-off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3366D6"/>
                </a:solidFill>
                <a:latin typeface="Aptos"/>
              </a:rPr>
              <a:t>03</a:t>
            </a:r>
            <a:endParaRPr sz="1700" b="1">
              <a:solidFill>
                <a:srgbClr val="3366D6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73352" y="3703320"/>
            <a:ext cx="3886200" cy="38404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2236"/>
                </a:solidFill>
                <a:latin typeface="Aptos"/>
              </a:rPr>
              <a:t>E2E experiment</a:t>
            </a:r>
            <a:endParaRPr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73352" y="4197096"/>
            <a:ext cx="3886200" cy="34747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Serving quality and NIC traffic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355080" y="3538728"/>
            <a:ext cx="5212080" cy="1417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2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3721608"/>
            <a:ext cx="640080" cy="36576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700" b="1">
                <a:solidFill>
                  <a:srgbClr val="A24BC4"/>
                </a:solidFill>
                <a:latin typeface="Aptos"/>
              </a:rPr>
              <a:t>04</a:t>
            </a:r>
            <a:endParaRPr sz="1700" b="1">
              <a:solidFill>
                <a:srgbClr val="A24BC4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42632" y="3703320"/>
            <a:ext cx="3886200" cy="38404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000" b="1">
                <a:solidFill>
                  <a:srgbClr val="162236"/>
                </a:solidFill>
                <a:latin typeface="Aptos"/>
              </a:rPr>
              <a:t>Profiling</a:t>
            </a:r>
            <a:endParaRPr sz="20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342632" y="4197096"/>
            <a:ext cx="3886200" cy="34747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Scheduler cost versus time saved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700" b="1">
                <a:solidFill>
                  <a:srgbClr val="162236"/>
                </a:solidFill>
                <a:latin typeface="Aptos"/>
              </a:rPr>
              <a:t>The work is now part of vLLM</a:t>
            </a:r>
            <a:endParaRPr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804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github_pr_52641.png">
            <a:hlinkClick r:id="rId1"/>
          </p:cNvPr>
          <p:cNvPicPr>
            <a:picLocks noChangeAspect="1"/>
          </p:cNvPicPr>
          <p:nvPr/>
        </p:nvPicPr>
        <p:blipFill>
          <a:blip r:embed="rId2"/>
          <a:srcRect t="7880" b="7880"/>
          <a:stretch>
            <a:fillRect/>
          </a:stretch>
        </p:blipFill>
        <p:spPr>
          <a:xfrm>
            <a:off x="73660" y="1572260"/>
            <a:ext cx="9119870" cy="4801870"/>
          </a:xfrm>
          <a:prstGeom prst="rect">
            <a:avLst/>
          </a:prstGeom>
        </p:spPr>
      </p:pic>
      <p:sp>
        <p:nvSpPr>
          <p:cNvPr id="8" name="Rounded Rectangle 7"/>
          <p:cNvSpPr/>
          <p:nvPr>
            <p:custDataLst>
              <p:tags r:id="rId3"/>
            </p:custDataLst>
          </p:nvPr>
        </p:nvSpPr>
        <p:spPr>
          <a:xfrm>
            <a:off x="9378315" y="2641600"/>
            <a:ext cx="233172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>
            <p:custDataLst>
              <p:tags r:id="rId4"/>
            </p:custDataLst>
          </p:nvPr>
        </p:nvSpPr>
        <p:spPr>
          <a:xfrm>
            <a:off x="9522968" y="2751328"/>
            <a:ext cx="2112263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139B67"/>
                </a:solidFill>
                <a:latin typeface="Aptos"/>
              </a:rPr>
              <a:t>MERGED</a:t>
            </a:r>
            <a:endParaRPr sz="25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>
            <p:custDataLst>
              <p:tags r:id="rId5"/>
            </p:custDataLst>
          </p:nvPr>
        </p:nvSpPr>
        <p:spPr>
          <a:xfrm>
            <a:off x="9550908" y="3217672"/>
            <a:ext cx="2112263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into vllm-project/vllm:main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89593" y="4435983"/>
            <a:ext cx="2578608" cy="31089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900" b="0">
                <a:solidFill>
                  <a:srgbClr val="0D8AA6"/>
                </a:solidFill>
                <a:latin typeface="Aptos"/>
                <a:hlinkClick r:id="rId1"/>
              </a:rPr>
              <a:t>github.com/vllm-project/vllm/pull/52641</a:t>
            </a:r>
            <a:endParaRPr sz="900" b="0">
              <a:solidFill>
                <a:srgbClr val="0D8AA6"/>
              </a:solidFill>
              <a:latin typeface="Aptos"/>
              <a:hlinkClick r:id="rId1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515112"/>
            <a:ext cx="842962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Background-EPLB(</a:t>
            </a:r>
            <a:r>
              <a:rPr lang="en-US" altLang="zh-CN" sz="2700" b="1">
                <a:solidFill>
                  <a:srgbClr val="162236"/>
                </a:solidFill>
                <a:latin typeface="Aptos"/>
              </a:rPr>
              <a:t>Expert Parallelism Load Balancer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)</a:t>
            </a:r>
            <a:endParaRPr lang="zh-CN" alt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5" name="Connector 4"/>
          <p:cNvCxnSpPr/>
          <p:nvPr/>
        </p:nvCxnSpPr>
        <p:spPr>
          <a:xfrm>
            <a:off x="530352" y="109804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29995"/>
            <a:ext cx="7940675" cy="5362575"/>
          </a:xfrm>
          <a:prstGeom prst="rect">
            <a:avLst/>
          </a:prstGeom>
        </p:spPr>
      </p:pic>
      <p:graphicFrame>
        <p:nvGraphicFramePr>
          <p:cNvPr id="6" name="表格 5"/>
          <p:cNvGraphicFramePr/>
          <p:nvPr/>
        </p:nvGraphicFramePr>
        <p:xfrm>
          <a:off x="8622665" y="3009900"/>
          <a:ext cx="3507105" cy="1781175"/>
        </p:xfrm>
        <a:graphic>
          <a:graphicData uri="http://schemas.openxmlformats.org/drawingml/2006/table">
            <a:tbl>
              <a:tblPr/>
              <a:tblGrid>
                <a:gridCol w="591185"/>
                <a:gridCol w="1769110"/>
                <a:gridCol w="1146810"/>
              </a:tblGrid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Physical placement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Traffic sum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0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Node0 GPU0-1 = </a:t>
                      </a:r>
                      <a:r>
                        <a:rPr lang="en-US" altLang="zh-CN" sz="1100" b="1"/>
                        <a:t>[5,6,5,7]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165 + 39 + 165 + 4 = 373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1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Node0 GPU2-3 = </a:t>
                      </a:r>
                      <a:r>
                        <a:rPr lang="en-US" altLang="zh-CN" sz="1100" b="1"/>
                        <a:t>[8,4,3,4]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73 + 104 + 61 + 104 = 342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2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Node1 GPU0-1 = </a:t>
                      </a:r>
                      <a:r>
                        <a:rPr lang="en-US" altLang="zh-CN" sz="1100" b="1"/>
                        <a:t>[10,9,10,2]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183 + 56 + 183 + 40 = 462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  <a:tr h="356235"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Group 3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Node1 GPU2-3 = </a:t>
                      </a:r>
                      <a:r>
                        <a:rPr lang="en-US" altLang="zh-CN" sz="1100" b="1"/>
                        <a:t>[0,1,11,1]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p>
                      <a:pPr algn="ctr"/>
                      <a:r>
                        <a:rPr lang="en-US" altLang="zh-CN" sz="1100" b="1"/>
                        <a:t>90 + 132 + 86 + 132 = 440</a:t>
                      </a:r>
                      <a:endParaRPr lang="en-US" altLang="zh-CN" sz="1100" b="1"/>
                    </a:p>
                  </a:txBody>
                  <a:tcPr marL="0" marR="0" marT="0" marB="0" anchor="ctr" anchorCtr="0">
                    <a:lnL w="12700">
                      <a:solidFill>
                        <a:schemeClr val="tx1"/>
                      </a:solidFill>
                      <a:prstDash val="solid"/>
                    </a:lnL>
                    <a:lnR w="12700">
                      <a:solidFill>
                        <a:schemeClr val="tx1"/>
                      </a:solidFill>
                      <a:prstDash val="solid"/>
                    </a:lnR>
                    <a:lnT w="12700">
                      <a:solidFill>
                        <a:schemeClr val="tx1"/>
                      </a:solidFill>
                      <a:prstDash val="solid"/>
                    </a:lnT>
                    <a:lnB w="12700">
                      <a:solidFill>
                        <a:schemeClr val="tx1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9" descr="example_hotspot_link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77945" y="1176020"/>
            <a:ext cx="4436110" cy="5535930"/>
          </a:xfrm>
          <a:prstGeom prst="rect">
            <a:avLst/>
          </a:prstGeom>
        </p:spPr>
      </p:pic>
      <p:sp>
        <p:nvSpPr>
          <p:cNvPr id="20" name="TextBox 2"/>
          <p:cNvSpPr txBox="1"/>
          <p:nvPr/>
        </p:nvSpPr>
        <p:spPr>
          <a:xfrm>
            <a:off x="502920" y="175387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 · ILP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21" name="TextBox 3"/>
          <p:cNvSpPr txBox="1"/>
          <p:nvPr/>
        </p:nvSpPr>
        <p:spPr>
          <a:xfrm>
            <a:off x="502920" y="480187"/>
            <a:ext cx="3749040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ILP-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Network Modeling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22" name="Connector 5"/>
          <p:cNvCxnSpPr/>
          <p:nvPr/>
        </p:nvCxnSpPr>
        <p:spPr>
          <a:xfrm>
            <a:off x="576072" y="101676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 · ILP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15112"/>
            <a:ext cx="5553710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ILP-Before and After 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optimization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76072" y="1051687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example_hotspot_aft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08950" y="46990"/>
            <a:ext cx="3684270" cy="6621780"/>
          </a:xfrm>
          <a:prstGeom prst="rect">
            <a:avLst/>
          </a:prstGeom>
        </p:spPr>
      </p:pic>
      <p:pic>
        <p:nvPicPr>
          <p:cNvPr id="26" name="Picture 6" descr="example_hotspot_bef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270" y="2835275"/>
            <a:ext cx="7173595" cy="1866900"/>
          </a:xfrm>
          <a:prstGeom prst="rect">
            <a:avLst/>
          </a:prstGeom>
        </p:spPr>
      </p:pic>
      <p:sp>
        <p:nvSpPr>
          <p:cNvPr id="27" name="右箭头 26"/>
          <p:cNvSpPr/>
          <p:nvPr/>
        </p:nvSpPr>
        <p:spPr>
          <a:xfrm>
            <a:off x="7301865" y="3369945"/>
            <a:ext cx="807085" cy="652145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85800" y="960120"/>
            <a:ext cx="411480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300" b="1">
                <a:solidFill>
                  <a:srgbClr val="139B67"/>
                </a:solidFill>
                <a:latin typeface="Aptos"/>
              </a:rPr>
              <a:t>PART II</a:t>
            </a:r>
            <a:endParaRPr sz="13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800" y="1417320"/>
            <a:ext cx="10607040" cy="114300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4200" b="1">
                <a:solidFill>
                  <a:srgbClr val="162236"/>
                </a:solidFill>
                <a:latin typeface="Aptos"/>
              </a:rPr>
              <a:t>Real-system experiments</a:t>
            </a:r>
            <a:endParaRPr sz="42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13232" y="2788920"/>
            <a:ext cx="8961120" cy="68580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800" b="0">
                <a:solidFill>
                  <a:srgbClr val="596C85"/>
                </a:solidFill>
                <a:latin typeface="Aptos"/>
              </a:rPr>
              <a:t>E2E serving validates the benefit; Nsight profiling measures the cost.</a:t>
            </a:r>
            <a:endParaRPr sz="1800" b="0">
              <a:solidFill>
                <a:srgbClr val="596C85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731647" y="3886200"/>
            <a:ext cx="10030968" cy="0"/>
          </a:xfrm>
          <a:prstGeom prst="line">
            <a:avLst/>
          </a:prstGeom>
          <a:ln w="508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II · E2E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28955"/>
            <a:ext cx="1721485" cy="450850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Algorithm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987552"/>
            <a:ext cx="10972800" cy="320040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Group expert moves by rank pair, then separate flows that share a rank.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3075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572895"/>
            <a:ext cx="2907665" cy="34671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709928"/>
            <a:ext cx="2542032" cy="292608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3366D6"/>
                </a:solidFill>
                <a:latin typeface="Aptos"/>
              </a:rPr>
              <a:t>1  Expert moves</a:t>
            </a:r>
            <a:endParaRPr sz="1400" b="1">
              <a:solidFill>
                <a:srgbClr val="3366D6"/>
              </a:solidFill>
              <a:latin typeface="Aptos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703320" y="1572895"/>
            <a:ext cx="3246120" cy="351917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86200" y="1709928"/>
            <a:ext cx="2880360" cy="292608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0D8AA6"/>
                </a:solidFill>
                <a:latin typeface="Aptos"/>
              </a:rPr>
              <a:t>2  Coalesce by rank pair</a:t>
            </a:r>
            <a:endParaRPr sz="14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7242175" y="1572895"/>
            <a:ext cx="4443730" cy="33896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24927" y="1709928"/>
            <a:ext cx="4078224" cy="292608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400" b="1">
                <a:solidFill>
                  <a:srgbClr val="139B67"/>
                </a:solidFill>
                <a:latin typeface="Aptos"/>
              </a:rPr>
              <a:t>3  Build batches</a:t>
            </a:r>
            <a:endParaRPr sz="14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777240" y="2084831"/>
            <a:ext cx="2359152" cy="39319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130551"/>
            <a:ext cx="4114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100" b="1">
                <a:solidFill>
                  <a:srgbClr val="3366D6"/>
                </a:solidFill>
                <a:latin typeface="Aptos"/>
              </a:rPr>
              <a:t>E1</a:t>
            </a:r>
            <a:endParaRPr sz="1100" b="1">
              <a:solidFill>
                <a:srgbClr val="3366D6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89888" y="2130551"/>
            <a:ext cx="150876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0 → 1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77240" y="2642615"/>
            <a:ext cx="2359152" cy="39319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688335"/>
            <a:ext cx="4114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100" b="1">
                <a:solidFill>
                  <a:srgbClr val="3366D6"/>
                </a:solidFill>
                <a:latin typeface="Aptos"/>
              </a:rPr>
              <a:t>E7</a:t>
            </a:r>
            <a:endParaRPr sz="1100" b="1">
              <a:solidFill>
                <a:srgbClr val="3366D6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89888" y="2688335"/>
            <a:ext cx="150876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0 → 1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777240" y="3200400"/>
            <a:ext cx="2359152" cy="39319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246120"/>
            <a:ext cx="4114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100" b="1">
                <a:solidFill>
                  <a:srgbClr val="139B67"/>
                </a:solidFill>
                <a:latin typeface="Aptos"/>
              </a:rPr>
              <a:t>E3</a:t>
            </a:r>
            <a:endParaRPr sz="11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389888" y="3246120"/>
            <a:ext cx="150876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2 → 3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77240" y="3758183"/>
            <a:ext cx="2359152" cy="39319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A2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803903"/>
            <a:ext cx="4114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100" b="1">
                <a:solidFill>
                  <a:srgbClr val="A24BC4"/>
                </a:solidFill>
                <a:latin typeface="Aptos"/>
              </a:rPr>
              <a:t>E4</a:t>
            </a:r>
            <a:endParaRPr sz="1100" b="1">
              <a:solidFill>
                <a:srgbClr val="A24BC4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389888" y="3803903"/>
            <a:ext cx="150876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1 → 2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777240" y="4315968"/>
            <a:ext cx="2359152" cy="39319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D77A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361688"/>
            <a:ext cx="41148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100" b="1">
                <a:solidFill>
                  <a:srgbClr val="D77A0B"/>
                </a:solidFill>
                <a:latin typeface="Aptos"/>
              </a:rPr>
              <a:t>E9</a:t>
            </a:r>
            <a:endParaRPr sz="1100" b="1">
              <a:solidFill>
                <a:srgbClr val="D77A0B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389888" y="4361688"/>
            <a:ext cx="1508760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0 → 3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3968496" y="2112264"/>
            <a:ext cx="2724912" cy="493776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87368" y="2176272"/>
            <a:ext cx="658368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00" b="1">
                <a:solidFill>
                  <a:srgbClr val="3366D6"/>
                </a:solidFill>
                <a:latin typeface="Aptos"/>
              </a:rPr>
              <a:t>Flow A</a:t>
            </a:r>
            <a:endParaRPr sz="1000" b="1">
              <a:solidFill>
                <a:srgbClr val="3366D6"/>
              </a:solidFill>
              <a:latin typeface="Apto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4736592" y="2167128"/>
            <a:ext cx="713232" cy="26517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200" b="1">
                <a:solidFill>
                  <a:srgbClr val="162236"/>
                </a:solidFill>
                <a:latin typeface="Aptos"/>
              </a:rPr>
              <a:t>0 → 1</a:t>
            </a:r>
            <a:endParaRPr sz="12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468112" y="2176272"/>
            <a:ext cx="1060704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000" b="1">
                <a:solidFill>
                  <a:srgbClr val="596C85"/>
                </a:solidFill>
                <a:latin typeface="Aptos"/>
              </a:rPr>
              <a:t>{E1, E7}</a:t>
            </a:r>
            <a:endParaRPr sz="1000" b="1">
              <a:solidFill>
                <a:srgbClr val="596C85"/>
              </a:solidFill>
              <a:latin typeface="Aptos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3968496" y="2770632"/>
            <a:ext cx="2724912" cy="493776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2834640"/>
            <a:ext cx="658368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00" b="1">
                <a:solidFill>
                  <a:srgbClr val="139B67"/>
                </a:solidFill>
                <a:latin typeface="Aptos"/>
              </a:rPr>
              <a:t>Flow B</a:t>
            </a:r>
            <a:endParaRPr sz="10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4736592" y="2825496"/>
            <a:ext cx="713232" cy="26517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200" b="1">
                <a:solidFill>
                  <a:srgbClr val="162236"/>
                </a:solidFill>
                <a:latin typeface="Aptos"/>
              </a:rPr>
              <a:t>2 → 3</a:t>
            </a:r>
            <a:endParaRPr sz="12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36" name="TextBox 35"/>
          <p:cNvSpPr txBox="1"/>
          <p:nvPr/>
        </p:nvSpPr>
        <p:spPr>
          <a:xfrm>
            <a:off x="5468112" y="2834640"/>
            <a:ext cx="1060704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000" b="1">
                <a:solidFill>
                  <a:srgbClr val="596C85"/>
                </a:solidFill>
                <a:latin typeface="Aptos"/>
              </a:rPr>
              <a:t>{E3}</a:t>
            </a:r>
            <a:endParaRPr sz="1000" b="1">
              <a:solidFill>
                <a:srgbClr val="596C85"/>
              </a:solidFill>
              <a:latin typeface="Aptos"/>
            </a:endParaRPr>
          </a:p>
        </p:txBody>
      </p:sp>
      <p:sp>
        <p:nvSpPr>
          <p:cNvPr id="37" name="Rounded Rectangle 36"/>
          <p:cNvSpPr/>
          <p:nvPr/>
        </p:nvSpPr>
        <p:spPr>
          <a:xfrm>
            <a:off x="3968496" y="3429000"/>
            <a:ext cx="2724912" cy="493776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A2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087368" y="3493008"/>
            <a:ext cx="658368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00" b="1">
                <a:solidFill>
                  <a:srgbClr val="A24BC4"/>
                </a:solidFill>
                <a:latin typeface="Aptos"/>
              </a:rPr>
              <a:t>Flow C</a:t>
            </a:r>
            <a:endParaRPr sz="1000" b="1">
              <a:solidFill>
                <a:srgbClr val="A24BC4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736592" y="3483864"/>
            <a:ext cx="713232" cy="26517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200" b="1">
                <a:solidFill>
                  <a:srgbClr val="162236"/>
                </a:solidFill>
                <a:latin typeface="Aptos"/>
              </a:rPr>
              <a:t>1 → 2</a:t>
            </a:r>
            <a:endParaRPr sz="12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5468112" y="3493008"/>
            <a:ext cx="1060704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000" b="1">
                <a:solidFill>
                  <a:srgbClr val="596C85"/>
                </a:solidFill>
                <a:latin typeface="Aptos"/>
              </a:rPr>
              <a:t>{E4}</a:t>
            </a:r>
            <a:endParaRPr sz="1000" b="1">
              <a:solidFill>
                <a:srgbClr val="596C85"/>
              </a:solidFill>
              <a:latin typeface="Aptos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3968496" y="4087368"/>
            <a:ext cx="2724912" cy="493776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D77A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087368" y="4151376"/>
            <a:ext cx="658368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000" b="1">
                <a:solidFill>
                  <a:srgbClr val="D77A0B"/>
                </a:solidFill>
                <a:latin typeface="Aptos"/>
              </a:rPr>
              <a:t>Flow D</a:t>
            </a:r>
            <a:endParaRPr sz="1000" b="1">
              <a:solidFill>
                <a:srgbClr val="D77A0B"/>
              </a:solidFill>
              <a:latin typeface="Apto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736592" y="4142232"/>
            <a:ext cx="713232" cy="26517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200" b="1">
                <a:solidFill>
                  <a:srgbClr val="162236"/>
                </a:solidFill>
                <a:latin typeface="Aptos"/>
              </a:rPr>
              <a:t>0 → 3</a:t>
            </a:r>
            <a:endParaRPr sz="12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5468112" y="4151376"/>
            <a:ext cx="1060704" cy="25603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000" b="1">
                <a:solidFill>
                  <a:srgbClr val="596C85"/>
                </a:solidFill>
                <a:latin typeface="Aptos"/>
              </a:rPr>
              <a:t>{E9}</a:t>
            </a:r>
            <a:endParaRPr sz="1000" b="1">
              <a:solidFill>
                <a:srgbClr val="596C85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3996055" y="4709160"/>
            <a:ext cx="2670175" cy="228600"/>
          </a:xfrm>
          <a:prstGeom prst="rect">
            <a:avLst/>
          </a:prstGeom>
          <a:noFill/>
        </p:spPr>
        <p:txBody>
          <a:bodyPr wrap="none" lIns="36576" tIns="18288" rIns="36576" bIns="18288" anchor="ctr">
            <a:no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One flow = one directed (source, destination) pair.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516368" y="2048256"/>
            <a:ext cx="3886200" cy="1207008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99248" y="2167128"/>
            <a:ext cx="841248" cy="274320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300" b="1">
                <a:solidFill>
                  <a:srgbClr val="139B67"/>
                </a:solidFill>
                <a:latin typeface="Aptos"/>
              </a:rPr>
              <a:t>Batch 0</a:t>
            </a:r>
            <a:endParaRPr sz="13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8577072" y="2139696"/>
            <a:ext cx="1143000" cy="31089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500" b="1">
                <a:solidFill>
                  <a:srgbClr val="162236"/>
                </a:solidFill>
                <a:latin typeface="Aptos"/>
              </a:rPr>
              <a:t>A: 0→1</a:t>
            </a:r>
            <a:endParaRPr sz="15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9710928" y="2139696"/>
            <a:ext cx="256032" cy="31089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500" b="1">
                <a:solidFill>
                  <a:srgbClr val="596C85"/>
                </a:solidFill>
                <a:latin typeface="Aptos"/>
              </a:rPr>
              <a:t>+</a:t>
            </a:r>
            <a:endParaRPr sz="1500" b="1">
              <a:solidFill>
                <a:srgbClr val="596C85"/>
              </a:solidFill>
              <a:latin typeface="Apto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9976104" y="2139696"/>
            <a:ext cx="1170432" cy="31089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500" b="1">
                <a:solidFill>
                  <a:srgbClr val="162236"/>
                </a:solidFill>
                <a:latin typeface="Aptos"/>
              </a:rPr>
              <a:t>B: 2→3</a:t>
            </a:r>
            <a:endParaRPr sz="15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7717536" y="2624328"/>
            <a:ext cx="3493008" cy="39319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900" b="0">
                <a:solidFill>
                  <a:srgbClr val="596C85"/>
                </a:solidFill>
                <a:latin typeface="Aptos"/>
              </a:rPr>
              <a:t>Runs concurrently — endpoints {0,1} and {2,3} do not overlap.</a:t>
            </a:r>
            <a:endParaRPr sz="9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516368" y="3483864"/>
            <a:ext cx="3886200" cy="1207008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A24B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99248" y="3602736"/>
            <a:ext cx="841248" cy="274320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300" b="1">
                <a:solidFill>
                  <a:srgbClr val="A24BC4"/>
                </a:solidFill>
                <a:latin typeface="Aptos"/>
              </a:rPr>
              <a:t>Batch 1</a:t>
            </a:r>
            <a:endParaRPr sz="1300" b="1">
              <a:solidFill>
                <a:srgbClr val="A24BC4"/>
              </a:solidFill>
              <a:latin typeface="Apto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8577072" y="3575304"/>
            <a:ext cx="1143000" cy="31089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500" b="1">
                <a:solidFill>
                  <a:srgbClr val="162236"/>
                </a:solidFill>
                <a:latin typeface="Aptos"/>
              </a:rPr>
              <a:t>C: 1→2</a:t>
            </a:r>
            <a:endParaRPr sz="15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9710928" y="3575304"/>
            <a:ext cx="256032" cy="31089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500" b="1">
                <a:solidFill>
                  <a:srgbClr val="596C85"/>
                </a:solidFill>
                <a:latin typeface="Aptos"/>
              </a:rPr>
              <a:t>+</a:t>
            </a:r>
            <a:endParaRPr sz="1500" b="1">
              <a:solidFill>
                <a:srgbClr val="596C85"/>
              </a:solidFill>
              <a:latin typeface="Apto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9976104" y="3575304"/>
            <a:ext cx="1170432" cy="310896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500" b="1">
                <a:solidFill>
                  <a:srgbClr val="162236"/>
                </a:solidFill>
                <a:latin typeface="Aptos"/>
              </a:rPr>
              <a:t>D: 0→3</a:t>
            </a:r>
            <a:endParaRPr sz="15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7717536" y="4059936"/>
            <a:ext cx="3493008" cy="393192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900" b="0">
                <a:solidFill>
                  <a:srgbClr val="596C85"/>
                </a:solidFill>
                <a:latin typeface="Aptos"/>
              </a:rPr>
              <a:t>C conflicts with Batch 0; C and D are disjoint, so they share Batch 1.</a:t>
            </a:r>
            <a:endParaRPr sz="9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58" name="Rounded Rectangle 57"/>
          <p:cNvSpPr/>
          <p:nvPr/>
        </p:nvSpPr>
        <p:spPr>
          <a:xfrm>
            <a:off x="6735445" y="5403850"/>
            <a:ext cx="5029200" cy="49403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7A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39280" y="5530469"/>
            <a:ext cx="502920" cy="246888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l"/>
            <a:r>
              <a:rPr sz="1100" b="1">
                <a:solidFill>
                  <a:srgbClr val="D77A0B"/>
                </a:solidFill>
                <a:latin typeface="Aptos"/>
              </a:rPr>
              <a:t>Rule</a:t>
            </a:r>
            <a:endParaRPr sz="1100" b="1">
              <a:solidFill>
                <a:srgbClr val="D77A0B"/>
              </a:solidFill>
              <a:latin typeface="Aptos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8070977" y="5495163"/>
            <a:ext cx="2944368" cy="320040"/>
          </a:xfrm>
          <a:prstGeom prst="rect">
            <a:avLst/>
          </a:prstGeom>
          <a:noFill/>
        </p:spPr>
        <p:txBody>
          <a:bodyPr wrap="none" lIns="36576" tIns="18288" rIns="36576" bIns="18288" anchor="ctr">
            <a:spAutoFit/>
          </a:bodyPr>
          <a:lstStyle/>
          <a:p>
            <a:pPr algn="ctr"/>
            <a:r>
              <a:rPr sz="1000" b="1">
                <a:solidFill>
                  <a:srgbClr val="162236"/>
                </a:solidFill>
                <a:latin typeface="Aptos"/>
              </a:rPr>
              <a:t>A rank can communicate with at most one peer in each batch.</a:t>
            </a:r>
            <a:endParaRPr sz="10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1" name="Connector 60"/>
          <p:cNvCxnSpPr/>
          <p:nvPr/>
        </p:nvCxnSpPr>
        <p:spPr>
          <a:xfrm>
            <a:off x="3419856" y="3703320"/>
            <a:ext cx="256031" cy="0"/>
          </a:xfrm>
          <a:prstGeom prst="line">
            <a:avLst/>
          </a:prstGeom>
          <a:ln w="38100">
            <a:solidFill>
              <a:srgbClr val="0D8A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6967728" y="3703320"/>
            <a:ext cx="256032" cy="0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II · E2E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15112"/>
            <a:ext cx="305371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Experiment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s 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setup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25171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7055" y="1572895"/>
            <a:ext cx="11102975" cy="4987925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02052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75204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0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2775204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11" name="Connector 10"/>
          <p:cNvCxnSpPr/>
          <p:nvPr/>
        </p:nvCxnSpPr>
        <p:spPr>
          <a:xfrm>
            <a:off x="3323844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366260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9412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1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439412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4988052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030468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3620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2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103620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19" name="Connector 18"/>
          <p:cNvCxnSpPr/>
          <p:nvPr/>
        </p:nvCxnSpPr>
        <p:spPr>
          <a:xfrm>
            <a:off x="6652260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694676" y="2440432"/>
            <a:ext cx="1234440" cy="1216152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67828" y="2550160"/>
            <a:ext cx="1078992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100" b="1">
                <a:solidFill>
                  <a:srgbClr val="0D8AA6"/>
                </a:solidFill>
                <a:latin typeface="Aptos"/>
              </a:rPr>
              <a:t>NODE 3</a:t>
            </a:r>
            <a:endParaRPr sz="11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7767828" y="2915920"/>
            <a:ext cx="1078992" cy="50292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RTX 6000
24 GB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8316468" y="3665728"/>
            <a:ext cx="0" cy="713232"/>
          </a:xfrm>
          <a:prstGeom prst="line">
            <a:avLst/>
          </a:prstGeom>
          <a:ln w="381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3296412" y="4378960"/>
            <a:ext cx="5010912" cy="0"/>
          </a:xfrm>
          <a:prstGeom prst="line">
            <a:avLst/>
          </a:prstGeom>
          <a:ln w="63500">
            <a:solidFill>
              <a:srgbClr val="139B6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811780" y="5311648"/>
            <a:ext cx="274320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Qwen3-30B-A3B-Instruct-2507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646420" y="5311648"/>
            <a:ext cx="128016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TP = EP = 4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7292340" y="5311648"/>
            <a:ext cx="128016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300" b="1">
                <a:solidFill>
                  <a:srgbClr val="162236"/>
                </a:solidFill>
                <a:latin typeface="Aptos"/>
              </a:rPr>
              <a:t>async EPLB</a:t>
            </a:r>
            <a:endParaRPr sz="1300" b="1">
              <a:solidFill>
                <a:srgbClr val="162236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36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II · E2E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12064"/>
            <a:ext cx="10972800" cy="484632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2700" b="1">
                <a:solidFill>
                  <a:srgbClr val="162236"/>
                </a:solidFill>
                <a:latin typeface="Aptos"/>
              </a:rPr>
              <a:t>Benchmark Command</a:t>
            </a:r>
            <a:endParaRPr sz="27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987552"/>
            <a:ext cx="10972800" cy="32004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The off/on runs use the same request stream and a fresh server.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" y="1307592"/>
            <a:ext cx="11128248" cy="10972"/>
          </a:xfrm>
          <a:prstGeom prst="rect">
            <a:avLst/>
          </a:prstGeom>
          <a:solidFill>
            <a:srgbClr val="D8E2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572768"/>
            <a:ext cx="10954512" cy="45079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36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47088"/>
            <a:ext cx="10378440" cy="3246120"/>
          </a:xfrm>
          <a:prstGeom prst="rect">
            <a:avLst/>
          </a:prstGeom>
          <a:noFill/>
        </p:spPr>
        <p:txBody>
          <a:bodyPr wrap="none" lIns="36576" tIns="27432" rIns="36576" bIns="27432" anchor="t">
            <a:spAutoFit/>
          </a:bodyPr>
          <a:lstStyle/>
          <a:p>
            <a:pPr algn="l"/>
            <a:r>
              <a:rPr sz="1600" b="0">
                <a:solidFill>
                  <a:srgbClr val="162236"/>
                </a:solidFill>
                <a:latin typeface="Consolas" panose="020B0609020204030204"/>
              </a:rPr>
              <a:t>vllm bench serve --backend vllm --model "$MODEL" --port 8000 \
  --dataset-name random --random-prefix-len 300 \
  --random-input-len 200 --random-output-len 300 \
  --num-prompts 500 --max-concurrency 32 --seed 0 --temperature 0 \
  --percentile-metrics ttft,tpot,e2el --metric-percentiles 50,99 \
  --ignore-eos --disable-tqdm --save-result \
  --result-dir "$RESULTS" --result-filename bench.json</a:t>
            </a:r>
            <a:endParaRPr sz="1600" b="0">
              <a:solidFill>
                <a:srgbClr val="162236"/>
              </a:solidFill>
              <a:latin typeface="Consolas" panose="020B060902020403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914400" y="5285232"/>
            <a:ext cx="10378440" cy="475488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5385816"/>
            <a:ext cx="10012680" cy="246888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1100" b="1">
                <a:solidFill>
                  <a:srgbClr val="139B67"/>
                </a:solidFill>
                <a:latin typeface="Aptos"/>
              </a:rPr>
              <a:t>500 prompts  ·  concurrency 32  ·  deterministic decoding  ·  TTFT / TPOT / E2EL P50 and P99</a:t>
            </a:r>
            <a:endParaRPr sz="1100" b="1">
              <a:solidFill>
                <a:srgbClr val="139B67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II · E2E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15112"/>
            <a:ext cx="2354580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Metric Result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s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3075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11810" y="1398905"/>
            <a:ext cx="11155680" cy="348869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e2e_improvemen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8990" y="1470660"/>
            <a:ext cx="7887970" cy="3293745"/>
          </a:xfrm>
          <a:prstGeom prst="rect">
            <a:avLst/>
          </a:prstGeom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65430" y="4970780"/>
          <a:ext cx="1174877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8195"/>
                <a:gridCol w="1127760"/>
                <a:gridCol w="1023620"/>
                <a:gridCol w="1075055"/>
                <a:gridCol w="2438400"/>
                <a:gridCol w="2376805"/>
                <a:gridCol w="2908935"/>
              </a:tblGrid>
              <a:tr h="561975"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Batching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Duration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(s)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Request/s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Output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tok/s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TTFT P50 / P99 (ms)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TPOT P50 / P99 (ms)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162236"/>
                          </a:solidFill>
                          <a:latin typeface="Aptos"/>
                        </a:rPr>
                        <a:t>E2EL P50 / P99 (ms)</a:t>
                      </a:r>
                      <a:endParaRPr sz="8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DF3FA"/>
                    </a:solidFill>
                  </a:tcPr>
                </a:tc>
              </a:tr>
              <a:tr h="6337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62236"/>
                          </a:solidFill>
                          <a:latin typeface="Aptos"/>
                        </a:rPr>
                        <a:t>off</a:t>
                      </a:r>
                      <a:endParaRPr sz="900" b="1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4,756.10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0.1051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31.54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49,180.71 / 75,740.25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828.53 / 1,007.82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62236"/>
                          </a:solidFill>
                          <a:latin typeface="Aptos"/>
                        </a:rPr>
                        <a:t>303,462.69 / 322,184.88</a:t>
                      </a:r>
                      <a:endParaRPr sz="900" b="0">
                        <a:solidFill>
                          <a:srgbClr val="162236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FFFFFF"/>
                    </a:solidFill>
                  </a:tcPr>
                </a:tc>
              </a:tr>
              <a:tr h="63309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39B67"/>
                          </a:solidFill>
                          <a:latin typeface="Aptos"/>
                        </a:rPr>
                        <a:t>on</a:t>
                      </a:r>
                      <a:endParaRPr sz="900" b="1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4,650.17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0.1075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32.26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48,599.04 / 74,756.17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812.44 / 999.01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39B67"/>
                          </a:solidFill>
                          <a:latin typeface="Aptos"/>
                        </a:rPr>
                        <a:t>293,821.76 / 317,351.61</a:t>
                      </a:r>
                      <a:endParaRPr sz="900" b="0">
                        <a:solidFill>
                          <a:srgbClr val="139B67"/>
                        </a:solidFill>
                        <a:latin typeface="Aptos"/>
                      </a:endParaRPr>
                    </a:p>
                  </a:txBody>
                  <a:tcPr marL="36576" marR="36576" marT="18288" marB="18288" anchor="ctr">
                    <a:solidFill>
                      <a:srgbClr val="ECF8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II · E2E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515112"/>
            <a:ext cx="2732405" cy="48768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lang="en-US" sz="2700" b="1">
                <a:solidFill>
                  <a:srgbClr val="162236"/>
                </a:solidFill>
                <a:latin typeface="Aptos"/>
              </a:rPr>
              <a:t>NIC </a:t>
            </a:r>
            <a:r>
              <a:rPr lang="en-US" sz="2700" b="1">
                <a:solidFill>
                  <a:srgbClr val="162236"/>
                </a:solidFill>
                <a:latin typeface="Aptos"/>
              </a:rPr>
              <a:t>Observation</a:t>
            </a:r>
            <a:endParaRPr lang="en-US" sz="27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987552"/>
            <a:ext cx="1097280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One-second Linux RX+TX samples on the head node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3075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12064" y="1508760"/>
            <a:ext cx="9281160" cy="48280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nic_timeseries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3145" y="1609344"/>
            <a:ext cx="8508140" cy="4608576"/>
          </a:xfrm>
          <a:prstGeom prst="rect">
            <a:avLst/>
          </a:prstGeom>
        </p:spPr>
      </p:pic>
      <p:sp>
        <p:nvSpPr>
          <p:cNvPr id="9" name="Rounded Rectangle 8"/>
          <p:cNvSpPr/>
          <p:nvPr>
            <p:custDataLst>
              <p:tags r:id="rId2"/>
            </p:custDataLst>
          </p:nvPr>
        </p:nvSpPr>
        <p:spPr>
          <a:xfrm>
            <a:off x="10012680" y="1755648"/>
            <a:ext cx="17647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>
            <p:custDataLst>
              <p:tags r:id="rId3"/>
            </p:custDataLst>
          </p:nvPr>
        </p:nvSpPr>
        <p:spPr>
          <a:xfrm>
            <a:off x="10122407" y="1865376"/>
            <a:ext cx="15453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C53D4A"/>
                </a:solidFill>
                <a:latin typeface="Aptos"/>
              </a:rPr>
              <a:t>599.81</a:t>
            </a:r>
            <a:endParaRPr sz="2500" b="1">
              <a:solidFill>
                <a:srgbClr val="C53D4A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>
            <p:custDataLst>
              <p:tags r:id="rId4"/>
            </p:custDataLst>
          </p:nvPr>
        </p:nvSpPr>
        <p:spPr>
          <a:xfrm>
            <a:off x="10122407" y="2331720"/>
            <a:ext cx="15453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MB/s P99 · batching off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>
            <p:custDataLst>
              <p:tags r:id="rId5"/>
            </p:custDataLst>
          </p:nvPr>
        </p:nvSpPr>
        <p:spPr>
          <a:xfrm>
            <a:off x="10012680" y="3127248"/>
            <a:ext cx="17647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>
            <p:custDataLst>
              <p:tags r:id="rId6"/>
            </p:custDataLst>
          </p:nvPr>
        </p:nvSpPr>
        <p:spPr>
          <a:xfrm>
            <a:off x="10122407" y="3236976"/>
            <a:ext cx="15453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139B67"/>
                </a:solidFill>
                <a:latin typeface="Aptos"/>
              </a:rPr>
              <a:t>538.40</a:t>
            </a:r>
            <a:endParaRPr sz="25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>
            <p:custDataLst>
              <p:tags r:id="rId7"/>
            </p:custDataLst>
          </p:nvPr>
        </p:nvSpPr>
        <p:spPr>
          <a:xfrm>
            <a:off x="10122407" y="3703320"/>
            <a:ext cx="15453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MB/s P99 · batching on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>
            <p:custDataLst>
              <p:tags r:id="rId8"/>
            </p:custDataLst>
          </p:nvPr>
        </p:nvSpPr>
        <p:spPr>
          <a:xfrm>
            <a:off x="10012680" y="4498848"/>
            <a:ext cx="17647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>
            <p:custDataLst>
              <p:tags r:id="rId9"/>
            </p:custDataLst>
          </p:nvPr>
        </p:nvSpPr>
        <p:spPr>
          <a:xfrm>
            <a:off x="10122407" y="4608576"/>
            <a:ext cx="15453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0D8AA6"/>
                </a:solidFill>
                <a:latin typeface="Aptos"/>
              </a:rPr>
              <a:t>−10.24%</a:t>
            </a:r>
            <a:endParaRPr sz="25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>
            <p:custDataLst>
              <p:tags r:id="rId10"/>
            </p:custDataLst>
          </p:nvPr>
        </p:nvSpPr>
        <p:spPr>
          <a:xfrm>
            <a:off x="10122407" y="5074920"/>
            <a:ext cx="15453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head-node NIC P99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985248" y="5779008"/>
            <a:ext cx="1810512" cy="493776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1">
                <a:solidFill>
                  <a:srgbClr val="162236"/>
                </a:solidFill>
                <a:latin typeface="Aptos"/>
              </a:rPr>
              <a:t>Less bursty migration traffic leaves more headroom for inference.</a:t>
            </a:r>
            <a:endParaRPr sz="1000" b="1">
              <a:solidFill>
                <a:srgbClr val="162236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10312"/>
            <a:ext cx="2560320" cy="256032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000" b="1">
                <a:solidFill>
                  <a:srgbClr val="0D8AA6"/>
                </a:solidFill>
                <a:latin typeface="Aptos"/>
              </a:rPr>
              <a:t>PART II · PROFILING</a:t>
            </a:r>
            <a:endParaRPr sz="10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475488"/>
            <a:ext cx="11155680" cy="56692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2700" b="1">
                <a:solidFill>
                  <a:srgbClr val="162236"/>
                </a:solidFill>
                <a:latin typeface="Aptos"/>
              </a:rPr>
              <a:t>The optimization pays for itself by a wide margin</a:t>
            </a:r>
            <a:endParaRPr sz="27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30352" y="987552"/>
            <a:ext cx="10972800" cy="320040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l"/>
            <a:r>
              <a:rPr sz="1200" b="0">
                <a:solidFill>
                  <a:srgbClr val="596C85"/>
                </a:solidFill>
                <a:latin typeface="Aptos"/>
              </a:rPr>
              <a:t>Profiling cost is compared with the independent clean E2E A/B run</a:t>
            </a:r>
            <a:endParaRPr sz="1200" b="0">
              <a:solidFill>
                <a:srgbClr val="596C85"/>
              </a:solidFill>
              <a:latin typeface="Aptos"/>
            </a:endParaRPr>
          </a:p>
        </p:txBody>
      </p:sp>
      <p:cxnSp>
        <p:nvCxnSpPr>
          <p:cNvPr id="6" name="Connector 5"/>
          <p:cNvCxnSpPr/>
          <p:nvPr/>
        </p:nvCxnSpPr>
        <p:spPr>
          <a:xfrm>
            <a:off x="530352" y="1307592"/>
            <a:ext cx="11128248" cy="0"/>
          </a:xfrm>
          <a:prstGeom prst="line">
            <a:avLst/>
          </a:prstGeom>
          <a:ln w="12700">
            <a:solidFill>
              <a:srgbClr val="D8E2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66928" y="1536192"/>
            <a:ext cx="8549640" cy="473659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39B6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cheduler_cost_vs_sav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95043" y="1673352"/>
            <a:ext cx="6693408" cy="4462272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9418320" y="1810512"/>
            <a:ext cx="22219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528048" y="1920240"/>
            <a:ext cx="20025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D77A0B"/>
                </a:solidFill>
                <a:latin typeface="Aptos"/>
              </a:rPr>
              <a:t>302.081 ms</a:t>
            </a:r>
            <a:endParaRPr sz="2500" b="1">
              <a:solidFill>
                <a:srgbClr val="D77A0B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528048" y="2386584"/>
            <a:ext cx="20025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worst-rank total scheduler cost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9418320" y="3218688"/>
            <a:ext cx="22219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8048" y="3328416"/>
            <a:ext cx="20025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139B67"/>
                </a:solidFill>
                <a:latin typeface="Aptos"/>
              </a:rPr>
              <a:t>105.932 s</a:t>
            </a:r>
            <a:endParaRPr sz="2500" b="1">
              <a:solidFill>
                <a:srgbClr val="139B67"/>
              </a:solidFill>
              <a:latin typeface="Aptos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9528048" y="3794760"/>
            <a:ext cx="20025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serving time saved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9418320" y="4626864"/>
            <a:ext cx="2221992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8E2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28048" y="4736592"/>
            <a:ext cx="2002536" cy="42976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2500" b="1">
                <a:solidFill>
                  <a:srgbClr val="0D8AA6"/>
                </a:solidFill>
                <a:latin typeface="Aptos"/>
              </a:rPr>
              <a:t>0.285%</a:t>
            </a:r>
            <a:endParaRPr sz="25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528048" y="5202936"/>
            <a:ext cx="2002536" cy="292608"/>
          </a:xfrm>
          <a:prstGeom prst="rect">
            <a:avLst/>
          </a:prstGeom>
          <a:noFill/>
        </p:spPr>
        <p:txBody>
          <a:bodyPr wrap="none" lIns="36576" tIns="36576" rIns="36576" bIns="36576" anchor="ctr">
            <a:spAutoFit/>
          </a:bodyPr>
          <a:lstStyle/>
          <a:p>
            <a:pPr algn="ctr"/>
            <a:r>
              <a:rPr sz="1000" b="0">
                <a:solidFill>
                  <a:srgbClr val="596C85"/>
                </a:solidFill>
                <a:latin typeface="Aptos"/>
              </a:rPr>
              <a:t>cost / saved time</a:t>
            </a:r>
            <a:endParaRPr sz="1000" b="0">
              <a:solidFill>
                <a:srgbClr val="596C85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Box 2"/>
          <p:cNvSpPr txBox="1"/>
          <p:nvPr/>
        </p:nvSpPr>
        <p:spPr>
          <a:xfrm>
            <a:off x="658368" y="658368"/>
            <a:ext cx="2926080" cy="32004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l"/>
            <a:r>
              <a:rPr sz="1300" b="1">
                <a:solidFill>
                  <a:srgbClr val="0D8AA6"/>
                </a:solidFill>
                <a:latin typeface="Aptos"/>
              </a:rPr>
              <a:t>vLLM · EPLB</a:t>
            </a:r>
            <a:endParaRPr sz="1300" b="1">
              <a:solidFill>
                <a:srgbClr val="0D8AA6"/>
              </a:solidFill>
              <a:latin typeface="Aptos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58368" y="1508760"/>
            <a:ext cx="10881360" cy="960120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4800" b="1">
                <a:solidFill>
                  <a:srgbClr val="162236"/>
                </a:solidFill>
                <a:latin typeface="Aptos"/>
              </a:rPr>
              <a:t>Thank you</a:t>
            </a:r>
            <a:endParaRPr sz="4800" b="1">
              <a:solidFill>
                <a:srgbClr val="162236"/>
              </a:solidFill>
              <a:latin typeface="Apto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10881360" cy="530352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2200" b="0">
                <a:solidFill>
                  <a:srgbClr val="596C85"/>
                </a:solidFill>
                <a:latin typeface="Aptos"/>
              </a:rPr>
              <a:t>Questions &amp; Discussion</a:t>
            </a:r>
            <a:endParaRPr sz="2200" b="0">
              <a:solidFill>
                <a:srgbClr val="596C85"/>
              </a:solidFill>
              <a:latin typeface="Aptos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2907792" y="3703320"/>
            <a:ext cx="6382512" cy="658368"/>
          </a:xfrm>
          <a:prstGeom prst="roundRect">
            <a:avLst/>
          </a:prstGeom>
          <a:solidFill>
            <a:srgbClr val="EDF3FA"/>
          </a:solidFill>
          <a:ln w="12700">
            <a:solidFill>
              <a:srgbClr val="0D8A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90672" y="3840480"/>
            <a:ext cx="6016752" cy="310896"/>
          </a:xfrm>
          <a:prstGeom prst="rect">
            <a:avLst/>
          </a:prstGeom>
          <a:noFill/>
        </p:spPr>
        <p:txBody>
          <a:bodyPr wrap="none" lIns="36576" tIns="27432" rIns="36576" bIns="27432" anchor="ctr">
            <a:spAutoFit/>
          </a:bodyPr>
          <a:lstStyle/>
          <a:p>
            <a:pPr algn="ctr"/>
            <a:r>
              <a:rPr sz="1400" b="1">
                <a:solidFill>
                  <a:srgbClr val="0D8AA6"/>
                </a:solidFill>
                <a:latin typeface="Aptos"/>
                <a:hlinkClick r:id="rId1"/>
              </a:rPr>
              <a:t>github.com/vllm-project/vllm/pull/52641</a:t>
            </a:r>
            <a:endParaRPr sz="1400" b="1">
              <a:solidFill>
                <a:srgbClr val="0D8AA6"/>
              </a:solidFill>
              <a:latin typeface="Aptos"/>
              <a:hlinkClick r:id="rId1"/>
            </a:endParaRP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284.4,&quot;left&quot;:723.6,&quot;top&quot;:133.2,&quot;width&quot;:183.6}"/>
</p:tagLst>
</file>

<file path=ppt/tags/tag2.xml><?xml version="1.0" encoding="utf-8"?>
<p:tagLst xmlns:p="http://schemas.openxmlformats.org/presentationml/2006/main">
  <p:tag name="KSO_WM_DIAGRAM_VIRTUALLY_FRAME" val="{&quot;height&quot;:284.4,&quot;left&quot;:723.6,&quot;top&quot;:133.2,&quot;width&quot;:183.6}"/>
</p:tagLst>
</file>

<file path=ppt/tags/tag3.xml><?xml version="1.0" encoding="utf-8"?>
<p:tagLst xmlns:p="http://schemas.openxmlformats.org/presentationml/2006/main">
  <p:tag name="KSO_WM_DIAGRAM_VIRTUALLY_FRAME" val="{&quot;height&quot;:284.4,&quot;left&quot;:723.6,&quot;top&quot;:133.2,&quot;width&quot;:183.6}"/>
</p:tagLst>
</file>

<file path=ppt/tags/tag4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5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6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7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8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9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10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11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ags/tag12.xml><?xml version="1.0" encoding="utf-8"?>
<p:tagLst xmlns:p="http://schemas.openxmlformats.org/presentationml/2006/main">
  <p:tag name="KSO_WM_DIAGRAM_VIRTUALLY_FRAME" val="{&quot;height&quot;:298.79999999999995,&quot;left&quot;:788.4,&quot;top&quot;:138.24,&quot;width&quot;:138.9600000000000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2995</Words>
  <Application>WPS 演示</Application>
  <PresentationFormat>On-screen Show (4:3)</PresentationFormat>
  <Paragraphs>299</Paragraphs>
  <Slides>14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14</vt:i4>
      </vt:variant>
    </vt:vector>
  </HeadingPairs>
  <TitlesOfParts>
    <vt:vector size="25" baseType="lpstr">
      <vt:lpstr>Arial</vt:lpstr>
      <vt:lpstr>宋体</vt:lpstr>
      <vt:lpstr>Wingdings</vt:lpstr>
      <vt:lpstr>Arial</vt:lpstr>
      <vt:lpstr>Aptos</vt:lpstr>
      <vt:lpstr>Segoe UI</vt:lpstr>
      <vt:lpstr>Consolas</vt:lpstr>
      <vt:lpstr>Calibri</vt:lpstr>
      <vt:lpstr>微软雅黑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Contention-Aware Expert Migration Batching</dc:title>
  <dc:creator>DOCCA0</dc:creator>
  <cp:keywords>vLLM, EPLB, expert migration, ILP, NIXL, profiling</cp:keywords>
  <dc:description>generated using python-pptx</dc:description>
  <dc:subject>ILP modeling and real-system experiments for vLLM PR #52641</dc:subject>
  <cp:lastModifiedBy>别开枪，是我</cp:lastModifiedBy>
  <cp:revision>21</cp:revision>
  <dcterms:created xsi:type="dcterms:W3CDTF">2013-01-27T09:14:00Z</dcterms:created>
  <dcterms:modified xsi:type="dcterms:W3CDTF">2026-10-06T16:14:11Z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515833AD8ECF425FB8946443C6CFB46D_12</vt:lpwstr>
  </property>
  <property fmtid="{D5CDD505-2E9C-101B-9397-08002B2CF9AE}" pid="3" name="KSOProductBuildVer">
    <vt:lpwstr>2052-12.1.0.28505</vt:lpwstr>
  </property>
</Properties>
</file>