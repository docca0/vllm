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256" r:id="rId3"/>
    <p:sldId id="257" r:id="rId5"/>
    <p:sldId id="258" r:id="rId6"/>
    <p:sldId id="277" r:id="rId7"/>
    <p:sldId id="276" r:id="rId8"/>
    <p:sldId id="260" r:id="rId9"/>
    <p:sldId id="262" r:id="rId10"/>
    <p:sldId id="263" r:id="rId11"/>
    <p:sldId id="264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0" userDrawn="1">
          <p15:clr>
            <a:srgbClr val="A4A3A4"/>
          </p15:clr>
        </p15:guide>
        <p15:guide id="2" pos="2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0"/>
        <p:guide pos="289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image" Target="../media/image2.png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3" Type="http://schemas.openxmlformats.org/officeDocument/2006/relationships/notesSlide" Target="../notesSlides/notesSlide3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.png"/><Relationship Id="rId8" Type="http://schemas.openxmlformats.org/officeDocument/2006/relationships/image" Target="../media/image15.png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5" Type="http://schemas.openxmlformats.org/officeDocument/2006/relationships/notesSlide" Target="../notesSlides/notesSlide7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20.png"/><Relationship Id="rId12" Type="http://schemas.openxmlformats.org/officeDocument/2006/relationships/image" Target="../media/image19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3" Type="http://schemas.openxmlformats.org/officeDocument/2006/relationships/notesSlide" Target="../notesSlides/notesSlide9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4314190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987552"/>
            <a:ext cx="3767328" cy="224028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  <a:scene3d>
              <a:camera prst="orthographicFront"/>
              <a:lightRig rig="threePt" dir="t"/>
            </a:scene3d>
          </a:bodyPr>
          <a:lstStyle/>
          <a:p>
            <a:pPr algn="l"/>
            <a:r>
              <a:rPr sz="2200" b="1"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Contention-Aware Expert
Parallel Load Balancing in
Mixture-of-Experts Serving
in vLLM</a:t>
            </a:r>
            <a:endParaRPr sz="2200" b="1"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129540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53314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187147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187147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263956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263956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220065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153314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19354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0269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0086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26212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27127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26944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522732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519074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63880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60222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09105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285877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4410075" y="3703955"/>
            <a:ext cx="707517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Main idea: </a:t>
            </a:r>
            <a:endParaRPr lang="en-US" altLang="zh-CN" sz="2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Seperate conflicting transfers. 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876790" y="636397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7269479" y="243605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</a:t>
            </a:r>
            <a:r>
              <a:rPr lang="en-US" sz="1500" b="0">
                <a:solidFill>
                  <a:srgbClr val="5D6C7E"/>
                </a:solidFill>
                <a:latin typeface="Aptos"/>
              </a:rPr>
              <a:t>model </a:t>
            </a:r>
            <a:r>
              <a:rPr sz="1500" b="0">
                <a:solidFill>
                  <a:srgbClr val="5D6C7E"/>
                </a:solidFill>
                <a:latin typeface="Aptos"/>
              </a:rPr>
              <a:t>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9"/>
            </p:custDataLst>
          </p:nvPr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1783080" y="440201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altLang="zh-CN" sz="1500" b="0">
                <a:solidFill>
                  <a:srgbClr val="5D6C7E"/>
                </a:solidFill>
                <a:latin typeface="Aptos"/>
              </a:rPr>
              <a:t>online greedy scheduler</a:t>
            </a:r>
            <a:endParaRPr lang="en-US" altLang="zh-CN"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>
            <p:custDataLst>
              <p:tags r:id="rId13"/>
            </p:custDataLst>
          </p:nvPr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4"/>
            </p:custDataLst>
          </p:nvPr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2" name="灯片编号占位符 21"/>
          <p:cNvSpPr>
            <a:spLocks noGrp="1"/>
          </p:cNvSpPr>
          <p:nvPr>
            <p:ph type="sldNum" sz="quarter" idx="12"/>
          </p:nvPr>
        </p:nvSpPr>
        <p:spPr>
          <a:xfrm>
            <a:off x="9853295" y="632523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8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213868" y="1534033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(</a:t>
            </a:r>
            <a:r>
              <a:rPr lang="en-US" altLang="zh-CN" sz="2600" b="1">
                <a:solidFill>
                  <a:srgbClr val="133052"/>
                </a:solidFill>
                <a:latin typeface="Aptos"/>
              </a:rPr>
              <a:t>Mixture-of-Experts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) 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4018788" y="157276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4293108" y="1763776"/>
            <a:ext cx="164592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MoE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8441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 l="1372" t="11675" r="2491" b="2025"/>
          <a:stretch>
            <a:fillRect/>
          </a:stretch>
        </p:blipFill>
        <p:spPr>
          <a:xfrm>
            <a:off x="4156710" y="2279015"/>
            <a:ext cx="3381375" cy="2299970"/>
          </a:xfrm>
          <a:prstGeom prst="rect">
            <a:avLst/>
          </a:prstGeom>
        </p:spPr>
      </p:pic>
      <p:sp>
        <p:nvSpPr>
          <p:cNvPr id="71" name="Rounded Rectangle 8"/>
          <p:cNvSpPr/>
          <p:nvPr>
            <p:custDataLst>
              <p:tags r:id="rId6"/>
            </p:custDataLst>
          </p:nvPr>
        </p:nvSpPr>
        <p:spPr>
          <a:xfrm>
            <a:off x="8002778" y="163372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9"/>
          <p:cNvSpPr txBox="1"/>
          <p:nvPr>
            <p:custDataLst>
              <p:tags r:id="rId7"/>
            </p:custDataLst>
          </p:nvPr>
        </p:nvSpPr>
        <p:spPr>
          <a:xfrm>
            <a:off x="8277225" y="1824673"/>
            <a:ext cx="29038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MLP(</a:t>
            </a:r>
            <a:r>
              <a:rPr lang="en-US" altLang="zh-CN" sz="1150" b="1">
                <a:solidFill>
                  <a:srgbClr val="2D67A4"/>
                </a:solidFill>
                <a:latin typeface="Aptos"/>
              </a:rPr>
              <a:t>(Multi-Layer Perceptron)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8277225" y="2377440"/>
            <a:ext cx="3124835" cy="1747520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556260" y="1943735"/>
            <a:ext cx="3025140" cy="3423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Why MoE? </a:t>
            </a:r>
            <a:endParaRPr lang="en-US" altLang="zh-CN" sz="3200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  <a:p>
            <a:endParaRPr lang="en-US" altLang="zh-CN" b="1"/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Larger model capacity with lower active computation.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 parameter scaling without proportional FLOPs growth.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6" name="文本框 75"/>
          <p:cNvSpPr txBox="1"/>
          <p:nvPr>
            <p:custDataLst>
              <p:tags r:id="rId10"/>
            </p:custDataLst>
          </p:nvPr>
        </p:nvSpPr>
        <p:spPr>
          <a:xfrm>
            <a:off x="4425315" y="4685030"/>
            <a:ext cx="302450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Multiple expert MLPs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 router activates only a subset per token.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7" name="文本框 76"/>
          <p:cNvSpPr txBox="1"/>
          <p:nvPr>
            <p:custDataLst>
              <p:tags r:id="rId11"/>
            </p:custDataLst>
          </p:nvPr>
        </p:nvSpPr>
        <p:spPr>
          <a:xfrm>
            <a:off x="8545195" y="4578985"/>
            <a:ext cx="25730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accent3"/>
                </a:solidFill>
              </a:rPr>
              <a:t>Feed-forward network for nonlinear feature transformation.</a:t>
            </a:r>
            <a:endParaRPr lang="en-US" altLang="zh-CN"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EP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LB(Expert Parallel Load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Balance)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167130" y="2621280"/>
            <a:ext cx="9878695" cy="38696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1388" y="2746756"/>
            <a:ext cx="2468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1B8D60"/>
                </a:solidFill>
                <a:latin typeface="Aptos"/>
              </a:rPr>
              <a:t>Example</a:t>
            </a:r>
            <a:endParaRPr lang="en-US" sz="115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9888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619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208276" y="374446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082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08276" y="425653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2082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208276" y="476859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082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3129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60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32376" y="3744468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323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32376" y="4256532"/>
            <a:ext cx="86868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23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32376" y="4768596"/>
            <a:ext cx="86868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23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0654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969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825996" y="3744468"/>
            <a:ext cx="86868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599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825996" y="425653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2599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825996" y="476859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2599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94588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1903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65336" y="374446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6533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165336" y="425653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6533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165336" y="4768596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6533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932430" y="5845874"/>
            <a:ext cx="2468880" cy="2876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1400" b="1">
                <a:solidFill>
                  <a:srgbClr val="BF4149"/>
                </a:solidFill>
                <a:latin typeface="Aptos"/>
              </a:rPr>
              <a:t>EP</a:t>
            </a:r>
            <a:r>
              <a:rPr lang="en-US" sz="1400" b="1">
                <a:solidFill>
                  <a:srgbClr val="BF4149"/>
                </a:solidFill>
                <a:latin typeface="Aptos"/>
              </a:rPr>
              <a:t>LB’s jobs</a:t>
            </a:r>
            <a:endParaRPr lang="en-US"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163695" y="5737606"/>
            <a:ext cx="38862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Copy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overloaded experts)</a:t>
            </a:r>
            <a:r>
              <a:rPr sz="1400" b="0">
                <a:solidFill>
                  <a:srgbClr val="1C2735"/>
                </a:solidFill>
                <a:latin typeface="Aptos"/>
              </a:rPr>
              <a:t>
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rank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Migrate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d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experts)</a:t>
            </a:r>
            <a:endParaRPr lang="en-US" sz="14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492125" y="1534160"/>
            <a:ext cx="11210290" cy="83947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文本框 73"/>
          <p:cNvSpPr txBox="1"/>
          <p:nvPr/>
        </p:nvSpPr>
        <p:spPr>
          <a:xfrm>
            <a:off x="967740" y="1663065"/>
            <a:ext cx="4420235" cy="60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What is EPLB?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37585" y="1752600"/>
            <a:ext cx="7508240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4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Dynamically balances expert workloads across GPUs.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994664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0" y="0"/>
            <a:ext cx="1219136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931400" y="636587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1483995"/>
            <a:ext cx="2546350" cy="524700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55" y="4413250"/>
            <a:ext cx="2837815" cy="24447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050" y="1606550"/>
            <a:ext cx="2788920" cy="21418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375" y="1597025"/>
            <a:ext cx="3233420" cy="2383790"/>
          </a:xfrm>
          <a:prstGeom prst="rect">
            <a:avLst/>
          </a:prstGeom>
        </p:spPr>
      </p:pic>
      <p:sp>
        <p:nvSpPr>
          <p:cNvPr id="13" name="左箭头 12"/>
          <p:cNvSpPr/>
          <p:nvPr/>
        </p:nvSpPr>
        <p:spPr>
          <a:xfrm rot="20580000">
            <a:off x="2768600" y="2962275"/>
            <a:ext cx="1370965" cy="30035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4" name="左箭头 13"/>
          <p:cNvSpPr/>
          <p:nvPr/>
        </p:nvSpPr>
        <p:spPr>
          <a:xfrm rot="1680000">
            <a:off x="2711450" y="4749800"/>
            <a:ext cx="1511300" cy="312420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左箭头 14"/>
          <p:cNvSpPr/>
          <p:nvPr/>
        </p:nvSpPr>
        <p:spPr>
          <a:xfrm>
            <a:off x="6436995" y="2618740"/>
            <a:ext cx="1970405" cy="36004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778750" y="4297680"/>
            <a:ext cx="4064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Qwen3-30B-A3B (MoE Model)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 opensource LLM by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Alibaba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Total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30.5B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Active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3.3B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Transformer Layers: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48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128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MoE layer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Activated 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Top-8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5862"/>
            <a:ext cx="4206240" cy="2260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  <a:sym typeface="+mn-ea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893248"/>
            <a:ext cx="315468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</a:t>
            </a:r>
            <a:r>
              <a:rPr lang="en-US" sz="1700" b="1">
                <a:solidFill>
                  <a:srgbClr val="1C2735"/>
                </a:solidFill>
                <a:latin typeface="Aptos"/>
              </a:rPr>
              <a:t> time</a:t>
            </a:r>
            <a:endParaRPr lang="en-US"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948545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481328"/>
            <a:ext cx="2907792" cy="453542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627632"/>
            <a:ext cx="2468880" cy="256032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rial" panose="020B0604020202020204"/>
              </a:rPr>
              <a:t>VARIABLES &amp; INPUTS</a:t>
            </a:r>
            <a:endParaRPr sz="1200" b="1">
              <a:solidFill>
                <a:srgbClr val="2F6FAE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6384" y="1956816"/>
            <a:ext cx="246888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00" b="1">
                <a:solidFill>
                  <a:srgbClr val="7D48A1"/>
                </a:solidFill>
                <a:latin typeface="Arial" panose="020B0604020202020204"/>
              </a:rPr>
              <a:t>DECISION VARIABLES</a:t>
            </a:r>
            <a:endParaRPr sz="1000" b="1">
              <a:solidFill>
                <a:srgbClr val="7D48A1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667512" y="2249424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{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}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2249424"/>
                <a:ext cx="1353312" cy="329184"/>
              </a:xfrm>
              <a:prstGeom prst="rect">
                <a:avLst/>
              </a:prstGeom>
              <a:blipFill rotWithShape="1">
                <a:blip r:embed="rId1"/>
                <a:stretch>
                  <a:fillRect l="-9" t="-2006" r="19" b="-21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901952" y="2240280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flow assignment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667512" y="2770632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{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}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2770632"/>
                <a:ext cx="1353312" cy="329184"/>
              </a:xfrm>
              <a:prstGeom prst="rect">
                <a:avLst/>
              </a:prstGeom>
              <a:blipFill rotWithShape="1">
                <a:blip r:embed="rId2"/>
                <a:stretch>
                  <a:fillRect l="-9" t="-810" r="19" b="-10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1901952" y="2761488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active-batch flag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667512" y="3291839"/>
                <a:ext cx="1353312" cy="329184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≥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3291839"/>
                <a:ext cx="1353312" cy="329184"/>
              </a:xfrm>
              <a:prstGeom prst="rect">
                <a:avLst/>
              </a:prstGeom>
              <a:blipFill rotWithShape="1">
                <a:blip r:embed="rId3"/>
                <a:stretch>
                  <a:fillRect l="-9" t="-964" r="19" b="-8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1901952" y="3282696"/>
            <a:ext cx="1344168" cy="36576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 panose="020B0604020202020204"/>
              </a:rPr>
              <a:t>worst inference time</a:t>
            </a:r>
            <a:endParaRPr sz="108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6384" y="3954780"/>
            <a:ext cx="246888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Arial" panose="020B0604020202020204"/>
              </a:rPr>
              <a:t>KNOWN INPUTS</a:t>
            </a:r>
            <a:endParaRPr sz="1000" b="1">
              <a:solidFill>
                <a:srgbClr val="E67E22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749808" y="4286250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𝑤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286250"/>
                <a:ext cx="960120" cy="274320"/>
              </a:xfrm>
              <a:prstGeom prst="rect">
                <a:avLst/>
              </a:prstGeom>
              <a:blipFill rotWithShape="1">
                <a:blip r:embed="rId4"/>
                <a:stretch>
                  <a:fillRect l="-53" t="-12269" r="53" b="-127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1600200" y="4286250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experts in flow p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749808" y="4633722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𝑓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633722"/>
                <a:ext cx="960120" cy="274320"/>
              </a:xfrm>
              <a:prstGeom prst="rect">
                <a:avLst/>
              </a:prstGeom>
              <a:blipFill rotWithShape="1">
                <a:blip r:embed="rId5"/>
                <a:stretch>
                  <a:fillRect l="-53" t="-12315" r="53" b="-126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1600200" y="4633722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fraction routed on link 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749808" y="4981194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𝐶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4981194"/>
                <a:ext cx="960120" cy="274320"/>
              </a:xfrm>
              <a:prstGeom prst="rect">
                <a:avLst/>
              </a:prstGeom>
              <a:blipFill rotWithShape="1">
                <a:blip r:embed="rId6"/>
                <a:stretch>
                  <a:fillRect l="-53" t="-10972" r="53" b="-1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1600200" y="4981194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capacity of link 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749808" y="5328666"/>
                <a:ext cx="960120" cy="27432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4345B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 panose="02040503050406030204"/>
                        </a:rPr>
                        <m:t>𝜌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5328666"/>
                <a:ext cx="960120" cy="274320"/>
              </a:xfrm>
              <a:prstGeom prst="rect">
                <a:avLst/>
              </a:prstGeom>
              <a:blipFill rotWithShape="1">
                <a:blip r:embed="rId7"/>
                <a:stretch>
                  <a:fillRect l="-53" t="-11019" r="53" b="-112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1600200" y="5328666"/>
            <a:ext cx="1645920" cy="292608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 panose="020B0604020202020204"/>
              </a:rPr>
              <a:t>baseline time; inference share</a:t>
            </a:r>
            <a:endParaRPr sz="980" b="0">
              <a:solidFill>
                <a:srgbClr val="1F3046"/>
              </a:solidFill>
              <a:latin typeface="Arial" panose="020B060402020202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730752" y="1481328"/>
            <a:ext cx="777240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0" y="1627632"/>
            <a:ext cx="1965960" cy="27432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150" b="1">
                <a:solidFill>
                  <a:srgbClr val="138F5F"/>
                </a:solidFill>
                <a:latin typeface="Arial" panose="020B0604020202020204"/>
              </a:rPr>
              <a:t>PRIMARY OBJECTIVE</a:t>
            </a:r>
            <a:endParaRPr sz="115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6492240" y="1591056"/>
                <a:ext cx="3108960" cy="36576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min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1591056"/>
                <a:ext cx="3108960" cy="365760"/>
              </a:xfrm>
              <a:prstGeom prst="rect">
                <a:avLst/>
              </a:prstGeom>
              <a:blipFill rotWithShape="1">
                <a:blip r:embed="rId8"/>
                <a:stretch>
                  <a:fillRect t="-104" b="1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ounded Rectangle 28"/>
          <p:cNvSpPr/>
          <p:nvPr/>
        </p:nvSpPr>
        <p:spPr>
          <a:xfrm>
            <a:off x="3730752" y="230428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3632" y="237744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2F6FAE"/>
                </a:solidFill>
                <a:latin typeface="Arial" panose="020B0604020202020204"/>
              </a:rPr>
              <a:t>1   Every flow runs exactly once</a:t>
            </a:r>
            <a:endParaRPr sz="1070" b="1">
              <a:solidFill>
                <a:srgbClr val="2F6FAE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6355080" y="237744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𝐵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𝑝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∈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𝑃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2377440"/>
                <a:ext cx="4800600" cy="457200"/>
              </a:xfrm>
              <a:prstGeom prst="rect">
                <a:avLst/>
              </a:prstGeom>
              <a:blipFill rotWithShape="1">
                <a:blip r:embed="rId9"/>
                <a:stretch>
                  <a:fillRect t="-14167" b="-1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ounded Rectangle 31"/>
          <p:cNvSpPr/>
          <p:nvPr/>
        </p:nvSpPr>
        <p:spPr>
          <a:xfrm>
            <a:off x="3730752" y="303580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13632" y="310896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7D48A1"/>
                </a:solidFill>
                <a:latin typeface="Arial" panose="020B0604020202020204"/>
              </a:rPr>
              <a:t>2   At most one peer per rank and batch</a:t>
            </a:r>
            <a:endParaRPr sz="1070" b="1">
              <a:solidFill>
                <a:srgbClr val="7D48A1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/>
              <p:cNvSpPr txBox="1"/>
              <p:nvPr/>
            </p:nvSpPr>
            <p:spPr>
              <a:xfrm>
                <a:off x="6355080" y="310896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: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𝑟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,</m:t>
                              </m:r>
                              <m:r>
                                <a:rPr lang="en-US" sz="13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𝑏</m:t>
                              </m:r>
                            </m:sub>
                          </m:sSub>
                        </m:e>
                      </m:nary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≤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1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𝑟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3108960"/>
                <a:ext cx="4800600" cy="457200"/>
              </a:xfrm>
              <a:prstGeom prst="rect">
                <a:avLst/>
              </a:prstGeom>
              <a:blipFill rotWithShape="1">
                <a:blip r:embed="rId10"/>
                <a:stretch>
                  <a:fillRect t="-14167" b="-1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ounded Rectangle 34"/>
          <p:cNvSpPr/>
          <p:nvPr/>
        </p:nvSpPr>
        <p:spPr>
          <a:xfrm>
            <a:off x="3730752" y="376732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13632" y="384048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 panose="020B0604020202020204"/>
              </a:rPr>
              <a:t>3   Activate used batches; no gaps</a:t>
            </a:r>
            <a:endParaRPr sz="107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/>
              <p:cNvSpPr txBox="1"/>
              <p:nvPr/>
            </p:nvSpPr>
            <p:spPr>
              <a:xfrm>
                <a:off x="6355080" y="3840480"/>
                <a:ext cx="4800600" cy="457200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≤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𝑦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3840480"/>
                <a:ext cx="4800600" cy="457200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/>
          <p:cNvSpPr/>
          <p:nvPr/>
        </p:nvSpPr>
        <p:spPr>
          <a:xfrm>
            <a:off x="3730752" y="449884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13632" y="457200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E67E22"/>
                </a:solidFill>
                <a:latin typeface="Arial" panose="020B0604020202020204"/>
              </a:rPr>
              <a:t>4   Migration load on each link</a:t>
            </a:r>
            <a:endParaRPr sz="1070" b="1">
              <a:solidFill>
                <a:srgbClr val="E67E22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/>
              <p:cNvSpPr txBox="1"/>
              <p:nvPr/>
            </p:nvSpPr>
            <p:spPr>
              <a:xfrm>
                <a:off x="7814310" y="4447223"/>
                <a:ext cx="1882140" cy="70675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𝐿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ℓ,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/>
                          </m:ctrlPr>
                        </m:naryPr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∈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400" dirty="0">
                                  <a:solidFill>
                                    <a:srgbClr val="1F3046"/>
                                  </a:solidFill>
                                  <a:latin typeface="Cambria Math" panose="02040503050406030204"/>
                                </a:rPr>
                                <m:t>𝑝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𝑓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  <a:ea typeface="MS Mincho" charset="0"/>
                              <a:cs typeface="Cambria Math" panose="02040503050406030204"/>
                            </a:rPr>
                            <m:t>,e</m:t>
                          </m:r>
                        </m:sub>
                      </m:sSub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𝑥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𝑝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4310" y="4447223"/>
                <a:ext cx="1882140" cy="706755"/>
              </a:xfrm>
              <a:prstGeom prst="rect">
                <a:avLst/>
              </a:prstGeom>
              <a:blipFill rotWithShape="1">
                <a:blip r:embed="rId12"/>
                <a:stretch>
                  <a:fillRect t="-45" b="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40"/>
          <p:cNvSpPr/>
          <p:nvPr/>
        </p:nvSpPr>
        <p:spPr>
          <a:xfrm>
            <a:off x="3730752" y="523036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3632" y="5303520"/>
            <a:ext cx="2651760" cy="4572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 panose="020B0604020202020204"/>
              </a:rPr>
              <a:t>5   Inference-time lower bound</a:t>
            </a:r>
            <a:endParaRPr sz="1070" b="1">
              <a:solidFill>
                <a:srgbClr val="138F5F"/>
              </a:solidFill>
              <a:latin typeface="Arial" panose="020B060402020202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7424738" y="5223828"/>
                <a:ext cx="2661285" cy="61658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r</m:t>
                          </m:r>
                        </m:sub>
                      </m:sSub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≥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𝑇</m:t>
                          </m:r>
                        </m:e>
                        <m:sub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0</m:t>
                          </m:r>
                        </m:sub>
                      </m:sSub>
                      <m:d>
                        <m:dPr>
                          <m:sepChr m:val=""/>
                          <m:ctrlPr>
                            <a:rPr/>
                          </m:ctrlPr>
                        </m:dPr>
                        <m:e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1</m:t>
                          </m:r>
                          <m:r>
                            <a:rPr lang="en-US" sz="1200" dirty="0">
                              <a:solidFill>
                                <a:srgbClr val="1F3046"/>
                              </a:solidFill>
                              <a:latin typeface="Cambria Math" panose="02040503050406030204"/>
                            </a:rPr>
                            <m:t>+</m:t>
                          </m:r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e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,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𝑏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e</m:t>
                                  </m:r>
                                </m:sub>
                              </m:sSub>
                              <m:d>
                                <m:dPr>
                                  <m:sepChr m:val=""/>
                                  <m:ctrlPr>
                                    <a:rPr/>
                                  </m:ctrlPr>
                                </m:dPr>
                                <m:e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1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−</m:t>
                                  </m:r>
                                  <m:r>
                                    <a:rPr lang="en-US" sz="1200" dirty="0">
                                      <a:solidFill>
                                        <a:srgbClr val="1F3046"/>
                                      </a:solidFill>
                                      <a:latin typeface="Cambria Math" panose="02040503050406030204"/>
                                    </a:rPr>
                                    <m:t>𝜌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 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∀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e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,</m:t>
                      </m:r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 panose="02040503050406030204"/>
                        </a:rPr>
                        <m:t>𝑏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4738" y="5223828"/>
                <a:ext cx="2661285" cy="616585"/>
              </a:xfrm>
              <a:prstGeom prst="rect">
                <a:avLst/>
              </a:prstGeom>
              <a:blipFill rotWithShape="1">
                <a:blip r:embed="rId13"/>
                <a:stretch>
                  <a:fillRect l="-12" t="-51" r="12" b="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993902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3590" y="1015365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1681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Inference 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time </a:t>
            </a:r>
            <a:r>
              <a:rPr sz="1300" b="1">
                <a:solidFill>
                  <a:srgbClr val="BF4149"/>
                </a:solidFill>
                <a:latin typeface="Aptos"/>
              </a:rPr>
              <a:t>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015" y="9671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9522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Inference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 time </a:t>
            </a:r>
            <a:r>
              <a:rPr sz="1300" b="1">
                <a:solidFill>
                  <a:srgbClr val="1B8D60"/>
                </a:solidFill>
                <a:latin typeface="Aptos"/>
              </a:rPr>
              <a:t>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10001250" y="638492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807" y="852170"/>
            <a:ext cx="2612680" cy="5925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932815" y="2840355"/>
            <a:ext cx="4276725" cy="88519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sz="1800" b="0">
                <a:solidFill>
                  <a:srgbClr val="1C2735"/>
                </a:solidFill>
                <a:latin typeface="Aptos"/>
              </a:rPr>
              <a:t>Explains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the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model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0">
                <a:solidFill>
                  <a:srgbClr val="1C2735"/>
                </a:solidFill>
                <a:latin typeface="Aptos"/>
              </a:rPr>
              <a:t>Prove this problem can be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optimized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Expensive</a:t>
            </a:r>
            <a:endParaRPr lang="en-US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6"/>
            </p:custDataLst>
          </p:nvPr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7"/>
            </p:custDataLst>
          </p:nvPr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81587"/>
            <a:ext cx="827532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lang="en-US" sz="1500" b="1">
                <a:solidFill>
                  <a:srgbClr val="133052"/>
                </a:solidFill>
                <a:latin typeface="Aptos"/>
              </a:rPr>
              <a:t>We can not use ILP in vllm because ILP is expensive</a:t>
            </a:r>
            <a:endParaRPr lang="en-US"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9965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sp>
        <p:nvSpPr>
          <p:cNvPr id="16" name="TextBox 15"/>
          <p:cNvSpPr txBox="1"/>
          <p:nvPr>
            <p:custDataLst>
              <p:tags r:id="rId8"/>
            </p:custDataLst>
          </p:nvPr>
        </p:nvSpPr>
        <p:spPr>
          <a:xfrm>
            <a:off x="6967728" y="2310130"/>
            <a:ext cx="3474720" cy="45466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9"/>
            </p:custDataLst>
          </p:nvPr>
        </p:nvSpPr>
        <p:spPr>
          <a:xfrm>
            <a:off x="6967728" y="2971546"/>
            <a:ext cx="3794760" cy="60833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Achieve similar returns</a:t>
            </a:r>
            <a:endParaRPr lang="en-US" altLang="zh-CN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But much </a:t>
            </a:r>
            <a:r>
              <a:rPr lang="en-US" altLang="zh-CN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cheaper</a:t>
            </a:r>
            <a:endParaRPr lang="en-US" altLang="zh-CN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cxnSp>
        <p:nvCxnSpPr>
          <p:cNvPr id="12" name="Connector 11"/>
          <p:cNvCxnSpPr/>
          <p:nvPr>
            <p:custDataLst>
              <p:tags r:id="rId10"/>
            </p:custDataLst>
          </p:nvPr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6967728" y="4211511"/>
            <a:ext cx="3749039" cy="30035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sz="1600" b="1">
                <a:solidFill>
                  <a:srgbClr val="1B8D60"/>
                </a:solidFill>
                <a:latin typeface="Aptos"/>
              </a:rPr>
              <a:t>Used in serving</a:t>
            </a:r>
            <a:endParaRPr lang="en-US" sz="16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0" name="Rounded Rectangle 8"/>
          <p:cNvSpPr/>
          <p:nvPr/>
        </p:nvSpPr>
        <p:spPr>
          <a:xfrm>
            <a:off x="814070" y="3479800"/>
            <a:ext cx="4529455" cy="32594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2305" y="1541145"/>
            <a:ext cx="4803775" cy="1706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38923"/>
            <a:ext cx="1960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(DAG)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339596" y="380504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7612" y="390563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080260" y="388734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967228" y="389648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339596" y="4536566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7612" y="4637150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80260" y="4618862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7228" y="462800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339596" y="526808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7612" y="536867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80260" y="535038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67228" y="535952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339596" y="599960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7612" y="610019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080260" y="608190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67228" y="609104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18785" y="2353945"/>
            <a:ext cx="6094095" cy="36995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1273" y="286207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grpSp>
        <p:nvGrpSpPr>
          <p:cNvPr id="7" name="DecisionRow0"/>
          <p:cNvGrpSpPr/>
          <p:nvPr/>
        </p:nvGrpSpPr>
        <p:grpSpPr>
          <a:xfrm>
            <a:off x="6121273" y="3255264"/>
            <a:ext cx="4206240" cy="438912"/>
            <a:chOff x="4773168" y="2157984"/>
            <a:chExt cx="4206240" cy="438912"/>
          </a:xfrm>
        </p:grpSpPr>
        <p:sp>
          <p:nvSpPr>
            <p:cNvPr id="30" name="Oval 29"/>
            <p:cNvSpPr/>
            <p:nvPr/>
          </p:nvSpPr>
          <p:spPr>
            <a:xfrm>
              <a:off x="4773168" y="2157984"/>
              <a:ext cx="438912" cy="438912"/>
            </a:xfrm>
            <a:prstGeom prst="ellipse">
              <a:avLst/>
            </a:prstGeom>
            <a:solidFill>
              <a:srgbClr val="2D67A4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2167127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F₀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76672" y="2203703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19088" y="2185415"/>
              <a:ext cx="2560320" cy="2743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 sz="1150" b="0">
                  <a:solidFill>
                    <a:srgbClr val="5D6C7E"/>
                  </a:solidFill>
                  <a:latin typeface="Aptos"/>
                </a:rPr>
                <a:t>uses ranks {0,1}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8" name="DecisionRow1"/>
          <p:cNvGrpSpPr/>
          <p:nvPr/>
        </p:nvGrpSpPr>
        <p:grpSpPr>
          <a:xfrm>
            <a:off x="6121273" y="3813048"/>
            <a:ext cx="4206240" cy="438912"/>
            <a:chOff x="4773168" y="2715768"/>
            <a:chExt cx="4206240" cy="438912"/>
          </a:xfrm>
        </p:grpSpPr>
        <p:sp>
          <p:nvSpPr>
            <p:cNvPr id="34" name="Oval 33"/>
            <p:cNvSpPr/>
            <p:nvPr/>
          </p:nvSpPr>
          <p:spPr>
            <a:xfrm>
              <a:off x="4773168" y="2715768"/>
              <a:ext cx="438912" cy="438912"/>
            </a:xfrm>
            <a:prstGeom prst="ellipse">
              <a:avLst/>
            </a:prstGeom>
            <a:solidFill>
              <a:srgbClr val="1B8D6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73168" y="2724911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F₁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376672" y="2761487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19088" y="2755899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{0,1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27" name="DecisionRow2"/>
          <p:cNvGrpSpPr/>
          <p:nvPr/>
        </p:nvGrpSpPr>
        <p:grpSpPr>
          <a:xfrm>
            <a:off x="6121273" y="4370832"/>
            <a:ext cx="4206240" cy="438912"/>
            <a:chOff x="4773168" y="3273552"/>
            <a:chExt cx="4206240" cy="438912"/>
          </a:xfrm>
        </p:grpSpPr>
        <p:sp>
          <p:nvSpPr>
            <p:cNvPr id="38" name="Oval 37"/>
            <p:cNvSpPr/>
            <p:nvPr/>
          </p:nvSpPr>
          <p:spPr>
            <a:xfrm>
              <a:off x="4773168" y="3273552"/>
              <a:ext cx="438912" cy="438912"/>
            </a:xfrm>
            <a:prstGeom prst="ellipse">
              <a:avLst/>
            </a:prstGeom>
            <a:solidFill>
              <a:srgbClr val="8153A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73168" y="3282696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F₂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76672" y="3319272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19088" y="3313684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1,2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46" name="DecisionRow3"/>
          <p:cNvGrpSpPr/>
          <p:nvPr/>
        </p:nvGrpSpPr>
        <p:grpSpPr>
          <a:xfrm>
            <a:off x="6106033" y="4890515"/>
            <a:ext cx="4206240" cy="438912"/>
            <a:chOff x="4773168" y="3831335"/>
            <a:chExt cx="4206240" cy="438912"/>
          </a:xfrm>
        </p:grpSpPr>
        <p:sp>
          <p:nvSpPr>
            <p:cNvPr id="42" name="Oval 41"/>
            <p:cNvSpPr/>
            <p:nvPr/>
          </p:nvSpPr>
          <p:spPr>
            <a:xfrm>
              <a:off x="4773168" y="3831335"/>
              <a:ext cx="438912" cy="438912"/>
            </a:xfrm>
            <a:prstGeom prst="ellipse">
              <a:avLst/>
            </a:prstGeom>
            <a:solidFill>
              <a:srgbClr val="DD852A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73168" y="3840479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F₃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76672" y="3877055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419088" y="3871468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0,1,2,3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sp>
        <p:nvSpPr>
          <p:cNvPr id="61" name="TextBox 9"/>
          <p:cNvSpPr txBox="1"/>
          <p:nvPr/>
        </p:nvSpPr>
        <p:spPr>
          <a:xfrm>
            <a:off x="1006475" y="3555683"/>
            <a:ext cx="29800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(for loop flows)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63" name="GreedyGraphNode0"/>
          <p:cNvSpPr/>
          <p:nvPr/>
        </p:nvSpPr>
        <p:spPr>
          <a:xfrm>
            <a:off x="1592580" y="187909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0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4" name="GreedyGraphNode1"/>
          <p:cNvSpPr/>
          <p:nvPr/>
        </p:nvSpPr>
        <p:spPr>
          <a:xfrm>
            <a:off x="4290060" y="187909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1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5" name="GreedyGraphNode2"/>
          <p:cNvSpPr/>
          <p:nvPr/>
        </p:nvSpPr>
        <p:spPr>
          <a:xfrm>
            <a:off x="4290060" y="265633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2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6" name="GreedyGraphNode3"/>
          <p:cNvSpPr/>
          <p:nvPr/>
        </p:nvSpPr>
        <p:spPr>
          <a:xfrm>
            <a:off x="1592580" y="265633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300" b="1">
                <a:solidFill>
                  <a:srgbClr val="14345B"/>
                </a:solidFill>
                <a:latin typeface="Arial" panose="020B0604020202020204"/>
              </a:rPr>
              <a:t>3</a:t>
            </a:r>
            <a:endParaRPr sz="1300" b="1">
              <a:solidFill>
                <a:srgbClr val="14345B"/>
              </a:solidFill>
              <a:latin typeface="Arial" panose="020B0604020202020204"/>
            </a:endParaRPr>
          </a:p>
        </p:txBody>
      </p:sp>
      <p:cxnSp>
        <p:nvCxnSpPr>
          <p:cNvPr id="67" name="GreedyGraphArrow"/>
          <p:cNvCxnSpPr/>
          <p:nvPr/>
        </p:nvCxnSpPr>
        <p:spPr>
          <a:xfrm>
            <a:off x="2049780" y="2107692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reedyGraphArrow"/>
          <p:cNvCxnSpPr/>
          <p:nvPr/>
        </p:nvCxnSpPr>
        <p:spPr>
          <a:xfrm>
            <a:off x="4518660" y="2336292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reedyGraphArrow"/>
          <p:cNvCxnSpPr/>
          <p:nvPr/>
        </p:nvCxnSpPr>
        <p:spPr>
          <a:xfrm flipH="1">
            <a:off x="2049780" y="2884932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reedyGraphArrow"/>
          <p:cNvCxnSpPr/>
          <p:nvPr/>
        </p:nvCxnSpPr>
        <p:spPr>
          <a:xfrm>
            <a:off x="1821180" y="2336292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GreedyGraphLabel0"/>
          <p:cNvSpPr txBox="1"/>
          <p:nvPr/>
        </p:nvSpPr>
        <p:spPr>
          <a:xfrm>
            <a:off x="2644139" y="1833372"/>
            <a:ext cx="11887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F₀  {E₁,E₇}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72" name="GreedyGraphLabel1"/>
          <p:cNvSpPr txBox="1"/>
          <p:nvPr/>
        </p:nvSpPr>
        <p:spPr>
          <a:xfrm>
            <a:off x="4424172" y="2327148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F₂  {E₄}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73" name="GreedyGraphLabel2"/>
          <p:cNvSpPr txBox="1"/>
          <p:nvPr/>
        </p:nvSpPr>
        <p:spPr>
          <a:xfrm>
            <a:off x="2753868" y="2930652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F₁  {E₃}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74" name="GreedyGraphLabel3"/>
          <p:cNvSpPr txBox="1"/>
          <p:nvPr/>
        </p:nvSpPr>
        <p:spPr>
          <a:xfrm>
            <a:off x="967740" y="2327148"/>
            <a:ext cx="960120" cy="22860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 panose="020B0604020202020204"/>
              </a:rPr>
              <a:t>F₃  {E₉}</a:t>
            </a:r>
            <a:endParaRPr sz="115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9884410" y="637413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13417"/>
            <a:ext cx="5257800" cy="27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6155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78576"/>
            <a:ext cx="10314432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lang="en-US" sz="1150" b="1">
                <a:solidFill>
                  <a:srgbClr val="133052"/>
                </a:solidFill>
                <a:latin typeface="Aptos"/>
              </a:rPr>
              <a:t>All metrics </a:t>
            </a:r>
            <a:r>
              <a:rPr lang="en-US" sz="1150" b="1">
                <a:solidFill>
                  <a:srgbClr val="133052"/>
                </a:solidFill>
                <a:latin typeface="Aptos"/>
              </a:rPr>
              <a:t>improved</a:t>
            </a:r>
            <a:endParaRPr lang="en-US" sz="115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9203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8441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227257"/>
            <a:ext cx="1719072" cy="81089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lang="en-US" altLang="zh-CN" sz="1600" b="1">
                <a:solidFill>
                  <a:srgbClr val="133052"/>
                </a:solidFill>
                <a:latin typeface="Aptos"/>
              </a:rPr>
              <a:t>My feature can smooth the large traffic bursts. </a:t>
            </a:r>
            <a:endParaRPr lang="en-US" altLang="zh-CN" sz="1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93935" y="637222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单圆角矩形 14"/>
          <p:cNvSpPr/>
          <p:nvPr/>
        </p:nvSpPr>
        <p:spPr>
          <a:xfrm flipH="1">
            <a:off x="720725" y="2535555"/>
            <a:ext cx="3909060" cy="3641725"/>
          </a:xfrm>
          <a:prstGeom prst="round1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4" name="单圆角矩形 13"/>
          <p:cNvSpPr/>
          <p:nvPr/>
        </p:nvSpPr>
        <p:spPr>
          <a:xfrm>
            <a:off x="7284085" y="2535555"/>
            <a:ext cx="4267200" cy="3641725"/>
          </a:xfrm>
          <a:prstGeom prst="round1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sz="1700" b="1">
                <a:solidFill>
                  <a:srgbClr val="14345B"/>
                </a:solidFill>
                <a:latin typeface="Arial" panose="020B0604020202020204"/>
              </a:rPr>
              <a:t>PURPOSE   Is </a:t>
            </a:r>
            <a:r>
              <a:rPr sz="17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the added scheduler cost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 </a:t>
            </a:r>
            <a:r>
              <a:rPr lang="en-US" sz="1700" b="1">
                <a:solidFill>
                  <a:srgbClr val="14345B"/>
                </a:solidFill>
                <a:latin typeface="Arial" panose="020B0604020202020204"/>
              </a:rPr>
              <a:t>&lt;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 </a:t>
            </a:r>
            <a:r>
              <a:rPr sz="17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/>
              </a:rPr>
              <a:t>the serving time saved</a:t>
            </a:r>
            <a:r>
              <a:rPr sz="1700" b="1">
                <a:solidFill>
                  <a:srgbClr val="14345B"/>
                </a:solidFill>
                <a:latin typeface="Arial" panose="020B0604020202020204"/>
              </a:rPr>
              <a:t>?</a:t>
            </a:r>
            <a:endParaRPr sz="1700" b="1">
              <a:solidFill>
                <a:srgbClr val="14345B"/>
              </a:solidFill>
              <a:latin typeface="Arial" panose="020B0604020202020204"/>
            </a:endParaRPr>
          </a:p>
        </p:txBody>
      </p:sp>
      <p:cxnSp>
        <p:nvCxnSpPr>
          <p:cNvPr id="2" name="直接箭头连接符 1"/>
          <p:cNvCxnSpPr/>
          <p:nvPr/>
        </p:nvCxnSpPr>
        <p:spPr>
          <a:xfrm flipV="1">
            <a:off x="1498600" y="2861945"/>
            <a:ext cx="0" cy="29584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>
            <a:off x="1164590" y="5594985"/>
            <a:ext cx="3237865" cy="152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矩形 6"/>
          <p:cNvSpPr/>
          <p:nvPr/>
        </p:nvSpPr>
        <p:spPr>
          <a:xfrm>
            <a:off x="2251710" y="4671060"/>
            <a:ext cx="582295" cy="9239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633220" y="4316730"/>
            <a:ext cx="2083435" cy="4692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Extra </a:t>
            </a:r>
            <a:r>
              <a:rPr lang="en-US" altLang="zh-CN"/>
              <a:t>schedule </a:t>
            </a:r>
            <a:r>
              <a:rPr lang="en-US" altLang="zh-CN"/>
              <a:t>time</a:t>
            </a:r>
            <a:endParaRPr lang="en-US" altLang="zh-CN"/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8078470" y="2877185"/>
            <a:ext cx="0" cy="29584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>
            <a:off x="7744460" y="5610225"/>
            <a:ext cx="3237865" cy="152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8831580" y="3646170"/>
            <a:ext cx="582295" cy="19640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8213090" y="3337560"/>
            <a:ext cx="2083435" cy="4692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Saved serving </a:t>
            </a:r>
            <a:r>
              <a:rPr lang="en-US" altLang="zh-CN"/>
              <a:t>time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5333365" y="3618230"/>
            <a:ext cx="1524635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 i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VS</a:t>
            </a:r>
            <a:endParaRPr lang="en-US" altLang="zh-CN" sz="8800" b="1" i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9931400" y="635635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717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74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7553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11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58877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34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235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893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7593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251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1717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74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553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11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8877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534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83235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893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7593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251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717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374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553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8877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534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83235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6893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07593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251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717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74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553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211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58877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534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83235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893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07593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251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1717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7553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8877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534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83235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893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07593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251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45770" y="4301617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10185" y="4629150"/>
            <a:ext cx="5285105" cy="20440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blipFill rotWithShape="1">
                <a:blip r:embed="rId1"/>
                <a:stretch>
                  <a:fillRect l="-17" t="-80" r="17" b="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53009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537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1537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9897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418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090418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90" y="1824355"/>
            <a:ext cx="6287770" cy="419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0465" y="1416050"/>
            <a:ext cx="54667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Cumulative: Total extra schedule time of  each rank</a:t>
            </a:r>
            <a:endParaRPr lang="en-US" altLang="zh-CN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9" name="直接箭头连接符 58"/>
          <p:cNvCxnSpPr/>
          <p:nvPr/>
        </p:nvCxnSpPr>
        <p:spPr>
          <a:xfrm flipV="1">
            <a:off x="5598795" y="1591310"/>
            <a:ext cx="661670" cy="812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18"/>
          <p:cNvSpPr/>
          <p:nvPr/>
        </p:nvSpPr>
        <p:spPr>
          <a:xfrm>
            <a:off x="5980430" y="6156325"/>
            <a:ext cx="5737860" cy="559435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lang="en-US" altLang="zh-CN" sz="1500" b="1">
                <a:solidFill>
                  <a:srgbClr val="14345B"/>
                </a:solidFill>
                <a:latin typeface="Arial" panose="020B0604020202020204"/>
              </a:rPr>
              <a:t>This is a positive optimization!</a:t>
            </a:r>
            <a:endParaRPr lang="zh-CN" altLang="en-US" sz="15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1794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7621143" y="408432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73360" y="6387465"/>
            <a:ext cx="1384300" cy="34925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l">
              <a:defRPr sz="1200"/>
            </a:pPr>
            <a:r>
              <a:rPr sz="12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234565" y="505663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1452" y="5173409"/>
            <a:ext cx="731520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</a:t>
            </a:r>
            <a:r>
              <a:rPr lang="en-US" sz="1700" b="1">
                <a:solidFill>
                  <a:srgbClr val="133052"/>
                </a:solidFill>
                <a:latin typeface="Aptos"/>
              </a:rPr>
              <a:t>positive</a:t>
            </a:r>
            <a:r>
              <a:rPr sz="1700" b="1">
                <a:solidFill>
                  <a:srgbClr val="133052"/>
                </a:solidFill>
                <a:latin typeface="Aptos"/>
              </a:rPr>
              <a:t> optimization merged into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063365" y="2159635"/>
            <a:ext cx="40640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</a:t>
            </a:r>
            <a:endParaRPr lang="en-US" altLang="zh-CN" sz="8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284470" y="3545205"/>
            <a:ext cx="162242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8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Q&amp;A</a:t>
            </a:r>
            <a:endParaRPr lang="en-US" altLang="zh-CN" sz="480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9998710" y="638746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7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8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9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0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7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8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9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0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1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2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3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4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5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6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8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9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0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1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2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3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4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5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6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4810</Words>
  <Application>WPS 演示</Application>
  <PresentationFormat>On-screen Show (4:3)</PresentationFormat>
  <Paragraphs>657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2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Cambria Math</vt:lpstr>
      <vt:lpstr>Calibri</vt:lpstr>
      <vt:lpstr>微软雅黑</vt:lpstr>
      <vt:lpstr>Arial Unicode MS</vt:lpstr>
      <vt:lpstr>Aptos</vt:lpstr>
      <vt:lpstr>MS Mincho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Parallel Load Balancing in Mixture-of-Experts Serving in vLLM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60</cp:revision>
  <dcterms:created xsi:type="dcterms:W3CDTF">2013-01-27T09:14:00Z</dcterms:created>
  <dcterms:modified xsi:type="dcterms:W3CDTF">2026-10-28T15:39:46Z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