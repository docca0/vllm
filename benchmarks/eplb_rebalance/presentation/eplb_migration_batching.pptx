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4"/>
  </p:notesMasterIdLst>
  <p:handoutMasterIdLst>
    <p:handoutMasterId r:id="rId21"/>
  </p:handoutMasterIdLst>
  <p:sldIdLst>
    <p:sldId id="256" r:id="rId3"/>
    <p:sldId id="257" r:id="rId5"/>
    <p:sldId id="258" r:id="rId6"/>
    <p:sldId id="277" r:id="rId7"/>
    <p:sldId id="276" r:id="rId8"/>
    <p:sldId id="260" r:id="rId9"/>
    <p:sldId id="262" r:id="rId10"/>
    <p:sldId id="263" r:id="rId11"/>
    <p:sldId id="264" r:id="rId12"/>
    <p:sldId id="266" r:id="rId13"/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43" userDrawn="1">
          <p15:clr>
            <a:srgbClr val="A4A3A4"/>
          </p15:clr>
        </p15:guide>
        <p15:guide id="2" pos="292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43"/>
        <p:guide pos="292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handoutMaster" Target="handoutMasters/handoutMaster1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1" Type="http://schemas.openxmlformats.org/officeDocument/2006/relationships/hyperlink" Target="https://github.com/vllm-project/vllm/pull/52641" TargetMode="Externa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notesSlide" Target="../notesSlides/notesSlide2.xml"/><Relationship Id="rId17" Type="http://schemas.openxmlformats.org/officeDocument/2006/relationships/slideLayout" Target="../slideLayouts/slideLayout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image" Target="../media/image2.png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3" Type="http://schemas.openxmlformats.org/officeDocument/2006/relationships/notesSlide" Target="../notesSlides/notesSlide3.xml"/><Relationship Id="rId12" Type="http://schemas.openxmlformats.org/officeDocument/2006/relationships/slideLayout" Target="../slideLayouts/slideLayout7.xml"/><Relationship Id="rId11" Type="http://schemas.openxmlformats.org/officeDocument/2006/relationships/tags" Target="../tags/tag25.xml"/><Relationship Id="rId10" Type="http://schemas.openxmlformats.org/officeDocument/2006/relationships/tags" Target="../tags/tag24.xml"/><Relationship Id="rId1" Type="http://schemas.openxmlformats.org/officeDocument/2006/relationships/tags" Target="../tags/tag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6.xml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.png"/><Relationship Id="rId8" Type="http://schemas.openxmlformats.org/officeDocument/2006/relationships/image" Target="../media/image15.png"/><Relationship Id="rId7" Type="http://schemas.openxmlformats.org/officeDocument/2006/relationships/image" Target="../media/image14.png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5" Type="http://schemas.openxmlformats.org/officeDocument/2006/relationships/notesSlide" Target="../notesSlides/notesSlide7.xml"/><Relationship Id="rId14" Type="http://schemas.openxmlformats.org/officeDocument/2006/relationships/slideLayout" Target="../slideLayouts/slideLayout7.xml"/><Relationship Id="rId13" Type="http://schemas.openxmlformats.org/officeDocument/2006/relationships/image" Target="../media/image20.png"/><Relationship Id="rId12" Type="http://schemas.openxmlformats.org/officeDocument/2006/relationships/image" Target="../media/image19.png"/><Relationship Id="rId11" Type="http://schemas.openxmlformats.org/officeDocument/2006/relationships/image" Target="../media/image18.png"/><Relationship Id="rId10" Type="http://schemas.openxmlformats.org/officeDocument/2006/relationships/image" Target="../media/image17.png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35.xml"/><Relationship Id="rId8" Type="http://schemas.openxmlformats.org/officeDocument/2006/relationships/tags" Target="../tags/tag34.xml"/><Relationship Id="rId7" Type="http://schemas.openxmlformats.org/officeDocument/2006/relationships/tags" Target="../tags/tag33.xml"/><Relationship Id="rId6" Type="http://schemas.openxmlformats.org/officeDocument/2006/relationships/tags" Target="../tags/tag32.xml"/><Relationship Id="rId5" Type="http://schemas.openxmlformats.org/officeDocument/2006/relationships/tags" Target="../tags/tag31.xml"/><Relationship Id="rId4" Type="http://schemas.openxmlformats.org/officeDocument/2006/relationships/tags" Target="../tags/tag30.xml"/><Relationship Id="rId3" Type="http://schemas.openxmlformats.org/officeDocument/2006/relationships/tags" Target="../tags/tag29.xml"/><Relationship Id="rId2" Type="http://schemas.openxmlformats.org/officeDocument/2006/relationships/tags" Target="../tags/tag28.xml"/><Relationship Id="rId13" Type="http://schemas.openxmlformats.org/officeDocument/2006/relationships/notesSlide" Target="../notesSlides/notesSlide9.xml"/><Relationship Id="rId12" Type="http://schemas.openxmlformats.org/officeDocument/2006/relationships/slideLayout" Target="../slideLayouts/slideLayout7.xml"/><Relationship Id="rId11" Type="http://schemas.openxmlformats.org/officeDocument/2006/relationships/tags" Target="../tags/tag37.xml"/><Relationship Id="rId10" Type="http://schemas.openxmlformats.org/officeDocument/2006/relationships/tags" Target="../tags/tag36.xml"/><Relationship Id="rId1" Type="http://schemas.openxmlformats.org/officeDocument/2006/relationships/tags" Target="../tags/tag2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7.xml"/><Relationship Id="rId1" Type="http://schemas.openxmlformats.org/officeDocument/2006/relationships/hyperlink" Target="https://github.com/vllm-project/vllm/pull/52641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3977639" cy="6858000"/>
          </a:xfrm>
          <a:prstGeom prst="rect">
            <a:avLst/>
          </a:prstGeom>
          <a:solidFill>
            <a:srgbClr val="133052"/>
          </a:solidFill>
          <a:ln w="12700">
            <a:solidFill>
              <a:srgbClr val="13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1097280"/>
            <a:ext cx="3273552" cy="173418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Contention-Aware
Expert Migration
for MoE Serving</a:t>
            </a:r>
            <a:endParaRPr sz="2700" b="1">
              <a:solidFill>
                <a:srgbClr val="FFFFFF"/>
              </a:solidFill>
              <a:latin typeface="Aptos"/>
            </a:endParaRPr>
          </a:p>
          <a:p>
            <a:pPr algn="l"/>
            <a:r>
              <a:rPr lang="en-US" sz="2700" b="1">
                <a:solidFill>
                  <a:srgbClr val="FFFFFF"/>
                </a:solidFill>
                <a:latin typeface="Aptos"/>
              </a:rPr>
              <a:t>in </a:t>
            </a:r>
            <a:r>
              <a:rPr lang="en-US" sz="2700" b="1">
                <a:solidFill>
                  <a:srgbClr val="FFFFFF"/>
                </a:solidFill>
                <a:latin typeface="Aptos"/>
              </a:rPr>
              <a:t>vLLM</a:t>
            </a:r>
            <a:endParaRPr lang="en-US" sz="27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3504" y="5230368"/>
            <a:ext cx="27432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WU CAO · 11036000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3504" y="5614416"/>
            <a:ext cx="288036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E1EDF8"/>
                </a:solidFill>
                <a:latin typeface="Aptos"/>
              </a:rPr>
              <a:t>MSc High Performance Computing Engineering
A.Y. 2026–2027</a:t>
            </a:r>
            <a:endParaRPr sz="1100" b="0">
              <a:solidFill>
                <a:srgbClr val="E1EDF8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572000" y="1295400"/>
            <a:ext cx="6903720" cy="2240280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E1E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64608" y="1533144"/>
            <a:ext cx="1005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BF4149"/>
                </a:solidFill>
                <a:latin typeface="Aptos"/>
              </a:rPr>
              <a:t>Unbatched</a:t>
            </a:r>
            <a:endParaRPr sz="10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919472" y="1871472"/>
            <a:ext cx="438912" cy="43891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9472" y="1880615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R0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907024" y="1871472"/>
            <a:ext cx="438912" cy="438912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7024" y="1880615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R1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919472" y="2639567"/>
            <a:ext cx="438912" cy="43891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9472" y="2648711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R2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5907024" y="2639567"/>
            <a:ext cx="438912" cy="438912"/>
          </a:xfrm>
          <a:prstGeom prst="ellipse">
            <a:avLst/>
          </a:prstGeom>
          <a:solidFill>
            <a:srgbClr val="DD852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2648711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R3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784848" y="2200656"/>
            <a:ext cx="50292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600" b="1">
                <a:solidFill>
                  <a:srgbClr val="5D6C7E"/>
                </a:solidFill>
                <a:latin typeface="Aptos"/>
              </a:rPr>
              <a:t>→</a:t>
            </a:r>
            <a:endParaRPr sz="26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342631" y="1533144"/>
            <a:ext cx="2148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1B8D60"/>
                </a:solidFill>
                <a:latin typeface="Aptos"/>
              </a:rPr>
              <a:t>Rank-disjoint batches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7342631" y="1935480"/>
            <a:ext cx="34015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79792" y="2026920"/>
            <a:ext cx="6583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2D67A4"/>
                </a:solidFill>
                <a:latin typeface="Aptos"/>
              </a:rPr>
              <a:t>Batch 0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29600" y="2008632"/>
            <a:ext cx="230428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R0→R1    R2→R3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342631" y="2621280"/>
            <a:ext cx="34015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79792" y="2712720"/>
            <a:ext cx="6583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8153A0"/>
                </a:solidFill>
                <a:latin typeface="Aptos"/>
              </a:rPr>
              <a:t>Batch 1</a:t>
            </a:r>
            <a:endParaRPr sz="9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229600" y="2694432"/>
            <a:ext cx="230428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R1→R2    R0→R3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590288" y="5227320"/>
            <a:ext cx="1005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2D67A4"/>
                </a:solidFill>
                <a:latin typeface="Aptos"/>
              </a:rPr>
              <a:t>Advisor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669280" y="5190744"/>
            <a:ext cx="26517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C2735"/>
                </a:solidFill>
                <a:latin typeface="Aptos"/>
              </a:rPr>
              <a:t>Prof. Massimo Tornatore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590288" y="5638800"/>
            <a:ext cx="1005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2D67A4"/>
                </a:solidFill>
                <a:latin typeface="Aptos"/>
              </a:rPr>
              <a:t>Co-advisor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669280" y="5602224"/>
            <a:ext cx="31089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C2735"/>
                </a:solidFill>
                <a:latin typeface="Aptos"/>
              </a:rPr>
              <a:t>Assistant Prof. Qiaolun Zhang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522208" y="6053328"/>
            <a:ext cx="27889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1100" b="1">
                <a:solidFill>
                  <a:srgbClr val="1B8D60"/>
                </a:solidFill>
                <a:latin typeface="Aptos"/>
                <a:hlinkClick r:id="rId1"/>
              </a:rPr>
              <a:t>Merged into vLLM · PR #52641</a:t>
            </a:r>
            <a:endParaRPr sz="1100" b="1">
              <a:solidFill>
                <a:srgbClr val="1B8D60"/>
              </a:solidFill>
              <a:latin typeface="Aptos"/>
              <a:hlinkClick r:id="rId1"/>
            </a:endParaRPr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7865" y="257810"/>
            <a:ext cx="3175635" cy="894080"/>
          </a:xfrm>
          <a:prstGeom prst="rect">
            <a:avLst/>
          </a:prstGeom>
        </p:spPr>
      </p:pic>
      <p:cxnSp>
        <p:nvCxnSpPr>
          <p:cNvPr id="38" name="直接箭头连接符 37"/>
          <p:cNvCxnSpPr>
            <a:stCxn id="13" idx="3"/>
            <a:endCxn id="15" idx="1"/>
          </p:cNvCxnSpPr>
          <p:nvPr/>
        </p:nvCxnSpPr>
        <p:spPr>
          <a:xfrm>
            <a:off x="5358130" y="2091055"/>
            <a:ext cx="5486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>
            <a:stCxn id="17" idx="3"/>
            <a:endCxn id="19" idx="1"/>
          </p:cNvCxnSpPr>
          <p:nvPr/>
        </p:nvCxnSpPr>
        <p:spPr>
          <a:xfrm>
            <a:off x="5358130" y="2858770"/>
            <a:ext cx="5486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15" idx="2"/>
            <a:endCxn id="17" idx="0"/>
          </p:cNvCxnSpPr>
          <p:nvPr/>
        </p:nvCxnSpPr>
        <p:spPr>
          <a:xfrm flipH="1">
            <a:off x="5139055" y="2301240"/>
            <a:ext cx="987425" cy="3473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/>
          <p:cNvCxnSpPr>
            <a:stCxn id="13" idx="2"/>
            <a:endCxn id="19" idx="0"/>
          </p:cNvCxnSpPr>
          <p:nvPr/>
        </p:nvCxnSpPr>
        <p:spPr>
          <a:xfrm>
            <a:off x="5139055" y="2301240"/>
            <a:ext cx="987425" cy="3473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4410075" y="3703955"/>
            <a:ext cx="707517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Main idea: </a:t>
            </a:r>
            <a:endParaRPr lang="en-US" altLang="zh-CN" sz="240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Seperate conflicting transfers. </a:t>
            </a:r>
            <a:endParaRPr lang="en-US" altLang="zh-CN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altLang="zh-CN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OVERVIEW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Outline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777240" y="169164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996695" y="194767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2D67A4"/>
                </a:solidFill>
                <a:latin typeface="Aptos"/>
              </a:rPr>
              <a:t>01</a:t>
            </a:r>
            <a:endParaRPr sz="27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1783080" y="187452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Background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>
            <p:custDataLst>
              <p:tags r:id="rId4"/>
            </p:custDataLst>
          </p:nvPr>
        </p:nvSpPr>
        <p:spPr>
          <a:xfrm>
            <a:off x="1783080" y="2350008"/>
            <a:ext cx="3657600" cy="4572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MoE, EP, and asynchronous EPLB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>
            <p:custDataLst>
              <p:tags r:id="rId5"/>
            </p:custDataLst>
          </p:nvPr>
        </p:nvSpPr>
        <p:spPr>
          <a:xfrm>
            <a:off x="6263640" y="169164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6483096" y="194767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8153A0"/>
                </a:solidFill>
                <a:latin typeface="Aptos"/>
              </a:rPr>
              <a:t>02</a:t>
            </a:r>
            <a:endParaRPr sz="27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>
            <p:custDataLst>
              <p:tags r:id="rId7"/>
            </p:custDataLst>
          </p:nvPr>
        </p:nvSpPr>
        <p:spPr>
          <a:xfrm>
            <a:off x="7269479" y="187452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Model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7269479" y="2436051"/>
            <a:ext cx="3657600" cy="28511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Contention </a:t>
            </a:r>
            <a:r>
              <a:rPr lang="en-US" sz="1500" b="0">
                <a:solidFill>
                  <a:srgbClr val="5D6C7E"/>
                </a:solidFill>
                <a:latin typeface="Aptos"/>
              </a:rPr>
              <a:t>model </a:t>
            </a:r>
            <a:r>
              <a:rPr sz="1500" b="0">
                <a:solidFill>
                  <a:srgbClr val="5D6C7E"/>
                </a:solidFill>
                <a:latin typeface="Aptos"/>
              </a:rPr>
              <a:t>and offline ILP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>
            <p:custDataLst>
              <p:tags r:id="rId9"/>
            </p:custDataLst>
          </p:nvPr>
        </p:nvSpPr>
        <p:spPr>
          <a:xfrm>
            <a:off x="777240" y="365760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10"/>
            </p:custDataLst>
          </p:nvPr>
        </p:nvSpPr>
        <p:spPr>
          <a:xfrm>
            <a:off x="996695" y="391363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DD852A"/>
                </a:solidFill>
                <a:latin typeface="Aptos"/>
              </a:rPr>
              <a:t>03</a:t>
            </a:r>
            <a:endParaRPr sz="27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>
            <p:custDataLst>
              <p:tags r:id="rId11"/>
            </p:custDataLst>
          </p:nvPr>
        </p:nvSpPr>
        <p:spPr>
          <a:xfrm>
            <a:off x="1783080" y="384048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Design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>
            <p:custDataLst>
              <p:tags r:id="rId12"/>
            </p:custDataLst>
          </p:nvPr>
        </p:nvSpPr>
        <p:spPr>
          <a:xfrm>
            <a:off x="1783080" y="4402011"/>
            <a:ext cx="3657600" cy="28511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lang="en-US" altLang="zh-CN" sz="1500" b="0">
                <a:solidFill>
                  <a:srgbClr val="5D6C7E"/>
                </a:solidFill>
                <a:latin typeface="Aptos"/>
              </a:rPr>
              <a:t>online greedy scheduler</a:t>
            </a:r>
            <a:endParaRPr lang="en-US" altLang="zh-CN"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8" name="Rounded Rectangle 17"/>
          <p:cNvSpPr/>
          <p:nvPr>
            <p:custDataLst>
              <p:tags r:id="rId13"/>
            </p:custDataLst>
          </p:nvPr>
        </p:nvSpPr>
        <p:spPr>
          <a:xfrm>
            <a:off x="6263640" y="365760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14"/>
            </p:custDataLst>
          </p:nvPr>
        </p:nvSpPr>
        <p:spPr>
          <a:xfrm>
            <a:off x="6483096" y="391363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1B8D60"/>
                </a:solidFill>
                <a:latin typeface="Aptos"/>
              </a:rPr>
              <a:t>04</a:t>
            </a:r>
            <a:endParaRPr sz="27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>
            <p:custDataLst>
              <p:tags r:id="rId15"/>
            </p:custDataLst>
          </p:nvPr>
        </p:nvSpPr>
        <p:spPr>
          <a:xfrm>
            <a:off x="7269479" y="384048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Evaluation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>
            <p:custDataLst>
              <p:tags r:id="rId16"/>
            </p:custDataLst>
          </p:nvPr>
        </p:nvSpPr>
        <p:spPr>
          <a:xfrm>
            <a:off x="7269479" y="4315968"/>
            <a:ext cx="3657600" cy="4572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E2E serving, NIC traffic, and profiling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2" name="灯片编号占位符 2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8" name="Rectangle 1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8"/>
          <p:cNvSpPr/>
          <p:nvPr>
            <p:custDataLst>
              <p:tags r:id="rId1"/>
            </p:custDataLst>
          </p:nvPr>
        </p:nvSpPr>
        <p:spPr>
          <a:xfrm>
            <a:off x="213868" y="1534033"/>
            <a:ext cx="3657600" cy="4498848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BACKGROUND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MoE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(</a:t>
            </a:r>
            <a:r>
              <a:rPr lang="en-US" altLang="zh-CN" sz="2600" b="1">
                <a:solidFill>
                  <a:srgbClr val="133052"/>
                </a:solidFill>
                <a:latin typeface="Aptos"/>
              </a:rPr>
              <a:t>Mixture-of-Experts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) 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>
            <p:custDataLst>
              <p:tags r:id="rId2"/>
            </p:custDataLst>
          </p:nvPr>
        </p:nvSpPr>
        <p:spPr>
          <a:xfrm>
            <a:off x="4018788" y="1572768"/>
            <a:ext cx="3657600" cy="4498848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3"/>
            </p:custDataLst>
          </p:nvPr>
        </p:nvSpPr>
        <p:spPr>
          <a:xfrm>
            <a:off x="4293108" y="1763776"/>
            <a:ext cx="1645920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lang="en-US" sz="1150" b="1">
                <a:solidFill>
                  <a:srgbClr val="2D67A4"/>
                </a:solidFill>
                <a:latin typeface="Aptos"/>
              </a:rPr>
              <a:t>MoE</a:t>
            </a:r>
            <a:endParaRPr lang="en-US" sz="115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rcRect l="1372" t="11675" r="2491" b="2025"/>
          <a:stretch>
            <a:fillRect/>
          </a:stretch>
        </p:blipFill>
        <p:spPr>
          <a:xfrm>
            <a:off x="4156710" y="2279015"/>
            <a:ext cx="3381375" cy="2299970"/>
          </a:xfrm>
          <a:prstGeom prst="rect">
            <a:avLst/>
          </a:prstGeom>
        </p:spPr>
      </p:pic>
      <p:sp>
        <p:nvSpPr>
          <p:cNvPr id="71" name="Rounded Rectangle 8"/>
          <p:cNvSpPr/>
          <p:nvPr>
            <p:custDataLst>
              <p:tags r:id="rId6"/>
            </p:custDataLst>
          </p:nvPr>
        </p:nvSpPr>
        <p:spPr>
          <a:xfrm>
            <a:off x="8002778" y="1633728"/>
            <a:ext cx="3657600" cy="4498848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9"/>
          <p:cNvSpPr txBox="1"/>
          <p:nvPr>
            <p:custDataLst>
              <p:tags r:id="rId7"/>
            </p:custDataLst>
          </p:nvPr>
        </p:nvSpPr>
        <p:spPr>
          <a:xfrm>
            <a:off x="8277225" y="1824673"/>
            <a:ext cx="2903855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lang="en-US" sz="1150" b="1">
                <a:solidFill>
                  <a:srgbClr val="2D67A4"/>
                </a:solidFill>
                <a:latin typeface="Aptos"/>
              </a:rPr>
              <a:t>MLP(</a:t>
            </a:r>
            <a:r>
              <a:rPr lang="en-US" altLang="zh-CN" sz="1150" b="1">
                <a:solidFill>
                  <a:srgbClr val="2D67A4"/>
                </a:solidFill>
                <a:latin typeface="Aptos"/>
              </a:rPr>
              <a:t>(Multi-Layer Perceptron)</a:t>
            </a:r>
            <a:r>
              <a:rPr lang="en-US" sz="1150" b="1">
                <a:solidFill>
                  <a:srgbClr val="2D67A4"/>
                </a:solidFill>
                <a:latin typeface="Aptos"/>
              </a:rPr>
              <a:t>)</a:t>
            </a:r>
            <a:endParaRPr lang="en-US" sz="1150" b="1">
              <a:solidFill>
                <a:srgbClr val="2D67A4"/>
              </a:solidFill>
              <a:latin typeface="Aptos"/>
            </a:endParaRPr>
          </a:p>
        </p:txBody>
      </p:sp>
      <p:pic>
        <p:nvPicPr>
          <p:cNvPr id="8" name="图片 7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8277225" y="2377440"/>
            <a:ext cx="3124835" cy="1747520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556260" y="1943735"/>
            <a:ext cx="3025140" cy="34239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Why MoE? </a:t>
            </a:r>
            <a:endParaRPr lang="en-US" altLang="zh-CN" sz="3200" b="1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  <a:p>
            <a:endParaRPr lang="en-US" altLang="zh-CN" b="1"/>
          </a:p>
          <a:p>
            <a:pPr marL="342900" indent="-342900">
              <a:buAutoNum type="arabicPeriod"/>
            </a:pPr>
            <a:r>
              <a:rPr lang="en-US" altLang="zh-CN" sz="20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Larger model capacity with lower active computation.</a:t>
            </a:r>
            <a:endParaRPr lang="en-US" altLang="zh-CN" sz="20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marL="342900" indent="-342900">
              <a:buAutoNum type="arabicPeriod"/>
            </a:pPr>
            <a:endParaRPr lang="en-US" altLang="zh-CN" sz="20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marL="342900" indent="-342900">
              <a:buAutoNum type="arabicPeriod"/>
            </a:pPr>
            <a:r>
              <a:rPr lang="en-US" altLang="zh-CN" sz="20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Better parameter scaling without proportional FLOPs growth.</a:t>
            </a:r>
            <a:endParaRPr lang="en-US" altLang="zh-CN" sz="20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6" name="文本框 75"/>
          <p:cNvSpPr txBox="1"/>
          <p:nvPr>
            <p:custDataLst>
              <p:tags r:id="rId10"/>
            </p:custDataLst>
          </p:nvPr>
        </p:nvSpPr>
        <p:spPr>
          <a:xfrm>
            <a:off x="4425315" y="4685030"/>
            <a:ext cx="302450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buAutoNum type="arabicPeriod"/>
            </a:pPr>
            <a:r>
              <a:rPr lang="en-US" altLang="zh-CN" b="1">
                <a:solidFill>
                  <a:schemeClr val="accent6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Multiple expert MLPs</a:t>
            </a:r>
            <a:endParaRPr lang="en-US" altLang="zh-CN" b="1">
              <a:solidFill>
                <a:schemeClr val="accent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marL="342900" indent="-342900">
              <a:buAutoNum type="arabicPeriod"/>
            </a:pPr>
            <a:r>
              <a:rPr lang="en-US" altLang="zh-CN" b="1">
                <a:solidFill>
                  <a:schemeClr val="accent6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 router activates only a subset per token.</a:t>
            </a:r>
            <a:endParaRPr lang="en-US" altLang="zh-CN" b="1">
              <a:solidFill>
                <a:schemeClr val="accent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7" name="文本框 76"/>
          <p:cNvSpPr txBox="1"/>
          <p:nvPr>
            <p:custDataLst>
              <p:tags r:id="rId11"/>
            </p:custDataLst>
          </p:nvPr>
        </p:nvSpPr>
        <p:spPr>
          <a:xfrm>
            <a:off x="8545195" y="4578985"/>
            <a:ext cx="257302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chemeClr val="accent3"/>
                </a:solidFill>
              </a:rPr>
              <a:t>Feed-forward network for nonlinear feature transformation.</a:t>
            </a:r>
            <a:endParaRPr lang="en-US" altLang="zh-CN" b="1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BACKGROUND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lang="en-US" sz="2600" b="1">
                <a:solidFill>
                  <a:srgbClr val="133052"/>
                </a:solidFill>
                <a:latin typeface="Aptos"/>
              </a:rPr>
              <a:t>EP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LB(Expert Parallel Load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Balance)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167130" y="2621280"/>
            <a:ext cx="9878695" cy="386969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1388" y="2746756"/>
            <a:ext cx="2468880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lang="en-US" sz="1150" b="1">
                <a:solidFill>
                  <a:srgbClr val="1B8D60"/>
                </a:solidFill>
                <a:latin typeface="Aptos"/>
              </a:rPr>
              <a:t>Example</a:t>
            </a:r>
            <a:endParaRPr lang="en-US" sz="115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1988820" y="321411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61972" y="333298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0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208276" y="3744468"/>
            <a:ext cx="868680" cy="365760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08276" y="379018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E0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208276" y="4256532"/>
            <a:ext cx="868680" cy="365760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F0000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2208276" y="430225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E1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208276" y="4768596"/>
            <a:ext cx="868680" cy="365760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08276" y="481431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E2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4312920" y="321411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6072" y="333298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1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532376" y="3744468"/>
            <a:ext cx="868680" cy="365760"/>
          </a:xfrm>
          <a:prstGeom prst="rect">
            <a:avLst/>
          </a:prstGeom>
          <a:solidFill>
            <a:schemeClr val="tx1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32376" y="379018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E3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4532376" y="4256532"/>
            <a:ext cx="868680" cy="36576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32376" y="430225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E4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4532376" y="4768596"/>
            <a:ext cx="86868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32376" y="481431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E5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06540" y="321411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9692" y="333298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2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6825996" y="3744468"/>
            <a:ext cx="868680" cy="365760"/>
          </a:xfrm>
          <a:prstGeom prst="rect">
            <a:avLst/>
          </a:prstGeom>
          <a:solidFill>
            <a:schemeClr val="accent5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25996" y="379018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E6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6825996" y="4256532"/>
            <a:ext cx="868680" cy="365760"/>
          </a:xfrm>
          <a:prstGeom prst="rect">
            <a:avLst/>
          </a:prstGeom>
          <a:solidFill>
            <a:srgbClr val="8153A0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25996" y="430225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E7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825996" y="4768596"/>
            <a:ext cx="868680" cy="365760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25996" y="481431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E0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8945880" y="321411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19032" y="333298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3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9165336" y="3744468"/>
            <a:ext cx="868680" cy="365760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65336" y="379018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E1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9165336" y="4256532"/>
            <a:ext cx="868680" cy="365760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65336" y="430225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E2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9165336" y="4768596"/>
            <a:ext cx="868680" cy="365760"/>
          </a:xfrm>
          <a:prstGeom prst="rect">
            <a:avLst/>
          </a:prstGeom>
          <a:solidFill>
            <a:schemeClr val="tx1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65336" y="481431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E3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2932430" y="5845874"/>
            <a:ext cx="2468880" cy="2876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lang="en-US" sz="1400" b="1">
                <a:solidFill>
                  <a:srgbClr val="BF4149"/>
                </a:solidFill>
                <a:latin typeface="Aptos"/>
              </a:rPr>
              <a:t>EP</a:t>
            </a:r>
            <a:r>
              <a:rPr lang="en-US" sz="1400" b="1">
                <a:solidFill>
                  <a:srgbClr val="BF4149"/>
                </a:solidFill>
                <a:latin typeface="Aptos"/>
              </a:rPr>
              <a:t>LB’s jobs</a:t>
            </a:r>
            <a:endParaRPr lang="en-US" sz="14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163695" y="5737606"/>
            <a:ext cx="388620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0">
                <a:solidFill>
                  <a:srgbClr val="1C2735"/>
                </a:solidFill>
                <a:latin typeface="Aptos"/>
              </a:rPr>
              <a:t>→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expert load balance(</a:t>
            </a:r>
            <a:r>
              <a:rPr lang="en-US" sz="1400" b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rPr>
              <a:t>Copy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overloaded experts)</a:t>
            </a:r>
            <a:r>
              <a:rPr sz="1400" b="0">
                <a:solidFill>
                  <a:srgbClr val="1C2735"/>
                </a:solidFill>
                <a:latin typeface="Aptos"/>
              </a:rPr>
              <a:t>
→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rank load balance(</a:t>
            </a:r>
            <a:r>
              <a:rPr lang="en-US" sz="1400" b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rPr>
              <a:t>Migrate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overloade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d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experts)</a:t>
            </a:r>
            <a:endParaRPr lang="en-US" sz="14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75" name="Rounded Rectangle 8"/>
          <p:cNvSpPr/>
          <p:nvPr>
            <p:custDataLst>
              <p:tags r:id="rId1"/>
            </p:custDataLst>
          </p:nvPr>
        </p:nvSpPr>
        <p:spPr>
          <a:xfrm>
            <a:off x="492125" y="1534160"/>
            <a:ext cx="11210290" cy="83947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文本框 73"/>
          <p:cNvSpPr txBox="1"/>
          <p:nvPr/>
        </p:nvSpPr>
        <p:spPr>
          <a:xfrm>
            <a:off x="967740" y="1663065"/>
            <a:ext cx="4420235" cy="6057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What is EPLB?</a:t>
            </a:r>
            <a:endParaRPr lang="en-US" altLang="zh-CN" sz="24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537585" y="1752600"/>
            <a:ext cx="7508240" cy="564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4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Dynamically balances expert workloads across GPUs.</a:t>
            </a:r>
            <a:endParaRPr lang="en-US" altLang="zh-CN" sz="24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6350" y="0"/>
            <a:ext cx="1219136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100" b="1">
                <a:solidFill>
                  <a:srgbClr val="2D67A4"/>
                </a:solidFill>
                <a:latin typeface="Aptos"/>
              </a:rPr>
              <a:t>BACKGROUND</a:t>
            </a:r>
            <a:endParaRPr sz="11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133052"/>
                </a:solidFill>
                <a:latin typeface="Aptos"/>
              </a:rPr>
              <a:t>Qwen3 MoE Architecture</a:t>
            </a:r>
            <a:endParaRPr sz="27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905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1483995"/>
            <a:ext cx="2546350" cy="524700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155" y="4413250"/>
            <a:ext cx="2837815" cy="244475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3050" y="1606550"/>
            <a:ext cx="2788920" cy="214185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4375" y="1597025"/>
            <a:ext cx="3233420" cy="2383790"/>
          </a:xfrm>
          <a:prstGeom prst="rect">
            <a:avLst/>
          </a:prstGeom>
        </p:spPr>
      </p:pic>
      <p:sp>
        <p:nvSpPr>
          <p:cNvPr id="13" name="左箭头 12"/>
          <p:cNvSpPr/>
          <p:nvPr/>
        </p:nvSpPr>
        <p:spPr>
          <a:xfrm rot="20580000">
            <a:off x="2768600" y="2962275"/>
            <a:ext cx="1370965" cy="300355"/>
          </a:xfrm>
          <a:prstGeom prst="leftArrow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4" name="左箭头 13"/>
          <p:cNvSpPr/>
          <p:nvPr/>
        </p:nvSpPr>
        <p:spPr>
          <a:xfrm rot="1680000">
            <a:off x="2711450" y="4749800"/>
            <a:ext cx="1511300" cy="312420"/>
          </a:xfrm>
          <a:prstGeom prst="leftArrow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5" name="左箭头 14"/>
          <p:cNvSpPr/>
          <p:nvPr/>
        </p:nvSpPr>
        <p:spPr>
          <a:xfrm>
            <a:off x="6436995" y="2618740"/>
            <a:ext cx="1970405" cy="360045"/>
          </a:xfrm>
          <a:prstGeom prst="leftArrow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7778750" y="4297680"/>
            <a:ext cx="406400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Qwen3-30B-A3B (MoE Model)</a:t>
            </a:r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 opensource LLM by </a:t>
            </a:r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Alibaba</a:t>
            </a: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Total Parameters: </a:t>
            </a:r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30.5B</a:t>
            </a:r>
            <a:endParaRPr lang="en-US" altLang="zh-CN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Active Parameters: </a:t>
            </a:r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3.3B</a:t>
            </a: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per token</a:t>
            </a:r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Transformer Layers: </a:t>
            </a:r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48</a:t>
            </a:r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Experts: </a:t>
            </a:r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128 </a:t>
            </a: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 MoE layer</a:t>
            </a:r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Activated Experts: </a:t>
            </a:r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Top-8 </a:t>
            </a: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 token</a:t>
            </a:r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5862"/>
            <a:ext cx="4206240" cy="2260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2D67A4"/>
                </a:solidFill>
                <a:latin typeface="Aptos"/>
                <a:sym typeface="+mn-ea"/>
              </a:rPr>
              <a:t>BACKGROUND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lang="en-US" sz="2600" b="1">
                <a:solidFill>
                  <a:srgbClr val="133052"/>
                </a:solidFill>
                <a:latin typeface="Aptos"/>
              </a:rPr>
              <a:t>Sync and Async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EPLB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58368" y="1600200"/>
            <a:ext cx="5303520" cy="43159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47088"/>
            <a:ext cx="237744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DD852A"/>
                </a:solidFill>
                <a:latin typeface="Aptos"/>
              </a:rPr>
              <a:t>SYNCHRONOUS EPLB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60120" y="2450592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5D6C7E"/>
                </a:solidFill>
                <a:latin typeface="Aptos"/>
              </a:rPr>
              <a:t>Inference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176272" y="2395728"/>
            <a:ext cx="1097280" cy="40233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2395728"/>
            <a:ext cx="1481328" cy="402336"/>
          </a:xfrm>
          <a:prstGeom prst="rect">
            <a:avLst/>
          </a:prstGeom>
          <a:solidFill>
            <a:srgbClr val="FAE6E8"/>
          </a:solidFill>
          <a:ln w="12700">
            <a:solidFill>
              <a:srgbClr val="BF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80" y="2395728"/>
            <a:ext cx="685800" cy="40233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123444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BF4149"/>
                </a:solidFill>
                <a:latin typeface="Aptos"/>
              </a:rPr>
              <a:t>paused</a:t>
            </a:r>
            <a:endParaRPr sz="9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60120" y="3127248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5D6C7E"/>
                </a:solidFill>
                <a:latin typeface="Aptos"/>
              </a:rPr>
              <a:t>Migration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273552" y="3081528"/>
            <a:ext cx="1481328" cy="402336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166360"/>
            <a:ext cx="452628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DD852A"/>
                </a:solidFill>
                <a:latin typeface="Aptos"/>
              </a:rPr>
              <a:t>Batching is disabled in the implementation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36208" y="1600200"/>
            <a:ext cx="5303520" cy="43159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847088"/>
            <a:ext cx="2468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B8D60"/>
                </a:solidFill>
                <a:latin typeface="Aptos"/>
              </a:rPr>
              <a:t>ASYNCHRONOUS EPLB</a:t>
            </a:r>
            <a:endParaRPr sz="1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537960" y="2450592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5D6C7E"/>
                </a:solidFill>
                <a:latin typeface="Aptos"/>
              </a:rPr>
              <a:t>Inference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754112" y="2395728"/>
            <a:ext cx="3273552" cy="40233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14232" y="2441448"/>
            <a:ext cx="128016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FFFFFF"/>
                </a:solidFill>
                <a:latin typeface="Aptos"/>
              </a:rPr>
              <a:t>continues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37960" y="3127248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5D6C7E"/>
                </a:solidFill>
                <a:latin typeface="Aptos"/>
              </a:rPr>
              <a:t>Migration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754112" y="3081528"/>
            <a:ext cx="832104" cy="40233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51392" y="3081528"/>
            <a:ext cx="832104" cy="40233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48672" y="3081528"/>
            <a:ext cx="832104" cy="40233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3913632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1B8D60"/>
                </a:solidFill>
                <a:latin typeface="Aptos"/>
              </a:rPr>
              <a:t>Objective</a:t>
            </a:r>
            <a:endParaRPr sz="11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754112" y="3893248"/>
            <a:ext cx="3154680" cy="33337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700" b="1">
                <a:solidFill>
                  <a:srgbClr val="1C2735"/>
                </a:solidFill>
                <a:latin typeface="Aptos"/>
              </a:rPr>
              <a:t>Reduce interference</a:t>
            </a:r>
            <a:r>
              <a:rPr lang="en-US" sz="1700" b="1">
                <a:solidFill>
                  <a:srgbClr val="1C2735"/>
                </a:solidFill>
                <a:latin typeface="Aptos"/>
              </a:rPr>
              <a:t> time</a:t>
            </a:r>
            <a:endParaRPr lang="en-US" sz="17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29400" y="5166360"/>
            <a:ext cx="452628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B8D60"/>
                </a:solidFill>
                <a:latin typeface="Aptos"/>
              </a:rPr>
              <a:t>Opt-in batching trades migration speed for serving headroom</a:t>
            </a:r>
            <a:endParaRPr sz="1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OFFLINE MODEL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ILP Formulation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1481328"/>
            <a:ext cx="2907792" cy="453542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627632"/>
            <a:ext cx="2468880" cy="256032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200" b="1">
                <a:solidFill>
                  <a:srgbClr val="2F6FAE"/>
                </a:solidFill>
                <a:latin typeface="Arial" panose="020B0604020202020204"/>
              </a:rPr>
              <a:t>VARIABLES &amp; INPUTS</a:t>
            </a:r>
            <a:endParaRPr sz="1200" b="1">
              <a:solidFill>
                <a:srgbClr val="2F6FAE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86384" y="1956816"/>
            <a:ext cx="2468880" cy="2286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00" b="1">
                <a:solidFill>
                  <a:srgbClr val="7D48A1"/>
                </a:solidFill>
                <a:latin typeface="Arial" panose="020B0604020202020204"/>
              </a:rPr>
              <a:t>DECISION VARIABLES</a:t>
            </a:r>
            <a:endParaRPr sz="1000" b="1">
              <a:solidFill>
                <a:srgbClr val="7D48A1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667512" y="2249424"/>
                <a:ext cx="1353312" cy="329184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𝑥</m:t>
                          </m:r>
                        </m:e>
                        <m:sub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,</m:t>
                          </m:r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</m:sub>
                      </m:sSub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∈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{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0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1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}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2249424"/>
                <a:ext cx="1353312" cy="329184"/>
              </a:xfrm>
              <a:prstGeom prst="rect">
                <a:avLst/>
              </a:prstGeom>
              <a:blipFill rotWithShape="1">
                <a:blip r:embed="rId1"/>
                <a:stretch>
                  <a:fillRect l="-9" t="-2006" r="19" b="-216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1901952" y="2240280"/>
            <a:ext cx="1344168" cy="36576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80" b="0">
                <a:solidFill>
                  <a:srgbClr val="1F3046"/>
                </a:solidFill>
                <a:latin typeface="Arial" panose="020B0604020202020204"/>
              </a:rPr>
              <a:t>flow assignment</a:t>
            </a:r>
            <a:endParaRPr sz="1080" b="0">
              <a:solidFill>
                <a:srgbClr val="1F3046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667512" y="2770632"/>
                <a:ext cx="1353312" cy="329184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𝑦</m:t>
                          </m:r>
                        </m:e>
                        <m:sub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</m:sub>
                      </m:sSub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∈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{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0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1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}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2770632"/>
                <a:ext cx="1353312" cy="329184"/>
              </a:xfrm>
              <a:prstGeom prst="rect">
                <a:avLst/>
              </a:prstGeom>
              <a:blipFill rotWithShape="1">
                <a:blip r:embed="rId2"/>
                <a:stretch>
                  <a:fillRect l="-9" t="-810" r="19" b="-10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/>
          <p:cNvSpPr txBox="1"/>
          <p:nvPr/>
        </p:nvSpPr>
        <p:spPr>
          <a:xfrm>
            <a:off x="1901952" y="2761488"/>
            <a:ext cx="1344168" cy="36576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80" b="0">
                <a:solidFill>
                  <a:srgbClr val="1F3046"/>
                </a:solidFill>
                <a:latin typeface="Arial" panose="020B0604020202020204"/>
              </a:rPr>
              <a:t>active-batch flag</a:t>
            </a:r>
            <a:endParaRPr sz="1080" b="0">
              <a:solidFill>
                <a:srgbClr val="1F3046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667512" y="3291839"/>
                <a:ext cx="1353312" cy="329184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f</m:t>
                          </m:r>
                          <m:r>
                            <m:rPr>
                              <m:sty m:val="p"/>
                            </m:rP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r</m:t>
                          </m:r>
                        </m:sub>
                      </m:sSub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≥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0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3291839"/>
                <a:ext cx="1353312" cy="329184"/>
              </a:xfrm>
              <a:prstGeom prst="rect">
                <a:avLst/>
              </a:prstGeom>
              <a:blipFill rotWithShape="1">
                <a:blip r:embed="rId3"/>
                <a:stretch>
                  <a:fillRect l="-9" t="-964" r="19" b="-88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/>
          <p:cNvSpPr txBox="1"/>
          <p:nvPr/>
        </p:nvSpPr>
        <p:spPr>
          <a:xfrm>
            <a:off x="1901952" y="3282696"/>
            <a:ext cx="1344168" cy="36576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80" b="0">
                <a:solidFill>
                  <a:srgbClr val="1F3046"/>
                </a:solidFill>
                <a:latin typeface="Arial" panose="020B0604020202020204"/>
              </a:rPr>
              <a:t>worst inference time</a:t>
            </a:r>
            <a:endParaRPr sz="1080" b="0">
              <a:solidFill>
                <a:srgbClr val="1F3046"/>
              </a:solidFill>
              <a:latin typeface="Arial" panose="020B060402020202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86384" y="3840480"/>
            <a:ext cx="2468880" cy="2286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  <a:latin typeface="Arial" panose="020B0604020202020204"/>
              </a:rPr>
              <a:t>KNOWN INPUTS</a:t>
            </a:r>
            <a:endParaRPr sz="1000" b="1">
              <a:solidFill>
                <a:srgbClr val="E67E22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749808" y="4114800"/>
                <a:ext cx="960120" cy="27432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𝑤</m:t>
                          </m:r>
                        </m:e>
                        <m:sub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08" y="4114800"/>
                <a:ext cx="960120" cy="274320"/>
              </a:xfrm>
              <a:prstGeom prst="rect">
                <a:avLst/>
              </a:prstGeom>
              <a:blipFill rotWithShape="1">
                <a:blip r:embed="rId4"/>
                <a:stretch>
                  <a:fillRect l="-53" t="-12269" r="53" b="-127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/>
          <p:cNvSpPr txBox="1"/>
          <p:nvPr/>
        </p:nvSpPr>
        <p:spPr>
          <a:xfrm>
            <a:off x="1600200" y="4114800"/>
            <a:ext cx="1645920" cy="29260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980" b="0">
                <a:solidFill>
                  <a:srgbClr val="1F3046"/>
                </a:solidFill>
                <a:latin typeface="Arial" panose="020B0604020202020204"/>
              </a:rPr>
              <a:t>experts in flow p</a:t>
            </a:r>
            <a:endParaRPr sz="980" b="0">
              <a:solidFill>
                <a:srgbClr val="1F3046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/>
              <p:cNvSpPr txBox="1"/>
              <p:nvPr/>
            </p:nvSpPr>
            <p:spPr>
              <a:xfrm>
                <a:off x="749808" y="4462272"/>
                <a:ext cx="960120" cy="27432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𝑓</m:t>
                          </m:r>
                        </m:e>
                        <m:sub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,</m:t>
                          </m:r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08" y="4462272"/>
                <a:ext cx="960120" cy="274320"/>
              </a:xfrm>
              <a:prstGeom prst="rect">
                <a:avLst/>
              </a:prstGeom>
              <a:blipFill rotWithShape="1">
                <a:blip r:embed="rId5"/>
                <a:stretch>
                  <a:fillRect l="-53" t="-12315" r="53" b="-126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/>
          <p:cNvSpPr txBox="1"/>
          <p:nvPr/>
        </p:nvSpPr>
        <p:spPr>
          <a:xfrm>
            <a:off x="1600200" y="4462272"/>
            <a:ext cx="1645920" cy="29260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980" b="0">
                <a:solidFill>
                  <a:srgbClr val="1F3046"/>
                </a:solidFill>
                <a:latin typeface="Arial" panose="020B0604020202020204"/>
              </a:rPr>
              <a:t>fraction routed on link e</a:t>
            </a:r>
            <a:endParaRPr sz="980" b="0">
              <a:solidFill>
                <a:srgbClr val="1F3046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/>
              <p:cNvSpPr txBox="1"/>
              <p:nvPr/>
            </p:nvSpPr>
            <p:spPr>
              <a:xfrm>
                <a:off x="749808" y="4809744"/>
                <a:ext cx="960120" cy="27432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𝐶</m:t>
                          </m:r>
                        </m:e>
                        <m:sub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08" y="4809744"/>
                <a:ext cx="960120" cy="274320"/>
              </a:xfrm>
              <a:prstGeom prst="rect">
                <a:avLst/>
              </a:prstGeom>
              <a:blipFill rotWithShape="1">
                <a:blip r:embed="rId6"/>
                <a:stretch>
                  <a:fillRect l="-53" t="-10972" r="53" b="-112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/>
          <p:cNvSpPr txBox="1"/>
          <p:nvPr/>
        </p:nvSpPr>
        <p:spPr>
          <a:xfrm>
            <a:off x="1600200" y="4809744"/>
            <a:ext cx="1645920" cy="29260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980" b="0">
                <a:solidFill>
                  <a:srgbClr val="1F3046"/>
                </a:solidFill>
                <a:latin typeface="Arial" panose="020B0604020202020204"/>
              </a:rPr>
              <a:t>capacity of link e</a:t>
            </a:r>
            <a:endParaRPr sz="980" b="0">
              <a:solidFill>
                <a:srgbClr val="1F3046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/>
              <p:cNvSpPr txBox="1"/>
              <p:nvPr/>
            </p:nvSpPr>
            <p:spPr>
              <a:xfrm>
                <a:off x="749808" y="5157216"/>
                <a:ext cx="960120" cy="27432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0</m:t>
                          </m:r>
                        </m:sub>
                      </m:sSub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 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𝜌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08" y="5157216"/>
                <a:ext cx="960120" cy="274320"/>
              </a:xfrm>
              <a:prstGeom prst="rect">
                <a:avLst/>
              </a:prstGeom>
              <a:blipFill rotWithShape="1">
                <a:blip r:embed="rId7"/>
                <a:stretch>
                  <a:fillRect l="-53" t="-11019" r="53" b="-112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/>
          <p:cNvSpPr txBox="1"/>
          <p:nvPr/>
        </p:nvSpPr>
        <p:spPr>
          <a:xfrm>
            <a:off x="1600200" y="5157216"/>
            <a:ext cx="1645920" cy="29260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980" b="0">
                <a:solidFill>
                  <a:srgbClr val="1F3046"/>
                </a:solidFill>
                <a:latin typeface="Arial" panose="020B0604020202020204"/>
              </a:rPr>
              <a:t>baseline time; inference share</a:t>
            </a:r>
            <a:endParaRPr sz="980" b="0">
              <a:solidFill>
                <a:srgbClr val="1F3046"/>
              </a:solidFill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49808" y="5532120"/>
            <a:ext cx="2523744" cy="29260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ctr"/>
            <a:r>
              <a:rPr sz="950" b="1">
                <a:solidFill>
                  <a:srgbClr val="E67E22"/>
                </a:solidFill>
                <a:latin typeface="Arial" panose="020B0604020202020204"/>
              </a:rPr>
              <a:t>Tie-break: minimize active batches after fixing Tᵢₙfₑᵣ</a:t>
            </a:r>
            <a:endParaRPr sz="950" b="1">
              <a:solidFill>
                <a:srgbClr val="E67E22"/>
              </a:solidFill>
              <a:latin typeface="Arial" panose="020B0604020202020204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3730752" y="1481328"/>
            <a:ext cx="7772400" cy="6583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31920" y="1627632"/>
            <a:ext cx="1965960" cy="27432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150" b="1">
                <a:solidFill>
                  <a:srgbClr val="138F5F"/>
                </a:solidFill>
                <a:latin typeface="Arial" panose="020B0604020202020204"/>
              </a:rPr>
              <a:t>PRIMARY OBJECTIVE</a:t>
            </a:r>
            <a:endParaRPr sz="1150" b="1">
              <a:solidFill>
                <a:srgbClr val="138F5F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/>
              <p:cNvSpPr txBox="1"/>
              <p:nvPr/>
            </p:nvSpPr>
            <p:spPr>
              <a:xfrm>
                <a:off x="6492240" y="1591056"/>
                <a:ext cx="3108960" cy="36576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7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min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7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7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en-US" sz="17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f</m:t>
                          </m:r>
                          <m:r>
                            <m:rPr>
                              <m:sty m:val="p"/>
                            </m:rPr>
                            <a:rPr lang="en-US" sz="17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en-US" sz="17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r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2240" y="1591056"/>
                <a:ext cx="3108960" cy="365760"/>
              </a:xfrm>
              <a:prstGeom prst="rect">
                <a:avLst/>
              </a:prstGeom>
              <a:blipFill rotWithShape="1">
                <a:blip r:embed="rId8"/>
                <a:stretch>
                  <a:fillRect t="-104" b="1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ounded Rectangle 28"/>
          <p:cNvSpPr/>
          <p:nvPr/>
        </p:nvSpPr>
        <p:spPr>
          <a:xfrm>
            <a:off x="3730752" y="2304288"/>
            <a:ext cx="7772400" cy="640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13632" y="2377440"/>
            <a:ext cx="2651760" cy="4572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70" b="1">
                <a:solidFill>
                  <a:srgbClr val="2F6FAE"/>
                </a:solidFill>
                <a:latin typeface="Arial" panose="020B0604020202020204"/>
              </a:rPr>
              <a:t>1   Every flow runs exactly once</a:t>
            </a:r>
            <a:endParaRPr sz="1070" b="1">
              <a:solidFill>
                <a:srgbClr val="2F6FAE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/>
              <p:cNvSpPr txBox="1"/>
              <p:nvPr/>
            </p:nvSpPr>
            <p:spPr>
              <a:xfrm>
                <a:off x="6355080" y="2377440"/>
                <a:ext cx="4800600" cy="45720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/>
                          </m:ctrlPr>
                        </m:naryPr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∈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𝐵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4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𝑝</m:t>
                              </m:r>
                              <m:r>
                                <a:rPr lang="en-US" sz="14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,</m:t>
                              </m:r>
                              <m:r>
                                <a:rPr lang="en-US" sz="14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𝑏</m:t>
                              </m:r>
                            </m:sub>
                          </m:sSub>
                        </m:e>
                      </m:nary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=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1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  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∀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𝑝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∈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𝑃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5080" y="2377440"/>
                <a:ext cx="4800600" cy="457200"/>
              </a:xfrm>
              <a:prstGeom prst="rect">
                <a:avLst/>
              </a:prstGeom>
              <a:blipFill rotWithShape="1">
                <a:blip r:embed="rId9"/>
                <a:stretch>
                  <a:fillRect t="-14167" b="-1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ounded Rectangle 31"/>
          <p:cNvSpPr/>
          <p:nvPr/>
        </p:nvSpPr>
        <p:spPr>
          <a:xfrm>
            <a:off x="3730752" y="3035808"/>
            <a:ext cx="7772400" cy="640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D4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13632" y="3108960"/>
            <a:ext cx="2651760" cy="4572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70" b="1">
                <a:solidFill>
                  <a:srgbClr val="7D48A1"/>
                </a:solidFill>
                <a:latin typeface="Arial" panose="020B0604020202020204"/>
              </a:rPr>
              <a:t>2   At most one peer per rank and batch</a:t>
            </a:r>
            <a:endParaRPr sz="1070" b="1">
              <a:solidFill>
                <a:srgbClr val="7D48A1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/>
              <p:cNvSpPr txBox="1"/>
              <p:nvPr/>
            </p:nvSpPr>
            <p:spPr>
              <a:xfrm>
                <a:off x="6355080" y="3108960"/>
                <a:ext cx="4800600" cy="45720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/>
                          </m:ctrlPr>
                        </m:naryPr>
                        <m:sub>
                          <m:r>
                            <a:rPr lang="en-US" sz="13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3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:</m:t>
                          </m:r>
                          <m:r>
                            <a:rPr lang="en-US" sz="13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𝑟</m:t>
                          </m:r>
                          <m:r>
                            <a:rPr lang="en-US" sz="13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∈</m:t>
                          </m:r>
                          <m:r>
                            <a:rPr lang="en-US" sz="13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3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3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𝑝</m:t>
                              </m:r>
                              <m:r>
                                <a:rPr lang="en-US" sz="13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,</m:t>
                              </m:r>
                              <m:r>
                                <a:rPr lang="en-US" sz="13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𝑏</m:t>
                              </m:r>
                            </m:sub>
                          </m:sSub>
                        </m:e>
                      </m:nary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≤</m:t>
                      </m:r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1</m:t>
                      </m:r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  </m:t>
                      </m:r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∀</m:t>
                      </m:r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𝑟</m:t>
                      </m:r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 </m:t>
                      </m:r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𝑏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5080" y="3108960"/>
                <a:ext cx="4800600" cy="457200"/>
              </a:xfrm>
              <a:prstGeom prst="rect">
                <a:avLst/>
              </a:prstGeom>
              <a:blipFill rotWithShape="1">
                <a:blip r:embed="rId10"/>
                <a:stretch>
                  <a:fillRect t="-14167" b="-1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ounded Rectangle 34"/>
          <p:cNvSpPr/>
          <p:nvPr/>
        </p:nvSpPr>
        <p:spPr>
          <a:xfrm>
            <a:off x="3730752" y="3767328"/>
            <a:ext cx="7772400" cy="640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13632" y="3840480"/>
            <a:ext cx="2651760" cy="4572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70" b="1">
                <a:solidFill>
                  <a:srgbClr val="138F5F"/>
                </a:solidFill>
                <a:latin typeface="Arial" panose="020B0604020202020204"/>
              </a:rPr>
              <a:t>3   Activate used batches; no gaps</a:t>
            </a:r>
            <a:endParaRPr sz="1070" b="1">
              <a:solidFill>
                <a:srgbClr val="138F5F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/>
              <p:cNvSpPr txBox="1"/>
              <p:nvPr/>
            </p:nvSpPr>
            <p:spPr>
              <a:xfrm>
                <a:off x="6355080" y="3840480"/>
                <a:ext cx="4800600" cy="45720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𝑥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,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</m:sub>
                      </m:s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≤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𝑦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</m:sub>
                      </m:s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  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𝑦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</m:sub>
                      </m:s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≥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𝑦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+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37" name="Text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5080" y="3840480"/>
                <a:ext cx="4800600" cy="457200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37"/>
          <p:cNvSpPr/>
          <p:nvPr/>
        </p:nvSpPr>
        <p:spPr>
          <a:xfrm>
            <a:off x="3730752" y="4498848"/>
            <a:ext cx="7772400" cy="640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13632" y="4572000"/>
            <a:ext cx="2651760" cy="4572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70" b="1">
                <a:solidFill>
                  <a:srgbClr val="E67E22"/>
                </a:solidFill>
                <a:latin typeface="Arial" panose="020B0604020202020204"/>
              </a:rPr>
              <a:t>4   Migration load on each link</a:t>
            </a:r>
            <a:endParaRPr sz="1070" b="1">
              <a:solidFill>
                <a:srgbClr val="E67E22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/>
              <p:cNvSpPr txBox="1"/>
              <p:nvPr/>
            </p:nvSpPr>
            <p:spPr>
              <a:xfrm>
                <a:off x="6355080" y="4572000"/>
                <a:ext cx="4800600" cy="45720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𝐿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𝑒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,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</m:sub>
                      </m:s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/>
                          </m:ctrlPr>
                        </m:naryPr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∈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4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4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𝑝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𝑓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,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𝑥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,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40" name="Text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5080" y="4572000"/>
                <a:ext cx="4800600" cy="457200"/>
              </a:xfrm>
              <a:prstGeom prst="rect">
                <a:avLst/>
              </a:prstGeom>
              <a:blipFill rotWithShape="1">
                <a:blip r:embed="rId12"/>
                <a:stretch>
                  <a:fillRect t="-16528" b="-1680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ounded Rectangle 40"/>
          <p:cNvSpPr/>
          <p:nvPr/>
        </p:nvSpPr>
        <p:spPr>
          <a:xfrm>
            <a:off x="3730752" y="5230368"/>
            <a:ext cx="7772400" cy="640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13632" y="5303520"/>
            <a:ext cx="2651760" cy="4572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70" b="1">
                <a:solidFill>
                  <a:srgbClr val="138F5F"/>
                </a:solidFill>
                <a:latin typeface="Arial" panose="020B0604020202020204"/>
              </a:rPr>
              <a:t>5   Inference-time lower bound</a:t>
            </a:r>
            <a:endParaRPr sz="1070" b="1">
              <a:solidFill>
                <a:srgbClr val="138F5F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/>
              <p:cNvSpPr txBox="1"/>
              <p:nvPr/>
            </p:nvSpPr>
            <p:spPr>
              <a:xfrm>
                <a:off x="6355080" y="5303520"/>
                <a:ext cx="4800600" cy="45720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f</m:t>
                          </m:r>
                          <m:r>
                            <m:rPr>
                              <m:sty m:val="p"/>
                            </m:rP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r</m:t>
                          </m:r>
                        </m:sub>
                      </m:sSub>
                      <m:r>
                        <a:rPr lang="en-US" sz="12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≥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0</m:t>
                          </m:r>
                        </m:sub>
                      </m:sSub>
                      <m:d>
                        <m:dPr>
                          <m:sepChr m:val=""/>
                          <m:ctrlPr>
                            <a:rPr/>
                          </m:ctrlPr>
                        </m:dPr>
                        <m:e>
                          <m: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1</m:t>
                          </m:r>
                          <m: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+</m:t>
                          </m:r>
                          <m:f>
                            <m:fPr>
                              <m:ctrlPr>
                                <a:rPr/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/>
                                  </m:ctrlPr>
                                </m:sSubPr>
                                <m:e>
                                  <m:r>
                                    <a:rPr lang="en-US" sz="12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𝑒</m:t>
                                  </m:r>
                                  <m:r>
                                    <a:rPr lang="en-US" sz="12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,</m:t>
                                  </m:r>
                                  <m:r>
                                    <a:rPr lang="en-US" sz="12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𝑏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/>
                                  </m:ctrlPr>
                                </m:sSubPr>
                                <m:e>
                                  <m:r>
                                    <a:rPr lang="en-US" sz="12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12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𝑒</m:t>
                                  </m:r>
                                </m:sub>
                              </m:sSub>
                              <m:d>
                                <m:dPr>
                                  <m:sepChr m:val=""/>
                                  <m:ctrlPr>
                                    <a:rPr/>
                                  </m:ctrlPr>
                                </m:dPr>
                                <m:e>
                                  <m:r>
                                    <a:rPr lang="en-US" sz="12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1</m:t>
                                  </m:r>
                                  <m:r>
                                    <a:rPr lang="en-US" sz="12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−</m:t>
                                  </m:r>
                                  <m:r>
                                    <a:rPr lang="en-US" sz="12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𝜌</m:t>
                                  </m:r>
                                </m:e>
                              </m:d>
                            </m:den>
                          </m:f>
                        </m:e>
                      </m:d>
                      <m:r>
                        <a:rPr lang="en-US" sz="12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2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 </m:t>
                      </m:r>
                      <m:r>
                        <a:rPr lang="en-US" sz="12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∀</m:t>
                      </m:r>
                      <m:r>
                        <a:rPr lang="en-US" sz="12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𝑒</m:t>
                      </m:r>
                      <m:r>
                        <a:rPr lang="en-US" sz="12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2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𝑏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5080" y="5303520"/>
                <a:ext cx="4800600" cy="457200"/>
              </a:xfrm>
              <a:prstGeom prst="rect">
                <a:avLst/>
              </a:prstGeom>
              <a:blipFill rotWithShape="1">
                <a:blip r:embed="rId13"/>
                <a:stretch>
                  <a:fillRect t="-6806" b="-69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OFFLINE MODEL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33604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ILP Hotspot Example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794385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example_hotspot_befo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3590" y="1015365"/>
            <a:ext cx="2602230" cy="544449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31335" y="6516815"/>
            <a:ext cx="3127248" cy="25463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BF4149"/>
                </a:solidFill>
                <a:latin typeface="Aptos"/>
              </a:rPr>
              <a:t>Inference </a:t>
            </a:r>
            <a:r>
              <a:rPr lang="en-US" sz="1300" b="1">
                <a:solidFill>
                  <a:srgbClr val="BF4149"/>
                </a:solidFill>
                <a:latin typeface="Aptos"/>
              </a:rPr>
              <a:t>time </a:t>
            </a:r>
            <a:r>
              <a:rPr sz="1300" b="1">
                <a:solidFill>
                  <a:srgbClr val="BF4149"/>
                </a:solidFill>
                <a:latin typeface="Aptos"/>
              </a:rPr>
              <a:t>4.75</a:t>
            </a:r>
            <a:endParaRPr sz="1300" b="1">
              <a:solidFill>
                <a:srgbClr val="BF4149"/>
              </a:solidFill>
              <a:latin typeface="Aptos"/>
            </a:endParaRP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1015" y="967105"/>
            <a:ext cx="3032125" cy="54489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28432" y="6495225"/>
            <a:ext cx="3127248" cy="25463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1B8D60"/>
                </a:solidFill>
                <a:latin typeface="Aptos"/>
              </a:rPr>
              <a:t>Inference</a:t>
            </a:r>
            <a:r>
              <a:rPr lang="en-US" sz="1300" b="1">
                <a:solidFill>
                  <a:srgbClr val="1B8D60"/>
                </a:solidFill>
                <a:latin typeface="Aptos"/>
              </a:rPr>
              <a:t> time </a:t>
            </a:r>
            <a:r>
              <a:rPr sz="1300" b="1">
                <a:solidFill>
                  <a:srgbClr val="1B8D60"/>
                </a:solidFill>
                <a:latin typeface="Aptos"/>
              </a:rPr>
              <a:t> 2.25</a:t>
            </a:r>
            <a:endParaRPr sz="13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807" y="852170"/>
            <a:ext cx="2612680" cy="59251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ONLINE DESIGN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Online Design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>
            <p:custDataLst>
              <p:tags r:id="rId1"/>
            </p:custDataLst>
          </p:nvPr>
        </p:nvSpPr>
        <p:spPr>
          <a:xfrm>
            <a:off x="640080" y="1664208"/>
            <a:ext cx="4754880" cy="3520440"/>
          </a:xfrm>
          <a:prstGeom prst="roundRect">
            <a:avLst/>
          </a:prstGeom>
          <a:solidFill>
            <a:srgbClr val="E1EDF8"/>
          </a:solidFill>
          <a:ln w="1905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>
            <p:custDataLst>
              <p:tags r:id="rId2"/>
            </p:custDataLst>
          </p:nvPr>
        </p:nvSpPr>
        <p:spPr>
          <a:xfrm>
            <a:off x="932688" y="1901952"/>
            <a:ext cx="1508760" cy="2560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400" b="1">
                <a:solidFill>
                  <a:srgbClr val="2D67A4"/>
                </a:solidFill>
                <a:latin typeface="Aptos"/>
              </a:rPr>
              <a:t>OFFLINE ILP</a:t>
            </a:r>
            <a:endParaRPr sz="14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>
            <p:custDataLst>
              <p:tags r:id="rId3"/>
            </p:custDataLst>
          </p:nvPr>
        </p:nvSpPr>
        <p:spPr>
          <a:xfrm>
            <a:off x="932688" y="2331720"/>
            <a:ext cx="3474720" cy="4114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Exact reference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>
            <p:custDataLst>
              <p:tags r:id="rId4"/>
            </p:custDataLst>
          </p:nvPr>
        </p:nvSpPr>
        <p:spPr>
          <a:xfrm>
            <a:off x="932815" y="2840355"/>
            <a:ext cx="4276725" cy="88519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marL="342900" indent="-342900" algn="l">
              <a:buAutoNum type="arabicPeriod"/>
            </a:pPr>
            <a:r>
              <a:rPr sz="1800" b="0">
                <a:solidFill>
                  <a:srgbClr val="1C2735"/>
                </a:solidFill>
                <a:latin typeface="Aptos"/>
              </a:rPr>
              <a:t>Explains </a:t>
            </a:r>
            <a:r>
              <a:rPr lang="en-US" sz="1800" b="0">
                <a:solidFill>
                  <a:srgbClr val="1C2735"/>
                </a:solidFill>
                <a:latin typeface="Aptos"/>
              </a:rPr>
              <a:t>the </a:t>
            </a:r>
            <a:r>
              <a:rPr lang="en-US" sz="1800" b="0">
                <a:solidFill>
                  <a:srgbClr val="1C2735"/>
                </a:solidFill>
                <a:latin typeface="Aptos"/>
              </a:rPr>
              <a:t>model</a:t>
            </a:r>
            <a:endParaRPr lang="en-US" sz="1800" b="0">
              <a:solidFill>
                <a:srgbClr val="1C2735"/>
              </a:solidFill>
              <a:latin typeface="Aptos"/>
            </a:endParaRPr>
          </a:p>
          <a:p>
            <a:pPr marL="342900" indent="-342900" algn="l">
              <a:buAutoNum type="arabicPeriod"/>
            </a:pPr>
            <a:r>
              <a:rPr lang="en-US" sz="1800" b="0">
                <a:solidFill>
                  <a:srgbClr val="1C2735"/>
                </a:solidFill>
                <a:latin typeface="Aptos"/>
              </a:rPr>
              <a:t>Prove this problem can be </a:t>
            </a:r>
            <a:r>
              <a:rPr lang="en-US" sz="1800" b="0">
                <a:solidFill>
                  <a:srgbClr val="1C2735"/>
                </a:solidFill>
                <a:latin typeface="Aptos"/>
              </a:rPr>
              <a:t>optimized</a:t>
            </a:r>
            <a:endParaRPr lang="en-US" sz="1800" b="0">
              <a:solidFill>
                <a:srgbClr val="1C2735"/>
              </a:solidFill>
              <a:latin typeface="Aptos"/>
            </a:endParaRPr>
          </a:p>
          <a:p>
            <a:pPr marL="342900" indent="-342900" algn="l">
              <a:buAutoNum type="arabicPeriod"/>
            </a:pPr>
            <a:r>
              <a:rPr lang="en-US" sz="18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rPr>
              <a:t>Expensive</a:t>
            </a:r>
            <a:endParaRPr lang="en-US" sz="18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/>
            </a:endParaRPr>
          </a:p>
        </p:txBody>
      </p:sp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932688" y="4187952"/>
            <a:ext cx="2331720" cy="34747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600" b="1">
                <a:solidFill>
                  <a:srgbClr val="BF4149"/>
                </a:solidFill>
                <a:latin typeface="Aptos"/>
              </a:rPr>
              <a:t>Not used in serving</a:t>
            </a:r>
            <a:endParaRPr sz="16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>
            <p:custDataLst>
              <p:tags r:id="rId6"/>
            </p:custDataLst>
          </p:nvPr>
        </p:nvSpPr>
        <p:spPr>
          <a:xfrm>
            <a:off x="6675120" y="1664208"/>
            <a:ext cx="4846320" cy="3520440"/>
          </a:xfrm>
          <a:prstGeom prst="roundRect">
            <a:avLst/>
          </a:prstGeom>
          <a:solidFill>
            <a:srgbClr val="E5F5EE"/>
          </a:solidFill>
          <a:ln w="1905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7"/>
            </p:custDataLst>
          </p:nvPr>
        </p:nvSpPr>
        <p:spPr>
          <a:xfrm>
            <a:off x="6967728" y="1901952"/>
            <a:ext cx="1920240" cy="2560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400" b="1">
                <a:solidFill>
                  <a:srgbClr val="1B8D60"/>
                </a:solidFill>
                <a:latin typeface="Aptos"/>
              </a:rPr>
              <a:t>ONLINE SCHEDULER</a:t>
            </a:r>
            <a:endParaRPr sz="14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828800" y="5513832"/>
            <a:ext cx="8549640" cy="4754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5581587"/>
            <a:ext cx="8275320" cy="28511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lang="en-US" sz="1500" b="1">
                <a:solidFill>
                  <a:srgbClr val="133052"/>
                </a:solidFill>
                <a:latin typeface="Aptos"/>
              </a:rPr>
              <a:t>We can not use ILP in vllm because ILP is expensive</a:t>
            </a:r>
            <a:endParaRPr lang="en-US"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  <p:sp>
        <p:nvSpPr>
          <p:cNvPr id="16" name="TextBox 15"/>
          <p:cNvSpPr txBox="1"/>
          <p:nvPr>
            <p:custDataLst>
              <p:tags r:id="rId8"/>
            </p:custDataLst>
          </p:nvPr>
        </p:nvSpPr>
        <p:spPr>
          <a:xfrm>
            <a:off x="6967728" y="2310130"/>
            <a:ext cx="3474720" cy="45466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Greedy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Algorithm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>
            <p:custDataLst>
              <p:tags r:id="rId9"/>
            </p:custDataLst>
          </p:nvPr>
        </p:nvSpPr>
        <p:spPr>
          <a:xfrm>
            <a:off x="6967728" y="2971546"/>
            <a:ext cx="3794760" cy="60833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marL="342900" indent="-342900" algn="l">
              <a:buAutoNum type="arabicPeriod"/>
            </a:pPr>
            <a:r>
              <a:rPr lang="en-US" altLang="zh-CN" sz="1800" b="0">
                <a:solidFill>
                  <a:srgbClr val="1C2735"/>
                </a:solidFill>
                <a:latin typeface="Aptos"/>
              </a:rPr>
              <a:t>Achieve similar returns</a:t>
            </a:r>
            <a:endParaRPr lang="en-US" altLang="zh-CN" sz="1800" b="0">
              <a:solidFill>
                <a:srgbClr val="1C2735"/>
              </a:solidFill>
              <a:latin typeface="Aptos"/>
            </a:endParaRPr>
          </a:p>
          <a:p>
            <a:pPr marL="342900" indent="-342900" algn="l">
              <a:buAutoNum type="arabicPeriod"/>
            </a:pPr>
            <a:r>
              <a:rPr lang="en-US" altLang="zh-CN" sz="1800" b="0">
                <a:solidFill>
                  <a:srgbClr val="1C2735"/>
                </a:solidFill>
                <a:latin typeface="Aptos"/>
              </a:rPr>
              <a:t>But much </a:t>
            </a:r>
            <a:r>
              <a:rPr lang="en-US" altLang="zh-CN" sz="18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rPr>
              <a:t>cheaper</a:t>
            </a:r>
            <a:endParaRPr lang="en-US" altLang="zh-CN" sz="18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/>
            </a:endParaRPr>
          </a:p>
        </p:txBody>
      </p:sp>
      <p:cxnSp>
        <p:nvCxnSpPr>
          <p:cNvPr id="12" name="Connector 11"/>
          <p:cNvCxnSpPr/>
          <p:nvPr>
            <p:custDataLst>
              <p:tags r:id="rId10"/>
            </p:custDataLst>
          </p:nvPr>
        </p:nvCxnSpPr>
        <p:spPr>
          <a:xfrm>
            <a:off x="5623560" y="3401568"/>
            <a:ext cx="822960" cy="0"/>
          </a:xfrm>
          <a:prstGeom prst="line">
            <a:avLst/>
          </a:prstGeom>
          <a:ln w="50800">
            <a:solidFill>
              <a:srgbClr val="DD8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>
            <p:custDataLst>
              <p:tags r:id="rId11"/>
            </p:custDataLst>
          </p:nvPr>
        </p:nvSpPr>
        <p:spPr>
          <a:xfrm>
            <a:off x="6967728" y="4211511"/>
            <a:ext cx="3749039" cy="30035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lang="en-US" sz="1600" b="1">
                <a:solidFill>
                  <a:srgbClr val="1B8D60"/>
                </a:solidFill>
                <a:latin typeface="Aptos"/>
              </a:rPr>
              <a:t>Used in serving</a:t>
            </a:r>
            <a:endParaRPr lang="en-US" sz="1600" b="1">
              <a:solidFill>
                <a:srgbClr val="1B8D60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0" name="Rounded Rectangle 8"/>
          <p:cNvSpPr/>
          <p:nvPr/>
        </p:nvSpPr>
        <p:spPr>
          <a:xfrm>
            <a:off x="814070" y="3479800"/>
            <a:ext cx="4529455" cy="325945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ALGORITHM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Greedy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Algorithm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14070" y="1541145"/>
            <a:ext cx="4529455" cy="167068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538923"/>
            <a:ext cx="1960880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INPUT ORDER</a:t>
            </a:r>
            <a:r>
              <a:rPr lang="en-US" sz="1150" b="1">
                <a:solidFill>
                  <a:srgbClr val="2D67A4"/>
                </a:solidFill>
                <a:latin typeface="Aptos"/>
              </a:rPr>
              <a:t>(DAG)</a:t>
            </a:r>
            <a:endParaRPr lang="en-US" sz="115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339596" y="3805047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7612" y="3905631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2D67A4"/>
                </a:solidFill>
                <a:latin typeface="Aptos"/>
              </a:rPr>
              <a:t>F₀</a:t>
            </a:r>
            <a:endParaRPr sz="12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080260" y="3887343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0 → 1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967228" y="3896487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{E₁,E₇}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339596" y="4536566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7612" y="4637150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B8D60"/>
                </a:solidFill>
                <a:latin typeface="Aptos"/>
              </a:rPr>
              <a:t>F₁</a:t>
            </a:r>
            <a:endParaRPr sz="1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080260" y="4618862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2 → 3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67228" y="4628007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{E₃}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339596" y="5268087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7612" y="5368671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8153A0"/>
                </a:solidFill>
                <a:latin typeface="Aptos"/>
              </a:rPr>
              <a:t>F₂</a:t>
            </a:r>
            <a:endParaRPr sz="12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080260" y="5350383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1 → 2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967228" y="5359527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{E₄}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339596" y="5999607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7612" y="6100191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DD852A"/>
                </a:solidFill>
                <a:latin typeface="Aptos"/>
              </a:rPr>
              <a:t>F₃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080260" y="6081903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0 → 3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967228" y="6091047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{E₉}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518785" y="2353945"/>
            <a:ext cx="6094095" cy="36995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1273" y="2862072"/>
            <a:ext cx="2011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1B8D60"/>
                </a:solidFill>
                <a:latin typeface="Aptos"/>
              </a:rPr>
              <a:t>FIRST-FIT DECISIONS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grpSp>
        <p:nvGrpSpPr>
          <p:cNvPr id="7" name="DecisionRow0"/>
          <p:cNvGrpSpPr/>
          <p:nvPr/>
        </p:nvGrpSpPr>
        <p:grpSpPr>
          <a:xfrm>
            <a:off x="6121273" y="3255264"/>
            <a:ext cx="4206240" cy="438912"/>
            <a:chOff x="4773168" y="2157984"/>
            <a:chExt cx="4206240" cy="438912"/>
          </a:xfrm>
        </p:grpSpPr>
        <p:sp>
          <p:nvSpPr>
            <p:cNvPr id="30" name="Oval 29"/>
            <p:cNvSpPr/>
            <p:nvPr/>
          </p:nvSpPr>
          <p:spPr>
            <a:xfrm>
              <a:off x="4773168" y="2157984"/>
              <a:ext cx="438912" cy="438912"/>
            </a:xfrm>
            <a:prstGeom prst="ellipse">
              <a:avLst/>
            </a:prstGeom>
            <a:solidFill>
              <a:srgbClr val="2D67A4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773168" y="2167127"/>
              <a:ext cx="438912" cy="420623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ctr">
                <a:defRPr sz="1150"/>
              </a:pPr>
              <a:r>
                <a:rPr sz="1150" b="1">
                  <a:solidFill>
                    <a:srgbClr val="FFFFFF"/>
                  </a:solidFill>
                  <a:latin typeface="Aptos"/>
                </a:rPr>
                <a:t>F₀</a:t>
              </a:r>
              <a:endParaRPr sz="1100" b="1">
                <a:solidFill>
                  <a:srgbClr val="FFFFFF"/>
                </a:solidFill>
                <a:latin typeface="Aptos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376672" y="2203703"/>
              <a:ext cx="987552" cy="256032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l"/>
              <a:r>
                <a:rPr sz="1200" b="1">
                  <a:ln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ptos"/>
                </a:rPr>
                <a:t>Batch 0</a:t>
              </a:r>
              <a:endParaRPr sz="1200" b="1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419088" y="2185415"/>
              <a:ext cx="2560320" cy="274320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l">
                <a:defRPr sz="1150"/>
              </a:pPr>
              <a:r>
                <a:rPr sz="1150" b="0">
                  <a:solidFill>
                    <a:srgbClr val="5D6C7E"/>
                  </a:solidFill>
                  <a:latin typeface="Aptos"/>
                </a:rPr>
                <a:t>uses ranks {0,1}</a:t>
              </a:r>
              <a:endParaRPr sz="1100" b="0">
                <a:solidFill>
                  <a:srgbClr val="5D6C7E"/>
                </a:solidFill>
                <a:latin typeface="Aptos"/>
              </a:endParaRPr>
            </a:p>
          </p:txBody>
        </p:sp>
      </p:grpSp>
      <p:grpSp>
        <p:nvGrpSpPr>
          <p:cNvPr id="8" name="DecisionRow1"/>
          <p:cNvGrpSpPr/>
          <p:nvPr/>
        </p:nvGrpSpPr>
        <p:grpSpPr>
          <a:xfrm>
            <a:off x="6121273" y="3813048"/>
            <a:ext cx="4206240" cy="438912"/>
            <a:chOff x="4773168" y="2715768"/>
            <a:chExt cx="4206240" cy="438912"/>
          </a:xfrm>
        </p:grpSpPr>
        <p:sp>
          <p:nvSpPr>
            <p:cNvPr id="34" name="Oval 33"/>
            <p:cNvSpPr/>
            <p:nvPr/>
          </p:nvSpPr>
          <p:spPr>
            <a:xfrm>
              <a:off x="4773168" y="2715768"/>
              <a:ext cx="438912" cy="438912"/>
            </a:xfrm>
            <a:prstGeom prst="ellipse">
              <a:avLst/>
            </a:prstGeom>
            <a:solidFill>
              <a:srgbClr val="1B8D60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773168" y="2724911"/>
              <a:ext cx="438912" cy="420623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ctr">
                <a:defRPr sz="1150"/>
              </a:pPr>
              <a:r>
                <a:rPr sz="1150" b="1">
                  <a:solidFill>
                    <a:srgbClr val="FFFFFF"/>
                  </a:solidFill>
                  <a:latin typeface="Aptos"/>
                </a:rPr>
                <a:t>F₁</a:t>
              </a:r>
              <a:endParaRPr sz="1100" b="1">
                <a:solidFill>
                  <a:srgbClr val="FFFFFF"/>
                </a:solidFill>
                <a:latin typeface="Aptos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376672" y="2761487"/>
              <a:ext cx="987552" cy="256032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l"/>
              <a:r>
                <a:rPr sz="1200" b="1">
                  <a:ln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ptos"/>
                </a:rPr>
                <a:t>Batch 0</a:t>
              </a:r>
              <a:endParaRPr sz="1200" b="1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endParaRP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19088" y="2755899"/>
              <a:ext cx="2560320" cy="248920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l">
                <a:defRPr sz="1150"/>
              </a:pPr>
              <a:r>
                <a:rPr>
                  <a:solidFill>
                    <a:srgbClr val="5D6C7E"/>
                  </a:solidFill>
                  <a:latin typeface="Aptos"/>
                  <a:sym typeface="+mn-ea"/>
                </a:rPr>
                <a:t>uses ranks {0,1</a:t>
              </a:r>
              <a:r>
                <a:rPr lang="en-US">
                  <a:solidFill>
                    <a:srgbClr val="5D6C7E"/>
                  </a:solidFill>
                  <a:latin typeface="Aptos"/>
                  <a:sym typeface="+mn-ea"/>
                </a:rPr>
                <a:t>,2,3</a:t>
              </a:r>
              <a:r>
                <a:rPr>
                  <a:solidFill>
                    <a:srgbClr val="5D6C7E"/>
                  </a:solidFill>
                  <a:latin typeface="Aptos"/>
                  <a:sym typeface="+mn-ea"/>
                </a:rPr>
                <a:t>}</a:t>
              </a:r>
              <a:endParaRPr sz="1100" b="0">
                <a:solidFill>
                  <a:srgbClr val="5D6C7E"/>
                </a:solidFill>
                <a:latin typeface="Aptos"/>
              </a:endParaRPr>
            </a:p>
          </p:txBody>
        </p:sp>
      </p:grpSp>
      <p:grpSp>
        <p:nvGrpSpPr>
          <p:cNvPr id="27" name="DecisionRow2"/>
          <p:cNvGrpSpPr/>
          <p:nvPr/>
        </p:nvGrpSpPr>
        <p:grpSpPr>
          <a:xfrm>
            <a:off x="6121273" y="4370832"/>
            <a:ext cx="4206240" cy="438912"/>
            <a:chOff x="4773168" y="3273552"/>
            <a:chExt cx="4206240" cy="438912"/>
          </a:xfrm>
        </p:grpSpPr>
        <p:sp>
          <p:nvSpPr>
            <p:cNvPr id="38" name="Oval 37"/>
            <p:cNvSpPr/>
            <p:nvPr/>
          </p:nvSpPr>
          <p:spPr>
            <a:xfrm>
              <a:off x="4773168" y="3273552"/>
              <a:ext cx="438912" cy="438912"/>
            </a:xfrm>
            <a:prstGeom prst="ellipse">
              <a:avLst/>
            </a:prstGeom>
            <a:solidFill>
              <a:srgbClr val="8153A0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73168" y="3282696"/>
              <a:ext cx="438912" cy="420623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ctr">
                <a:defRPr sz="1150"/>
              </a:pPr>
              <a:r>
                <a:rPr sz="1150" b="1">
                  <a:solidFill>
                    <a:srgbClr val="FFFFFF"/>
                  </a:solidFill>
                  <a:latin typeface="Aptos"/>
                </a:rPr>
                <a:t>F₂</a:t>
              </a:r>
              <a:endParaRPr sz="1100" b="1">
                <a:solidFill>
                  <a:srgbClr val="FFFFFF"/>
                </a:solidFill>
                <a:latin typeface="Aptos"/>
              </a:endParaRP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5376672" y="3319272"/>
              <a:ext cx="987552" cy="256032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  <a:scene3d>
                <a:camera prst="orthographicFront"/>
                <a:lightRig rig="soft" dir="t">
                  <a:rot lat="0" lon="0" rev="15600000"/>
                </a:lightRig>
              </a:scene3d>
              <a:sp3d extrusionH="57150" prstMaterial="softEdge">
                <a:bevelT w="25400" h="38100"/>
              </a:sp3d>
            </a:bodyPr>
            <a:lstStyle/>
            <a:p>
              <a:pPr algn="l"/>
              <a:r>
                <a:rPr sz="1200" b="1">
                  <a:ln/>
                  <a:solidFill>
                    <a:schemeClr val="accent4"/>
                  </a:solidFill>
                  <a:effectLst/>
                  <a:latin typeface="Aptos"/>
                </a:rPr>
                <a:t>Batch 1</a:t>
              </a:r>
              <a:endParaRPr sz="1200" b="1">
                <a:ln/>
                <a:solidFill>
                  <a:schemeClr val="accent4"/>
                </a:solidFill>
                <a:effectLst/>
                <a:latin typeface="Aptos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419088" y="3313684"/>
              <a:ext cx="2560320" cy="248920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l">
                <a:defRPr sz="1150"/>
              </a:pPr>
              <a:r>
                <a:rPr>
                  <a:solidFill>
                    <a:srgbClr val="5D6C7E"/>
                  </a:solidFill>
                  <a:latin typeface="Aptos"/>
                  <a:sym typeface="+mn-ea"/>
                </a:rPr>
                <a:t>uses ranks {</a:t>
              </a:r>
              <a:r>
                <a:rPr lang="en-US">
                  <a:solidFill>
                    <a:srgbClr val="5D6C7E"/>
                  </a:solidFill>
                  <a:latin typeface="Aptos"/>
                  <a:sym typeface="+mn-ea"/>
                </a:rPr>
                <a:t>1,2</a:t>
              </a:r>
              <a:r>
                <a:rPr>
                  <a:solidFill>
                    <a:srgbClr val="5D6C7E"/>
                  </a:solidFill>
                  <a:latin typeface="Aptos"/>
                  <a:sym typeface="+mn-ea"/>
                </a:rPr>
                <a:t>}</a:t>
              </a:r>
              <a:endParaRPr sz="1100" b="0">
                <a:solidFill>
                  <a:srgbClr val="5D6C7E"/>
                </a:solidFill>
                <a:latin typeface="Aptos"/>
              </a:endParaRPr>
            </a:p>
          </p:txBody>
        </p:sp>
      </p:grpSp>
      <p:grpSp>
        <p:nvGrpSpPr>
          <p:cNvPr id="46" name="DecisionRow3"/>
          <p:cNvGrpSpPr/>
          <p:nvPr/>
        </p:nvGrpSpPr>
        <p:grpSpPr>
          <a:xfrm>
            <a:off x="6121273" y="4928615"/>
            <a:ext cx="4206240" cy="438912"/>
            <a:chOff x="4773168" y="3831335"/>
            <a:chExt cx="4206240" cy="438912"/>
          </a:xfrm>
        </p:grpSpPr>
        <p:sp>
          <p:nvSpPr>
            <p:cNvPr id="42" name="Oval 41"/>
            <p:cNvSpPr/>
            <p:nvPr/>
          </p:nvSpPr>
          <p:spPr>
            <a:xfrm>
              <a:off x="4773168" y="3831335"/>
              <a:ext cx="438912" cy="438912"/>
            </a:xfrm>
            <a:prstGeom prst="ellipse">
              <a:avLst/>
            </a:prstGeom>
            <a:solidFill>
              <a:srgbClr val="DD852A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773168" y="3840479"/>
              <a:ext cx="438912" cy="420623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ctr">
                <a:defRPr sz="1150"/>
              </a:pPr>
              <a:r>
                <a:rPr sz="1150" b="1">
                  <a:solidFill>
                    <a:srgbClr val="FFFFFF"/>
                  </a:solidFill>
                  <a:latin typeface="Aptos"/>
                </a:rPr>
                <a:t>F₃</a:t>
              </a:r>
              <a:endParaRPr sz="1100" b="1">
                <a:solidFill>
                  <a:srgbClr val="FFFFFF"/>
                </a:solidFill>
                <a:latin typeface="Aptos"/>
              </a:endParaRP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5376672" y="3877055"/>
              <a:ext cx="987552" cy="256032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  <a:scene3d>
                <a:camera prst="orthographicFront"/>
                <a:lightRig rig="soft" dir="t">
                  <a:rot lat="0" lon="0" rev="15600000"/>
                </a:lightRig>
              </a:scene3d>
              <a:sp3d extrusionH="57150" prstMaterial="softEdge">
                <a:bevelT w="25400" h="38100"/>
              </a:sp3d>
            </a:bodyPr>
            <a:lstStyle/>
            <a:p>
              <a:pPr algn="l"/>
              <a:r>
                <a:rPr sz="1200" b="1">
                  <a:ln/>
                  <a:solidFill>
                    <a:schemeClr val="accent4"/>
                  </a:solidFill>
                  <a:effectLst/>
                  <a:latin typeface="Aptos"/>
                </a:rPr>
                <a:t>Batch 1</a:t>
              </a:r>
              <a:endParaRPr sz="1200" b="1">
                <a:ln/>
                <a:solidFill>
                  <a:schemeClr val="accent4"/>
                </a:solidFill>
                <a:effectLst/>
                <a:latin typeface="Aptos"/>
              </a:endParaRP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6419088" y="3871468"/>
              <a:ext cx="2560320" cy="248920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l">
                <a:defRPr sz="1150"/>
              </a:pPr>
              <a:r>
                <a:rPr>
                  <a:solidFill>
                    <a:srgbClr val="5D6C7E"/>
                  </a:solidFill>
                  <a:latin typeface="Aptos"/>
                  <a:sym typeface="+mn-ea"/>
                </a:rPr>
                <a:t>uses ranks {</a:t>
              </a:r>
              <a:r>
                <a:rPr lang="en-US">
                  <a:solidFill>
                    <a:srgbClr val="5D6C7E"/>
                  </a:solidFill>
                  <a:latin typeface="Aptos"/>
                  <a:sym typeface="+mn-ea"/>
                </a:rPr>
                <a:t>0,1,2,3</a:t>
              </a:r>
              <a:r>
                <a:rPr>
                  <a:solidFill>
                    <a:srgbClr val="5D6C7E"/>
                  </a:solidFill>
                  <a:latin typeface="Aptos"/>
                  <a:sym typeface="+mn-ea"/>
                </a:rPr>
                <a:t>}</a:t>
              </a:r>
              <a:endParaRPr sz="1100" b="0">
                <a:solidFill>
                  <a:srgbClr val="5D6C7E"/>
                </a:solidFill>
                <a:latin typeface="Aptos"/>
              </a:endParaRPr>
            </a:p>
          </p:txBody>
        </p:sp>
      </p:grpSp>
      <p:sp>
        <p:nvSpPr>
          <p:cNvPr id="48" name="GreedyGraphNode0"/>
          <p:cNvSpPr/>
          <p:nvPr/>
        </p:nvSpPr>
        <p:spPr>
          <a:xfrm>
            <a:off x="1488440" y="1774317"/>
            <a:ext cx="457200" cy="457200"/>
          </a:xfrm>
          <a:prstGeom prst="ellipse">
            <a:avLst/>
          </a:prstGeom>
          <a:solidFill>
            <a:srgbClr val="E8F1FA"/>
          </a:solidFill>
          <a:ln w="1905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sz="1300" b="1">
                <a:solidFill>
                  <a:srgbClr val="14345B"/>
                </a:solidFill>
                <a:latin typeface="Arial" panose="020B0604020202020204"/>
              </a:rPr>
              <a:t>0</a:t>
            </a:r>
            <a:endParaRPr sz="130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49" name="GreedyGraphNode1"/>
          <p:cNvSpPr/>
          <p:nvPr/>
        </p:nvSpPr>
        <p:spPr>
          <a:xfrm>
            <a:off x="4185920" y="1774317"/>
            <a:ext cx="457200" cy="457200"/>
          </a:xfrm>
          <a:prstGeom prst="ellipse">
            <a:avLst/>
          </a:prstGeom>
          <a:solidFill>
            <a:srgbClr val="E8F1FA"/>
          </a:solidFill>
          <a:ln w="1905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sz="1300" b="1">
                <a:solidFill>
                  <a:srgbClr val="14345B"/>
                </a:solidFill>
                <a:latin typeface="Arial" panose="020B0604020202020204"/>
              </a:rPr>
              <a:t>1</a:t>
            </a:r>
            <a:endParaRPr sz="130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50" name="GreedyGraphNode2"/>
          <p:cNvSpPr/>
          <p:nvPr/>
        </p:nvSpPr>
        <p:spPr>
          <a:xfrm>
            <a:off x="4185920" y="2551557"/>
            <a:ext cx="457200" cy="457200"/>
          </a:xfrm>
          <a:prstGeom prst="ellipse">
            <a:avLst/>
          </a:prstGeom>
          <a:solidFill>
            <a:srgbClr val="E8F1FA"/>
          </a:solidFill>
          <a:ln w="1905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sz="1300" b="1">
                <a:solidFill>
                  <a:srgbClr val="14345B"/>
                </a:solidFill>
                <a:latin typeface="Arial" panose="020B0604020202020204"/>
              </a:rPr>
              <a:t>2</a:t>
            </a:r>
            <a:endParaRPr sz="130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51" name="GreedyGraphNode3"/>
          <p:cNvSpPr/>
          <p:nvPr/>
        </p:nvSpPr>
        <p:spPr>
          <a:xfrm>
            <a:off x="1488440" y="2551557"/>
            <a:ext cx="457200" cy="457200"/>
          </a:xfrm>
          <a:prstGeom prst="ellipse">
            <a:avLst/>
          </a:prstGeom>
          <a:solidFill>
            <a:srgbClr val="E8F1FA"/>
          </a:solidFill>
          <a:ln w="1905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sz="1300" b="1">
                <a:solidFill>
                  <a:srgbClr val="14345B"/>
                </a:solidFill>
                <a:latin typeface="Arial" panose="020B0604020202020204"/>
              </a:rPr>
              <a:t>3</a:t>
            </a:r>
            <a:endParaRPr sz="1300" b="1">
              <a:solidFill>
                <a:srgbClr val="14345B"/>
              </a:solidFill>
              <a:latin typeface="Arial" panose="020B0604020202020204"/>
            </a:endParaRPr>
          </a:p>
        </p:txBody>
      </p:sp>
      <p:cxnSp>
        <p:nvCxnSpPr>
          <p:cNvPr id="52" name="GreedyGraphArrow"/>
          <p:cNvCxnSpPr/>
          <p:nvPr/>
        </p:nvCxnSpPr>
        <p:spPr>
          <a:xfrm>
            <a:off x="1945640" y="2002917"/>
            <a:ext cx="2240280" cy="0"/>
          </a:xfrm>
          <a:prstGeom prst="line">
            <a:avLst/>
          </a:prstGeom>
          <a:ln w="27940">
            <a:solidFill>
              <a:srgbClr val="2F6FA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reedyGraphArrow"/>
          <p:cNvCxnSpPr/>
          <p:nvPr/>
        </p:nvCxnSpPr>
        <p:spPr>
          <a:xfrm>
            <a:off x="4414520" y="2231517"/>
            <a:ext cx="0" cy="320040"/>
          </a:xfrm>
          <a:prstGeom prst="line">
            <a:avLst/>
          </a:prstGeom>
          <a:ln w="27940">
            <a:solidFill>
              <a:srgbClr val="2F6FA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reedyGraphArrow"/>
          <p:cNvCxnSpPr/>
          <p:nvPr/>
        </p:nvCxnSpPr>
        <p:spPr>
          <a:xfrm flipH="1">
            <a:off x="1945640" y="2780157"/>
            <a:ext cx="2240280" cy="0"/>
          </a:xfrm>
          <a:prstGeom prst="line">
            <a:avLst/>
          </a:prstGeom>
          <a:ln w="27940">
            <a:solidFill>
              <a:srgbClr val="2F6FA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reedyGraphArrow"/>
          <p:cNvCxnSpPr/>
          <p:nvPr/>
        </p:nvCxnSpPr>
        <p:spPr>
          <a:xfrm>
            <a:off x="1717040" y="2231517"/>
            <a:ext cx="0" cy="320040"/>
          </a:xfrm>
          <a:prstGeom prst="line">
            <a:avLst/>
          </a:prstGeom>
          <a:ln w="27940">
            <a:solidFill>
              <a:srgbClr val="2F6FA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GreedyGraphLabel0"/>
          <p:cNvSpPr txBox="1"/>
          <p:nvPr/>
        </p:nvSpPr>
        <p:spPr>
          <a:xfrm>
            <a:off x="2539999" y="1728597"/>
            <a:ext cx="1188720" cy="2286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4345B"/>
                </a:solidFill>
                <a:latin typeface="Arial" panose="020B0604020202020204"/>
              </a:rPr>
              <a:t>F₀  {E₁,E₇}</a:t>
            </a:r>
            <a:endParaRPr sz="115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57" name="GreedyGraphLabel1"/>
          <p:cNvSpPr txBox="1"/>
          <p:nvPr/>
        </p:nvSpPr>
        <p:spPr>
          <a:xfrm>
            <a:off x="4281932" y="2273808"/>
            <a:ext cx="960120" cy="2286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4345B"/>
                </a:solidFill>
                <a:latin typeface="Arial" panose="020B0604020202020204"/>
              </a:rPr>
              <a:t>F₂  {E₄}</a:t>
            </a:r>
            <a:endParaRPr sz="115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58" name="GreedyGraphLabel2"/>
          <p:cNvSpPr txBox="1"/>
          <p:nvPr/>
        </p:nvSpPr>
        <p:spPr>
          <a:xfrm>
            <a:off x="2649728" y="2825877"/>
            <a:ext cx="960120" cy="2286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4345B"/>
                </a:solidFill>
                <a:latin typeface="Arial" panose="020B0604020202020204"/>
              </a:rPr>
              <a:t>F₁  {E₃}</a:t>
            </a:r>
            <a:endParaRPr sz="115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59" name="GreedyGraphLabel3"/>
          <p:cNvSpPr txBox="1"/>
          <p:nvPr/>
        </p:nvSpPr>
        <p:spPr>
          <a:xfrm>
            <a:off x="1631315" y="2245233"/>
            <a:ext cx="960120" cy="2286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4345B"/>
                </a:solidFill>
                <a:latin typeface="Arial" panose="020B0604020202020204"/>
              </a:rPr>
              <a:t>F₃  {E₉}</a:t>
            </a:r>
            <a:endParaRPr sz="115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61" name="TextBox 9"/>
          <p:cNvSpPr txBox="1"/>
          <p:nvPr/>
        </p:nvSpPr>
        <p:spPr>
          <a:xfrm>
            <a:off x="1006475" y="3555683"/>
            <a:ext cx="2980055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INPUT ORDER</a:t>
            </a:r>
            <a:r>
              <a:rPr lang="en-US" sz="1150" b="1">
                <a:solidFill>
                  <a:srgbClr val="2D67A4"/>
                </a:solidFill>
                <a:latin typeface="Aptos"/>
              </a:rPr>
              <a:t>(for loop flows)</a:t>
            </a:r>
            <a:endParaRPr lang="en-US" sz="1150" b="1">
              <a:solidFill>
                <a:srgbClr val="2D67A4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EVALUATION METHODOLOGY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Experimental Setup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6928" y="1554480"/>
            <a:ext cx="653796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6968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0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60120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1472184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395728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0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1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468880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2980944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904487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2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977639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4489703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413247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399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3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86399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5998463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463040" y="3538728"/>
            <a:ext cx="4526280" cy="0"/>
          </a:xfrm>
          <a:prstGeom prst="line">
            <a:avLst/>
          </a:prstGeom>
          <a:ln w="508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143000" y="3713417"/>
            <a:ext cx="5257800" cy="27241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B8D60"/>
                </a:solidFill>
                <a:latin typeface="Aptos"/>
              </a:rPr>
              <a:t>10 GbE  · no RDMA</a:t>
            </a:r>
            <a:endParaRPr sz="13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78992" y="4224528"/>
            <a:ext cx="53949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33052"/>
                </a:solidFill>
                <a:latin typeface="Aptos"/>
              </a:rPr>
              <a:t>Qwen3-30B-A3B-Instruct-2507 · FP16 · TP=EP=4</a:t>
            </a:r>
            <a:endParaRPr sz="13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05840" y="4663440"/>
            <a:ext cx="55321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Async EPLB · window 50 · step interval 50 · 16 redundant experts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1024128" y="5102352"/>
            <a:ext cx="5486400" cy="493776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3856" y="5193792"/>
            <a:ext cx="52578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B8D60"/>
                </a:solidFill>
                <a:latin typeface="Aptos"/>
              </a:rPr>
              <a:t>Prefix cache enabled · eager execution · 500/500 requests completed</a:t>
            </a:r>
            <a:endParaRPr sz="11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7360920" y="1554480"/>
            <a:ext cx="425196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1773936"/>
            <a:ext cx="109728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8153A0"/>
                </a:solidFill>
                <a:latin typeface="Aptos"/>
              </a:rPr>
              <a:t>WORKLOAD</a:t>
            </a:r>
            <a:endParaRPr sz="10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653527" y="2212848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Dataset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833104" y="2194560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random · seed 0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653527" y="2706624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Prompts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833104" y="2688336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500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653527" y="3200400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Concurrency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833104" y="3182112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32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653527" y="3694176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Prefix / input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833104" y="3675888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300 / 200 tokens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653527" y="4187952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Output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833104" y="4169664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300 tokens · ignore EOS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653527" y="4681728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Reported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833104" y="4663440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P50 and P99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7635240" y="5276088"/>
            <a:ext cx="3703320" cy="43891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0" y="5358384"/>
            <a:ext cx="342900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OFF vs ON · same request stream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694944" y="5852160"/>
            <a:ext cx="2642616" cy="384048"/>
          </a:xfrm>
          <a:prstGeom prst="rect">
            <a:avLst/>
          </a:prstGeom>
          <a:solidFill>
            <a:srgbClr val="D2DCE7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Background</a:t>
            </a:r>
            <a:endParaRPr sz="8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410712" y="5852160"/>
            <a:ext cx="2642616" cy="384048"/>
          </a:xfrm>
          <a:prstGeom prst="rect">
            <a:avLst/>
          </a:prstGeom>
          <a:solidFill>
            <a:srgbClr val="D2DCE7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38144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Model</a:t>
            </a:r>
            <a:endParaRPr sz="8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126480" y="5852160"/>
            <a:ext cx="2642616" cy="384048"/>
          </a:xfrm>
          <a:prstGeom prst="rect">
            <a:avLst/>
          </a:prstGeom>
          <a:solidFill>
            <a:srgbClr val="D2DCE7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53912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Algorithm</a:t>
            </a:r>
            <a:endParaRPr sz="8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8842248" y="5852160"/>
            <a:ext cx="2642616" cy="384048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69680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Evaluation</a:t>
            </a:r>
            <a:endParaRPr sz="8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EVALUATION RESULTS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E2E Results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749808" y="1572768"/>
            <a:ext cx="214884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609344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Metric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898648" y="1572768"/>
            <a:ext cx="233172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35224" y="160934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Batching off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230368" y="1572768"/>
            <a:ext cx="233172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66944" y="160934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Batching on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562088" y="1572768"/>
            <a:ext cx="160020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98663" y="1609344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Improvement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49808" y="2084832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121408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Output throughput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898648" y="2084832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35224" y="212140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31.54 tok/s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230368" y="2084832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6944" y="212140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32.26 tok/s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562088" y="2084832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98663" y="2121408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+2.28%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49808" y="2596896"/>
            <a:ext cx="214884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2633472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TTFT P50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898648" y="2596896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35224" y="263347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49,180.71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230368" y="2596896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66944" y="263347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48,599.04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562088" y="2596896"/>
            <a:ext cx="160020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98663" y="2633472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+1.18%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49808" y="3108960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3145536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TTFT P99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898648" y="3108960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35224" y="3145536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75,740.25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5230368" y="3108960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66944" y="3145536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74,756.17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562088" y="3108960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98663" y="3145536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+1.30%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749808" y="3621024"/>
            <a:ext cx="214884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6384" y="3657600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TPOT P50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898648" y="3621024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5224" y="3657600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828.53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5230368" y="3621024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66944" y="3657600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812.44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7562088" y="3621024"/>
            <a:ext cx="160020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98663" y="3657600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+1.94%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749808" y="4133088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" y="4169664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TPOT P99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898648" y="4133088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35224" y="416966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1,007.82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230368" y="4133088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66944" y="416966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999.01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562088" y="4133088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98663" y="4169664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+0.87%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749808" y="4645152"/>
            <a:ext cx="214884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6384" y="4681728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E2EL P50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898648" y="4645152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935224" y="468172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303,462.69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230368" y="4645152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6944" y="468172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293,821.76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562088" y="4645152"/>
            <a:ext cx="160020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98663" y="4681728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+3.18%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49808" y="5157216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6384" y="5193792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E2EL P99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2898648" y="5157216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4" y="519379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322,184.88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5230368" y="5157216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66944" y="519379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317,351.61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7562088" y="5157216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598663" y="5193792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+1.50%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9464040" y="1572768"/>
            <a:ext cx="2084831" cy="4096512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720072" y="1828800"/>
            <a:ext cx="157276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B8D60"/>
                </a:solidFill>
                <a:latin typeface="Aptos"/>
              </a:rPr>
              <a:t>MAIN RESULT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646920" y="2340864"/>
            <a:ext cx="1719072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1B8D60"/>
                </a:solidFill>
                <a:latin typeface="Aptos"/>
              </a:rPr>
              <a:t>+2.28%</a:t>
            </a:r>
            <a:endParaRPr sz="28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9710928" y="2816352"/>
            <a:ext cx="160020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output throughput</a:t>
            </a:r>
            <a:endParaRPr sz="10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646920" y="3438144"/>
            <a:ext cx="1719072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2D67A4"/>
                </a:solidFill>
                <a:latin typeface="Aptos"/>
              </a:rPr>
              <a:t>−3.18%</a:t>
            </a:r>
            <a:endParaRPr sz="28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9710928" y="3913632"/>
            <a:ext cx="160020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E2EL P50</a:t>
            </a:r>
            <a:endParaRPr sz="10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9646920" y="4727448"/>
            <a:ext cx="1719072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No regression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9674352" y="5056632"/>
            <a:ext cx="1664208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in the reported async metrics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749808" y="5824728"/>
            <a:ext cx="10789920" cy="384048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" y="5878576"/>
            <a:ext cx="10314432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lang="en-US" sz="1150" b="1">
                <a:solidFill>
                  <a:srgbClr val="133052"/>
                </a:solidFill>
                <a:latin typeface="Aptos"/>
              </a:rPr>
              <a:t>All metrics </a:t>
            </a:r>
            <a:r>
              <a:rPr lang="en-US" sz="1150" b="1">
                <a:solidFill>
                  <a:srgbClr val="133052"/>
                </a:solidFill>
                <a:latin typeface="Aptos"/>
              </a:rPr>
              <a:t>improved</a:t>
            </a:r>
            <a:endParaRPr lang="en-US" sz="115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EVALUATION RESULTS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Serving Improvements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30352" y="1536192"/>
            <a:ext cx="8458200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2e_improvemen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10832"/>
            <a:ext cx="8156448" cy="340443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81160" y="1737360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1828800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B8D60"/>
                </a:solidFill>
                <a:latin typeface="Aptos"/>
              </a:rPr>
              <a:t>+2.28%</a:t>
            </a:r>
            <a:endParaRPr sz="2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372600" y="2240280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throughput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9281160" y="2852928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944368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2D67A4"/>
                </a:solidFill>
                <a:latin typeface="Aptos"/>
              </a:rPr>
              <a:t>+1.18 / +1.30%</a:t>
            </a:r>
            <a:endParaRPr sz="16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372600" y="3355848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TTFT P50 /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281160" y="3968496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4059935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8153A0"/>
                </a:solidFill>
                <a:latin typeface="Aptos"/>
              </a:rPr>
              <a:t>+1.94 / +0.87%</a:t>
            </a:r>
            <a:endParaRPr sz="16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372600" y="4471416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TPOT P50 /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9281160" y="5084064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5175503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158EA6"/>
                </a:solidFill>
                <a:latin typeface="Aptos"/>
              </a:rPr>
              <a:t>+3.18 / +1.50%</a:t>
            </a:r>
            <a:endParaRPr sz="1600" b="1">
              <a:solidFill>
                <a:srgbClr val="158EA6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372600" y="5586983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E2EL P50 /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NETWORK EVIDENCE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NIC Traffic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481328"/>
            <a:ext cx="9162288" cy="4700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c_timeseri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449" y="1636776"/>
            <a:ext cx="8069228" cy="437083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893808" y="1737360"/>
            <a:ext cx="175564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85248" y="1828800"/>
            <a:ext cx="1572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BF4149"/>
                </a:solidFill>
                <a:latin typeface="Aptos"/>
              </a:rPr>
              <a:t>599.81</a:t>
            </a:r>
            <a:endParaRPr sz="22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985248" y="2240280"/>
            <a:ext cx="15727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MB/s P99 · off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893808" y="2971800"/>
            <a:ext cx="175564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85248" y="3063240"/>
            <a:ext cx="1572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B8D60"/>
                </a:solidFill>
                <a:latin typeface="Aptos"/>
              </a:rPr>
              <a:t>538.40</a:t>
            </a:r>
            <a:endParaRPr sz="2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985248" y="3474720"/>
            <a:ext cx="15727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MB/s P99 · on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9893808" y="4206240"/>
            <a:ext cx="175564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85248" y="4297679"/>
            <a:ext cx="1572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58EA6"/>
                </a:solidFill>
                <a:latin typeface="Aptos"/>
              </a:rPr>
              <a:t>−10.24%</a:t>
            </a:r>
            <a:endParaRPr sz="2200" b="1">
              <a:solidFill>
                <a:srgbClr val="158EA6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985248" y="4709159"/>
            <a:ext cx="15727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NIC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912096" y="5227257"/>
            <a:ext cx="1719072" cy="81089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lang="en-US" altLang="zh-CN" sz="1600" b="1">
                <a:solidFill>
                  <a:srgbClr val="133052"/>
                </a:solidFill>
                <a:latin typeface="Aptos"/>
              </a:rPr>
              <a:t>My feature can smooth the large traffic bursts. </a:t>
            </a:r>
            <a:endParaRPr lang="en-US" altLang="zh-CN" sz="1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矩形 22"/>
          <p:cNvSpPr/>
          <p:nvPr/>
        </p:nvSpPr>
        <p:spPr>
          <a:xfrm>
            <a:off x="2453640" y="4803775"/>
            <a:ext cx="408305" cy="599440"/>
          </a:xfrm>
          <a:prstGeom prst="rect">
            <a:avLst/>
          </a:prstGeom>
          <a:solidFill>
            <a:schemeClr val="accent6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SCHEDULER PROFILING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Profiling Method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536192"/>
            <a:ext cx="10972800" cy="658368"/>
          </a:xfrm>
          <a:prstGeom prst="roundRect">
            <a:avLst/>
          </a:prstGeom>
          <a:solidFill>
            <a:srgbClr val="E8F1FA"/>
          </a:solidFill>
          <a:ln w="1778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sz="1700" b="1">
                <a:solidFill>
                  <a:srgbClr val="14345B"/>
                </a:solidFill>
                <a:latin typeface="Arial" panose="020B0604020202020204"/>
              </a:rPr>
              <a:t>PURPOSE   Is the added scheduler cost </a:t>
            </a:r>
            <a:r>
              <a:rPr lang="en-US" sz="1700" b="1">
                <a:solidFill>
                  <a:srgbClr val="14345B"/>
                </a:solidFill>
                <a:latin typeface="Arial" panose="020B0604020202020204"/>
              </a:rPr>
              <a:t>less than</a:t>
            </a:r>
            <a:r>
              <a:rPr sz="1700" b="1">
                <a:solidFill>
                  <a:srgbClr val="14345B"/>
                </a:solidFill>
                <a:latin typeface="Arial" panose="020B0604020202020204"/>
              </a:rPr>
              <a:t> the serving time saved?</a:t>
            </a:r>
            <a:endParaRPr sz="170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1536192"/>
            <a:ext cx="10972800" cy="658368"/>
          </a:xfrm>
          <a:prstGeom prst="roundRect">
            <a:avLst/>
          </a:prstGeom>
          <a:solidFill>
            <a:srgbClr val="E8F1FA"/>
          </a:solidFill>
          <a:ln w="1778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sz="1700" b="1">
                <a:solidFill>
                  <a:srgbClr val="14345B"/>
                </a:solidFill>
                <a:latin typeface="Arial" panose="020B0604020202020204"/>
              </a:rPr>
              <a:t>PURPOSE   Is the</a:t>
            </a:r>
            <a:r>
              <a:rPr sz="1700" b="1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/>
              </a:rPr>
              <a:t> added scheduler cost</a:t>
            </a:r>
            <a:r>
              <a:rPr sz="1700" b="1">
                <a:solidFill>
                  <a:srgbClr val="14345B"/>
                </a:solidFill>
                <a:latin typeface="Arial" panose="020B0604020202020204"/>
              </a:rPr>
              <a:t> small compared with </a:t>
            </a:r>
            <a:r>
              <a:rPr sz="1700" b="1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/>
              </a:rPr>
              <a:t>the serving time saved</a:t>
            </a:r>
            <a:r>
              <a:rPr sz="1700" b="1">
                <a:solidFill>
                  <a:srgbClr val="14345B"/>
                </a:solidFill>
                <a:latin typeface="Arial" panose="020B0604020202020204"/>
              </a:rPr>
              <a:t>?</a:t>
            </a:r>
            <a:endParaRPr sz="1700" b="1">
              <a:solidFill>
                <a:srgbClr val="14345B"/>
              </a:solidFill>
              <a:latin typeface="Arial" panose="020B0604020202020204"/>
            </a:endParaRPr>
          </a:p>
        </p:txBody>
      </p:sp>
      <p:cxnSp>
        <p:nvCxnSpPr>
          <p:cNvPr id="21" name="直接箭头连接符 20"/>
          <p:cNvCxnSpPr/>
          <p:nvPr/>
        </p:nvCxnSpPr>
        <p:spPr>
          <a:xfrm>
            <a:off x="1149350" y="5419090"/>
            <a:ext cx="322072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/>
          <p:cNvCxnSpPr/>
          <p:nvPr/>
        </p:nvCxnSpPr>
        <p:spPr>
          <a:xfrm flipH="1" flipV="1">
            <a:off x="1526540" y="3428365"/>
            <a:ext cx="6350" cy="233108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文本框 23"/>
          <p:cNvSpPr txBox="1"/>
          <p:nvPr/>
        </p:nvSpPr>
        <p:spPr>
          <a:xfrm>
            <a:off x="1798320" y="4439920"/>
            <a:ext cx="25717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Extra scheduler cost</a:t>
            </a:r>
            <a:endParaRPr lang="en-US" altLang="zh-CN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750300" y="3931920"/>
            <a:ext cx="408305" cy="1471295"/>
          </a:xfrm>
          <a:prstGeom prst="rect">
            <a:avLst/>
          </a:prstGeom>
          <a:solidFill>
            <a:schemeClr val="accent6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cxnSp>
        <p:nvCxnSpPr>
          <p:cNvPr id="26" name="直接箭头连接符 25"/>
          <p:cNvCxnSpPr/>
          <p:nvPr/>
        </p:nvCxnSpPr>
        <p:spPr>
          <a:xfrm>
            <a:off x="7446010" y="5408930"/>
            <a:ext cx="322072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/>
          <p:cNvCxnSpPr/>
          <p:nvPr/>
        </p:nvCxnSpPr>
        <p:spPr>
          <a:xfrm flipH="1" flipV="1">
            <a:off x="7823200" y="3418205"/>
            <a:ext cx="6350" cy="233108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8094980" y="3563620"/>
            <a:ext cx="25717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Saved serving time</a:t>
            </a:r>
            <a:endParaRPr lang="en-US" altLang="zh-CN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5369560" y="3745865"/>
            <a:ext cx="1567815" cy="1445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880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VS</a:t>
            </a:r>
            <a:endParaRPr lang="en-US" altLang="zh-CN" sz="880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SCHEDULER PROFILING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Profiling Results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17170" y="1591056"/>
            <a:ext cx="658368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746" y="1627632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FFFFFF"/>
                </a:solidFill>
                <a:latin typeface="Aptos"/>
              </a:rPr>
              <a:t>Rank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75538" y="1591056"/>
            <a:ext cx="713232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2114" y="1627632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FFFFFF"/>
                </a:solidFill>
                <a:latin typeface="Aptos"/>
              </a:rPr>
              <a:t>Calls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588770" y="1591056"/>
            <a:ext cx="1243584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5346" y="1627632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FFFFFF"/>
                </a:solidFill>
                <a:latin typeface="Aptos"/>
              </a:rPr>
              <a:t>P50/call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832354" y="1591056"/>
            <a:ext cx="1243584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68930" y="1627632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FFFFFF"/>
                </a:solidFill>
                <a:latin typeface="Aptos"/>
              </a:rPr>
              <a:t>P99/call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075938" y="1591056"/>
            <a:ext cx="1417320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2514" y="1627632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FFFFFF"/>
                </a:solidFill>
                <a:latin typeface="Aptos"/>
              </a:rPr>
              <a:t>Cumulative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17170" y="2112264"/>
            <a:ext cx="658368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3746" y="2148840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1C2735"/>
                </a:solidFill>
                <a:latin typeface="Aptos"/>
              </a:rPr>
              <a:t>0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5538" y="2112264"/>
            <a:ext cx="713232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114" y="2148840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588770" y="2112264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5346" y="2148840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7.819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832354" y="2112264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68930" y="2148840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17.536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075938" y="2112264"/>
            <a:ext cx="1417320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2514" y="2148840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302.081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17170" y="2633472"/>
            <a:ext cx="658368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3746" y="2670048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1C2735"/>
                </a:solidFill>
                <a:latin typeface="Aptos"/>
              </a:rPr>
              <a:t>1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75538" y="2633472"/>
            <a:ext cx="713232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2114" y="2670048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588770" y="2633472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25346" y="2670048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7.090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2832354" y="2633472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68930" y="2670048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12.357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4075938" y="2633472"/>
            <a:ext cx="1417320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2514" y="2670048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253.152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17170" y="3154679"/>
            <a:ext cx="658368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3746" y="3191256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1C2735"/>
                </a:solidFill>
                <a:latin typeface="Aptos"/>
              </a:rPr>
              <a:t>2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875538" y="3154679"/>
            <a:ext cx="713232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2114" y="3191256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1588770" y="3154679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25346" y="3191256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7.035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2832354" y="3154679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8930" y="3191256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16.104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075938" y="3154679"/>
            <a:ext cx="1417320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2514" y="3191256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255.239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217170" y="3675887"/>
            <a:ext cx="658368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3746" y="3712463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1C2735"/>
                </a:solidFill>
                <a:latin typeface="Aptos"/>
              </a:rPr>
              <a:t>3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875538" y="3675887"/>
            <a:ext cx="713232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114" y="3712463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588770" y="3675887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25346" y="3712463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7.005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2832354" y="3675887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68930" y="3712463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8.103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4075938" y="3675887"/>
            <a:ext cx="1417320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2514" y="3712463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241.190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45770" y="4301617"/>
            <a:ext cx="46634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33052"/>
                </a:solidFill>
                <a:latin typeface="Aptos"/>
              </a:rPr>
              <a:t>One call builds schedules for all 48 MoE layers</a:t>
            </a:r>
            <a:endParaRPr sz="1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210185" y="4629150"/>
            <a:ext cx="5285105" cy="20440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/>
              <p:cNvSpPr txBox="1"/>
              <p:nvPr/>
            </p:nvSpPr>
            <p:spPr>
              <a:xfrm>
                <a:off x="1367028" y="4705795"/>
                <a:ext cx="2943860" cy="559435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𝑅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=</m:t>
                      </m:r>
                      <m:f>
                        <m:fPr>
                          <m:ctrlPr>
                            <a:rPr/>
                          </m:ctrlPr>
                        </m:fPr>
                        <m:num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f</m:t>
                              </m:r>
                            </m:sub>
                          </m:sSub>
                          <m:r>
                            <a:rPr lang="en-US" sz="15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−</m:t>
                          </m:r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n</m:t>
                              </m:r>
                            </m:sub>
                          </m:sSub>
                        </m:den>
                      </m:f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×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100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%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=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0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.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285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%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2" name="TextBox 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028" y="4705795"/>
                <a:ext cx="2943860" cy="559435"/>
              </a:xfrm>
              <a:prstGeom prst="rect">
                <a:avLst/>
              </a:prstGeom>
              <a:blipFill rotWithShape="1">
                <a:blip r:embed="rId1"/>
                <a:stretch>
                  <a:fillRect l="-17" t="-80" r="17" b="8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Rounded Rectangle 62"/>
          <p:cNvSpPr/>
          <p:nvPr/>
        </p:nvSpPr>
        <p:spPr>
          <a:xfrm>
            <a:off x="530098" y="5625592"/>
            <a:ext cx="212140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537" y="5717032"/>
            <a:ext cx="1938527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DD852A"/>
                </a:solidFill>
                <a:latin typeface="Aptos"/>
              </a:rPr>
              <a:t>302.081 ms</a:t>
            </a:r>
            <a:endParaRPr sz="2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21537" y="6128512"/>
            <a:ext cx="1938527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5D6C7E"/>
                </a:solidFill>
                <a:latin typeface="Aptos"/>
              </a:rPr>
              <a:t>largest cumulative scheduler cost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2998978" y="5625592"/>
            <a:ext cx="212140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090418" y="5717032"/>
            <a:ext cx="1938527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B8D60"/>
                </a:solidFill>
                <a:latin typeface="Aptos"/>
              </a:rPr>
              <a:t>105.932 s</a:t>
            </a:r>
            <a:endParaRPr sz="2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3090418" y="6128512"/>
            <a:ext cx="1938527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5D6C7E"/>
                </a:solidFill>
                <a:latin typeface="Aptos"/>
              </a:rPr>
              <a:t>clean E2E serving time saved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490" y="1824355"/>
            <a:ext cx="6287770" cy="419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6260465" y="1416050"/>
            <a:ext cx="54667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Cumulative: Total extra schedule time of  each rank</a:t>
            </a:r>
            <a:endParaRPr lang="en-US" altLang="zh-CN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9" name="直接箭头连接符 58"/>
          <p:cNvCxnSpPr/>
          <p:nvPr/>
        </p:nvCxnSpPr>
        <p:spPr>
          <a:xfrm flipV="1">
            <a:off x="5598795" y="1591310"/>
            <a:ext cx="661670" cy="812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18"/>
          <p:cNvSpPr/>
          <p:nvPr/>
        </p:nvSpPr>
        <p:spPr>
          <a:xfrm>
            <a:off x="5980430" y="6156325"/>
            <a:ext cx="6000115" cy="559435"/>
          </a:xfrm>
          <a:prstGeom prst="roundRect">
            <a:avLst/>
          </a:prstGeom>
          <a:solidFill>
            <a:srgbClr val="EEF7F2"/>
          </a:solidFill>
          <a:ln w="1651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lang="en-US" altLang="zh-CN" sz="1500" b="1">
                <a:solidFill>
                  <a:srgbClr val="14345B"/>
                </a:solidFill>
                <a:latin typeface="Arial" panose="020B0604020202020204"/>
              </a:rPr>
              <a:t>This is a positive optimization!</a:t>
            </a:r>
            <a:endParaRPr lang="zh-CN" altLang="en-US" sz="150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extBox 5"/>
          <p:cNvSpPr txBox="1"/>
          <p:nvPr/>
        </p:nvSpPr>
        <p:spPr>
          <a:xfrm>
            <a:off x="7621143" y="4084320"/>
            <a:ext cx="2377440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Questions?</a:t>
            </a:r>
            <a:endParaRPr sz="28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671175" y="6401435"/>
            <a:ext cx="1384300" cy="34925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noAutofit/>
          </a:bodyPr>
          <a:lstStyle/>
          <a:p>
            <a:pPr algn="l">
              <a:defRPr sz="1200"/>
            </a:pPr>
            <a:r>
              <a:rPr sz="1200" b="1">
                <a:solidFill>
                  <a:srgbClr val="E1EDF8"/>
                </a:solidFill>
                <a:latin typeface="Aptos"/>
                <a:hlinkClick r:id="rId1"/>
              </a:rPr>
              <a:t>vLLM PR #52641</a:t>
            </a:r>
            <a:endParaRPr sz="1100" b="1">
              <a:solidFill>
                <a:srgbClr val="E1EDF8"/>
              </a:solidFill>
              <a:latin typeface="Aptos"/>
              <a:hlinkClick r:id="rId1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2234565" y="5056632"/>
            <a:ext cx="7818120" cy="621792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81452" y="5173409"/>
            <a:ext cx="7315200" cy="33337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700" b="1">
                <a:solidFill>
                  <a:srgbClr val="133052"/>
                </a:solidFill>
                <a:latin typeface="Aptos"/>
              </a:rPr>
              <a:t>Result: a </a:t>
            </a:r>
            <a:r>
              <a:rPr lang="en-US" sz="1700" b="1">
                <a:solidFill>
                  <a:srgbClr val="133052"/>
                </a:solidFill>
                <a:latin typeface="Aptos"/>
              </a:rPr>
              <a:t>positive</a:t>
            </a:r>
            <a:r>
              <a:rPr sz="1700" b="1">
                <a:solidFill>
                  <a:srgbClr val="133052"/>
                </a:solidFill>
                <a:latin typeface="Aptos"/>
              </a:rPr>
              <a:t> optimization merged into vLLM</a:t>
            </a:r>
            <a:endParaRPr sz="17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4063365" y="2159635"/>
            <a:ext cx="4064000" cy="1445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88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THANKS</a:t>
            </a:r>
            <a:endParaRPr lang="en-US" altLang="zh-CN" sz="88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5284470" y="3545205"/>
            <a:ext cx="162242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480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Q&amp;A</a:t>
            </a:r>
            <a:endParaRPr lang="en-US" altLang="zh-CN" sz="480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2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3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4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5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6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7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8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9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0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1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2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3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4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5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6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7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18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19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0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1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2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3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4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5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6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7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28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29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0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1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2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3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4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5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6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7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4926</Words>
  <Application>WPS 演示</Application>
  <PresentationFormat>On-screen Show (4:3)</PresentationFormat>
  <Paragraphs>654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8" baseType="lpstr">
      <vt:lpstr>Arial</vt:lpstr>
      <vt:lpstr>宋体</vt:lpstr>
      <vt:lpstr>Wingdings</vt:lpstr>
      <vt:lpstr>Arial</vt:lpstr>
      <vt:lpstr>Aptos</vt:lpstr>
      <vt:lpstr>Segoe UI</vt:lpstr>
      <vt:lpstr>Cambria Math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Contention-Aware Expert Migration for MoE Serving — MSc Thesis Defense</dc:title>
  <dc:creator>WU CAO</dc:creator>
  <cp:keywords>MoE, expert parallelism, EPLB, migration batching, vLLM, NIXL</cp:keywords>
  <dc:description>generated using python-pptx</dc:description>
  <dc:subject>ILP formulation, online scheduling, vLLM integration, and evaluation</dc:subject>
  <cp:lastModifiedBy>别开枪，是我</cp:lastModifiedBy>
  <cp:revision>54</cp:revision>
  <dcterms:created xsi:type="dcterms:W3CDTF">2013-01-27T09:14:00Z</dcterms:created>
  <dcterms:modified xsi:type="dcterms:W3CDTF">2026-10-25T11:35:04Z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378BB7B7367D4CA79ABCC313ABBF015C_12</vt:lpwstr>
  </property>
  <property fmtid="{D5CDD505-2E9C-101B-9397-08002B2CF9AE}" pid="3" name="KSOProductBuildVer">
    <vt:lpwstr>2052-12.1.0.28505</vt:lpwstr>
  </property>
</Properties>
</file>