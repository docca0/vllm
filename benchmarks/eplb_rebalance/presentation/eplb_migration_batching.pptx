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handoutMasterIdLst>
    <p:handoutMasterId r:id="rId21"/>
  </p:handoutMasterIdLst>
  <p:sldIdLst>
    <p:sldId id="256" r:id="rId3"/>
    <p:sldId id="257" r:id="rId5"/>
    <p:sldId id="258" r:id="rId6"/>
    <p:sldId id="277" r:id="rId7"/>
    <p:sldId id="276" r:id="rId8"/>
    <p:sldId id="260" r:id="rId9"/>
    <p:sldId id="262" r:id="rId10"/>
    <p:sldId id="263" r:id="rId11"/>
    <p:sldId id="264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29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3"/>
        <p:guide pos="29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llm-project/vllm/pull/52641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slideLayout" Target="../slideLayouts/slideLayout7.xml"/><Relationship Id="rId1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tags" Target="../tags/tag18.xml"/><Relationship Id="rId3" Type="http://schemas.openxmlformats.org/officeDocument/2006/relationships/tags" Target="../tags/tag19.xml"/><Relationship Id="rId4" Type="http://schemas.openxmlformats.org/officeDocument/2006/relationships/tags" Target="../tags/tag20.xml"/><Relationship Id="rId5" Type="http://schemas.openxmlformats.org/officeDocument/2006/relationships/image" Target="../media/image2.png"/><Relationship Id="rId6" Type="http://schemas.openxmlformats.org/officeDocument/2006/relationships/tags" Target="../tags/tag21.xml"/><Relationship Id="rId7" Type="http://schemas.openxmlformats.org/officeDocument/2006/relationships/tags" Target="../tags/tag22.xml"/><Relationship Id="rId8" Type="http://schemas.openxmlformats.org/officeDocument/2006/relationships/tags" Target="../tags/tag23.xml"/><Relationship Id="rId9" Type="http://schemas.openxmlformats.org/officeDocument/2006/relationships/image" Target="../media/image3.png"/><Relationship Id="rId10" Type="http://schemas.openxmlformats.org/officeDocument/2006/relationships/tags" Target="../tags/tag24.xml"/><Relationship Id="rId11" Type="http://schemas.openxmlformats.org/officeDocument/2006/relationships/tags" Target="../tags/tag25.xml"/><Relationship Id="rId12" Type="http://schemas.openxmlformats.org/officeDocument/2006/relationships/slideLayout" Target="../slideLayouts/slideLayout7.xml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tags" Target="../tags/tag28.xml"/><Relationship Id="rId3" Type="http://schemas.openxmlformats.org/officeDocument/2006/relationships/tags" Target="../tags/tag29.xml"/><Relationship Id="rId4" Type="http://schemas.openxmlformats.org/officeDocument/2006/relationships/tags" Target="../tags/tag30.xml"/><Relationship Id="rId5" Type="http://schemas.openxmlformats.org/officeDocument/2006/relationships/tags" Target="../tags/tag31.xml"/><Relationship Id="rId6" Type="http://schemas.openxmlformats.org/officeDocument/2006/relationships/tags" Target="../tags/tag32.xml"/><Relationship Id="rId7" Type="http://schemas.openxmlformats.org/officeDocument/2006/relationships/tags" Target="../tags/tag33.xml"/><Relationship Id="rId8" Type="http://schemas.openxmlformats.org/officeDocument/2006/relationships/tags" Target="../tags/tag34.xml"/><Relationship Id="rId9" Type="http://schemas.openxmlformats.org/officeDocument/2006/relationships/tags" Target="../tags/tag35.xml"/><Relationship Id="rId10" Type="http://schemas.openxmlformats.org/officeDocument/2006/relationships/tags" Target="../tags/tag36.xml"/><Relationship Id="rId11" Type="http://schemas.openxmlformats.org/officeDocument/2006/relationships/tags" Target="../tags/tag37.xml"/><Relationship Id="rId12" Type="http://schemas.openxmlformats.org/officeDocument/2006/relationships/slideLayout" Target="../slideLayouts/slideLayout7.xml"/><Relationship Id="rId1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vllm-project/vllm/pull/52641" TargetMode="Externa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3052"/>
          </a:solidFill>
          <a:ln w="12700">
            <a:solidFill>
              <a:srgbClr val="13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987552"/>
            <a:ext cx="3767328" cy="2240280"/>
          </a:xfrm>
          <a:prstGeom prst="rect">
            <a:avLst/>
          </a:prstGeom>
          <a:noFill/>
        </p:spPr>
        <p:txBody>
          <a:bodyPr wrap="square" lIns="128016" tIns="73152" rIns="128016" bIns="54864" anchor="ctr">
            <a:spAutoFit/>
          </a:bodyPr>
          <a:lstStyle/>
          <a:p>
            <a:pPr algn="l"/>
            <a:r>
              <a:rPr sz="2200" b="1">
                <a:solidFill>
                  <a:srgbClr val="14345B"/>
                </a:solidFill>
                <a:latin typeface="Arial"/>
              </a:rPr>
              <a:t>Contention-Aware Expert
Parallel Load Balancing in
Mixture-of-Experts Serving
in vLLM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3504" y="5230368"/>
            <a:ext cx="27432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WU CAO · 11036000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" y="5614416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0">
                <a:solidFill>
                  <a:srgbClr val="E1EDF8"/>
                </a:solidFill>
                <a:latin typeface="Aptos"/>
              </a:rPr>
              <a:t>MSc High Performance Computing Engineering
A.Y. 2026–2027</a:t>
            </a:r>
            <a:endParaRPr sz="1100" b="0">
              <a:solidFill>
                <a:srgbClr val="E1EDF8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1295400"/>
            <a:ext cx="6903720" cy="224028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E1E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64608" y="1533144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BF4149"/>
                </a:solidFill>
                <a:latin typeface="Aptos"/>
              </a:rPr>
              <a:t>Unbatched</a:t>
            </a:r>
            <a:endParaRPr sz="10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919472" y="1871472"/>
            <a:ext cx="438912" cy="438912"/>
          </a:xfrm>
          <a:prstGeom prst="ellipse">
            <a:avLst/>
          </a:prstGeom>
          <a:solidFill>
            <a:srgbClr val="2D67A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R0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907024" y="1871472"/>
            <a:ext cx="438912" cy="438912"/>
          </a:xfrm>
          <a:prstGeom prst="ellipse">
            <a:avLst/>
          </a:prstGeom>
          <a:solidFill>
            <a:srgbClr val="158EA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7024" y="1880615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R1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919472" y="2639567"/>
            <a:ext cx="438912" cy="438912"/>
          </a:xfrm>
          <a:prstGeom prst="ellipse">
            <a:avLst/>
          </a:prstGeom>
          <a:solidFill>
            <a:srgbClr val="8153A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9472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R2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07024" y="2639567"/>
            <a:ext cx="438912" cy="438912"/>
          </a:xfrm>
          <a:prstGeom prst="ellipse">
            <a:avLst/>
          </a:prstGeom>
          <a:solidFill>
            <a:srgbClr val="DD852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7024" y="2648711"/>
            <a:ext cx="438912" cy="42062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R3</a:t>
            </a:r>
            <a:endParaRPr sz="1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84848" y="2200656"/>
            <a:ext cx="502920" cy="4114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600" b="1">
                <a:solidFill>
                  <a:srgbClr val="5D6C7E"/>
                </a:solidFill>
                <a:latin typeface="Aptos"/>
              </a:rPr>
              <a:t>→</a:t>
            </a:r>
            <a:endParaRPr sz="26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42631" y="1533144"/>
            <a:ext cx="2148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1">
                <a:solidFill>
                  <a:srgbClr val="1B8D60"/>
                </a:solidFill>
                <a:latin typeface="Aptos"/>
              </a:rPr>
              <a:t>Rank-disjoint batches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342631" y="19354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79792" y="20269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Batch 0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0" y="20086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R0→R1    R2→R3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42631" y="2621280"/>
            <a:ext cx="34015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9792" y="2712720"/>
            <a:ext cx="6583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8153A0"/>
                </a:solidFill>
                <a:latin typeface="Aptos"/>
              </a:rPr>
              <a:t>Batch 1</a:t>
            </a:r>
            <a:endParaRPr sz="9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29600" y="2694432"/>
            <a:ext cx="230428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133052"/>
                </a:solidFill>
                <a:latin typeface="Aptos"/>
              </a:rPr>
              <a:t>R1→R2    R0→R3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0288" y="522732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69280" y="5190744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Prof. Massimo Tornatore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90288" y="5638800"/>
            <a:ext cx="10058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00"/>
            </a:pPr>
            <a:r>
              <a:rPr sz="1100" b="1">
                <a:solidFill>
                  <a:srgbClr val="2D67A4"/>
                </a:solidFill>
                <a:latin typeface="Aptos"/>
              </a:rPr>
              <a:t>Co-advisor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0" y="5602224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C2735"/>
                </a:solidFill>
                <a:latin typeface="Aptos"/>
              </a:rPr>
              <a:t>Assistant Prof. Qiaolun Zhang</a:t>
            </a:r>
            <a:endParaRPr sz="13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6053328"/>
            <a:ext cx="2788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/>
            <a:r>
              <a:rPr sz="1100" b="1">
                <a:solidFill>
                  <a:srgbClr val="1B8D60"/>
                </a:solidFill>
                <a:latin typeface="Aptos"/>
                <a:hlinkClick r:id="rId1"/>
              </a:rPr>
              <a:t>Merged into vLLM · PR #52641</a:t>
            </a:r>
            <a:endParaRPr sz="1100" b="1">
              <a:solidFill>
                <a:srgbClr val="1B8D60"/>
              </a:solidFill>
              <a:latin typeface="Aptos"/>
              <a:hlinkClick r:id="rId1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865" y="257810"/>
            <a:ext cx="3175635" cy="894080"/>
          </a:xfrm>
          <a:prstGeom prst="rect">
            <a:avLst/>
          </a:prstGeom>
        </p:spPr>
      </p:pic>
      <p:cxnSp>
        <p:nvCxnSpPr>
          <p:cNvPr id="38" name="直接箭头连接符 37"/>
          <p:cNvCxnSpPr>
            <a:stCxn id="13" idx="3"/>
            <a:endCxn id="15" idx="1"/>
          </p:cNvCxnSpPr>
          <p:nvPr/>
        </p:nvCxnSpPr>
        <p:spPr>
          <a:xfrm>
            <a:off x="5358130" y="2091055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/>
          <p:cNvCxnSpPr>
            <a:stCxn id="17" idx="3"/>
            <a:endCxn id="19" idx="1"/>
          </p:cNvCxnSpPr>
          <p:nvPr/>
        </p:nvCxnSpPr>
        <p:spPr>
          <a:xfrm>
            <a:off x="5358130" y="285877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/>
          <p:cNvCxnSpPr>
            <a:stCxn id="15" idx="2"/>
            <a:endCxn id="17" idx="0"/>
          </p:cNvCxnSpPr>
          <p:nvPr/>
        </p:nvCxnSpPr>
        <p:spPr>
          <a:xfrm flipH="1"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>
            <a:stCxn id="13" idx="2"/>
            <a:endCxn id="19" idx="0"/>
          </p:cNvCxnSpPr>
          <p:nvPr/>
        </p:nvCxnSpPr>
        <p:spPr>
          <a:xfrm>
            <a:off x="5139055" y="2301240"/>
            <a:ext cx="987425" cy="3473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4410075" y="3703955"/>
            <a:ext cx="707517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Main idea: </a:t>
            </a:r>
            <a:endParaRPr lang="en-US" altLang="zh-CN" sz="2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Seperate conflicting transfers. 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OVERVIEW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Outline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772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96695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2D67A4"/>
                </a:solidFill>
                <a:latin typeface="Aptos"/>
              </a:rPr>
              <a:t>01</a:t>
            </a:r>
            <a:endParaRPr sz="27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783080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Background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1783080" y="235000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MoE, EP, and asynchronous EPLB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>
            <p:custDataLst>
              <p:tags r:id="rId5"/>
            </p:custDataLst>
          </p:nvPr>
        </p:nvSpPr>
        <p:spPr>
          <a:xfrm>
            <a:off x="6263640" y="169164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483096" y="194767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8153A0"/>
                </a:solidFill>
                <a:latin typeface="Aptos"/>
              </a:rPr>
              <a:t>02</a:t>
            </a:r>
            <a:endParaRPr sz="27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>
            <p:custDataLst>
              <p:tags r:id="rId7"/>
            </p:custDataLst>
          </p:nvPr>
        </p:nvSpPr>
        <p:spPr>
          <a:xfrm>
            <a:off x="7269479" y="187452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Model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7269479" y="243605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Contention </a:t>
            </a:r>
            <a:r>
              <a:rPr lang="en-US" sz="1500" b="0">
                <a:solidFill>
                  <a:srgbClr val="5D6C7E"/>
                </a:solidFill>
                <a:latin typeface="Aptos"/>
              </a:rPr>
              <a:t>model </a:t>
            </a:r>
            <a:r>
              <a:rPr sz="1500" b="0">
                <a:solidFill>
                  <a:srgbClr val="5D6C7E"/>
                </a:solidFill>
                <a:latin typeface="Aptos"/>
              </a:rPr>
              <a:t>and offline ILP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9"/>
            </p:custDataLst>
          </p:nvPr>
        </p:nvSpPr>
        <p:spPr>
          <a:xfrm>
            <a:off x="7772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0"/>
            </p:custDataLst>
          </p:nvPr>
        </p:nvSpPr>
        <p:spPr>
          <a:xfrm>
            <a:off x="996695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DD852A"/>
                </a:solidFill>
                <a:latin typeface="Aptos"/>
              </a:rPr>
              <a:t>03</a:t>
            </a:r>
            <a:endParaRPr sz="27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1783080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Design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1783080" y="4402011"/>
            <a:ext cx="365760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altLang="zh-CN" sz="1500" b="0">
                <a:solidFill>
                  <a:srgbClr val="5D6C7E"/>
                </a:solidFill>
                <a:latin typeface="Aptos"/>
              </a:rPr>
              <a:t>online greedy scheduler</a:t>
            </a:r>
            <a:endParaRPr lang="en-US" altLang="zh-CN"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>
            <p:custDataLst>
              <p:tags r:id="rId13"/>
            </p:custDataLst>
          </p:nvPr>
        </p:nvSpPr>
        <p:spPr>
          <a:xfrm>
            <a:off x="6263640" y="3657600"/>
            <a:ext cx="5074920" cy="141732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4"/>
            </p:custDataLst>
          </p:nvPr>
        </p:nvSpPr>
        <p:spPr>
          <a:xfrm>
            <a:off x="6483096" y="3913632"/>
            <a:ext cx="713232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B8D60"/>
                </a:solidFill>
                <a:latin typeface="Aptos"/>
              </a:rPr>
              <a:t>04</a:t>
            </a:r>
            <a:endParaRPr sz="27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>
            <p:custDataLst>
              <p:tags r:id="rId15"/>
            </p:custDataLst>
          </p:nvPr>
        </p:nvSpPr>
        <p:spPr>
          <a:xfrm>
            <a:off x="7269479" y="3840480"/>
            <a:ext cx="3566160" cy="420624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400" b="1">
                <a:solidFill>
                  <a:srgbClr val="133052"/>
                </a:solidFill>
                <a:latin typeface="Aptos"/>
              </a:rPr>
              <a:t>Evaluation</a:t>
            </a:r>
            <a:endParaRPr sz="2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>
            <p:custDataLst>
              <p:tags r:id="rId16"/>
            </p:custDataLst>
          </p:nvPr>
        </p:nvSpPr>
        <p:spPr>
          <a:xfrm>
            <a:off x="7269479" y="4315968"/>
            <a:ext cx="3657600" cy="4572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500" b="0">
                <a:solidFill>
                  <a:srgbClr val="5D6C7E"/>
                </a:solidFill>
                <a:latin typeface="Aptos"/>
              </a:rPr>
              <a:t>E2E serving, NIC traffic, and profiling</a:t>
            </a:r>
            <a:endParaRPr sz="15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2" name="灯片编号占位符 2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8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213868" y="1534033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MoE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(</a:t>
            </a:r>
            <a:r>
              <a:rPr lang="en-US" altLang="zh-CN" sz="2600" b="1">
                <a:solidFill>
                  <a:srgbClr val="133052"/>
                </a:solidFill>
                <a:latin typeface="Aptos"/>
              </a:rPr>
              <a:t>Mixture-of-Experts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) 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4018788" y="157276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4293108" y="1763776"/>
            <a:ext cx="164592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MoE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 l="1372" t="11675" r="2491" b="2025"/>
          <a:stretch>
            <a:fillRect/>
          </a:stretch>
        </p:blipFill>
        <p:spPr>
          <a:xfrm>
            <a:off x="4156710" y="2279015"/>
            <a:ext cx="3381375" cy="2299970"/>
          </a:xfrm>
          <a:prstGeom prst="rect">
            <a:avLst/>
          </a:prstGeom>
        </p:spPr>
      </p:pic>
      <p:sp>
        <p:nvSpPr>
          <p:cNvPr id="71" name="Rounded Rectangle 8"/>
          <p:cNvSpPr/>
          <p:nvPr>
            <p:custDataLst>
              <p:tags r:id="rId6"/>
            </p:custDataLst>
          </p:nvPr>
        </p:nvSpPr>
        <p:spPr>
          <a:xfrm>
            <a:off x="8002778" y="1633728"/>
            <a:ext cx="3657600" cy="449884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9"/>
          <p:cNvSpPr txBox="1"/>
          <p:nvPr>
            <p:custDataLst>
              <p:tags r:id="rId7"/>
            </p:custDataLst>
          </p:nvPr>
        </p:nvSpPr>
        <p:spPr>
          <a:xfrm>
            <a:off x="8277225" y="1824673"/>
            <a:ext cx="29038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2D67A4"/>
                </a:solidFill>
                <a:latin typeface="Aptos"/>
              </a:rPr>
              <a:t>MLP(</a:t>
            </a:r>
            <a:r>
              <a:rPr lang="en-US" altLang="zh-CN" sz="1150" b="1">
                <a:solidFill>
                  <a:srgbClr val="2D67A4"/>
                </a:solidFill>
                <a:latin typeface="Aptos"/>
              </a:rPr>
              <a:t>(Multi-Layer Perceptron)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8277225" y="2377440"/>
            <a:ext cx="3124835" cy="1747520"/>
          </a:xfrm>
          <a:prstGeom prst="rect">
            <a:avLst/>
          </a:prstGeom>
        </p:spPr>
      </p:pic>
      <p:sp>
        <p:nvSpPr>
          <p:cNvPr id="74" name="文本框 73"/>
          <p:cNvSpPr txBox="1"/>
          <p:nvPr/>
        </p:nvSpPr>
        <p:spPr>
          <a:xfrm>
            <a:off x="556260" y="1943735"/>
            <a:ext cx="3025140" cy="3423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Why MoE? </a:t>
            </a:r>
            <a:endParaRPr lang="en-US" altLang="zh-CN" sz="3200" b="1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  <a:p>
            <a:endParaRPr lang="en-US" altLang="zh-CN" b="1"/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Larger model capacity with lower active computation.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sz="20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 parameter scaling without proportional FLOPs growth.</a:t>
            </a:r>
            <a:endParaRPr lang="en-US" altLang="zh-CN" sz="20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6" name="文本框 75"/>
          <p:cNvSpPr txBox="1"/>
          <p:nvPr>
            <p:custDataLst>
              <p:tags r:id="rId10"/>
            </p:custDataLst>
          </p:nvPr>
        </p:nvSpPr>
        <p:spPr>
          <a:xfrm>
            <a:off x="4425315" y="4685030"/>
            <a:ext cx="302450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Multiple expert MLPs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altLang="zh-CN" b="1">
                <a:solidFill>
                  <a:schemeClr val="accent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 router activates only a subset per token.</a:t>
            </a:r>
            <a:endParaRPr lang="en-US" altLang="zh-CN" b="1">
              <a:solidFill>
                <a:schemeClr val="accent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7" name="文本框 76"/>
          <p:cNvSpPr txBox="1"/>
          <p:nvPr>
            <p:custDataLst>
              <p:tags r:id="rId11"/>
            </p:custDataLst>
          </p:nvPr>
        </p:nvSpPr>
        <p:spPr>
          <a:xfrm>
            <a:off x="8545195" y="4578985"/>
            <a:ext cx="25730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accent3"/>
                </a:solidFill>
              </a:rPr>
              <a:t>Feed-forward network for nonlinear feature transformation.</a:t>
            </a:r>
            <a:endParaRPr lang="en-US" altLang="zh-CN"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EP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LB(Expert Parallel Load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Balance)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167130" y="2621280"/>
            <a:ext cx="9878695" cy="38696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1388" y="2746756"/>
            <a:ext cx="2468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lang="en-US" sz="1150" b="1">
                <a:solidFill>
                  <a:srgbClr val="1B8D60"/>
                </a:solidFill>
                <a:latin typeface="Aptos"/>
              </a:rPr>
              <a:t>Example</a:t>
            </a:r>
            <a:endParaRPr lang="en-US" sz="115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9888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619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0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208276" y="3744468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082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08276" y="4256532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2082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208276" y="4768596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082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31292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607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1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32376" y="3744468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3237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32376" y="4256532"/>
            <a:ext cx="868680" cy="36576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237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E4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532376" y="4768596"/>
            <a:ext cx="86868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237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E5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0654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969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2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825996" y="3744468"/>
            <a:ext cx="868680" cy="365760"/>
          </a:xfrm>
          <a:prstGeom prst="rect">
            <a:avLst/>
          </a:prstGeom>
          <a:solidFill>
            <a:schemeClr val="accent5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599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E6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825996" y="4256532"/>
            <a:ext cx="868680" cy="365760"/>
          </a:xfrm>
          <a:prstGeom prst="rect">
            <a:avLst/>
          </a:prstGeom>
          <a:solidFill>
            <a:srgbClr val="8153A0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2599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E7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825996" y="4768596"/>
            <a:ext cx="868680" cy="365760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2599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E0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945880" y="3214116"/>
            <a:ext cx="1307592" cy="2304288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19032" y="3332988"/>
            <a:ext cx="116128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Rank 3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165336" y="3744468"/>
            <a:ext cx="868680" cy="365760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65336" y="3790188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E1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9165336" y="4256532"/>
            <a:ext cx="868680" cy="365760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65336" y="4302252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E2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9165336" y="4768596"/>
            <a:ext cx="868680" cy="365760"/>
          </a:xfrm>
          <a:prstGeom prst="rect">
            <a:avLst/>
          </a:prstGeom>
          <a:solidFill>
            <a:schemeClr val="tx1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65336" y="4814315"/>
            <a:ext cx="868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E3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932430" y="5845874"/>
            <a:ext cx="2468880" cy="2876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1400" b="1">
                <a:solidFill>
                  <a:srgbClr val="BF4149"/>
                </a:solidFill>
                <a:latin typeface="Aptos"/>
              </a:rPr>
              <a:t>EP</a:t>
            </a:r>
            <a:r>
              <a:rPr lang="en-US" sz="1400" b="1">
                <a:solidFill>
                  <a:srgbClr val="BF4149"/>
                </a:solidFill>
                <a:latin typeface="Aptos"/>
              </a:rPr>
              <a:t>LB’s jobs</a:t>
            </a:r>
            <a:endParaRPr lang="en-US" sz="14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163695" y="5737606"/>
            <a:ext cx="38862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400" b="0">
                <a:solidFill>
                  <a:srgbClr val="1C2735"/>
                </a:solidFill>
                <a:latin typeface="Aptos"/>
              </a:rPr>
              <a:t>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Copy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overloaded experts)</a:t>
            </a:r>
            <a:r>
              <a:rPr sz="1400" b="0">
                <a:solidFill>
                  <a:srgbClr val="1C2735"/>
                </a:solidFill>
                <a:latin typeface="Aptos"/>
              </a:rPr>
              <a:t>
→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rank load balance(</a:t>
            </a:r>
            <a:r>
              <a:rPr lang="en-US" sz="1400" b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Migrate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overloade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d </a:t>
            </a:r>
            <a:r>
              <a:rPr lang="en-US" sz="1400" b="0">
                <a:solidFill>
                  <a:srgbClr val="1C2735"/>
                </a:solidFill>
                <a:latin typeface="Aptos"/>
              </a:rPr>
              <a:t>experts)</a:t>
            </a:r>
            <a:endParaRPr lang="en-US" sz="14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5" name="Rounded Rectangle 8"/>
          <p:cNvSpPr/>
          <p:nvPr>
            <p:custDataLst>
              <p:tags r:id="rId1"/>
            </p:custDataLst>
          </p:nvPr>
        </p:nvSpPr>
        <p:spPr>
          <a:xfrm>
            <a:off x="492125" y="1534160"/>
            <a:ext cx="11210290" cy="83947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文本框 73"/>
          <p:cNvSpPr txBox="1"/>
          <p:nvPr/>
        </p:nvSpPr>
        <p:spPr>
          <a:xfrm>
            <a:off x="967740" y="1663065"/>
            <a:ext cx="4420235" cy="605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What is EPLB?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37585" y="1752600"/>
            <a:ext cx="7508240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4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Dynamically balances expert workloads across GPUs.</a:t>
            </a:r>
            <a:endParaRPr lang="en-US" altLang="zh-CN" sz="24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0" y="0"/>
            <a:ext cx="1219136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100" b="1">
                <a:solidFill>
                  <a:srgbClr val="2D67A4"/>
                </a:solidFill>
                <a:latin typeface="Aptos"/>
              </a:rPr>
              <a:t>BACKGROUND</a:t>
            </a:r>
            <a:endParaRPr sz="11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33052"/>
                </a:solidFill>
                <a:latin typeface="Aptos"/>
              </a:rPr>
              <a:t>Qwen3 MoE Architecture</a:t>
            </a:r>
            <a:endParaRPr sz="27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905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1483995"/>
            <a:ext cx="2546350" cy="524700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55" y="4413250"/>
            <a:ext cx="2837815" cy="24447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050" y="1606550"/>
            <a:ext cx="2788920" cy="214185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4375" y="1597025"/>
            <a:ext cx="3233420" cy="2383790"/>
          </a:xfrm>
          <a:prstGeom prst="rect">
            <a:avLst/>
          </a:prstGeom>
        </p:spPr>
      </p:pic>
      <p:sp>
        <p:nvSpPr>
          <p:cNvPr id="13" name="左箭头 12"/>
          <p:cNvSpPr/>
          <p:nvPr/>
        </p:nvSpPr>
        <p:spPr>
          <a:xfrm rot="20580000">
            <a:off x="2768600" y="2962275"/>
            <a:ext cx="1370965" cy="30035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4" name="左箭头 13"/>
          <p:cNvSpPr/>
          <p:nvPr/>
        </p:nvSpPr>
        <p:spPr>
          <a:xfrm rot="1680000">
            <a:off x="2711450" y="4749800"/>
            <a:ext cx="1511300" cy="312420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左箭头 14"/>
          <p:cNvSpPr/>
          <p:nvPr/>
        </p:nvSpPr>
        <p:spPr>
          <a:xfrm>
            <a:off x="6436995" y="2618740"/>
            <a:ext cx="1970405" cy="360045"/>
          </a:xfrm>
          <a:prstGeom prst="leftArrow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778750" y="4297680"/>
            <a:ext cx="4064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Qwen3-30B-A3B (MoE Model)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 opensource LLM by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Alibaba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Total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30.5B</a:t>
            </a:r>
            <a:endParaRPr lang="en-US" altLang="zh-CN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Active Parameters: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3.3B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Transformer Layers: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48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128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MoE layer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Activated Experts: </a:t>
            </a:r>
            <a:r>
              <a:rPr lang="en-US" altLang="zh-CN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Top-8 </a:t>
            </a:r>
            <a:r>
              <a:rPr lang="en-US" altLang="zh-CN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 token</a:t>
            </a:r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altLang="zh-CN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5862"/>
            <a:ext cx="4206240" cy="2260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2D67A4"/>
                </a:solidFill>
                <a:latin typeface="Aptos"/>
                <a:sym typeface="+mn-ea"/>
              </a:rPr>
              <a:t>BACKGROUND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lang="en-US" sz="2600" b="1">
                <a:solidFill>
                  <a:srgbClr val="133052"/>
                </a:solidFill>
                <a:latin typeface="Aptos"/>
              </a:rPr>
              <a:t>Sync and Async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EPLB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SYNCHRONOUS EPLB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76272" y="2395728"/>
            <a:ext cx="109728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2395728"/>
            <a:ext cx="1481328" cy="402336"/>
          </a:xfrm>
          <a:prstGeom prst="rect">
            <a:avLst/>
          </a:prstGeom>
          <a:solidFill>
            <a:srgbClr val="FAE6E8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0" y="2395728"/>
            <a:ext cx="685800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123444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BF4149"/>
                </a:solidFill>
                <a:latin typeface="Aptos"/>
              </a:rPr>
              <a:t>paused</a:t>
            </a:r>
            <a:endParaRPr sz="9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273552" y="3081528"/>
            <a:ext cx="1481328" cy="402336"/>
          </a:xfrm>
          <a:prstGeom prst="rect">
            <a:avLst/>
          </a:prstGeom>
          <a:solidFill>
            <a:srgbClr val="DD852A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DD852A"/>
                </a:solidFill>
                <a:latin typeface="Aptos"/>
              </a:rPr>
              <a:t>Batching is disabled in the implementation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600200"/>
            <a:ext cx="5303520" cy="43159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847088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ASYNCHRONOUS EPLB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Inference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754112" y="2395728"/>
            <a:ext cx="3273552" cy="402336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441448"/>
            <a:ext cx="12801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continues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37960" y="3127248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5D6C7E"/>
                </a:solidFill>
                <a:latin typeface="Aptos"/>
              </a:rPr>
              <a:t>Migration</a:t>
            </a:r>
            <a:endParaRPr sz="11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75411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48672" y="3081528"/>
            <a:ext cx="832104" cy="402336"/>
          </a:xfrm>
          <a:prstGeom prst="rect">
            <a:avLst/>
          </a:prstGeom>
          <a:solidFill>
            <a:srgbClr val="1B8D60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913632"/>
            <a:ext cx="114300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200"/>
            </a:pPr>
            <a:r>
              <a:rPr sz="1200" b="1">
                <a:solidFill>
                  <a:srgbClr val="1B8D60"/>
                </a:solidFill>
                <a:latin typeface="Aptos"/>
              </a:rPr>
              <a:t>Objective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54112" y="3893248"/>
            <a:ext cx="315468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C2735"/>
                </a:solidFill>
                <a:latin typeface="Aptos"/>
              </a:rPr>
              <a:t>Reduce interference</a:t>
            </a:r>
            <a:r>
              <a:rPr lang="en-US" sz="1700" b="1">
                <a:solidFill>
                  <a:srgbClr val="1C2735"/>
                </a:solidFill>
                <a:latin typeface="Aptos"/>
              </a:rPr>
              <a:t> time</a:t>
            </a:r>
            <a:endParaRPr lang="en-US" sz="17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29400" y="5166360"/>
            <a:ext cx="45262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B8D60"/>
                </a:solidFill>
                <a:latin typeface="Aptos"/>
              </a:rPr>
              <a:t>Opt-in batching trades migration speed for serving headroom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Formulation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66928" y="1481328"/>
            <a:ext cx="2907792" cy="453542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" y="1627632"/>
            <a:ext cx="2468880" cy="256032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Arial"/>
              </a:rPr>
              <a:t>VARIABLES &amp; INPUTS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1956816"/>
            <a:ext cx="246888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00" b="1">
                <a:solidFill>
                  <a:srgbClr val="7D48A1"/>
                </a:solidFill>
                <a:latin typeface="Arial"/>
              </a:rPr>
              <a:t>DECISION VARIABLES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2249424"/>
            <a:ext cx="1353312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x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∈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{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0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,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1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}</m:t>
                  </m:r>
                </m:oMath>
              </m:oMathPara>
            </a14:m>
          </a:p>
        </p:txBody>
      </p:sp>
      <p:sp>
        <p:nvSpPr>
          <p:cNvPr id="48" name="TextBox 47"/>
          <p:cNvSpPr txBox="1"/>
          <p:nvPr/>
        </p:nvSpPr>
        <p:spPr>
          <a:xfrm>
            <a:off x="1901952" y="2240280"/>
            <a:ext cx="1344168" cy="36576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/>
              </a:rPr>
              <a:t>flow assignment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" y="2770632"/>
            <a:ext cx="1353312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y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∈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{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0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,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1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}</m:t>
                  </m:r>
                </m:oMath>
              </m:oMathPara>
            </a14:m>
          </a:p>
        </p:txBody>
      </p:sp>
      <p:sp>
        <p:nvSpPr>
          <p:cNvPr id="50" name="TextBox 49"/>
          <p:cNvSpPr txBox="1"/>
          <p:nvPr/>
        </p:nvSpPr>
        <p:spPr>
          <a:xfrm>
            <a:off x="1901952" y="2761488"/>
            <a:ext cx="1344168" cy="36576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/>
              </a:rPr>
              <a:t>active-batch flag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3291839"/>
            <a:ext cx="1353312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f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r</m:t>
                      </m:r>
                    </m:sub>
                  </m:sSub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≥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0</m:t>
                  </m:r>
                </m:oMath>
              </m:oMathPara>
            </a14:m>
          </a:p>
        </p:txBody>
      </p:sp>
      <p:sp>
        <p:nvSpPr>
          <p:cNvPr id="52" name="TextBox 51"/>
          <p:cNvSpPr txBox="1"/>
          <p:nvPr/>
        </p:nvSpPr>
        <p:spPr>
          <a:xfrm>
            <a:off x="1901952" y="3282696"/>
            <a:ext cx="1344168" cy="36576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80" b="0">
                <a:solidFill>
                  <a:srgbClr val="1F3046"/>
                </a:solidFill>
                <a:latin typeface="Arial"/>
              </a:rPr>
              <a:t>worst inference time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3840480"/>
            <a:ext cx="246888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Arial"/>
              </a:rPr>
              <a:t>KNOWN INPUTS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114800"/>
            <a:ext cx="960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w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p</m:t>
                      </m:r>
                    </m:sub>
                  </m:sSub>
                </m:oMath>
              </m:oMathPara>
            </a14:m>
          </a:p>
        </p:txBody>
      </p:sp>
      <p:sp>
        <p:nvSpPr>
          <p:cNvPr id="55" name="TextBox 54"/>
          <p:cNvSpPr txBox="1"/>
          <p:nvPr/>
        </p:nvSpPr>
        <p:spPr>
          <a:xfrm>
            <a:off x="1600200" y="4114800"/>
            <a:ext cx="1645920" cy="29260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/>
              </a:rPr>
              <a:t>experts in flow 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4462272"/>
            <a:ext cx="960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f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e</m:t>
                      </m:r>
                    </m:sub>
                  </m:sSub>
                </m:oMath>
              </m:oMathPara>
            </a14:m>
          </a:p>
        </p:txBody>
      </p:sp>
      <p:sp>
        <p:nvSpPr>
          <p:cNvPr id="57" name="TextBox 56"/>
          <p:cNvSpPr txBox="1"/>
          <p:nvPr/>
        </p:nvSpPr>
        <p:spPr>
          <a:xfrm>
            <a:off x="1600200" y="4462272"/>
            <a:ext cx="1645920" cy="29260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/>
              </a:rPr>
              <a:t>fraction routed on link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4809744"/>
            <a:ext cx="960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C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e</m:t>
                      </m:r>
                    </m:sub>
                  </m:sSub>
                </m:oMath>
              </m:oMathPara>
            </a14:m>
          </a:p>
        </p:txBody>
      </p:sp>
      <p:sp>
        <p:nvSpPr>
          <p:cNvPr id="59" name="TextBox 58"/>
          <p:cNvSpPr txBox="1"/>
          <p:nvPr/>
        </p:nvSpPr>
        <p:spPr>
          <a:xfrm>
            <a:off x="1600200" y="4809744"/>
            <a:ext cx="1645920" cy="29260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/>
              </a:rPr>
              <a:t>capacity of link 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5157216"/>
            <a:ext cx="960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T</m:t>
                      </m:r>
                    </m:e>
                    <m:sub>
                      <m:r>
                        <a:rPr lang="en-US" sz="1300" dirty="0">
                          <a:solidFill>
                            <a:srgbClr val="14345B"/>
                          </a:solidFill>
                          <a:latin typeface="Cambria Math"/>
                        </a:rPr>
                        <m:t>0</m:t>
                      </m:r>
                    </m:sub>
                  </m:sSub>
                  <m:r>
                    <m:rPr>
                      <m:sty m:val="p"/>
                    </m:rP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,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 </m:t>
                  </m:r>
                  <m:r>
                    <a:rPr lang="en-US" sz="1300" dirty="0">
                      <a:solidFill>
                        <a:srgbClr val="14345B"/>
                      </a:solidFill>
                      <a:latin typeface="Cambria Math"/>
                    </a:rPr>
                    <m:t>ρ</m:t>
                  </m:r>
                </m:oMath>
              </m:oMathPara>
            </a14:m>
          </a:p>
        </p:txBody>
      </p:sp>
      <p:sp>
        <p:nvSpPr>
          <p:cNvPr id="61" name="TextBox 60"/>
          <p:cNvSpPr txBox="1"/>
          <p:nvPr/>
        </p:nvSpPr>
        <p:spPr>
          <a:xfrm>
            <a:off x="1600200" y="5157216"/>
            <a:ext cx="1645920" cy="29260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980" b="0">
                <a:solidFill>
                  <a:srgbClr val="1F3046"/>
                </a:solidFill>
                <a:latin typeface="Arial"/>
              </a:rPr>
              <a:t>baseline time; inference share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5532120"/>
            <a:ext cx="2523744" cy="29260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ctr"/>
            <a:r>
              <a:rPr sz="950" b="1">
                <a:solidFill>
                  <a:srgbClr val="E67E22"/>
                </a:solidFill>
                <a:latin typeface="Arial"/>
              </a:rPr>
              <a:t>Tie-break: minimize active batches after fixing Tᵢₙfₑᵣ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730752" y="1481328"/>
            <a:ext cx="7772400" cy="6583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0" y="1627632"/>
            <a:ext cx="1965960" cy="27432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150" b="1">
                <a:solidFill>
                  <a:srgbClr val="138F5F"/>
                </a:solidFill>
                <a:latin typeface="Arial"/>
              </a:rPr>
              <a:t>PRIMARY OBJECTIVE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1591056"/>
            <a:ext cx="31089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a:rPr lang="en-US" sz="1700" dirty="0">
                      <a:solidFill>
                        <a:srgbClr val="1F3046"/>
                      </a:solidFill>
                      <a:latin typeface="Cambria Math"/>
                    </a:rPr>
                    <m:t>min</m:t>
                  </m:r>
                  <m:sSub>
                    <m:e>
                      <m: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f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F3046"/>
                          </a:solidFill>
                          <a:latin typeface="Cambria Math"/>
                        </a:rPr>
                        <m:t>r</m:t>
                      </m:r>
                    </m:sub>
                  </m:sSub>
                </m:oMath>
              </m:oMathPara>
            </a14:m>
          </a:p>
        </p:txBody>
      </p:sp>
      <p:sp>
        <p:nvSpPr>
          <p:cNvPr id="66" name="Rounded Rectangle 65"/>
          <p:cNvSpPr/>
          <p:nvPr/>
        </p:nvSpPr>
        <p:spPr>
          <a:xfrm>
            <a:off x="3730752" y="230428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13632" y="2377440"/>
            <a:ext cx="2651760" cy="4572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70" b="1">
                <a:solidFill>
                  <a:srgbClr val="2F6FAE"/>
                </a:solidFill>
                <a:latin typeface="Arial"/>
              </a:rPr>
              <a:t>1   Every flow runs exactly once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2377440"/>
            <a:ext cx="4800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nary>
                    <m:naryPr>
                      <m:chr m:val="∑"/>
                      <m:limLoc m:val="undOvr"/>
                      <m:subHide m:val="off"/>
                      <m:supHide m:val="on"/>
                    </m:naryPr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∈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  <m:sup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/>
                      </m:r>
                    </m:sup>
                    <m:e>
                      <m:sSub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b</m:t>
                          </m:r>
                        </m:sub>
                      </m:sSub>
                    </m:e>
                  </m:nary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=</m:t>
                  </m:r>
                  <m: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1</m:t>
                  </m:r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  </m:t>
                  </m:r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∀</m:t>
                  </m:r>
                  <m: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p</m:t>
                  </m:r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∈</m:t>
                  </m:r>
                  <m: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P</m:t>
                  </m:r>
                </m:oMath>
              </m:oMathPara>
            </a14:m>
          </a:p>
        </p:txBody>
      </p:sp>
      <p:sp>
        <p:nvSpPr>
          <p:cNvPr id="69" name="Rounded Rectangle 68"/>
          <p:cNvSpPr/>
          <p:nvPr/>
        </p:nvSpPr>
        <p:spPr>
          <a:xfrm>
            <a:off x="3730752" y="303580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13632" y="3108960"/>
            <a:ext cx="2651760" cy="4572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70" b="1">
                <a:solidFill>
                  <a:srgbClr val="7D48A1"/>
                </a:solidFill>
                <a:latin typeface="Arial"/>
              </a:rPr>
              <a:t>2   At most one peer per rank and batch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5080" y="3108960"/>
            <a:ext cx="4800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nary>
                    <m:naryPr>
                      <m:chr m:val="∑"/>
                      <m:limLoc m:val="undOvr"/>
                      <m:subHide m:val="off"/>
                      <m:supHide m:val="on"/>
                    </m:naryPr>
                    <m:sub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>: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>∈</m:t>
                      </m:r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</m:sub>
                    <m:sup>
                      <m:r>
                        <a:rPr lang="en-US" sz="1300" dirty="0">
                          <a:solidFill>
                            <a:srgbClr val="1F3046"/>
                          </a:solidFill>
                          <a:latin typeface="Cambria Math"/>
                        </a:rPr>
                        <m:t/>
                      </m:r>
                    </m:sup>
                    <m:e>
                      <m:sSub>
                        <m:e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x</m:t>
                          </m:r>
                        </m:e>
                        <m:sub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p</m:t>
                          </m:r>
                          <m:r>
                            <m:rPr>
                              <m:sty m:val="p"/>
                            </m:rP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13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b</m:t>
                          </m:r>
                        </m:sub>
                      </m:sSub>
                    </m:e>
                  </m:nary>
                  <m:r>
                    <m:rPr>
                      <m:sty m:val="p"/>
                    </m:rP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≤</m:t>
                  </m:r>
                  <m: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1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  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∀</m:t>
                  </m:r>
                  <m: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r</m:t>
                  </m:r>
                  <m:r>
                    <m:rPr>
                      <m:sty m:val="p"/>
                    </m:rP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 </m:t>
                  </m:r>
                  <m:r>
                    <a:rPr lang="en-US" sz="1300" dirty="0">
                      <a:solidFill>
                        <a:srgbClr val="1F3046"/>
                      </a:solidFill>
                      <a:latin typeface="Cambria Math"/>
                    </a:rPr>
                    <m:t>b</m:t>
                  </m:r>
                </m:oMath>
              </m:oMathPara>
            </a14:m>
          </a:p>
        </p:txBody>
      </p:sp>
      <p:sp>
        <p:nvSpPr>
          <p:cNvPr id="72" name="Rounded Rectangle 71"/>
          <p:cNvSpPr/>
          <p:nvPr/>
        </p:nvSpPr>
        <p:spPr>
          <a:xfrm>
            <a:off x="3730752" y="376732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13632" y="3840480"/>
            <a:ext cx="2651760" cy="4572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/>
              </a:rPr>
              <a:t>3   Activate used batches; no gaps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3840480"/>
            <a:ext cx="4800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x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≤</m:t>
                  </m:r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y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  </m:t>
                  </m:r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y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≥</m:t>
                  </m:r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y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1</m:t>
                      </m:r>
                    </m:sub>
                  </m:sSub>
                </m:oMath>
              </m:oMathPara>
            </a14:m>
          </a:p>
        </p:txBody>
      </p:sp>
      <p:sp>
        <p:nvSpPr>
          <p:cNvPr id="75" name="Rounded Rectangle 74"/>
          <p:cNvSpPr/>
          <p:nvPr/>
        </p:nvSpPr>
        <p:spPr>
          <a:xfrm>
            <a:off x="3730752" y="449884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13632" y="4572000"/>
            <a:ext cx="2651760" cy="4572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70" b="1">
                <a:solidFill>
                  <a:srgbClr val="E67E22"/>
                </a:solidFill>
                <a:latin typeface="Arial"/>
              </a:rPr>
              <a:t>4   Migration load on each link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55080" y="4572000"/>
            <a:ext cx="4800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L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</m:sSub>
                  <m:r>
                    <m:rPr>
                      <m:sty m:val="p"/>
                    </m:rPr>
                    <a:rPr lang="en-US" sz="1400" dirty="0">
                      <a:solidFill>
                        <a:srgbClr val="1F3046"/>
                      </a:solidFill>
                      <a:latin typeface="Cambria Math"/>
                    </a:rPr>
                    <m:t>=</m:t>
                  </m:r>
                  <m:nary>
                    <m:naryPr>
                      <m:chr m:val="∑"/>
                      <m:limLoc m:val="undOvr"/>
                      <m:subHide m:val="off"/>
                      <m:supHide m:val="on"/>
                    </m:naryPr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∈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</m:sub>
                    <m:sup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/>
                      </m:r>
                    </m:sup>
                    <m:e>
                      <m:sSub>
                        <m:e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w</m:t>
                          </m:r>
                        </m:e>
                        <m:sub>
                          <m:r>
                            <a:rPr lang="en-US" sz="1400" dirty="0">
                              <a:solidFill>
                                <a:srgbClr val="1F3046"/>
                              </a:solidFill>
                              <a:latin typeface="Cambria Math"/>
                            </a:rPr>
                            <m:t>p</m:t>
                          </m:r>
                        </m:sub>
                      </m:sSub>
                    </m:e>
                  </m:nary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f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e</m:t>
                      </m:r>
                    </m:sub>
                  </m:sSub>
                  <m:sSub>
                    <m:e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x</m:t>
                      </m:r>
                    </m:e>
                    <m:sub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400" dirty="0">
                          <a:solidFill>
                            <a:srgbClr val="1F3046"/>
                          </a:solidFill>
                          <a:latin typeface="Cambria Math"/>
                        </a:rPr>
                        <m:t>b</m:t>
                      </m:r>
                    </m:sub>
                  </m:sSub>
                </m:oMath>
              </m:oMathPara>
            </a14:m>
          </a:p>
        </p:txBody>
      </p:sp>
      <p:sp>
        <p:nvSpPr>
          <p:cNvPr id="78" name="Rounded Rectangle 77"/>
          <p:cNvSpPr/>
          <p:nvPr/>
        </p:nvSpPr>
        <p:spPr>
          <a:xfrm>
            <a:off x="3730752" y="5230368"/>
            <a:ext cx="7772400" cy="640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13632" y="5303520"/>
            <a:ext cx="2651760" cy="4572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070" b="1">
                <a:solidFill>
                  <a:srgbClr val="138F5F"/>
                </a:solidFill>
                <a:latin typeface="Arial"/>
              </a:rPr>
              <a:t>5   Inference-time lower bound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55080" y="5303520"/>
            <a:ext cx="4800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i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f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r</m:t>
                      </m:r>
                    </m:sub>
                  </m:sSub>
                  <m:r>
                    <m:rPr>
                      <m:sty m:val="p"/>
                    </m:rP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≥</m:t>
                  </m:r>
                  <m:sSub>
                    <m:e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T</m:t>
                      </m:r>
                    </m:e>
                    <m:sub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0</m:t>
                      </m:r>
                    </m:sub>
                  </m:sSub>
                  <m:d>
                    <m:dPr>
                      <m:begChr m:val="("/>
                      <m:endChr m:val=")"/>
                      <m:sepChr m:val=""/>
                      <m:grow/>
                    </m:dPr>
                    <m:e>
                      <m: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1200" dirty="0">
                          <a:solidFill>
                            <a:srgbClr val="1F3046"/>
                          </a:solidFill>
                          <a:latin typeface="Cambria Math"/>
                        </a:rPr>
                        <m:t>+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L</m:t>
                              </m:r>
                            </m:e>
                            <m:sub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,</m:t>
                              </m:r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e</m:t>
                              </m:r>
                            </m:sub>
                          </m:sSub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1200" dirty="0">
                                  <a:solidFill>
                                    <a:srgbClr val="1F3046"/>
                                  </a:solidFill>
                                  <a:latin typeface="Cambria Math"/>
                                </a:rPr>
                                <m:t>ρ</m:t>
                              </m:r>
                            </m:e>
                          </m:d>
                        </m:den>
                      </m:f>
                    </m:e>
                  </m:d>
                  <m:r>
                    <m:rPr>
                      <m:sty m:val="p"/>
                    </m:rP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 </m:t>
                  </m:r>
                  <m:r>
                    <m:rPr>
                      <m:sty m:val="p"/>
                    </m:rP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∀</m:t>
                  </m:r>
                  <m: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e</m:t>
                  </m:r>
                  <m:r>
                    <m:rPr>
                      <m:sty m:val="p"/>
                    </m:rP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,</m:t>
                  </m:r>
                  <m:r>
                    <a:rPr lang="en-US" sz="1200" dirty="0">
                      <a:solidFill>
                        <a:srgbClr val="1F3046"/>
                      </a:solidFill>
                      <a:latin typeface="Cambria Math"/>
                    </a:rPr>
                    <m:t>b</m:t>
                  </m:r>
                </m:oMath>
              </m:oMathPara>
            </a14:m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OFFLINE MODEL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33604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ILP Hotspot Example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794385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example_hotspot_bef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3590" y="1015365"/>
            <a:ext cx="2602230" cy="544449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1335" y="651681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BF4149"/>
                </a:solidFill>
                <a:latin typeface="Aptos"/>
              </a:rPr>
              <a:t>Inference </a:t>
            </a:r>
            <a:r>
              <a:rPr lang="en-US" sz="1300" b="1">
                <a:solidFill>
                  <a:srgbClr val="BF4149"/>
                </a:solidFill>
                <a:latin typeface="Aptos"/>
              </a:rPr>
              <a:t>time </a:t>
            </a:r>
            <a:r>
              <a:rPr sz="1300" b="1">
                <a:solidFill>
                  <a:srgbClr val="BF4149"/>
                </a:solidFill>
                <a:latin typeface="Aptos"/>
              </a:rPr>
              <a:t>4.75</a:t>
            </a:r>
            <a:endParaRPr sz="1300" b="1">
              <a:solidFill>
                <a:srgbClr val="BF4149"/>
              </a:solidFill>
              <a:latin typeface="Apto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015" y="967105"/>
            <a:ext cx="3032125" cy="5448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8432" y="6495225"/>
            <a:ext cx="3127248" cy="25463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Inference</a:t>
            </a:r>
            <a:r>
              <a:rPr lang="en-US" sz="1300" b="1">
                <a:solidFill>
                  <a:srgbClr val="1B8D60"/>
                </a:solidFill>
                <a:latin typeface="Aptos"/>
              </a:rPr>
              <a:t> time </a:t>
            </a:r>
            <a:r>
              <a:rPr sz="1300" b="1">
                <a:solidFill>
                  <a:srgbClr val="1B8D60"/>
                </a:solidFill>
                <a:latin typeface="Aptos"/>
              </a:rPr>
              <a:t> 2.25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807" y="852170"/>
            <a:ext cx="2612680" cy="5925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ONLINE DESIGN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Online Design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640080" y="1664208"/>
            <a:ext cx="4754880" cy="3520440"/>
          </a:xfrm>
          <a:prstGeom prst="roundRect">
            <a:avLst/>
          </a:prstGeom>
          <a:solidFill>
            <a:srgbClr val="E1EDF8"/>
          </a:solidFill>
          <a:ln w="1905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932688" y="1901952"/>
            <a:ext cx="150876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2D67A4"/>
                </a:solidFill>
                <a:latin typeface="Aptos"/>
              </a:rPr>
              <a:t>OFFLINE ILP</a:t>
            </a:r>
            <a:endParaRPr sz="14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>
            <p:custDataLst>
              <p:tags r:id="rId3"/>
            </p:custDataLst>
          </p:nvPr>
        </p:nvSpPr>
        <p:spPr>
          <a:xfrm>
            <a:off x="932688" y="2331720"/>
            <a:ext cx="3474720" cy="4114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Exact reference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932815" y="2840355"/>
            <a:ext cx="4276725" cy="88519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sz="1800" b="0">
                <a:solidFill>
                  <a:srgbClr val="1C2735"/>
                </a:solidFill>
                <a:latin typeface="Aptos"/>
              </a:rPr>
              <a:t>Explains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the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model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0">
                <a:solidFill>
                  <a:srgbClr val="1C2735"/>
                </a:solidFill>
                <a:latin typeface="Aptos"/>
              </a:rPr>
              <a:t>Prove this problem can be </a:t>
            </a:r>
            <a:r>
              <a:rPr lang="en-US" sz="1800" b="0">
                <a:solidFill>
                  <a:srgbClr val="1C2735"/>
                </a:solidFill>
                <a:latin typeface="Aptos"/>
              </a:rPr>
              <a:t>optimized</a:t>
            </a:r>
            <a:endParaRPr lang="en-US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Expensive</a:t>
            </a:r>
            <a:endParaRPr lang="en-US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32688" y="4187952"/>
            <a:ext cx="2331720" cy="34747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600" b="1">
                <a:solidFill>
                  <a:srgbClr val="BF4149"/>
                </a:solidFill>
                <a:latin typeface="Aptos"/>
              </a:rPr>
              <a:t>Not used in serving</a:t>
            </a:r>
            <a:endParaRPr sz="16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>
            <p:custDataLst>
              <p:tags r:id="rId6"/>
            </p:custDataLst>
          </p:nvPr>
        </p:nvSpPr>
        <p:spPr>
          <a:xfrm>
            <a:off x="6675120" y="1664208"/>
            <a:ext cx="4846320" cy="3520440"/>
          </a:xfrm>
          <a:prstGeom prst="roundRect">
            <a:avLst/>
          </a:prstGeom>
          <a:solidFill>
            <a:srgbClr val="E5F5EE"/>
          </a:solidFill>
          <a:ln w="1905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7"/>
            </p:custDataLst>
          </p:nvPr>
        </p:nvSpPr>
        <p:spPr>
          <a:xfrm>
            <a:off x="6967728" y="1901952"/>
            <a:ext cx="1920240" cy="256032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1400" b="1">
                <a:solidFill>
                  <a:srgbClr val="1B8D60"/>
                </a:solidFill>
                <a:latin typeface="Aptos"/>
              </a:rPr>
              <a:t>ONLINE SCHEDULER</a:t>
            </a:r>
            <a:endParaRPr sz="14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828800" y="5513832"/>
            <a:ext cx="8549640" cy="4754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5581587"/>
            <a:ext cx="8275320" cy="28511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/>
            <a:r>
              <a:rPr lang="en-US" sz="1500" b="1">
                <a:solidFill>
                  <a:srgbClr val="133052"/>
                </a:solidFill>
                <a:latin typeface="Aptos"/>
              </a:rPr>
              <a:t>We can not use ILP in vllm because ILP is expensive</a:t>
            </a:r>
            <a:endParaRPr lang="en-US"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  <p:sp>
        <p:nvSpPr>
          <p:cNvPr id="16" name="TextBox 15"/>
          <p:cNvSpPr txBox="1"/>
          <p:nvPr>
            <p:custDataLst>
              <p:tags r:id="rId8"/>
            </p:custDataLst>
          </p:nvPr>
        </p:nvSpPr>
        <p:spPr>
          <a:xfrm>
            <a:off x="6967728" y="2310130"/>
            <a:ext cx="3474720" cy="45466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9"/>
            </p:custDataLst>
          </p:nvPr>
        </p:nvSpPr>
        <p:spPr>
          <a:xfrm>
            <a:off x="6967728" y="2971546"/>
            <a:ext cx="3794760" cy="60833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Achieve similar returns</a:t>
            </a:r>
            <a:endParaRPr lang="en-US" altLang="zh-CN" sz="1800" b="0">
              <a:solidFill>
                <a:srgbClr val="1C2735"/>
              </a:solidFill>
              <a:latin typeface="Aptos"/>
            </a:endParaRPr>
          </a:p>
          <a:p>
            <a:pPr marL="342900" indent="-342900" algn="l">
              <a:buAutoNum type="arabicPeriod"/>
            </a:pPr>
            <a:r>
              <a:rPr lang="en-US" altLang="zh-CN" sz="1800" b="0">
                <a:solidFill>
                  <a:srgbClr val="1C2735"/>
                </a:solidFill>
                <a:latin typeface="Aptos"/>
              </a:rPr>
              <a:t>But much </a:t>
            </a:r>
            <a:r>
              <a:rPr lang="en-US" altLang="zh-CN" sz="1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rPr>
              <a:t>cheaper</a:t>
            </a:r>
            <a:endParaRPr lang="en-US" altLang="zh-CN" sz="1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ptos"/>
            </a:endParaRPr>
          </a:p>
        </p:txBody>
      </p:sp>
      <p:cxnSp>
        <p:nvCxnSpPr>
          <p:cNvPr id="12" name="Connector 11"/>
          <p:cNvCxnSpPr/>
          <p:nvPr>
            <p:custDataLst>
              <p:tags r:id="rId10"/>
            </p:custDataLst>
          </p:nvPr>
        </p:nvCxnSpPr>
        <p:spPr>
          <a:xfrm>
            <a:off x="5623560" y="3401568"/>
            <a:ext cx="822960" cy="0"/>
          </a:xfrm>
          <a:prstGeom prst="line">
            <a:avLst/>
          </a:prstGeom>
          <a:ln w="50800">
            <a:solidFill>
              <a:srgbClr val="DD8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6967728" y="4211511"/>
            <a:ext cx="3749039" cy="300355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l"/>
            <a:r>
              <a:rPr lang="en-US" sz="1600" b="1">
                <a:solidFill>
                  <a:srgbClr val="1B8D60"/>
                </a:solidFill>
                <a:latin typeface="Aptos"/>
              </a:rPr>
              <a:t>Used in serving</a:t>
            </a:r>
            <a:endParaRPr lang="en-US" sz="1600" b="1">
              <a:solidFill>
                <a:srgbClr val="1B8D6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0" name="Rounded Rectangle 8"/>
          <p:cNvSpPr/>
          <p:nvPr/>
        </p:nvSpPr>
        <p:spPr>
          <a:xfrm>
            <a:off x="814070" y="3479800"/>
            <a:ext cx="4529455" cy="32594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ALGORITHM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54152"/>
            <a:ext cx="11064240" cy="4724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Greedy </a:t>
            </a:r>
            <a:r>
              <a:rPr lang="en-US" sz="2600" b="1">
                <a:solidFill>
                  <a:srgbClr val="133052"/>
                </a:solidFill>
                <a:latin typeface="Aptos"/>
              </a:rPr>
              <a:t>Algorithm</a:t>
            </a:r>
            <a:endParaRPr lang="en-US"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4070" y="1541145"/>
            <a:ext cx="4529455" cy="167068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38923"/>
            <a:ext cx="1960880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(DAG)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339596" y="380504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7612" y="390563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2D67A4"/>
                </a:solidFill>
                <a:latin typeface="Aptos"/>
              </a:rPr>
              <a:t>F₀</a:t>
            </a:r>
            <a:endParaRPr sz="12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080260" y="388734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1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967228" y="389648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{E₁,E₇}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339596" y="4536566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7612" y="4637150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B8D60"/>
                </a:solidFill>
                <a:latin typeface="Aptos"/>
              </a:rPr>
              <a:t>F₁</a:t>
            </a:r>
            <a:endParaRPr sz="1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80260" y="4618862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2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7228" y="462800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{E₃}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339596" y="526808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7612" y="536867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8153A0"/>
                </a:solidFill>
                <a:latin typeface="Aptos"/>
              </a:rPr>
              <a:t>F₂</a:t>
            </a:r>
            <a:endParaRPr sz="12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80260" y="535038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1 → 2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67228" y="535952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{E₄}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339596" y="5999607"/>
            <a:ext cx="3054096" cy="539496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7612" y="6100191"/>
            <a:ext cx="50292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DD852A"/>
                </a:solidFill>
                <a:latin typeface="Aptos"/>
              </a:rPr>
              <a:t>F₃</a:t>
            </a:r>
            <a:endParaRPr sz="1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080260" y="6081903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0 → 3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67228" y="6091047"/>
            <a:ext cx="1170432" cy="2468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5D6C7E"/>
                </a:solidFill>
                <a:latin typeface="Aptos"/>
              </a:rPr>
              <a:t>{E₉}</a:t>
            </a:r>
            <a:endParaRPr sz="12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18785" y="2353945"/>
            <a:ext cx="6094095" cy="36995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1273" y="2862072"/>
            <a:ext cx="20116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FIRST-FIT DECISIONS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grpSp>
        <p:nvGrpSpPr>
          <p:cNvPr id="7" name="DecisionRow0"/>
          <p:cNvGrpSpPr/>
          <p:nvPr/>
        </p:nvGrpSpPr>
        <p:grpSpPr>
          <a:xfrm>
            <a:off x="6121273" y="3255264"/>
            <a:ext cx="4206240" cy="438912"/>
            <a:chOff x="4773168" y="2157984"/>
            <a:chExt cx="4206240" cy="438912"/>
          </a:xfrm>
        </p:grpSpPr>
        <p:sp>
          <p:nvSpPr>
            <p:cNvPr id="30" name="Oval 29"/>
            <p:cNvSpPr/>
            <p:nvPr/>
          </p:nvSpPr>
          <p:spPr>
            <a:xfrm>
              <a:off x="4773168" y="2157984"/>
              <a:ext cx="438912" cy="438912"/>
            </a:xfrm>
            <a:prstGeom prst="ellipse">
              <a:avLst/>
            </a:prstGeom>
            <a:solidFill>
              <a:srgbClr val="2D67A4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73168" y="2167127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F₀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76672" y="2203703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ln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19088" y="2185415"/>
              <a:ext cx="2560320" cy="2743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 sz="1150" b="0">
                  <a:solidFill>
                    <a:srgbClr val="5D6C7E"/>
                  </a:solidFill>
                  <a:latin typeface="Aptos"/>
                </a:rPr>
                <a:t>uses ranks {0,1}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8" name="DecisionRow1"/>
          <p:cNvGrpSpPr/>
          <p:nvPr/>
        </p:nvGrpSpPr>
        <p:grpSpPr>
          <a:xfrm>
            <a:off x="6121273" y="3813048"/>
            <a:ext cx="4206240" cy="438912"/>
            <a:chOff x="4773168" y="2715768"/>
            <a:chExt cx="4206240" cy="438912"/>
          </a:xfrm>
        </p:grpSpPr>
        <p:sp>
          <p:nvSpPr>
            <p:cNvPr id="34" name="Oval 33"/>
            <p:cNvSpPr/>
            <p:nvPr/>
          </p:nvSpPr>
          <p:spPr>
            <a:xfrm>
              <a:off x="4773168" y="2715768"/>
              <a:ext cx="438912" cy="438912"/>
            </a:xfrm>
            <a:prstGeom prst="ellipse">
              <a:avLst/>
            </a:prstGeom>
            <a:solidFill>
              <a:srgbClr val="1B8D6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73168" y="2724911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F₁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376672" y="2761487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/>
              <a:r>
                <a:rPr sz="1200" b="1">
                  <a:ln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tos"/>
                </a:rPr>
                <a:t>Batch 0</a:t>
              </a:r>
              <a:endParaRPr sz="1200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19088" y="2755899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{0,1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27" name="DecisionRow2"/>
          <p:cNvGrpSpPr/>
          <p:nvPr/>
        </p:nvGrpSpPr>
        <p:grpSpPr>
          <a:xfrm>
            <a:off x="6121273" y="4370832"/>
            <a:ext cx="4206240" cy="438912"/>
            <a:chOff x="4773168" y="3273552"/>
            <a:chExt cx="4206240" cy="438912"/>
          </a:xfrm>
        </p:grpSpPr>
        <p:sp>
          <p:nvSpPr>
            <p:cNvPr id="38" name="Oval 37"/>
            <p:cNvSpPr/>
            <p:nvPr/>
          </p:nvSpPr>
          <p:spPr>
            <a:xfrm>
              <a:off x="4773168" y="3273552"/>
              <a:ext cx="438912" cy="438912"/>
            </a:xfrm>
            <a:prstGeom prst="ellipse">
              <a:avLst/>
            </a:prstGeom>
            <a:solidFill>
              <a:srgbClr val="8153A0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73168" y="3282696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F₂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76672" y="3319272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ln/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ln/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19088" y="3313684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1,2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grpSp>
        <p:nvGrpSpPr>
          <p:cNvPr id="46" name="DecisionRow3"/>
          <p:cNvGrpSpPr/>
          <p:nvPr/>
        </p:nvGrpSpPr>
        <p:grpSpPr>
          <a:xfrm>
            <a:off x="6121273" y="4928615"/>
            <a:ext cx="4206240" cy="438912"/>
            <a:chOff x="4773168" y="3831335"/>
            <a:chExt cx="4206240" cy="438912"/>
          </a:xfrm>
        </p:grpSpPr>
        <p:sp>
          <p:nvSpPr>
            <p:cNvPr id="42" name="Oval 41"/>
            <p:cNvSpPr/>
            <p:nvPr/>
          </p:nvSpPr>
          <p:spPr>
            <a:xfrm>
              <a:off x="4773168" y="3831335"/>
              <a:ext cx="438912" cy="438912"/>
            </a:xfrm>
            <a:prstGeom prst="ellipse">
              <a:avLst/>
            </a:prstGeom>
            <a:solidFill>
              <a:srgbClr val="DD852A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73168" y="3840479"/>
              <a:ext cx="438912" cy="420623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ctr">
                <a:defRPr sz="1150"/>
              </a:pPr>
              <a:r>
                <a:rPr sz="1150" b="1">
                  <a:solidFill>
                    <a:srgbClr val="FFFFFF"/>
                  </a:solidFill>
                  <a:latin typeface="Aptos"/>
                </a:rPr>
                <a:t>F₃</a:t>
              </a:r>
              <a:endParaRPr sz="1100" b="1">
                <a:solidFill>
                  <a:srgbClr val="FFFFFF"/>
                </a:solidFill>
                <a:latin typeface="Aptos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76672" y="3877055"/>
              <a:ext cx="987552" cy="256032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  <a:scene3d>
                <a:camera prst="orthographicFront"/>
                <a:lightRig rig="soft" dir="t">
                  <a:rot lat="0" lon="0" rev="15600000"/>
                </a:lightRig>
              </a:scene3d>
              <a:sp3d extrusionH="57150" prstMaterial="softEdge">
                <a:bevelT w="25400" h="38100"/>
              </a:sp3d>
            </a:bodyPr>
            <a:lstStyle/>
            <a:p>
              <a:pPr algn="l"/>
              <a:r>
                <a:rPr sz="1200" b="1">
                  <a:ln/>
                  <a:solidFill>
                    <a:schemeClr val="accent4"/>
                  </a:solidFill>
                  <a:effectLst/>
                  <a:latin typeface="Aptos"/>
                </a:rPr>
                <a:t>Batch 1</a:t>
              </a:r>
              <a:endParaRPr sz="1200" b="1">
                <a:ln/>
                <a:solidFill>
                  <a:schemeClr val="accent4"/>
                </a:solidFill>
                <a:effectLst/>
                <a:latin typeface="Aptos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419088" y="3871468"/>
              <a:ext cx="2560320" cy="248920"/>
            </a:xfrm>
            <a:prstGeom prst="rect">
              <a:avLst/>
            </a:prstGeom>
            <a:noFill/>
          </p:spPr>
          <p:txBody>
            <a:bodyPr wrap="square" lIns="36576" tIns="36576" rIns="36576" bIns="36576" anchor="ctr">
              <a:spAutoFit/>
            </a:bodyPr>
            <a:lstStyle/>
            <a:p>
              <a:pPr algn="l">
                <a:defRPr sz="1150"/>
              </a:pP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uses ranks {</a:t>
              </a:r>
              <a:r>
                <a:rPr lang="en-US">
                  <a:solidFill>
                    <a:srgbClr val="5D6C7E"/>
                  </a:solidFill>
                  <a:latin typeface="Aptos"/>
                  <a:sym typeface="+mn-ea"/>
                </a:rPr>
                <a:t>0,1,2,3</a:t>
              </a:r>
              <a:r>
                <a:rPr>
                  <a:solidFill>
                    <a:srgbClr val="5D6C7E"/>
                  </a:solidFill>
                  <a:latin typeface="Aptos"/>
                  <a:sym typeface="+mn-ea"/>
                </a:rPr>
                <a:t>}</a:t>
              </a:r>
              <a:endParaRPr sz="1100" b="0">
                <a:solidFill>
                  <a:srgbClr val="5D6C7E"/>
                </a:solidFill>
                <a:latin typeface="Aptos"/>
              </a:endParaRPr>
            </a:p>
          </p:txBody>
        </p:sp>
      </p:grpSp>
      <p:sp>
        <p:nvSpPr>
          <p:cNvPr id="61" name="TextBox 9"/>
          <p:cNvSpPr txBox="1"/>
          <p:nvPr/>
        </p:nvSpPr>
        <p:spPr>
          <a:xfrm>
            <a:off x="1006475" y="3555683"/>
            <a:ext cx="2980055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INPUT ORDER</a:t>
            </a:r>
            <a:r>
              <a:rPr lang="en-US" sz="1150" b="1">
                <a:solidFill>
                  <a:srgbClr val="2D67A4"/>
                </a:solidFill>
                <a:latin typeface="Aptos"/>
              </a:rPr>
              <a:t>(for loop flows)</a:t>
            </a:r>
            <a:endParaRPr lang="en-US" sz="115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62" name="GreedyGraphTitle"/>
          <p:cNvSpPr txBox="1"/>
          <p:nvPr/>
        </p:nvSpPr>
        <p:spPr>
          <a:xfrm>
            <a:off x="4773168" y="4425696"/>
            <a:ext cx="2377440" cy="27432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150" b="1">
                <a:solidFill>
                  <a:srgbClr val="2F6FAE"/>
                </a:solidFill>
                <a:latin typeface="Arial"/>
              </a:rPr>
              <a:t>DIRECTED EXPERT TRANSFERS</a:t>
            </a:r>
          </a:p>
        </p:txBody>
      </p:sp>
      <p:sp>
        <p:nvSpPr>
          <p:cNvPr id="63" name="GreedyGraphNode0"/>
          <p:cNvSpPr/>
          <p:nvPr/>
        </p:nvSpPr>
        <p:spPr>
          <a:xfrm>
            <a:off x="6446520" y="469087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300" b="1">
                <a:solidFill>
                  <a:srgbClr val="14345B"/>
                </a:solidFill>
                <a:latin typeface="Arial"/>
              </a:rPr>
              <a:t>0</a:t>
            </a:r>
          </a:p>
        </p:txBody>
      </p:sp>
      <p:sp>
        <p:nvSpPr>
          <p:cNvPr id="64" name="GreedyGraphNode1"/>
          <p:cNvSpPr/>
          <p:nvPr/>
        </p:nvSpPr>
        <p:spPr>
          <a:xfrm>
            <a:off x="9144000" y="469087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300" b="1">
                <a:solidFill>
                  <a:srgbClr val="14345B"/>
                </a:solidFill>
                <a:latin typeface="Arial"/>
              </a:rPr>
              <a:t>1</a:t>
            </a:r>
          </a:p>
        </p:txBody>
      </p:sp>
      <p:sp>
        <p:nvSpPr>
          <p:cNvPr id="65" name="GreedyGraphNode2"/>
          <p:cNvSpPr/>
          <p:nvPr/>
        </p:nvSpPr>
        <p:spPr>
          <a:xfrm>
            <a:off x="9144000" y="546811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300" b="1">
                <a:solidFill>
                  <a:srgbClr val="14345B"/>
                </a:solidFill>
                <a:latin typeface="Arial"/>
              </a:rPr>
              <a:t>2</a:t>
            </a:r>
          </a:p>
        </p:txBody>
      </p:sp>
      <p:sp>
        <p:nvSpPr>
          <p:cNvPr id="66" name="GreedyGraphNode3"/>
          <p:cNvSpPr/>
          <p:nvPr/>
        </p:nvSpPr>
        <p:spPr>
          <a:xfrm>
            <a:off x="6446520" y="5468112"/>
            <a:ext cx="457200" cy="457200"/>
          </a:xfrm>
          <a:prstGeom prst="ellipse">
            <a:avLst/>
          </a:prstGeom>
          <a:solidFill>
            <a:srgbClr val="E8F1FA"/>
          </a:solidFill>
          <a:ln w="1905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300" b="1">
                <a:solidFill>
                  <a:srgbClr val="14345B"/>
                </a:solidFill>
                <a:latin typeface="Arial"/>
              </a:rPr>
              <a:t>3</a:t>
            </a:r>
          </a:p>
        </p:txBody>
      </p:sp>
      <p:cxnSp>
        <p:nvCxnSpPr>
          <p:cNvPr id="67" name="GreedyGraphArrow"/>
          <p:cNvCxnSpPr/>
          <p:nvPr/>
        </p:nvCxnSpPr>
        <p:spPr>
          <a:xfrm>
            <a:off x="6903720" y="4919472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reedyGraphArrow"/>
          <p:cNvCxnSpPr/>
          <p:nvPr/>
        </p:nvCxnSpPr>
        <p:spPr>
          <a:xfrm>
            <a:off x="9372600" y="5148072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reedyGraphArrow"/>
          <p:cNvCxnSpPr/>
          <p:nvPr/>
        </p:nvCxnSpPr>
        <p:spPr>
          <a:xfrm flipH="1">
            <a:off x="6903720" y="5696712"/>
            <a:ext cx="2240280" cy="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reedyGraphArrow"/>
          <p:cNvCxnSpPr/>
          <p:nvPr/>
        </p:nvCxnSpPr>
        <p:spPr>
          <a:xfrm>
            <a:off x="6675120" y="5148072"/>
            <a:ext cx="0" cy="320040"/>
          </a:xfrm>
          <a:prstGeom prst="line">
            <a:avLst/>
          </a:prstGeom>
          <a:ln w="27940">
            <a:solidFill>
              <a:srgbClr val="2F6FA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GreedyGraphLabel0"/>
          <p:cNvSpPr txBox="1"/>
          <p:nvPr/>
        </p:nvSpPr>
        <p:spPr>
          <a:xfrm>
            <a:off x="7498079" y="4645152"/>
            <a:ext cx="118872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/>
              </a:rPr>
              <a:t>F₀  {E₁,E₇}</a:t>
            </a:r>
          </a:p>
        </p:txBody>
      </p:sp>
      <p:sp>
        <p:nvSpPr>
          <p:cNvPr id="72" name="GreedyGraphLabel1"/>
          <p:cNvSpPr txBox="1"/>
          <p:nvPr/>
        </p:nvSpPr>
        <p:spPr>
          <a:xfrm>
            <a:off x="9491472" y="5138928"/>
            <a:ext cx="96012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/>
              </a:rPr>
              <a:t>F₂  {E₄}</a:t>
            </a:r>
          </a:p>
        </p:txBody>
      </p:sp>
      <p:sp>
        <p:nvSpPr>
          <p:cNvPr id="73" name="GreedyGraphLabel2"/>
          <p:cNvSpPr txBox="1"/>
          <p:nvPr/>
        </p:nvSpPr>
        <p:spPr>
          <a:xfrm>
            <a:off x="7607808" y="5742432"/>
            <a:ext cx="96012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/>
              </a:rPr>
              <a:t>F₁  {E₃}</a:t>
            </a:r>
          </a:p>
        </p:txBody>
      </p:sp>
      <p:sp>
        <p:nvSpPr>
          <p:cNvPr id="74" name="GreedyGraphLabel3"/>
          <p:cNvSpPr txBox="1"/>
          <p:nvPr/>
        </p:nvSpPr>
        <p:spPr>
          <a:xfrm>
            <a:off x="5532120" y="5138928"/>
            <a:ext cx="960120" cy="228600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4345B"/>
                </a:solidFill>
                <a:latin typeface="Arial"/>
              </a:rPr>
              <a:t>F₃  {E₉}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METHODOLOGY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Experimental Setup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1554480"/>
            <a:ext cx="6537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0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147218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95728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1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0448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2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7763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448970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413247" y="1965960"/>
            <a:ext cx="1161288" cy="1051560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399" y="2075688"/>
            <a:ext cx="1014984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2D67A4"/>
                </a:solidFill>
                <a:latin typeface="Aptos"/>
              </a:rPr>
              <a:t>Node 3</a:t>
            </a:r>
            <a:endParaRPr sz="10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399" y="2350008"/>
            <a:ext cx="101498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33052"/>
                </a:solidFill>
                <a:latin typeface="Aptos"/>
              </a:rPr>
              <a:t>RTX 6000
24 GB</a:t>
            </a:r>
            <a:endParaRPr sz="12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998463" y="3026664"/>
            <a:ext cx="0" cy="512064"/>
          </a:xfrm>
          <a:prstGeom prst="line">
            <a:avLst/>
          </a:prstGeom>
          <a:ln w="381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63040" y="3538728"/>
            <a:ext cx="4526280" cy="0"/>
          </a:xfrm>
          <a:prstGeom prst="line">
            <a:avLst/>
          </a:prstGeom>
          <a:ln w="50800">
            <a:solidFill>
              <a:srgbClr val="1B8D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43000" y="3713417"/>
            <a:ext cx="5257800" cy="27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B8D60"/>
                </a:solidFill>
                <a:latin typeface="Aptos"/>
              </a:rPr>
              <a:t>10 GbE  · no RDMA</a:t>
            </a:r>
            <a:endParaRPr sz="13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8992" y="4224528"/>
            <a:ext cx="539496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33052"/>
                </a:solidFill>
                <a:latin typeface="Aptos"/>
              </a:rPr>
              <a:t>Qwen3-30B-A3B-Instruct-2507 · FP16 · TP=EP=4</a:t>
            </a:r>
            <a:endParaRPr sz="13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05840" y="4663440"/>
            <a:ext cx="55321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Async EPLB · window 50 · step interval 50 · 16 redundant experts</a:t>
            </a:r>
            <a:endParaRPr sz="11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24128" y="5102352"/>
            <a:ext cx="5486400" cy="493776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5193792"/>
            <a:ext cx="52578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Prefix cache enabled · eager execution · 500/500 requests completed</a:t>
            </a:r>
            <a:endParaRPr sz="11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60920" y="1554480"/>
            <a:ext cx="4251960" cy="44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773936"/>
            <a:ext cx="109728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8153A0"/>
                </a:solidFill>
                <a:latin typeface="Aptos"/>
              </a:rPr>
              <a:t>WORKLOAD</a:t>
            </a:r>
            <a:endParaRPr sz="10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53527" y="221284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Dataset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33104" y="219456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random · seed 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53527" y="2706624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Prompts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33104" y="2688336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500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7" y="3200400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Concurrency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33104" y="3182112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32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53527" y="3694176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Prefix / input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33104" y="3675888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/ 200 tokens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7" y="418795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Output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833104" y="4169664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300 tokens · ignore EOS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653527" y="4681728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150"/>
            </a:pPr>
            <a:r>
              <a:rPr sz="1150" b="1">
                <a:solidFill>
                  <a:srgbClr val="5D6C7E"/>
                </a:solidFill>
                <a:latin typeface="Aptos"/>
              </a:rPr>
              <a:t>Reported</a:t>
            </a:r>
            <a:endParaRPr sz="1000" b="1">
              <a:solidFill>
                <a:srgbClr val="5D6C7E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833104" y="4663440"/>
            <a:ext cx="2395728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200" b="1">
                <a:solidFill>
                  <a:srgbClr val="1C2735"/>
                </a:solidFill>
                <a:latin typeface="Aptos"/>
              </a:rPr>
              <a:t>P50 and P99</a:t>
            </a:r>
            <a:endParaRPr sz="12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635240" y="5276088"/>
            <a:ext cx="3703320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358384"/>
            <a:ext cx="342900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33052"/>
                </a:solidFill>
                <a:latin typeface="Aptos"/>
              </a:rPr>
              <a:t>OFF vs ON · same request stream</a:t>
            </a:r>
            <a:endParaRPr sz="11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94944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Background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410712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Model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126480" y="5852160"/>
            <a:ext cx="2642616" cy="384048"/>
          </a:xfrm>
          <a:prstGeom prst="rect">
            <a:avLst/>
          </a:prstGeom>
          <a:solidFill>
            <a:srgbClr val="D2DCE7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3912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Algorithm</a:t>
            </a:r>
            <a:endParaRPr sz="8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8842248" y="5852160"/>
            <a:ext cx="2642616" cy="384048"/>
          </a:xfrm>
          <a:prstGeom prst="rect">
            <a:avLst/>
          </a:prstGeom>
          <a:solidFill>
            <a:srgbClr val="2D67A4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69680" y="5916168"/>
            <a:ext cx="2587752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Evaluation</a:t>
            </a:r>
            <a:endParaRPr sz="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E2E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749808" y="1572768"/>
            <a:ext cx="214884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60934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Metric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off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30368" y="1572768"/>
            <a:ext cx="233172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66944" y="160934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Batching on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62088" y="1572768"/>
            <a:ext cx="1600200" cy="512064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98663" y="160934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FFFFFF"/>
                </a:solidFill>
                <a:latin typeface="Aptos"/>
              </a:rPr>
              <a:t>Improvement</a:t>
            </a:r>
            <a:endParaRPr sz="1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9808" y="2084832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12140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Output throughput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864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31.54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230368" y="2084832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32.26 tok/s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562088" y="2084832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3" y="212140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+2.28%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9808" y="2596896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263347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89864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3522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49,180.71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230368" y="2596896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6944" y="263347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48,599.04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562088" y="2596896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98663" y="263347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49808" y="3108960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145536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TTFT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89864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522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75,740.25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230368" y="3108960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145536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74,756.17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62088" y="3108960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98663" y="3145536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+1.30%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9808" y="3621024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" y="3657600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89864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828.53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230368" y="3621024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66944" y="3657600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812.44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562088" y="3621024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8663" y="3657600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+1.94%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749808" y="413308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" y="4169664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TPOT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89864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3522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1,007.82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230368" y="4133088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66944" y="4169664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999.01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562088" y="4133088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3" y="4169664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+0.87%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749808" y="4645152"/>
            <a:ext cx="214884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6384" y="4681728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P50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89864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3522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303,462.69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230368" y="4645152"/>
            <a:ext cx="233172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6944" y="4681728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293,821.76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562088" y="4645152"/>
            <a:ext cx="1600200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98663" y="4681728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+3.18%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49808" y="515721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" y="5193792"/>
            <a:ext cx="207568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C2735"/>
                </a:solidFill>
                <a:latin typeface="Aptos"/>
              </a:rPr>
              <a:t>E2EL P99</a:t>
            </a:r>
            <a:endParaRPr sz="11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289864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322,184.88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5230368" y="5157216"/>
            <a:ext cx="2331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6944" y="5193792"/>
            <a:ext cx="225856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317,351.61 ms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562088" y="5157216"/>
            <a:ext cx="1600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98663" y="5193792"/>
            <a:ext cx="1527048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1C2735"/>
                </a:solidFill>
                <a:latin typeface="Aptos"/>
              </a:rPr>
              <a:t>+1.50%</a:t>
            </a:r>
            <a:endParaRPr sz="11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464040" y="1572768"/>
            <a:ext cx="2084831" cy="409651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20072" y="1828800"/>
            <a:ext cx="1572768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1">
                <a:solidFill>
                  <a:srgbClr val="1B8D60"/>
                </a:solidFill>
                <a:latin typeface="Aptos"/>
              </a:rPr>
              <a:t>MAIN RESULT</a:t>
            </a:r>
            <a:endParaRPr sz="10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646920" y="234086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1B8D60"/>
                </a:solidFill>
                <a:latin typeface="Aptos"/>
              </a:rPr>
              <a:t>+2.28%</a:t>
            </a:r>
            <a:endParaRPr sz="28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710928" y="281635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output throughput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646920" y="3438144"/>
            <a:ext cx="171907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2D67A4"/>
                </a:solidFill>
                <a:latin typeface="Aptos"/>
              </a:rPr>
              <a:t>−3.18%</a:t>
            </a:r>
            <a:endParaRPr sz="28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710928" y="3913632"/>
            <a:ext cx="160020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E2EL P50</a:t>
            </a:r>
            <a:endParaRPr sz="10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46920" y="4727448"/>
            <a:ext cx="17190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33052"/>
                </a:solidFill>
                <a:latin typeface="Aptos"/>
              </a:rPr>
              <a:t>No regression</a:t>
            </a:r>
            <a:endParaRPr sz="15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674352" y="5056632"/>
            <a:ext cx="166420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sz="1150" b="0">
                <a:solidFill>
                  <a:srgbClr val="5D6C7E"/>
                </a:solidFill>
                <a:latin typeface="Aptos"/>
              </a:rPr>
              <a:t>in the reported async metrics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49808" y="5824728"/>
            <a:ext cx="10789920" cy="384048"/>
          </a:xfrm>
          <a:prstGeom prst="roundRect">
            <a:avLst/>
          </a:prstGeom>
          <a:solidFill>
            <a:srgbClr val="E1EDF8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" y="5878576"/>
            <a:ext cx="10314432" cy="248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50"/>
            </a:pPr>
            <a:r>
              <a:rPr lang="en-US" sz="1150" b="1">
                <a:solidFill>
                  <a:srgbClr val="133052"/>
                </a:solidFill>
                <a:latin typeface="Aptos"/>
              </a:rPr>
              <a:t>All metrics </a:t>
            </a:r>
            <a:r>
              <a:rPr lang="en-US" sz="1150" b="1">
                <a:solidFill>
                  <a:srgbClr val="133052"/>
                </a:solidFill>
                <a:latin typeface="Aptos"/>
              </a:rPr>
              <a:t>improved</a:t>
            </a:r>
            <a:endParaRPr lang="en-US" sz="115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EVALUATION RESULTS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Serving Improvements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0352" y="1536192"/>
            <a:ext cx="8458200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10832"/>
            <a:ext cx="8156448" cy="34044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81160" y="1737360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828800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+2.28%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72600" y="2240280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throughput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281160" y="2852928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67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944368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2D67A4"/>
                </a:solidFill>
                <a:latin typeface="Aptos"/>
              </a:rPr>
              <a:t>+1.18 / +1.30%</a:t>
            </a:r>
            <a:endParaRPr sz="16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72600" y="3355848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TTFT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281160" y="3968496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1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4059935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8153A0"/>
                </a:solidFill>
                <a:latin typeface="Aptos"/>
              </a:rPr>
              <a:t>+1.94 / +0.87%</a:t>
            </a:r>
            <a:endParaRPr sz="1600" b="1">
              <a:solidFill>
                <a:srgbClr val="8153A0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72600" y="4471416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TPOT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9281160" y="5084064"/>
            <a:ext cx="2103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5175503"/>
            <a:ext cx="1920239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158EA6"/>
                </a:solidFill>
                <a:latin typeface="Aptos"/>
              </a:rPr>
              <a:t>+3.18 / +1.50%</a:t>
            </a:r>
            <a:endParaRPr sz="16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72600" y="5586983"/>
            <a:ext cx="1920239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E2EL P50 /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NETWORK EVIDENCE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NIC Traffic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481328"/>
            <a:ext cx="9162288" cy="4700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449" y="1636776"/>
            <a:ext cx="8069228" cy="437083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893808" y="173736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4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85248" y="182880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BF4149"/>
                </a:solidFill>
                <a:latin typeface="Aptos"/>
              </a:rPr>
              <a:t>599.81</a:t>
            </a:r>
            <a:endParaRPr sz="2200" b="1">
              <a:solidFill>
                <a:srgbClr val="BF4149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85248" y="224028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off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893808" y="297180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85248" y="3063240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538.40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985248" y="3474720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MB/s P99 · on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893808" y="4206240"/>
            <a:ext cx="175564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58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4297679"/>
            <a:ext cx="1572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58EA6"/>
                </a:solidFill>
                <a:latin typeface="Aptos"/>
              </a:rPr>
              <a:t>−10.24%</a:t>
            </a:r>
            <a:endParaRPr sz="2200" b="1">
              <a:solidFill>
                <a:srgbClr val="158EA6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985248" y="4709159"/>
            <a:ext cx="1572768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sz="1100" b="0">
                <a:solidFill>
                  <a:srgbClr val="5D6C7E"/>
                </a:solidFill>
                <a:latin typeface="Aptos"/>
              </a:rPr>
              <a:t>NIC P99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912096" y="5227257"/>
            <a:ext cx="1719072" cy="81089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100"/>
            </a:pPr>
            <a:r>
              <a:rPr lang="en-US" altLang="zh-CN" sz="1600" b="1">
                <a:solidFill>
                  <a:srgbClr val="133052"/>
                </a:solidFill>
                <a:latin typeface="Aptos"/>
              </a:rPr>
              <a:t>My feature can smooth the large traffic bursts. </a:t>
            </a:r>
            <a:endParaRPr lang="en-US" altLang="zh-CN" sz="16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矩形 22"/>
          <p:cNvSpPr/>
          <p:nvPr/>
        </p:nvSpPr>
        <p:spPr>
          <a:xfrm>
            <a:off x="2453640" y="4803775"/>
            <a:ext cx="408305" cy="599440"/>
          </a:xfrm>
          <a:prstGeom prst="rect">
            <a:avLst/>
          </a:prstGeom>
          <a:solidFill>
            <a:schemeClr val="accent6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Method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1536192"/>
            <a:ext cx="10972800" cy="658368"/>
          </a:xfrm>
          <a:prstGeom prst="roundRect">
            <a:avLst/>
          </a:prstGeom>
          <a:solidFill>
            <a:srgbClr val="E8F1FA"/>
          </a:solidFill>
          <a:ln w="17780">
            <a:solidFill>
              <a:srgbClr val="2F6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700" b="1">
                <a:solidFill>
                  <a:srgbClr val="14345B"/>
                </a:solidFill>
                <a:latin typeface="Arial"/>
              </a:rPr>
              <a:t>PURPOSE   Is the added scheduler cost small compared with the serving time saved?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7D4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2697480"/>
            <a:ext cx="2743200" cy="38404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500" b="1">
                <a:solidFill>
                  <a:srgbClr val="7D48A1"/>
                </a:solidFill>
                <a:latin typeface="Arial"/>
              </a:rPr>
              <a:t>1   PROFILE COST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127248"/>
            <a:ext cx="2743200" cy="1353312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/>
              </a:rPr>
              <a:t>Add an NVTX range around the cycle-wide greedy scheduler.
Nsight Systems records every call on all four Ray workers.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7136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8304" y="2697480"/>
            <a:ext cx="2743200" cy="38404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Arial"/>
              </a:rPr>
              <a:t>2   AGGREGATE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4" y="3127248"/>
            <a:ext cx="2743200" cy="1353312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/>
              </a:rPr>
              <a:t>Each call builds schedules for all 48 MoE layers.
Sum call time per rank and use the largest rank total.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94192" y="2514600"/>
            <a:ext cx="3154680" cy="2240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2697480"/>
            <a:ext cx="2743200" cy="384048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500" b="1">
                <a:solidFill>
                  <a:srgbClr val="138F5F"/>
                </a:solidFill>
                <a:latin typeface="Arial"/>
              </a:rPr>
              <a:t>3   MEASURE BENEFIT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127248"/>
            <a:ext cx="2743200" cy="1353312"/>
          </a:xfrm>
          <a:prstGeom prst="rect">
            <a:avLst/>
          </a:prstGeom>
          <a:noFill/>
        </p:spPr>
        <p:txBody>
          <a:bodyPr wrap="square" lIns="128016" rIns="128016" tIns="73152" bIns="54864" anchor="ctr">
            <a:spAutoFit/>
          </a:bodyPr>
          <a:lstStyle/>
          <a:p>
            <a:pPr algn="l"/>
            <a:r>
              <a:rPr sz="1350" b="0">
                <a:solidFill>
                  <a:srgbClr val="1F3046"/>
                </a:solidFill>
                <a:latin typeface="Arial"/>
              </a:rPr>
              <a:t>Run a clean async E2E A/B with identical settings and no profiler.
Saved time = batching OFF − batching ON.</a:t>
            </a:r>
          </a:p>
        </p:txBody>
      </p:sp>
      <p:sp>
        <p:nvSpPr>
          <p:cNvPr id="34" name="Chevron 33"/>
          <p:cNvSpPr/>
          <p:nvPr/>
        </p:nvSpPr>
        <p:spPr>
          <a:xfrm>
            <a:off x="3950208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7827264" y="3310128"/>
            <a:ext cx="384048" cy="502920"/>
          </a:xfrm>
          <a:prstGeom prst="chevron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120640"/>
            <a:ext cx="10515600" cy="694944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/>
            <a:r>
              <a:rPr sz="1500" b="1">
                <a:solidFill>
                  <a:srgbClr val="14345B"/>
                </a:solidFill>
                <a:latin typeface="Arial"/>
              </a:rPr>
              <a:t>SEARCH IN TRACE   "eplb: schedule migration batches"   →   compare scheduler cost / serving time saved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164592"/>
            <a:ext cx="420624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defRPr sz="1000"/>
            </a:pPr>
            <a:r>
              <a:rPr sz="1000" b="1">
                <a:solidFill>
                  <a:srgbClr val="2D67A4"/>
                </a:solidFill>
                <a:latin typeface="Aptos"/>
              </a:rPr>
              <a:t>SCHEDULER PROFILING</a:t>
            </a:r>
            <a:endParaRPr sz="900" b="1">
              <a:solidFill>
                <a:srgbClr val="2D67A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600" b="1">
                <a:solidFill>
                  <a:srgbClr val="133052"/>
                </a:solidFill>
                <a:latin typeface="Aptos"/>
              </a:rPr>
              <a:t>Profiling Results</a:t>
            </a:r>
            <a:endParaRPr sz="2600" b="1">
              <a:solidFill>
                <a:srgbClr val="133052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280160"/>
            <a:ext cx="11137392" cy="0"/>
          </a:xfrm>
          <a:prstGeom prst="line">
            <a:avLst/>
          </a:prstGeom>
          <a:ln w="12700">
            <a:solidFill>
              <a:srgbClr val="D2DC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7170" y="1591056"/>
            <a:ext cx="658368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3746" y="1627632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Rank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75538" y="1591056"/>
            <a:ext cx="713232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114" y="1627632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Calls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588770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346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P50/call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832354" y="1591056"/>
            <a:ext cx="1243584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8930" y="1627632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P99/call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75938" y="1591056"/>
            <a:ext cx="1417320" cy="521207"/>
          </a:xfrm>
          <a:prstGeom prst="rect">
            <a:avLst/>
          </a:prstGeom>
          <a:solidFill>
            <a:srgbClr val="133052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2514" y="1627632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FFFFFF"/>
                </a:solidFill>
                <a:latin typeface="Aptos"/>
              </a:rPr>
              <a:t>Cumulative</a:t>
            </a:r>
            <a:endParaRPr sz="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17170" y="2112264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746" y="2148840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0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5538" y="2112264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114" y="2148840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88770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5346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7.819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832354" y="2112264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8930" y="2148840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17.536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075938" y="2112264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2514" y="2148840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302.081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7170" y="2633472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3746" y="2670048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1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5538" y="2633472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114" y="2670048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88770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5346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832354" y="2633472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68930" y="2670048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12.357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075938" y="2633472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2514" y="2670048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253.152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17170" y="3154679"/>
            <a:ext cx="658368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3746" y="3191256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2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5538" y="3154679"/>
            <a:ext cx="713232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2114" y="3191256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588770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5346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7.035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832354" y="3154679"/>
            <a:ext cx="1243584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8930" y="3191256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16.104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075938" y="3154679"/>
            <a:ext cx="1417320" cy="521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2514" y="3191256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255.239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17170" y="3675887"/>
            <a:ext cx="658368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" y="3712463"/>
            <a:ext cx="585216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1">
                <a:solidFill>
                  <a:srgbClr val="1C2735"/>
                </a:solidFill>
                <a:latin typeface="Aptos"/>
              </a:rPr>
              <a:t>3</a:t>
            </a:r>
            <a:endParaRPr sz="1000" b="1">
              <a:solidFill>
                <a:srgbClr val="1C2735"/>
              </a:solidFill>
              <a:latin typeface="Aptos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875538" y="3675887"/>
            <a:ext cx="713232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114" y="3712463"/>
            <a:ext cx="640080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34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88770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5346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7.005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832354" y="3675887"/>
            <a:ext cx="1243584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8930" y="3712463"/>
            <a:ext cx="1170432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8.103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4075938" y="3675887"/>
            <a:ext cx="1417320" cy="521207"/>
          </a:xfrm>
          <a:prstGeom prst="rect">
            <a:avLst/>
          </a:prstGeom>
          <a:solidFill>
            <a:srgbClr val="F3F7FB"/>
          </a:solidFill>
          <a:ln w="12700">
            <a:solidFill>
              <a:srgbClr val="D2D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2514" y="3712463"/>
            <a:ext cx="1344168" cy="4480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1C2735"/>
                </a:solidFill>
                <a:latin typeface="Aptos"/>
              </a:rPr>
              <a:t>241.190 ms</a:t>
            </a:r>
            <a:endParaRPr sz="1000" b="0">
              <a:solidFill>
                <a:srgbClr val="1C2735"/>
              </a:solidFill>
              <a:latin typeface="Apto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45770" y="4301617"/>
            <a:ext cx="46634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33052"/>
                </a:solidFill>
                <a:latin typeface="Aptos"/>
              </a:rPr>
              <a:t>One call builds schedules for all 48 MoE layers</a:t>
            </a:r>
            <a:endParaRPr sz="14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10185" y="4629150"/>
            <a:ext cx="5285105" cy="204406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/>
              <p:cNvSpPr txBox="1"/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noFill/>
            </p:spPr>
            <p:txBody>
              <a:bodyPr wrap="non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𝑅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f</m:t>
                              </m:r>
                            </m:sub>
                          </m:sSub>
                          <m:r>
                            <a:rPr lang="en-US" sz="1500" dirty="0">
                              <a:solidFill>
                                <a:srgbClr val="1C2735"/>
                              </a:solidFill>
                              <a:latin typeface="Cambria Math" panose="02040503050406030204"/>
                            </a:rPr>
                            <m:t>−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lang="en-US" sz="1500" dirty="0">
                                  <a:solidFill>
                                    <a:srgbClr val="1C2735"/>
                                  </a:solidFill>
                                  <a:latin typeface="Cambria Math" panose="02040503050406030204"/>
                                </a:rPr>
                                <m:t>n</m:t>
                              </m:r>
                            </m:sub>
                          </m:sSub>
                        </m:den>
                      </m:f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×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100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=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0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.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285</m:t>
                      </m:r>
                      <m:r>
                        <a:rPr lang="en-US" sz="1500" dirty="0">
                          <a:solidFill>
                            <a:srgbClr val="1C2735"/>
                          </a:solidFill>
                          <a:latin typeface="Cambria Math" panose="02040503050406030204"/>
                        </a:rPr>
                        <m:t>%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2" name="TextBox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28" y="4705795"/>
                <a:ext cx="2943860" cy="559435"/>
              </a:xfrm>
              <a:prstGeom prst="rect">
                <a:avLst/>
              </a:prstGeom>
              <a:blipFill rotWithShape="1">
                <a:blip r:embed="rId1"/>
                <a:stretch>
                  <a:fillRect l="-17" t="-80" r="17" b="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ounded Rectangle 62"/>
          <p:cNvSpPr/>
          <p:nvPr/>
        </p:nvSpPr>
        <p:spPr>
          <a:xfrm>
            <a:off x="53009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8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537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DD852A"/>
                </a:solidFill>
                <a:latin typeface="Aptos"/>
              </a:rPr>
              <a:t>302.081 ms</a:t>
            </a:r>
            <a:endParaRPr sz="2200" b="1">
              <a:solidFill>
                <a:srgbClr val="DD852A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1537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largest cumulative scheduler cost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98978" y="5625592"/>
            <a:ext cx="212140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418" y="5717032"/>
            <a:ext cx="1938527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2200" b="1">
                <a:solidFill>
                  <a:srgbClr val="1B8D60"/>
                </a:solidFill>
                <a:latin typeface="Aptos"/>
              </a:rPr>
              <a:t>105.932 s</a:t>
            </a:r>
            <a:endParaRPr sz="2200" b="1">
              <a:solidFill>
                <a:srgbClr val="1B8D60"/>
              </a:solidFill>
              <a:latin typeface="Aptos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3090418" y="6128512"/>
            <a:ext cx="1938527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defRPr sz="1200"/>
            </a:pPr>
            <a:r>
              <a:rPr sz="1200" b="0">
                <a:solidFill>
                  <a:srgbClr val="5D6C7E"/>
                </a:solidFill>
                <a:latin typeface="Aptos"/>
              </a:rPr>
              <a:t>clean E2E serving time saved</a:t>
            </a:r>
            <a:endParaRPr sz="900" b="0">
              <a:solidFill>
                <a:srgbClr val="5D6C7E"/>
              </a:solidFill>
              <a:latin typeface="Apto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490" y="1824355"/>
            <a:ext cx="6287770" cy="41992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0465" y="1416050"/>
            <a:ext cx="54667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Cumulative: Total extra schedule time of  each rank</a:t>
            </a:r>
            <a:endParaRPr lang="en-US" altLang="zh-CN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9" name="直接箭头连接符 58"/>
          <p:cNvCxnSpPr/>
          <p:nvPr/>
        </p:nvCxnSpPr>
        <p:spPr>
          <a:xfrm flipV="1">
            <a:off x="5598795" y="1591310"/>
            <a:ext cx="661670" cy="812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18"/>
          <p:cNvSpPr/>
          <p:nvPr/>
        </p:nvSpPr>
        <p:spPr>
          <a:xfrm>
            <a:off x="5980430" y="6156325"/>
            <a:ext cx="6000115" cy="559435"/>
          </a:xfrm>
          <a:prstGeom prst="roundRect">
            <a:avLst/>
          </a:prstGeom>
          <a:solidFill>
            <a:srgbClr val="EEF7F2"/>
          </a:solidFill>
          <a:ln w="16510">
            <a:solidFill>
              <a:srgbClr val="138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54864" rtlCol="0" anchor="ctr"/>
          <a:lstStyle/>
          <a:p>
            <a:pPr algn="ctr"/>
            <a:r>
              <a:rPr lang="en-US" altLang="zh-CN" sz="1500" b="1">
                <a:solidFill>
                  <a:srgbClr val="14345B"/>
                </a:solidFill>
                <a:latin typeface="Arial" panose="020B0604020202020204"/>
              </a:rPr>
              <a:t>This is a positive optimization!</a:t>
            </a:r>
            <a:endParaRPr lang="zh-CN" altLang="en-US" sz="1500" b="1">
              <a:solidFill>
                <a:srgbClr val="14345B"/>
              </a:solidFill>
              <a:latin typeface="Arial" panose="020B0604020202020204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7621143" y="4084320"/>
            <a:ext cx="2377440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Questions?</a:t>
            </a:r>
            <a:endParaRPr sz="28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71175" y="6401435"/>
            <a:ext cx="1384300" cy="34925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noAutofit/>
          </a:bodyPr>
          <a:lstStyle/>
          <a:p>
            <a:pPr algn="l">
              <a:defRPr sz="1200"/>
            </a:pPr>
            <a:r>
              <a:rPr sz="1200" b="1">
                <a:solidFill>
                  <a:srgbClr val="E1EDF8"/>
                </a:solidFill>
                <a:latin typeface="Aptos"/>
                <a:hlinkClick r:id="rId1"/>
              </a:rPr>
              <a:t>vLLM PR #52641</a:t>
            </a:r>
            <a:endParaRPr sz="1100" b="1">
              <a:solidFill>
                <a:srgbClr val="E1EDF8"/>
              </a:solidFill>
              <a:latin typeface="Aptos"/>
              <a:hlinkClick r:id="rId1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234565" y="5056632"/>
            <a:ext cx="7818120" cy="621792"/>
          </a:xfrm>
          <a:prstGeom prst="roundRect">
            <a:avLst/>
          </a:prstGeom>
          <a:solidFill>
            <a:srgbClr val="E5F5EE"/>
          </a:solidFill>
          <a:ln w="12700">
            <a:solidFill>
              <a:srgbClr val="1B8D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1452" y="5173409"/>
            <a:ext cx="7315200" cy="33337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133052"/>
                </a:solidFill>
                <a:latin typeface="Aptos"/>
              </a:rPr>
              <a:t>Result: a </a:t>
            </a:r>
            <a:r>
              <a:rPr lang="en-US" sz="1700" b="1">
                <a:solidFill>
                  <a:srgbClr val="133052"/>
                </a:solidFill>
                <a:latin typeface="Aptos"/>
              </a:rPr>
              <a:t>positive</a:t>
            </a:r>
            <a:r>
              <a:rPr sz="1700" b="1">
                <a:solidFill>
                  <a:srgbClr val="133052"/>
                </a:solidFill>
                <a:latin typeface="Aptos"/>
              </a:rPr>
              <a:t> optimization merged into vLLM</a:t>
            </a:r>
            <a:endParaRPr sz="1700" b="1">
              <a:solidFill>
                <a:srgbClr val="133052"/>
              </a:solidFill>
              <a:latin typeface="Apto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063365" y="2159635"/>
            <a:ext cx="406400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</a:t>
            </a:r>
            <a:endParaRPr lang="en-US" altLang="zh-CN" sz="88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284470" y="3545205"/>
            <a:ext cx="162242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8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Q&amp;A</a:t>
            </a:r>
            <a:endParaRPr lang="en-US" altLang="zh-CN" sz="480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7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8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9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0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1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2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3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4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5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6.xml><?xml version="1.0" encoding="utf-8"?>
<p:tagLst xmlns:p="http://schemas.openxmlformats.org/presentationml/2006/main">
  <p:tag name="KSO_WM_DIAGRAM_VIRTUALLY_FRAME" val="{&quot;height&quot;:266.4,&quot;left&quot;:61.2,&quot;top&quot;:133.2,&quot;width&quot;:831.6}"/>
</p:tagLst>
</file>

<file path=ppt/tags/tag17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8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19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0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1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2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3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4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5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6.xml><?xml version="1.0" encoding="utf-8"?>
<p:tagLst xmlns:p="http://schemas.openxmlformats.org/presentationml/2006/main">
  <p:tag name="KSO_WM_DIAGRAM_VIRTUALLY_FRAME" val="{&quot;height&quot;:359.04,&quot;left&quot;:44.64,&quot;top&quot;:123.84,&quot;width&quot;:873.5}"/>
</p:tagLst>
</file>

<file path=ppt/tags/tag2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8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29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0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1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2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3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4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5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6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ags/tag37.xml><?xml version="1.0" encoding="utf-8"?>
<p:tagLst xmlns:p="http://schemas.openxmlformats.org/presentationml/2006/main">
  <p:tag name="KSO_WM_DIAGRAM_VIRTUALLY_FRAME" val="{&quot;height&quot;:277.2,&quot;left&quot;:50.4,&quot;top&quot;:131.04000000000002,&quot;width&quot;:856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4926</Words>
  <Application>WPS 演示</Application>
  <PresentationFormat>On-screen Show (4:3)</PresentationFormat>
  <Paragraphs>654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8" baseType="lpstr">
      <vt:lpstr>Arial</vt:lpstr>
      <vt:lpstr>宋体</vt:lpstr>
      <vt:lpstr>Wingdings</vt:lpstr>
      <vt:lpstr>Arial</vt:lpstr>
      <vt:lpstr>Aptos</vt:lpstr>
      <vt:lpstr>Segoe UI</vt:lpstr>
      <vt:lpstr>Cambria Math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Parallel Load Balancing in Mixture-of-Experts Serving in vLLM</dc:title>
  <dc:creator>WU CAO</dc:creator>
  <cp:keywords>MoE, expert parallelism, EPLB, migration batching, vLLM, NIXL</cp:keywords>
  <dc:description>generated using python-pptx</dc:description>
  <dc:subject>ILP formulation, online scheduling, vLLM integration, and evaluation</dc:subject>
  <cp:lastModifiedBy>别开枪，是我</cp:lastModifiedBy>
  <cp:revision>54</cp:revision>
  <dcterms:created xsi:type="dcterms:W3CDTF">2013-01-27T09:14:00Z</dcterms:created>
  <dcterms:modified xsi:type="dcterms:W3CDTF">2026-10-25T11:35:04Z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378BB7B7367D4CA79ABCC313ABBF015C_12</vt:lpwstr>
  </property>
  <property fmtid="{D5CDD505-2E9C-101B-9397-08002B2CF9AE}" pid="3" name="KSOProductBuildVer">
    <vt:lpwstr>2052-12.1.0.28505</vt:lpwstr>
  </property>
</Properties>
</file>