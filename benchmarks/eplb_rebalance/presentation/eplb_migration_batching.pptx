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76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52" userDrawn="1">
          <p15:clr>
            <a:srgbClr val="A4A3A4"/>
          </p15:clr>
        </p15:guide>
        <p15:guide id="2" pos="290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252"/>
        <p:guide pos="290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1" Type="http://schemas.openxmlformats.org/officeDocument/2006/relationships/hyperlink" Target="https://github.com/vllm-project/vllm/pull/52641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hyperlink" Target="https://github.com/vllm-project/vllm/pull/52641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3977639" cy="6858000"/>
          </a:xfrm>
          <a:prstGeom prst="rect">
            <a:avLst/>
          </a:prstGeom>
          <a:solidFill>
            <a:srgbClr val="133052"/>
          </a:solidFill>
          <a:ln w="12700">
            <a:solidFill>
              <a:srgbClr val="13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72" y="1097280"/>
            <a:ext cx="3273552" cy="21945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Contention-Aware
Expert Migration
for MoE Serving</a:t>
            </a:r>
            <a:endParaRPr sz="27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03504" y="5230368"/>
            <a:ext cx="274320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WU CAO · 11036000</a:t>
            </a:r>
            <a:endParaRPr sz="15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03504" y="5614416"/>
            <a:ext cx="2880360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0">
                <a:solidFill>
                  <a:srgbClr val="E1EDF8"/>
                </a:solidFill>
                <a:latin typeface="Aptos"/>
              </a:rPr>
              <a:t>MSc High Performance Computing Engineering
A.Y. 2026–2027</a:t>
            </a:r>
            <a:endParaRPr sz="1100" b="0">
              <a:solidFill>
                <a:srgbClr val="E1EDF8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572000" y="2194560"/>
            <a:ext cx="6903720" cy="2240280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E1E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64608" y="2432304"/>
            <a:ext cx="10058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BF4149"/>
                </a:solidFill>
                <a:latin typeface="Aptos"/>
              </a:rPr>
              <a:t>Unbatched</a:t>
            </a:r>
            <a:endParaRPr sz="1000" b="1">
              <a:solidFill>
                <a:srgbClr val="BF4149"/>
              </a:solidFill>
              <a:latin typeface="Aptos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4919472" y="2770632"/>
            <a:ext cx="438912" cy="438912"/>
          </a:xfrm>
          <a:prstGeom prst="ellipse">
            <a:avLst/>
          </a:prstGeom>
          <a:solidFill>
            <a:srgbClr val="2D67A4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19472" y="2779775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R0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907024" y="2770632"/>
            <a:ext cx="438912" cy="438912"/>
          </a:xfrm>
          <a:prstGeom prst="ellipse">
            <a:avLst/>
          </a:prstGeom>
          <a:solidFill>
            <a:srgbClr val="158EA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7024" y="2779775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R1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4919472" y="3538727"/>
            <a:ext cx="438912" cy="438912"/>
          </a:xfrm>
          <a:prstGeom prst="ellipse">
            <a:avLst/>
          </a:prstGeom>
          <a:solidFill>
            <a:srgbClr val="8153A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9472" y="3547871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R2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5907024" y="3538727"/>
            <a:ext cx="438912" cy="438912"/>
          </a:xfrm>
          <a:prstGeom prst="ellipse">
            <a:avLst/>
          </a:prstGeom>
          <a:solidFill>
            <a:srgbClr val="DD852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07024" y="3547871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R3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784848" y="3099816"/>
            <a:ext cx="50292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600" b="1">
                <a:solidFill>
                  <a:srgbClr val="5D6C7E"/>
                </a:solidFill>
                <a:latin typeface="Aptos"/>
              </a:rPr>
              <a:t>→</a:t>
            </a:r>
            <a:endParaRPr sz="26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342631" y="2432304"/>
            <a:ext cx="21488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1B8D60"/>
                </a:solidFill>
                <a:latin typeface="Aptos"/>
              </a:rPr>
              <a:t>Rank-disjoint batches</a:t>
            </a:r>
            <a:endParaRPr sz="10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7342631" y="2834640"/>
            <a:ext cx="340156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79792" y="2926080"/>
            <a:ext cx="6583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00" b="1">
                <a:solidFill>
                  <a:srgbClr val="2D67A4"/>
                </a:solidFill>
                <a:latin typeface="Aptos"/>
              </a:rPr>
              <a:t>Batch 0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229600" y="2907792"/>
            <a:ext cx="230428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133052"/>
                </a:solidFill>
                <a:latin typeface="Aptos"/>
              </a:rPr>
              <a:t>R0→R1    R2→R3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7342631" y="3520440"/>
            <a:ext cx="340156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79792" y="3611880"/>
            <a:ext cx="6583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00" b="1">
                <a:solidFill>
                  <a:srgbClr val="8153A0"/>
                </a:solidFill>
                <a:latin typeface="Aptos"/>
              </a:rPr>
              <a:t>Batch 1</a:t>
            </a:r>
            <a:endParaRPr sz="900" b="1">
              <a:solidFill>
                <a:srgbClr val="8153A0"/>
              </a:solidFill>
              <a:latin typeface="Apto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229600" y="3593592"/>
            <a:ext cx="230428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133052"/>
                </a:solidFill>
                <a:latin typeface="Aptos"/>
              </a:rPr>
              <a:t>R1→R2    R0→R3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590288" y="4983480"/>
            <a:ext cx="10058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2D67A4"/>
                </a:solidFill>
                <a:latin typeface="Aptos"/>
              </a:rPr>
              <a:t>Advisor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669280" y="4946904"/>
            <a:ext cx="265176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1">
                <a:solidFill>
                  <a:srgbClr val="1C2735"/>
                </a:solidFill>
                <a:latin typeface="Aptos"/>
              </a:rPr>
              <a:t>Prof. Massimo Tornatore</a:t>
            </a:r>
            <a:endParaRPr sz="13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590288" y="5394960"/>
            <a:ext cx="10058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2D67A4"/>
                </a:solidFill>
                <a:latin typeface="Aptos"/>
              </a:rPr>
              <a:t>Co-advisor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669280" y="5358384"/>
            <a:ext cx="310896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1">
                <a:solidFill>
                  <a:srgbClr val="1C2735"/>
                </a:solidFill>
                <a:latin typeface="Aptos"/>
              </a:rPr>
              <a:t>Assistant Prof. Qiaolun Zhang</a:t>
            </a:r>
            <a:endParaRPr sz="13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522208" y="6053328"/>
            <a:ext cx="278892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1100" b="1">
                <a:solidFill>
                  <a:srgbClr val="1B8D60"/>
                </a:solidFill>
                <a:latin typeface="Aptos"/>
                <a:hlinkClick r:id="rId1"/>
              </a:rPr>
              <a:t>Merged into vLLM · PR #52641</a:t>
            </a:r>
            <a:endParaRPr sz="1100" b="1">
              <a:solidFill>
                <a:srgbClr val="1B8D60"/>
              </a:solidFill>
              <a:latin typeface="Aptos"/>
              <a:hlinkClick r:id="rId1"/>
            </a:endParaRPr>
          </a:p>
        </p:txBody>
      </p:sp>
      <p:pic>
        <p:nvPicPr>
          <p:cNvPr id="37" name="图片 3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7865" y="257810"/>
            <a:ext cx="3175635" cy="894080"/>
          </a:xfrm>
          <a:prstGeom prst="rect">
            <a:avLst/>
          </a:prstGeom>
        </p:spPr>
      </p:pic>
      <p:cxnSp>
        <p:nvCxnSpPr>
          <p:cNvPr id="38" name="直接箭头连接符 37"/>
          <p:cNvCxnSpPr>
            <a:stCxn id="13" idx="3"/>
            <a:endCxn id="15" idx="1"/>
          </p:cNvCxnSpPr>
          <p:nvPr/>
        </p:nvCxnSpPr>
        <p:spPr>
          <a:xfrm>
            <a:off x="5358130" y="2990215"/>
            <a:ext cx="54864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/>
          <p:cNvCxnSpPr>
            <a:stCxn id="17" idx="3"/>
            <a:endCxn id="19" idx="1"/>
          </p:cNvCxnSpPr>
          <p:nvPr/>
        </p:nvCxnSpPr>
        <p:spPr>
          <a:xfrm>
            <a:off x="5358130" y="3757930"/>
            <a:ext cx="54864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接箭头连接符 39"/>
          <p:cNvCxnSpPr>
            <a:stCxn id="15" idx="2"/>
            <a:endCxn id="17" idx="0"/>
          </p:cNvCxnSpPr>
          <p:nvPr/>
        </p:nvCxnSpPr>
        <p:spPr>
          <a:xfrm flipH="1">
            <a:off x="5139055" y="3200400"/>
            <a:ext cx="987425" cy="34734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/>
          <p:cNvCxnSpPr>
            <a:stCxn id="13" idx="2"/>
            <a:endCxn id="19" idx="0"/>
          </p:cNvCxnSpPr>
          <p:nvPr/>
        </p:nvCxnSpPr>
        <p:spPr>
          <a:xfrm>
            <a:off x="5139055" y="3200400"/>
            <a:ext cx="987425" cy="34734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00" b="1">
                <a:solidFill>
                  <a:srgbClr val="2D67A4"/>
                </a:solidFill>
                <a:latin typeface="Aptos"/>
              </a:rPr>
              <a:t>OVERVIEW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Outline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77240" y="1691640"/>
            <a:ext cx="5074920" cy="141732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5" y="1947672"/>
            <a:ext cx="713232" cy="5029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700" b="1">
                <a:solidFill>
                  <a:srgbClr val="2D67A4"/>
                </a:solidFill>
                <a:latin typeface="Aptos"/>
              </a:rPr>
              <a:t>01</a:t>
            </a:r>
            <a:endParaRPr sz="27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783080" y="1874520"/>
            <a:ext cx="3566160" cy="42062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400" b="1">
                <a:solidFill>
                  <a:srgbClr val="133052"/>
                </a:solidFill>
                <a:latin typeface="Aptos"/>
              </a:rPr>
              <a:t>Background</a:t>
            </a:r>
            <a:endParaRPr sz="24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783080" y="2350008"/>
            <a:ext cx="3657600" cy="45720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500" b="0">
                <a:solidFill>
                  <a:srgbClr val="5D6C7E"/>
                </a:solidFill>
                <a:latin typeface="Aptos"/>
              </a:rPr>
              <a:t>MoE, EP, and asynchronous EPLB</a:t>
            </a:r>
            <a:endParaRPr sz="15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263640" y="1691640"/>
            <a:ext cx="5074920" cy="141732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1947672"/>
            <a:ext cx="713232" cy="5029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700" b="1">
                <a:solidFill>
                  <a:srgbClr val="8153A0"/>
                </a:solidFill>
                <a:latin typeface="Aptos"/>
              </a:rPr>
              <a:t>02</a:t>
            </a:r>
            <a:endParaRPr sz="2700" b="1">
              <a:solidFill>
                <a:srgbClr val="8153A0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269479" y="1874520"/>
            <a:ext cx="3566160" cy="42062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400" b="1">
                <a:solidFill>
                  <a:srgbClr val="133052"/>
                </a:solidFill>
                <a:latin typeface="Aptos"/>
              </a:rPr>
              <a:t>Model</a:t>
            </a:r>
            <a:endParaRPr sz="24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269479" y="2350008"/>
            <a:ext cx="3657600" cy="45720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500" b="0">
                <a:solidFill>
                  <a:srgbClr val="5D6C7E"/>
                </a:solidFill>
                <a:latin typeface="Aptos"/>
              </a:rPr>
              <a:t>Contention objective and offline ILP</a:t>
            </a:r>
            <a:endParaRPr sz="15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777240" y="3657600"/>
            <a:ext cx="5074920" cy="141732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5" y="3913632"/>
            <a:ext cx="713232" cy="5029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700" b="1">
                <a:solidFill>
                  <a:srgbClr val="DD852A"/>
                </a:solidFill>
                <a:latin typeface="Aptos"/>
              </a:rPr>
              <a:t>03</a:t>
            </a:r>
            <a:endParaRPr sz="27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783080" y="3840480"/>
            <a:ext cx="3566160" cy="42062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400" b="1">
                <a:solidFill>
                  <a:srgbClr val="133052"/>
                </a:solidFill>
                <a:latin typeface="Aptos"/>
              </a:rPr>
              <a:t>Design</a:t>
            </a:r>
            <a:endParaRPr sz="24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783080" y="4315968"/>
            <a:ext cx="3657600" cy="45720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500" b="0">
                <a:solidFill>
                  <a:srgbClr val="5D6C7E"/>
                </a:solidFill>
                <a:latin typeface="Aptos"/>
              </a:rPr>
              <a:t>Rank-disjoint migration batching</a:t>
            </a:r>
            <a:endParaRPr sz="15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263640" y="3657600"/>
            <a:ext cx="5074920" cy="141732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3096" y="3913632"/>
            <a:ext cx="713232" cy="5029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700" b="1">
                <a:solidFill>
                  <a:srgbClr val="1B8D60"/>
                </a:solidFill>
                <a:latin typeface="Aptos"/>
              </a:rPr>
              <a:t>04</a:t>
            </a:r>
            <a:endParaRPr sz="27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269479" y="3840480"/>
            <a:ext cx="3566160" cy="42062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400" b="1">
                <a:solidFill>
                  <a:srgbClr val="133052"/>
                </a:solidFill>
                <a:latin typeface="Aptos"/>
              </a:rPr>
              <a:t>Evaluation</a:t>
            </a:r>
            <a:endParaRPr sz="24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269479" y="4315968"/>
            <a:ext cx="3657600" cy="45720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500" b="0">
                <a:solidFill>
                  <a:srgbClr val="5D6C7E"/>
                </a:solidFill>
                <a:latin typeface="Aptos"/>
              </a:rPr>
              <a:t>E2E serving, NIC traffic, and profiling</a:t>
            </a:r>
            <a:endParaRPr sz="1500" b="0">
              <a:solidFill>
                <a:srgbClr val="5D6C7E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00" b="1">
                <a:solidFill>
                  <a:srgbClr val="2D67A4"/>
                </a:solidFill>
                <a:latin typeface="Aptos"/>
              </a:rPr>
              <a:t>BACKGROUND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54152"/>
            <a:ext cx="11064240" cy="4724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MoE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 and 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EP</a:t>
            </a:r>
            <a:endParaRPr lang="en-US" sz="26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21207" y="932688"/>
            <a:ext cx="1097280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0">
                <a:solidFill>
                  <a:srgbClr val="5D6C7E"/>
                </a:solidFill>
                <a:latin typeface="Aptos"/>
              </a:rPr>
              <a:t>Expert parallelism distributes the expert weights across ranks</a:t>
            </a:r>
            <a:endParaRPr sz="1100" b="0">
              <a:solidFill>
                <a:srgbClr val="5D6C7E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66928" y="1572768"/>
            <a:ext cx="3657600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73936"/>
            <a:ext cx="164592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2D67A4"/>
                </a:solidFill>
                <a:latin typeface="Aptos"/>
              </a:rPr>
              <a:t>TOKEN ROUTING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868680" y="2286000"/>
            <a:ext cx="475488" cy="475488"/>
          </a:xfrm>
          <a:prstGeom prst="ellipse">
            <a:avLst/>
          </a:prstGeom>
          <a:solidFill>
            <a:srgbClr val="158EA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95144"/>
            <a:ext cx="475488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t₁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868680" y="2971800"/>
            <a:ext cx="475488" cy="475488"/>
          </a:xfrm>
          <a:prstGeom prst="ellipse">
            <a:avLst/>
          </a:prstGeom>
          <a:solidFill>
            <a:srgbClr val="158EA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980944"/>
            <a:ext cx="475488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t₂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868680" y="3657600"/>
            <a:ext cx="475488" cy="475488"/>
          </a:xfrm>
          <a:prstGeom prst="ellipse">
            <a:avLst/>
          </a:prstGeom>
          <a:solidFill>
            <a:srgbClr val="158EA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666744"/>
            <a:ext cx="475488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t₃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868680" y="4343400"/>
            <a:ext cx="475488" cy="475488"/>
          </a:xfrm>
          <a:prstGeom prst="ellipse">
            <a:avLst/>
          </a:prstGeom>
          <a:solidFill>
            <a:srgbClr val="158EA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352544"/>
            <a:ext cx="475488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t₄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1920240" y="2834640"/>
            <a:ext cx="1325880" cy="987552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65960" y="2971800"/>
            <a:ext cx="1234440" cy="56692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600" b="1">
                <a:solidFill>
                  <a:srgbClr val="133052"/>
                </a:solidFill>
                <a:latin typeface="Aptos"/>
              </a:rPr>
              <a:t>Router
Top-k</a:t>
            </a:r>
            <a:endParaRPr sz="1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1344168" y="2523744"/>
            <a:ext cx="576072" cy="603504"/>
          </a:xfrm>
          <a:prstGeom prst="line">
            <a:avLst/>
          </a:prstGeom>
          <a:ln w="1524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344168" y="3209544"/>
            <a:ext cx="576072" cy="137160"/>
          </a:xfrm>
          <a:prstGeom prst="line">
            <a:avLst/>
          </a:prstGeom>
          <a:ln w="1524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344168" y="3127248"/>
            <a:ext cx="576072" cy="768096"/>
          </a:xfrm>
          <a:prstGeom prst="line">
            <a:avLst/>
          </a:prstGeom>
          <a:ln w="1524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344168" y="3346704"/>
            <a:ext cx="576072" cy="1234440"/>
          </a:xfrm>
          <a:prstGeom prst="line">
            <a:avLst/>
          </a:prstGeom>
          <a:ln w="1524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401568" y="2240280"/>
            <a:ext cx="585216" cy="585216"/>
          </a:xfrm>
          <a:prstGeom prst="ellipse">
            <a:avLst/>
          </a:prstGeom>
          <a:solidFill>
            <a:srgbClr val="2D67A4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01568" y="2249424"/>
            <a:ext cx="585216" cy="56692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E₀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27" name="Connector 26"/>
          <p:cNvCxnSpPr/>
          <p:nvPr/>
        </p:nvCxnSpPr>
        <p:spPr>
          <a:xfrm flipV="1">
            <a:off x="3246120" y="2532888"/>
            <a:ext cx="155448" cy="649224"/>
          </a:xfrm>
          <a:prstGeom prst="line">
            <a:avLst/>
          </a:prstGeom>
          <a:ln w="15240">
            <a:solidFill>
              <a:srgbClr val="2D67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3401568" y="3300984"/>
            <a:ext cx="585216" cy="585216"/>
          </a:xfrm>
          <a:prstGeom prst="ellipse">
            <a:avLst/>
          </a:prstGeom>
          <a:solidFill>
            <a:srgbClr val="1B8D6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01568" y="3310128"/>
            <a:ext cx="585216" cy="56692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E₁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3246120" y="3182112"/>
            <a:ext cx="155448" cy="411479"/>
          </a:xfrm>
          <a:prstGeom prst="line">
            <a:avLst/>
          </a:prstGeom>
          <a:ln w="15240">
            <a:solidFill>
              <a:srgbClr val="1B8D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3401568" y="4361688"/>
            <a:ext cx="585216" cy="585216"/>
          </a:xfrm>
          <a:prstGeom prst="ellipse">
            <a:avLst/>
          </a:prstGeom>
          <a:solidFill>
            <a:srgbClr val="DD852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01568" y="4370831"/>
            <a:ext cx="585216" cy="56692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E₂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33" name="Connector 32"/>
          <p:cNvCxnSpPr/>
          <p:nvPr/>
        </p:nvCxnSpPr>
        <p:spPr>
          <a:xfrm>
            <a:off x="3246120" y="3182112"/>
            <a:ext cx="155448" cy="1472184"/>
          </a:xfrm>
          <a:prstGeom prst="line">
            <a:avLst/>
          </a:prstGeom>
          <a:ln w="15240">
            <a:solidFill>
              <a:srgbClr val="DD8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41248" y="5230368"/>
            <a:ext cx="3063240" cy="42062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C2735"/>
                </a:solidFill>
                <a:latin typeface="Aptos"/>
              </a:rPr>
              <a:t>Only a subset of experts runs for each token</a:t>
            </a:r>
            <a:endParaRPr sz="13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4498848" y="1572768"/>
            <a:ext cx="7132320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73168" y="1773936"/>
            <a:ext cx="246888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1B8D60"/>
                </a:solidFill>
                <a:latin typeface="Aptos"/>
              </a:rPr>
              <a:t>EXPERT PARALLEL PLACEMENT</a:t>
            </a:r>
            <a:endParaRPr sz="10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4800600" y="2231136"/>
            <a:ext cx="1307592" cy="2304288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73752" y="2350008"/>
            <a:ext cx="1161288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133052"/>
                </a:solidFill>
                <a:latin typeface="Aptos"/>
              </a:rPr>
              <a:t>Rank 0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5020056" y="2761488"/>
            <a:ext cx="868680" cy="365760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0056" y="2807208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E0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5020056" y="3273552"/>
            <a:ext cx="868680" cy="365760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0056" y="3319272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E1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5020056" y="3785616"/>
            <a:ext cx="868680" cy="365760"/>
          </a:xfrm>
          <a:prstGeom prst="rect">
            <a:avLst/>
          </a:prstGeom>
          <a:solidFill>
            <a:srgbClr val="DD852A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0056" y="3831335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E2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6446520" y="2231136"/>
            <a:ext cx="1307592" cy="2304288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19672" y="2350008"/>
            <a:ext cx="1161288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133052"/>
                </a:solidFill>
                <a:latin typeface="Aptos"/>
              </a:rPr>
              <a:t>Rank 1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6665976" y="2761488"/>
            <a:ext cx="868680" cy="365760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65976" y="2807208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E3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6665976" y="3273552"/>
            <a:ext cx="868680" cy="365760"/>
          </a:xfrm>
          <a:prstGeom prst="rect">
            <a:avLst/>
          </a:prstGeom>
          <a:solidFill>
            <a:srgbClr val="DD852A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65976" y="3319272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E4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6665976" y="3785616"/>
            <a:ext cx="868680" cy="365760"/>
          </a:xfrm>
          <a:prstGeom prst="rect">
            <a:avLst/>
          </a:prstGeom>
          <a:solidFill>
            <a:srgbClr val="8153A0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65976" y="3831335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E5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8092440" y="2231136"/>
            <a:ext cx="1307592" cy="2304288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65592" y="2350008"/>
            <a:ext cx="1161288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133052"/>
                </a:solidFill>
                <a:latin typeface="Aptos"/>
              </a:rPr>
              <a:t>Rank 2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8311896" y="2761488"/>
            <a:ext cx="868680" cy="365760"/>
          </a:xfrm>
          <a:prstGeom prst="rect">
            <a:avLst/>
          </a:prstGeom>
          <a:solidFill>
            <a:srgbClr val="DD852A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11896" y="2807208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E6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8311896" y="3273552"/>
            <a:ext cx="868680" cy="365760"/>
          </a:xfrm>
          <a:prstGeom prst="rect">
            <a:avLst/>
          </a:prstGeom>
          <a:solidFill>
            <a:srgbClr val="8153A0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311896" y="3319272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E7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8311896" y="3785616"/>
            <a:ext cx="868680" cy="365760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11896" y="3831335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E0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9738360" y="2231136"/>
            <a:ext cx="1307592" cy="2304288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11512" y="2350008"/>
            <a:ext cx="1161288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133052"/>
                </a:solidFill>
                <a:latin typeface="Aptos"/>
              </a:rPr>
              <a:t>Rank 3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9957816" y="2761488"/>
            <a:ext cx="868680" cy="365760"/>
          </a:xfrm>
          <a:prstGeom prst="rect">
            <a:avLst/>
          </a:prstGeom>
          <a:solidFill>
            <a:srgbClr val="8153A0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957816" y="2807208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E1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9957816" y="3273552"/>
            <a:ext cx="868680" cy="365760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957816" y="3319272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E2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9957816" y="3785616"/>
            <a:ext cx="868680" cy="365760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957816" y="3831335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E3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4892040" y="4892040"/>
            <a:ext cx="2468880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400" b="1">
                <a:solidFill>
                  <a:srgbClr val="BF4149"/>
                </a:solidFill>
                <a:latin typeface="Aptos"/>
              </a:rPr>
              <a:t>Routing is input-dependent</a:t>
            </a:r>
            <a:endParaRPr sz="1400" b="1">
              <a:solidFill>
                <a:srgbClr val="BF4149"/>
              </a:solidFill>
              <a:latin typeface="Aptos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7315200" y="4754880"/>
            <a:ext cx="3886200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400" b="0">
                <a:solidFill>
                  <a:srgbClr val="1C2735"/>
                </a:solidFill>
                <a:latin typeface="Aptos"/>
              </a:rPr>
              <a:t>→ expert popularity changes over time
→ some ranks become overloaded</a:t>
            </a:r>
            <a:endParaRPr sz="1400" b="0">
              <a:solidFill>
                <a:srgbClr val="1C2735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100" b="1">
                <a:solidFill>
                  <a:srgbClr val="2D67A4"/>
                </a:solidFill>
                <a:latin typeface="Aptos"/>
              </a:rPr>
              <a:t>BACKGROUND</a:t>
            </a:r>
            <a:endParaRPr sz="11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700" b="1">
                <a:solidFill>
                  <a:srgbClr val="133052"/>
                </a:solidFill>
                <a:latin typeface="Aptos"/>
              </a:rPr>
              <a:t>Qwen3 MoE Architecture</a:t>
            </a:r>
            <a:endParaRPr sz="27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905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qwen3_moe_architectu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2955" y="1444752"/>
            <a:ext cx="8372184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00" b="1">
                <a:solidFill>
                  <a:srgbClr val="2D67A4"/>
                </a:solidFill>
                <a:latin typeface="Aptos"/>
              </a:rPr>
              <a:t>BACKGROUND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Asynchronous EPLB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66928" y="1536192"/>
            <a:ext cx="11045952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1901952"/>
            <a:ext cx="502920" cy="502920"/>
          </a:xfrm>
          <a:prstGeom prst="ellipse">
            <a:avLst/>
          </a:prstGeom>
          <a:solidFill>
            <a:srgbClr val="2D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5"/>
            <a:ext cx="502920" cy="48463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  <a:endParaRPr sz="15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554480" y="1792224"/>
            <a:ext cx="1645920" cy="676656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800" b="1">
                <a:solidFill>
                  <a:srgbClr val="133052"/>
                </a:solidFill>
                <a:latin typeface="Aptos"/>
              </a:rPr>
              <a:t>Collect
expert load</a:t>
            </a:r>
            <a:endParaRPr sz="18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3108960" y="2157984"/>
            <a:ext cx="320040" cy="0"/>
          </a:xfrm>
          <a:prstGeom prst="line">
            <a:avLst/>
          </a:prstGeom>
          <a:ln w="29209">
            <a:solidFill>
              <a:srgbClr val="5D6C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3611880" y="1901952"/>
            <a:ext cx="502920" cy="502920"/>
          </a:xfrm>
          <a:prstGeom prst="ellipse">
            <a:avLst/>
          </a:prstGeom>
          <a:solidFill>
            <a:srgbClr val="158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1911095"/>
            <a:ext cx="502920" cy="48463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  <a:endParaRPr sz="15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297680" y="1792224"/>
            <a:ext cx="1645920" cy="676656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800" b="1">
                <a:solidFill>
                  <a:srgbClr val="133052"/>
                </a:solidFill>
                <a:latin typeface="Aptos"/>
              </a:rPr>
              <a:t>Compute new
placement</a:t>
            </a:r>
            <a:endParaRPr sz="18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14" name="Connector 13"/>
          <p:cNvCxnSpPr/>
          <p:nvPr/>
        </p:nvCxnSpPr>
        <p:spPr>
          <a:xfrm>
            <a:off x="5852160" y="2157984"/>
            <a:ext cx="320040" cy="0"/>
          </a:xfrm>
          <a:prstGeom prst="line">
            <a:avLst/>
          </a:prstGeom>
          <a:ln w="29209">
            <a:solidFill>
              <a:srgbClr val="5D6C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6355080" y="1901952"/>
            <a:ext cx="502920" cy="502920"/>
          </a:xfrm>
          <a:prstGeom prst="ellipse">
            <a:avLst/>
          </a:prstGeom>
          <a:solidFill>
            <a:srgbClr val="DD8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911095"/>
            <a:ext cx="502920" cy="48463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  <a:endParaRPr sz="15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040880" y="1792224"/>
            <a:ext cx="1645920" cy="676656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800" b="1">
                <a:solidFill>
                  <a:srgbClr val="133052"/>
                </a:solidFill>
                <a:latin typeface="Aptos"/>
              </a:rPr>
              <a:t>Migrate
expert weights</a:t>
            </a:r>
            <a:endParaRPr sz="18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8595360" y="2157984"/>
            <a:ext cx="320040" cy="0"/>
          </a:xfrm>
          <a:prstGeom prst="line">
            <a:avLst/>
          </a:prstGeom>
          <a:ln w="29209">
            <a:solidFill>
              <a:srgbClr val="5D6C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9098280" y="1901952"/>
            <a:ext cx="502920" cy="502920"/>
          </a:xfrm>
          <a:prstGeom prst="ellipse">
            <a:avLst/>
          </a:prstGeom>
          <a:solidFill>
            <a:srgbClr val="1B8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1911095"/>
            <a:ext cx="502920" cy="48463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  <a:endParaRPr sz="15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784080" y="1792224"/>
            <a:ext cx="1645920" cy="676656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800" b="1">
                <a:solidFill>
                  <a:srgbClr val="133052"/>
                </a:solidFill>
                <a:latin typeface="Aptos"/>
              </a:rPr>
              <a:t>Activate at
safe boundary</a:t>
            </a:r>
            <a:endParaRPr sz="18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926080" y="2834640"/>
            <a:ext cx="6309360" cy="310896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600" b="1">
                <a:solidFill>
                  <a:srgbClr val="2D67A4"/>
                </a:solidFill>
                <a:latin typeface="Aptos"/>
              </a:rPr>
              <a:t>Foreground inference continues during migration</a:t>
            </a:r>
            <a:endParaRPr sz="16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566928" y="3703320"/>
            <a:ext cx="5257800" cy="1938528"/>
          </a:xfrm>
          <a:prstGeom prst="roundRect">
            <a:avLst/>
          </a:prstGeom>
          <a:solidFill>
            <a:srgbClr val="FAE6E8"/>
          </a:solidFill>
          <a:ln w="19050">
            <a:solidFill>
              <a:srgbClr val="BF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3886200"/>
            <a:ext cx="2331720" cy="2743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400" b="1">
                <a:solidFill>
                  <a:srgbClr val="BF4149"/>
                </a:solidFill>
                <a:latin typeface="Aptos"/>
              </a:rPr>
              <a:t>UNBATCHED MIGRATION</a:t>
            </a:r>
            <a:endParaRPr sz="1400" b="1">
              <a:solidFill>
                <a:srgbClr val="BF4149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14400" y="4325112"/>
            <a:ext cx="502920" cy="292608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300" b="1">
                <a:solidFill>
                  <a:srgbClr val="BF4149"/>
                </a:solidFill>
                <a:latin typeface="Aptos"/>
              </a:rPr>
              <a:t>R0</a:t>
            </a:r>
            <a:endParaRPr sz="1300" b="1">
              <a:solidFill>
                <a:srgbClr val="BF4149"/>
              </a:solidFill>
              <a:latin typeface="Aptos"/>
            </a:endParaRPr>
          </a:p>
        </p:txBody>
      </p:sp>
      <p:cxnSp>
        <p:nvCxnSpPr>
          <p:cNvPr id="26" name="Connector 25"/>
          <p:cNvCxnSpPr/>
          <p:nvPr/>
        </p:nvCxnSpPr>
        <p:spPr>
          <a:xfrm>
            <a:off x="1444752" y="4434840"/>
            <a:ext cx="2715768" cy="393192"/>
          </a:xfrm>
          <a:prstGeom prst="line">
            <a:avLst/>
          </a:prstGeom>
          <a:ln w="38100">
            <a:solidFill>
              <a:srgbClr val="BF41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4709159"/>
            <a:ext cx="502920" cy="292608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300" b="1">
                <a:solidFill>
                  <a:srgbClr val="DD852A"/>
                </a:solidFill>
                <a:latin typeface="Aptos"/>
              </a:rPr>
              <a:t>R1</a:t>
            </a:r>
            <a:endParaRPr sz="1300" b="1">
              <a:solidFill>
                <a:srgbClr val="DD852A"/>
              </a:solidFill>
              <a:latin typeface="Aptos"/>
            </a:endParaRPr>
          </a:p>
        </p:txBody>
      </p:sp>
      <p:cxnSp>
        <p:nvCxnSpPr>
          <p:cNvPr id="28" name="Connector 27"/>
          <p:cNvCxnSpPr/>
          <p:nvPr/>
        </p:nvCxnSpPr>
        <p:spPr>
          <a:xfrm>
            <a:off x="1444752" y="4818888"/>
            <a:ext cx="2715768" cy="9144"/>
          </a:xfrm>
          <a:prstGeom prst="line">
            <a:avLst/>
          </a:prstGeom>
          <a:ln w="38100">
            <a:solidFill>
              <a:srgbClr val="DD8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" y="5093207"/>
            <a:ext cx="502920" cy="292608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300" b="1">
                <a:solidFill>
                  <a:srgbClr val="8153A0"/>
                </a:solidFill>
                <a:latin typeface="Aptos"/>
              </a:rPr>
              <a:t>R2</a:t>
            </a:r>
            <a:endParaRPr sz="1300" b="1">
              <a:solidFill>
                <a:srgbClr val="8153A0"/>
              </a:solidFill>
              <a:latin typeface="Aptos"/>
            </a:endParaRPr>
          </a:p>
        </p:txBody>
      </p:sp>
      <p:cxnSp>
        <p:nvCxnSpPr>
          <p:cNvPr id="30" name="Connector 29"/>
          <p:cNvCxnSpPr/>
          <p:nvPr/>
        </p:nvCxnSpPr>
        <p:spPr>
          <a:xfrm flipV="1">
            <a:off x="1444752" y="4828032"/>
            <a:ext cx="2715768" cy="374904"/>
          </a:xfrm>
          <a:prstGeom prst="line">
            <a:avLst/>
          </a:prstGeom>
          <a:ln w="38100">
            <a:solidFill>
              <a:srgbClr val="8153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160520" y="4462272"/>
            <a:ext cx="713232" cy="713232"/>
          </a:xfrm>
          <a:prstGeom prst="ellipse">
            <a:avLst/>
          </a:prstGeom>
          <a:solidFill>
            <a:srgbClr val="BF4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60520" y="4480560"/>
            <a:ext cx="713232" cy="658368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NIC</a:t>
            </a:r>
            <a:endParaRPr sz="13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960120" y="5358384"/>
            <a:ext cx="4434840" cy="201168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100" b="1">
                <a:solidFill>
                  <a:srgbClr val="BF4149"/>
                </a:solidFill>
                <a:latin typeface="Aptos"/>
              </a:rPr>
              <a:t>Concurrent flows converge on one endpoint → burst</a:t>
            </a:r>
            <a:endParaRPr sz="1100" b="1">
              <a:solidFill>
                <a:srgbClr val="BF4149"/>
              </a:solidFill>
              <a:latin typeface="Aptos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6099048" y="3703320"/>
            <a:ext cx="5513832" cy="1938528"/>
          </a:xfrm>
          <a:prstGeom prst="roundRect">
            <a:avLst/>
          </a:prstGeom>
          <a:solidFill>
            <a:srgbClr val="E5F5EE"/>
          </a:solidFill>
          <a:ln w="1905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2512" y="3886200"/>
            <a:ext cx="914400" cy="2743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400" b="1">
                <a:solidFill>
                  <a:srgbClr val="1B8D60"/>
                </a:solidFill>
                <a:latin typeface="Aptos"/>
              </a:rPr>
              <a:t>GOAL</a:t>
            </a:r>
            <a:endParaRPr sz="14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601968" y="4325112"/>
            <a:ext cx="4526280" cy="43891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2400" b="1">
                <a:solidFill>
                  <a:srgbClr val="133052"/>
                </a:solidFill>
                <a:latin typeface="Aptos"/>
              </a:rPr>
              <a:t>Reshape migration traffic</a:t>
            </a:r>
            <a:endParaRPr sz="24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565392" y="4892040"/>
            <a:ext cx="4617720" cy="32918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500" b="1">
                <a:solidFill>
                  <a:srgbClr val="1B8D60"/>
                </a:solidFill>
                <a:latin typeface="Aptos"/>
              </a:rPr>
              <a:t>Protect inference without changing expert placement</a:t>
            </a:r>
            <a:endParaRPr sz="1500" b="1">
              <a:solidFill>
                <a:srgbClr val="1B8D60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00" b="1">
                <a:solidFill>
                  <a:srgbClr val="2D67A4"/>
                </a:solidFill>
                <a:latin typeface="Aptos"/>
              </a:rPr>
              <a:t>PROBLEM MOTIVATION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54152"/>
            <a:ext cx="11064240" cy="4724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lang="en-US" sz="2600" b="1">
                <a:solidFill>
                  <a:srgbClr val="133052"/>
                </a:solidFill>
                <a:latin typeface="Aptos"/>
              </a:rPr>
              <a:t>Sync and Async 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EPLB</a:t>
            </a:r>
            <a:endParaRPr lang="en-US"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58368" y="1600200"/>
            <a:ext cx="5303520" cy="43159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847088"/>
            <a:ext cx="237744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DD852A"/>
                </a:solidFill>
                <a:latin typeface="Aptos"/>
              </a:rPr>
              <a:t>SYNCHRONOUS EPLB</a:t>
            </a:r>
            <a:endParaRPr sz="12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60120" y="2450592"/>
            <a:ext cx="11430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1">
                <a:solidFill>
                  <a:srgbClr val="5D6C7E"/>
                </a:solidFill>
                <a:latin typeface="Aptos"/>
              </a:rPr>
              <a:t>Inference</a:t>
            </a:r>
            <a:endParaRPr sz="11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176272" y="2395728"/>
            <a:ext cx="1097280" cy="402336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73552" y="2395728"/>
            <a:ext cx="1481328" cy="402336"/>
          </a:xfrm>
          <a:prstGeom prst="rect">
            <a:avLst/>
          </a:prstGeom>
          <a:solidFill>
            <a:srgbClr val="FAE6E8"/>
          </a:solidFill>
          <a:ln w="12700">
            <a:solidFill>
              <a:srgbClr val="BF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54880" y="2395728"/>
            <a:ext cx="685800" cy="402336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2441448"/>
            <a:ext cx="123444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1">
                <a:solidFill>
                  <a:srgbClr val="BF4149"/>
                </a:solidFill>
                <a:latin typeface="Aptos"/>
              </a:rPr>
              <a:t>paused</a:t>
            </a:r>
            <a:endParaRPr sz="900" b="1">
              <a:solidFill>
                <a:srgbClr val="BF4149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60120" y="3127248"/>
            <a:ext cx="11430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1">
                <a:solidFill>
                  <a:srgbClr val="5D6C7E"/>
                </a:solidFill>
                <a:latin typeface="Aptos"/>
              </a:rPr>
              <a:t>Migration</a:t>
            </a:r>
            <a:endParaRPr sz="11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273552" y="3081528"/>
            <a:ext cx="1481328" cy="402336"/>
          </a:xfrm>
          <a:prstGeom prst="rect">
            <a:avLst/>
          </a:prstGeom>
          <a:solidFill>
            <a:srgbClr val="DD852A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166360"/>
            <a:ext cx="4526280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DD852A"/>
                </a:solidFill>
                <a:latin typeface="Aptos"/>
              </a:rPr>
              <a:t>Batching is disabled in the implementation</a:t>
            </a:r>
            <a:endParaRPr sz="12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236208" y="1600200"/>
            <a:ext cx="5303520" cy="43159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1847088"/>
            <a:ext cx="246888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B8D60"/>
                </a:solidFill>
                <a:latin typeface="Aptos"/>
              </a:rPr>
              <a:t>ASYNCHRONOUS EPLB</a:t>
            </a:r>
            <a:endParaRPr sz="12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537960" y="2450592"/>
            <a:ext cx="11430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1">
                <a:solidFill>
                  <a:srgbClr val="5D6C7E"/>
                </a:solidFill>
                <a:latin typeface="Aptos"/>
              </a:rPr>
              <a:t>Inference</a:t>
            </a:r>
            <a:endParaRPr sz="11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754112" y="2395728"/>
            <a:ext cx="3273552" cy="402336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14232" y="2441448"/>
            <a:ext cx="128016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continues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37960" y="3127248"/>
            <a:ext cx="11430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1">
                <a:solidFill>
                  <a:srgbClr val="5D6C7E"/>
                </a:solidFill>
                <a:latin typeface="Aptos"/>
              </a:rPr>
              <a:t>Migration</a:t>
            </a:r>
            <a:endParaRPr sz="11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7754112" y="3081528"/>
            <a:ext cx="832104" cy="402336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51392" y="3081528"/>
            <a:ext cx="832104" cy="402336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948672" y="3081528"/>
            <a:ext cx="832104" cy="402336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3913632"/>
            <a:ext cx="11430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1">
                <a:solidFill>
                  <a:srgbClr val="1B8D60"/>
                </a:solidFill>
                <a:latin typeface="Aptos"/>
              </a:rPr>
              <a:t>Objective</a:t>
            </a:r>
            <a:endParaRPr sz="11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754112" y="3749039"/>
            <a:ext cx="3154680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700" b="1">
                <a:solidFill>
                  <a:srgbClr val="1C2735"/>
                </a:solidFill>
                <a:latin typeface="Aptos"/>
              </a:rPr>
              <a:t>Reduce interference with active requests</a:t>
            </a:r>
            <a:endParaRPr sz="17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629400" y="5166360"/>
            <a:ext cx="4526280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B8D60"/>
                </a:solidFill>
                <a:latin typeface="Aptos"/>
              </a:rPr>
              <a:t>Opt-in batching trades migration speed for serving headroom</a:t>
            </a:r>
            <a:endParaRPr sz="1200" b="1">
              <a:solidFill>
                <a:srgbClr val="1B8D60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00" b="1">
                <a:solidFill>
                  <a:srgbClr val="2D67A4"/>
                </a:solidFill>
                <a:latin typeface="Aptos"/>
              </a:rPr>
              <a:t>SYSTEM MODEL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Problem Statement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0" y="2880360"/>
            <a:ext cx="1737360" cy="658368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800" b="1">
                <a:solidFill>
                  <a:srgbClr val="133052"/>
                </a:solidFill>
                <a:latin typeface="Aptos"/>
              </a:rPr>
              <a:t>Migration
scheduling</a:t>
            </a:r>
            <a:endParaRPr sz="18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84048" y="3657600"/>
            <a:ext cx="1024128" cy="1024128"/>
          </a:xfrm>
          <a:prstGeom prst="rect">
            <a:avLst/>
          </a:prstGeom>
          <a:solidFill>
            <a:srgbClr val="133052"/>
          </a:solidFill>
          <a:ln w="2286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3657600"/>
            <a:ext cx="1024128" cy="9601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ptos"/>
              </a:rPr>
              <a:t>↔</a:t>
            </a:r>
            <a:endParaRPr sz="42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1408176" y="4160520"/>
            <a:ext cx="768096" cy="0"/>
          </a:xfrm>
          <a:prstGeom prst="line">
            <a:avLst/>
          </a:prstGeom>
          <a:ln w="19050">
            <a:solidFill>
              <a:srgbClr val="2D67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176272" y="1847088"/>
            <a:ext cx="0" cy="3657600"/>
          </a:xfrm>
          <a:prstGeom prst="line">
            <a:avLst/>
          </a:prstGeom>
          <a:ln w="19050">
            <a:solidFill>
              <a:srgbClr val="2D67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240280" y="1645920"/>
            <a:ext cx="1298448" cy="41148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800" b="0">
                <a:solidFill>
                  <a:srgbClr val="1C2735"/>
                </a:solidFill>
                <a:latin typeface="Aptos"/>
              </a:rPr>
              <a:t>Given</a:t>
            </a:r>
            <a:endParaRPr sz="1800" b="0">
              <a:solidFill>
                <a:srgbClr val="1C2735"/>
              </a:solidFill>
              <a:latin typeface="Aptos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2176272" y="2075688"/>
            <a:ext cx="1645919" cy="0"/>
          </a:xfrm>
          <a:prstGeom prst="line">
            <a:avLst/>
          </a:prstGeom>
          <a:ln w="19050">
            <a:solidFill>
              <a:srgbClr val="2D67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822191" y="1572768"/>
            <a:ext cx="841248" cy="841248"/>
          </a:xfrm>
          <a:prstGeom prst="rect">
            <a:avLst/>
          </a:prstGeom>
          <a:solidFill>
            <a:srgbClr val="133052"/>
          </a:solidFill>
          <a:ln w="2286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22191" y="1572768"/>
            <a:ext cx="841248" cy="78638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2700" b="1">
                <a:solidFill>
                  <a:srgbClr val="FFFFFF"/>
                </a:solidFill>
                <a:latin typeface="Aptos"/>
              </a:rPr>
              <a:t>G</a:t>
            </a:r>
            <a:endParaRPr sz="27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937760" y="1554480"/>
            <a:ext cx="6629400" cy="86868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800" b="0">
                <a:solidFill>
                  <a:srgbClr val="1C2735"/>
                </a:solidFill>
                <a:latin typeface="Aptos"/>
              </a:rPr>
              <a:t>▪  Old/new placements; topology and residual link capacity</a:t>
            </a:r>
            <a:endParaRPr sz="18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240280" y="2852928"/>
            <a:ext cx="1298448" cy="41148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800" b="0">
                <a:solidFill>
                  <a:srgbClr val="1C2735"/>
                </a:solidFill>
                <a:latin typeface="Aptos"/>
              </a:rPr>
              <a:t>Decide</a:t>
            </a:r>
            <a:endParaRPr sz="1800" b="0">
              <a:solidFill>
                <a:srgbClr val="1C2735"/>
              </a:solidFill>
              <a:latin typeface="Aptos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2176272" y="3282696"/>
            <a:ext cx="1645919" cy="0"/>
          </a:xfrm>
          <a:prstGeom prst="line">
            <a:avLst/>
          </a:prstGeom>
          <a:ln w="19050">
            <a:solidFill>
              <a:srgbClr val="2D67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822191" y="2779776"/>
            <a:ext cx="841248" cy="841248"/>
          </a:xfrm>
          <a:prstGeom prst="rect">
            <a:avLst/>
          </a:prstGeom>
          <a:solidFill>
            <a:srgbClr val="133052"/>
          </a:solidFill>
          <a:ln w="2286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22191" y="2779776"/>
            <a:ext cx="841248" cy="78638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2700" b="1">
                <a:solidFill>
                  <a:srgbClr val="FFFFFF"/>
                </a:solidFill>
                <a:latin typeface="Aptos"/>
              </a:rPr>
              <a:t>D</a:t>
            </a:r>
            <a:endParaRPr sz="27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937760" y="2761488"/>
            <a:ext cx="6629400" cy="86868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800" b="0">
                <a:solidFill>
                  <a:srgbClr val="1C2735"/>
                </a:solidFill>
                <a:latin typeface="Aptos"/>
              </a:rPr>
              <a:t>▪  Assign each directed migration flow to one batch</a:t>
            </a:r>
            <a:endParaRPr sz="18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240280" y="4059936"/>
            <a:ext cx="1298448" cy="41148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800" b="0">
                <a:solidFill>
                  <a:srgbClr val="1C2735"/>
                </a:solidFill>
                <a:latin typeface="Aptos"/>
              </a:rPr>
              <a:t>Objective</a:t>
            </a:r>
            <a:endParaRPr sz="1800" b="0">
              <a:solidFill>
                <a:srgbClr val="1C2735"/>
              </a:solidFill>
              <a:latin typeface="Aptos"/>
            </a:endParaRPr>
          </a:p>
        </p:txBody>
      </p:sp>
      <p:cxnSp>
        <p:nvCxnSpPr>
          <p:cNvPr id="22" name="Connector 21"/>
          <p:cNvCxnSpPr/>
          <p:nvPr/>
        </p:nvCxnSpPr>
        <p:spPr>
          <a:xfrm>
            <a:off x="2176272" y="4489704"/>
            <a:ext cx="1645919" cy="0"/>
          </a:xfrm>
          <a:prstGeom prst="line">
            <a:avLst/>
          </a:prstGeom>
          <a:ln w="19050">
            <a:solidFill>
              <a:srgbClr val="2D67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3822191" y="3986784"/>
            <a:ext cx="841248" cy="841248"/>
          </a:xfrm>
          <a:prstGeom prst="rect">
            <a:avLst/>
          </a:prstGeom>
          <a:solidFill>
            <a:srgbClr val="133052"/>
          </a:solidFill>
          <a:ln w="2286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22191" y="3986784"/>
            <a:ext cx="841248" cy="78638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2700" b="1">
                <a:solidFill>
                  <a:srgbClr val="FFFFFF"/>
                </a:solidFill>
                <a:latin typeface="Aptos"/>
              </a:rPr>
              <a:t>O</a:t>
            </a:r>
            <a:endParaRPr sz="27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937760" y="3968496"/>
            <a:ext cx="6629400" cy="86868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800" b="0">
                <a:solidFill>
                  <a:srgbClr val="1C2735"/>
                </a:solidFill>
                <a:latin typeface="Aptos"/>
              </a:rPr>
              <a:t>▪  Minimize worst link pressure seen by inference</a:t>
            </a:r>
            <a:endParaRPr sz="18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240280" y="5266944"/>
            <a:ext cx="1298448" cy="41148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800" b="0">
                <a:solidFill>
                  <a:srgbClr val="1C2735"/>
                </a:solidFill>
                <a:latin typeface="Aptos"/>
              </a:rPr>
              <a:t>Constraints</a:t>
            </a:r>
            <a:endParaRPr sz="1800" b="0">
              <a:solidFill>
                <a:srgbClr val="1C2735"/>
              </a:solidFill>
              <a:latin typeface="Aptos"/>
            </a:endParaRPr>
          </a:p>
        </p:txBody>
      </p:sp>
      <p:cxnSp>
        <p:nvCxnSpPr>
          <p:cNvPr id="27" name="Connector 26"/>
          <p:cNvCxnSpPr/>
          <p:nvPr/>
        </p:nvCxnSpPr>
        <p:spPr>
          <a:xfrm>
            <a:off x="2176272" y="5696712"/>
            <a:ext cx="1645919" cy="0"/>
          </a:xfrm>
          <a:prstGeom prst="line">
            <a:avLst/>
          </a:prstGeom>
          <a:ln w="19050">
            <a:solidFill>
              <a:srgbClr val="2D67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3822191" y="5193792"/>
            <a:ext cx="841248" cy="841248"/>
          </a:xfrm>
          <a:prstGeom prst="rect">
            <a:avLst/>
          </a:prstGeom>
          <a:solidFill>
            <a:srgbClr val="133052"/>
          </a:solidFill>
          <a:ln w="2286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22191" y="5193792"/>
            <a:ext cx="841248" cy="78638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2700" b="1">
                <a:solidFill>
                  <a:srgbClr val="FFFFFF"/>
                </a:solidFill>
                <a:latin typeface="Aptos"/>
              </a:rPr>
              <a:t>C</a:t>
            </a:r>
            <a:endParaRPr sz="27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937760" y="5175504"/>
            <a:ext cx="6629400" cy="86868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800" b="0">
                <a:solidFill>
                  <a:srgbClr val="1C2735"/>
                </a:solidFill>
                <a:latin typeface="Aptos"/>
              </a:rPr>
              <a:t>▪  Each flow once; at most one incident flow per rank and batch</a:t>
            </a:r>
            <a:endParaRPr sz="1800" b="0">
              <a:solidFill>
                <a:srgbClr val="1C2735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00" b="1">
                <a:solidFill>
                  <a:srgbClr val="2D67A4"/>
                </a:solidFill>
                <a:latin typeface="Aptos"/>
              </a:rPr>
              <a:t>OFFLINE MODEL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ILP Formulation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21207" y="932688"/>
            <a:ext cx="1097280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0">
                <a:solidFill>
                  <a:srgbClr val="5D6C7E"/>
                </a:solidFill>
                <a:latin typeface="Aptos"/>
              </a:rPr>
              <a:t>The ILP is explanatory; it is not executed in the serving path</a:t>
            </a:r>
            <a:endParaRPr sz="1100" b="0">
              <a:solidFill>
                <a:srgbClr val="5D6C7E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66928" y="1536192"/>
            <a:ext cx="2907792" cy="4453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755648"/>
            <a:ext cx="237744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2D67A4"/>
                </a:solidFill>
                <a:latin typeface="Aptos"/>
              </a:rPr>
              <a:t>DECISION VARIABLES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68680" y="2221992"/>
            <a:ext cx="777240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400" b="1">
                <a:solidFill>
                  <a:srgbClr val="133052"/>
                </a:solidFill>
                <a:latin typeface="Cambria Math" panose="02040503050406030204"/>
              </a:rPr>
              <a:t>xₚ,ᵦ</a:t>
            </a:r>
            <a:endParaRPr sz="2400" b="1">
              <a:solidFill>
                <a:srgbClr val="133052"/>
              </a:solidFill>
              <a:latin typeface="Cambria Math" panose="02040503050406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682496" y="2212848"/>
            <a:ext cx="1508760" cy="40233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0">
                <a:solidFill>
                  <a:srgbClr val="1C2735"/>
                </a:solidFill>
                <a:latin typeface="Aptos"/>
              </a:rPr>
              <a:t>flow p assigned to batch b</a:t>
            </a:r>
            <a:endParaRPr sz="12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68680" y="2935224"/>
            <a:ext cx="777240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400" b="1">
                <a:solidFill>
                  <a:srgbClr val="133052"/>
                </a:solidFill>
                <a:latin typeface="Cambria Math" panose="02040503050406030204"/>
              </a:rPr>
              <a:t>yᵦ</a:t>
            </a:r>
            <a:endParaRPr sz="2400" b="1">
              <a:solidFill>
                <a:srgbClr val="133052"/>
              </a:solidFill>
              <a:latin typeface="Cambria Math" panose="0204050305040603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82496" y="2926080"/>
            <a:ext cx="1508760" cy="40233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0">
                <a:solidFill>
                  <a:srgbClr val="1C2735"/>
                </a:solidFill>
                <a:latin typeface="Aptos"/>
              </a:rPr>
              <a:t>batch b is active</a:t>
            </a:r>
            <a:endParaRPr sz="12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68680" y="3648456"/>
            <a:ext cx="777240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400" b="1">
                <a:solidFill>
                  <a:srgbClr val="133052"/>
                </a:solidFill>
                <a:latin typeface="Cambria Math" panose="02040503050406030204"/>
              </a:rPr>
              <a:t>Qₗ,ᵦ</a:t>
            </a:r>
            <a:endParaRPr sz="2400" b="1">
              <a:solidFill>
                <a:srgbClr val="133052"/>
              </a:solidFill>
              <a:latin typeface="Cambria Math" panose="02040503050406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682496" y="3639312"/>
            <a:ext cx="1508760" cy="40233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0">
                <a:solidFill>
                  <a:srgbClr val="1C2735"/>
                </a:solidFill>
                <a:latin typeface="Aptos"/>
              </a:rPr>
              <a:t>migration load on link l</a:t>
            </a:r>
            <a:endParaRPr sz="12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" y="4407408"/>
            <a:ext cx="2395728" cy="960120"/>
          </a:xfrm>
          <a:prstGeom prst="roundRect">
            <a:avLst/>
          </a:prstGeom>
          <a:solidFill>
            <a:srgbClr val="FBEFDE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526280"/>
            <a:ext cx="210312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DD852A"/>
                </a:solidFill>
                <a:latin typeface="Aptos"/>
              </a:rPr>
              <a:t>Tie-break only</a:t>
            </a:r>
            <a:endParaRPr sz="10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60120" y="4791456"/>
            <a:ext cx="210312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C2735"/>
                </a:solidFill>
                <a:latin typeface="Aptos"/>
              </a:rPr>
              <a:t>After fixing the optimum,
minimize active batches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3730752" y="1645920"/>
            <a:ext cx="777240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59352" y="1737360"/>
            <a:ext cx="283464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2D67A4"/>
                </a:solidFill>
                <a:latin typeface="Aptos"/>
              </a:rPr>
              <a:t>1 · Every flow executes exactly once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/>
              <p:cNvSpPr txBox="1"/>
              <p:nvPr/>
            </p:nvSpPr>
            <p:spPr>
              <a:xfrm>
                <a:off x="5504688" y="1792224"/>
                <a:ext cx="5669280" cy="621792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/>
                          </m:ctrlPr>
                        </m:naryPr>
                        <m:sub>
                          <m:r>
                            <a:rPr lang="en-US" sz="16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𝑏</m:t>
                          </m:r>
                          <m:r>
                            <a:rPr lang="en-US" sz="16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∈</m:t>
                          </m:r>
                          <m:r>
                            <a:rPr lang="en-US" sz="16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𝐵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6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6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𝑝</m:t>
                              </m:r>
                              <m:r>
                                <a:rPr lang="en-US" sz="16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,</m:t>
                              </m:r>
                              <m:r>
                                <a:rPr lang="en-US" sz="16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𝑏</m:t>
                              </m:r>
                            </m:sub>
                          </m:sSub>
                        </m:e>
                      </m:nary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=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1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  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∀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𝑝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∈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𝑃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22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4688" y="1792224"/>
                <a:ext cx="5669280" cy="621792"/>
              </a:xfrm>
              <a:prstGeom prst="rect">
                <a:avLst/>
              </a:prstGeom>
              <a:blipFill rotWithShape="1">
                <a:blip r:embed="rId1"/>
                <a:stretch>
                  <a:fillRect l="-9" t="-41" r="9" b="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ounded Rectangle 22"/>
          <p:cNvSpPr/>
          <p:nvPr/>
        </p:nvSpPr>
        <p:spPr>
          <a:xfrm>
            <a:off x="3730752" y="2816352"/>
            <a:ext cx="777240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59352" y="2907792"/>
            <a:ext cx="283464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8153A0"/>
                </a:solidFill>
                <a:latin typeface="Aptos"/>
              </a:rPr>
              <a:t>2 · Rank-disjoint endpoint constraint</a:t>
            </a:r>
            <a:endParaRPr sz="1000" b="1">
              <a:solidFill>
                <a:srgbClr val="8153A0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/>
              <p:cNvSpPr txBox="1"/>
              <p:nvPr/>
            </p:nvSpPr>
            <p:spPr>
              <a:xfrm>
                <a:off x="5504688" y="2962656"/>
                <a:ext cx="5669280" cy="621792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/>
                          </m:ctrlPr>
                        </m:naryPr>
                        <m:sub>
                          <m:r>
                            <a:rPr lang="en-US" sz="16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𝑝</m:t>
                          </m:r>
                          <m:r>
                            <a:rPr lang="en-US" sz="16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:</m:t>
                          </m:r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6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6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𝑝</m:t>
                              </m:r>
                            </m:sub>
                          </m:sSub>
                          <m:r>
                            <a:rPr lang="en-US" sz="16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=</m:t>
                          </m:r>
                          <m:r>
                            <a:rPr lang="en-US" sz="16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𝑟</m:t>
                          </m:r>
                          <m:r>
                            <a:rPr lang="en-US" sz="16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 </m:t>
                          </m:r>
                          <m:r>
                            <a:rPr lang="en-US" sz="16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∨</m:t>
                          </m:r>
                          <m:r>
                            <a:rPr lang="en-US" sz="16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 </m:t>
                          </m:r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6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16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𝑝</m:t>
                              </m:r>
                            </m:sub>
                          </m:sSub>
                          <m:r>
                            <a:rPr lang="en-US" sz="16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=</m:t>
                          </m:r>
                          <m:r>
                            <a:rPr lang="en-US" sz="16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𝑟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6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6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𝑝</m:t>
                              </m:r>
                              <m:r>
                                <a:rPr lang="en-US" sz="16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,</m:t>
                              </m:r>
                              <m:r>
                                <a:rPr lang="en-US" sz="16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𝑏</m:t>
                              </m:r>
                            </m:sub>
                          </m:sSub>
                        </m:e>
                      </m:nary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≤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1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  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∀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𝑟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∈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𝑅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 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𝑏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∈</m:t>
                      </m:r>
                      <m:r>
                        <a:rPr lang="en-US" sz="16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𝐵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4688" y="2962656"/>
                <a:ext cx="5669280" cy="621792"/>
              </a:xfrm>
              <a:prstGeom prst="rect">
                <a:avLst/>
              </a:prstGeom>
              <a:blipFill rotWithShape="1">
                <a:blip r:embed="rId2"/>
                <a:stretch>
                  <a:fillRect l="-9" t="-2717" r="9" b="-267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Rounded Rectangle 25"/>
          <p:cNvSpPr/>
          <p:nvPr/>
        </p:nvSpPr>
        <p:spPr>
          <a:xfrm>
            <a:off x="3730752" y="3986784"/>
            <a:ext cx="777240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59352" y="4078224"/>
            <a:ext cx="283464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1B8D60"/>
                </a:solidFill>
                <a:latin typeface="Aptos"/>
              </a:rPr>
              <a:t>3 · Worst-link serving objective</a:t>
            </a:r>
            <a:endParaRPr sz="1000" b="1">
              <a:solidFill>
                <a:srgbClr val="1B8D60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/>
              <p:cNvSpPr txBox="1"/>
              <p:nvPr/>
            </p:nvSpPr>
            <p:spPr>
              <a:xfrm>
                <a:off x="5504688" y="4133088"/>
                <a:ext cx="5669280" cy="621792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min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4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14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en-US" sz="14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f</m:t>
                          </m:r>
                          <m:r>
                            <m:rPr>
                              <m:sty m:val="p"/>
                            </m:rPr>
                            <a:rPr lang="en-US" sz="14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e</m:t>
                          </m:r>
                          <m:r>
                            <m:rPr>
                              <m:sty m:val="p"/>
                            </m:rPr>
                            <a:rPr lang="en-US" sz="14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r</m:t>
                          </m:r>
                        </m:sub>
                      </m:sSub>
                      <m:r>
                        <a:rPr lang="en-US" sz="14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4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  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4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14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en-US" sz="14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f</m:t>
                          </m:r>
                          <m:r>
                            <m:rPr>
                              <m:sty m:val="p"/>
                            </m:rPr>
                            <a:rPr lang="en-US" sz="14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e</m:t>
                          </m:r>
                          <m:r>
                            <m:rPr>
                              <m:sty m:val="p"/>
                            </m:rPr>
                            <a:rPr lang="en-US" sz="14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r</m:t>
                          </m:r>
                        </m:sub>
                      </m:sSub>
                      <m:r>
                        <a:rPr lang="en-US" sz="14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≥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4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𝑇</m:t>
                          </m:r>
                        </m:e>
                        <m:sub>
                          <m:r>
                            <a:rPr lang="en-US" sz="14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0</m:t>
                          </m:r>
                        </m:sub>
                      </m:sSub>
                      <m:d>
                        <m:dPr>
                          <m:sepChr m:val=""/>
                          <m:ctrlPr>
                            <a:rPr/>
                          </m:ctrlPr>
                        </m:dPr>
                        <m:e>
                          <m:r>
                            <a:rPr lang="en-US" sz="14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1</m:t>
                          </m:r>
                          <m:r>
                            <a:rPr lang="en-US" sz="14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+</m:t>
                          </m:r>
                          <m:f>
                            <m:fPr>
                              <m:ctrlPr>
                                <a:rPr/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/>
                                  </m:ctrlPr>
                                </m:sSubPr>
                                <m:e>
                                  <m:r>
                                    <a:rPr lang="en-US" sz="1400" dirty="0">
                                      <a:solidFill>
                                        <a:srgbClr val="1C2735"/>
                                      </a:solidFill>
                                      <a:latin typeface="Cambria Math" panose="02040503050406030204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en-US" sz="1400" dirty="0">
                                      <a:solidFill>
                                        <a:srgbClr val="1C2735"/>
                                      </a:solidFill>
                                      <a:latin typeface="Cambria Math" panose="02040503050406030204"/>
                                    </a:rPr>
                                    <m:t>𝑙</m:t>
                                  </m:r>
                                  <m:r>
                                    <a:rPr lang="en-US" sz="1400" dirty="0">
                                      <a:solidFill>
                                        <a:srgbClr val="1C2735"/>
                                      </a:solidFill>
                                      <a:latin typeface="Cambria Math" panose="02040503050406030204"/>
                                    </a:rPr>
                                    <m:t>,</m:t>
                                  </m:r>
                                  <m:r>
                                    <a:rPr lang="en-US" sz="1400" dirty="0">
                                      <a:solidFill>
                                        <a:srgbClr val="1C2735"/>
                                      </a:solidFill>
                                      <a:latin typeface="Cambria Math" panose="02040503050406030204"/>
                                    </a:rPr>
                                    <m:t>𝑏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/>
                                  </m:ctrlPr>
                                </m:sSubPr>
                                <m:e>
                                  <m:r>
                                    <a:rPr lang="en-US" sz="1400" dirty="0">
                                      <a:solidFill>
                                        <a:srgbClr val="1C2735"/>
                                      </a:solidFill>
                                      <a:latin typeface="Cambria Math" panose="02040503050406030204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sz="1400" dirty="0">
                                      <a:solidFill>
                                        <a:srgbClr val="1C2735"/>
                                      </a:solidFill>
                                      <a:latin typeface="Cambria Math" panose="02040503050406030204"/>
                                    </a:rPr>
                                    <m:t>𝑙</m:t>
                                  </m:r>
                                </m:sub>
                              </m:sSub>
                              <m:d>
                                <m:dPr>
                                  <m:sepChr m:val=""/>
                                  <m:ctrlPr>
                                    <a:rPr/>
                                  </m:ctrlPr>
                                </m:dPr>
                                <m:e>
                                  <m:r>
                                    <a:rPr lang="en-US" sz="1400" dirty="0">
                                      <a:solidFill>
                                        <a:srgbClr val="1C2735"/>
                                      </a:solidFill>
                                      <a:latin typeface="Cambria Math" panose="02040503050406030204"/>
                                    </a:rPr>
                                    <m:t>1</m:t>
                                  </m:r>
                                  <m:r>
                                    <a:rPr lang="en-US" sz="1400" dirty="0">
                                      <a:solidFill>
                                        <a:srgbClr val="1C2735"/>
                                      </a:solidFill>
                                      <a:latin typeface="Cambria Math" panose="02040503050406030204"/>
                                    </a:rPr>
                                    <m:t>−</m:t>
                                  </m:r>
                                  <m:r>
                                    <a:rPr lang="en-US" sz="1400" dirty="0">
                                      <a:solidFill>
                                        <a:srgbClr val="1C2735"/>
                                      </a:solidFill>
                                      <a:latin typeface="Cambria Math" panose="02040503050406030204"/>
                                    </a:rPr>
                                    <m:t>𝜌</m:t>
                                  </m:r>
                                </m:e>
                              </m:d>
                            </m:den>
                          </m:f>
                        </m:e>
                      </m:d>
                      <m:r>
                        <a:rPr lang="en-US" sz="14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4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 </m:t>
                      </m:r>
                      <m:r>
                        <a:rPr lang="en-US" sz="14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∀</m:t>
                      </m:r>
                      <m:r>
                        <a:rPr lang="en-US" sz="14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𝑙</m:t>
                      </m:r>
                      <m:r>
                        <a:rPr lang="en-US" sz="14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4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𝑏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4688" y="4133088"/>
                <a:ext cx="5669280" cy="621792"/>
              </a:xfrm>
              <a:prstGeom prst="rect">
                <a:avLst/>
              </a:prstGeom>
              <a:blipFill rotWithShape="1">
                <a:blip r:embed="rId3"/>
                <a:stretch>
                  <a:fillRect l="-9" t="-82" r="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/>
          <p:cNvSpPr txBox="1"/>
          <p:nvPr/>
        </p:nvSpPr>
        <p:spPr>
          <a:xfrm>
            <a:off x="3858768" y="5212080"/>
            <a:ext cx="7452360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33052"/>
                </a:solidFill>
                <a:latin typeface="Aptos"/>
              </a:rPr>
              <a:t>Primary objective: lower the maximum link pressure seen by concurrent inference</a:t>
            </a:r>
            <a:endParaRPr sz="1400" b="1">
              <a:solidFill>
                <a:srgbClr val="133052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00" b="1">
                <a:solidFill>
                  <a:srgbClr val="2D67A4"/>
                </a:solidFill>
                <a:latin typeface="Aptos"/>
              </a:rPr>
              <a:t>OFFLINE MODEL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33604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ILP Hotspot Example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794385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9400" y="1173480"/>
            <a:ext cx="3683635" cy="561213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938" y="870077"/>
            <a:ext cx="3127248" cy="25603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300" b="1">
                <a:solidFill>
                  <a:srgbClr val="2D67A4"/>
                </a:solidFill>
                <a:latin typeface="Aptos"/>
              </a:rPr>
              <a:t>TWO-TIER LINKS</a:t>
            </a:r>
            <a:endParaRPr sz="1300" b="1">
              <a:solidFill>
                <a:srgbClr val="2D67A4"/>
              </a:solidFill>
              <a:latin typeface="Aptos"/>
            </a:endParaRP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01420"/>
            <a:ext cx="3357245" cy="552005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096385" y="1173480"/>
            <a:ext cx="3616325" cy="563753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F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906335"/>
            <a:ext cx="3127248" cy="254635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300" b="1">
                <a:solidFill>
                  <a:srgbClr val="BF4149"/>
                </a:solidFill>
                <a:latin typeface="Aptos"/>
              </a:rPr>
              <a:t>UNBATCHED</a:t>
            </a:r>
            <a:r>
              <a:rPr lang="en-US" sz="1300" b="1">
                <a:solidFill>
                  <a:srgbClr val="BF4149"/>
                </a:solidFill>
                <a:latin typeface="Aptos"/>
              </a:rPr>
              <a:t>(Before)</a:t>
            </a:r>
            <a:endParaRPr lang="en-US" sz="1300" b="1">
              <a:solidFill>
                <a:srgbClr val="BF4149"/>
              </a:solidFill>
              <a:latin typeface="Aptos"/>
            </a:endParaRPr>
          </a:p>
        </p:txBody>
      </p:sp>
      <p:pic>
        <p:nvPicPr>
          <p:cNvPr id="14" name="Picture 13" descr="example_hotspot_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3590" y="1272540"/>
            <a:ext cx="2602230" cy="544449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31335" y="6502400"/>
            <a:ext cx="3127248" cy="28346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300" b="1">
                <a:solidFill>
                  <a:srgbClr val="BF4149"/>
                </a:solidFill>
                <a:latin typeface="Aptos"/>
              </a:rPr>
              <a:t>Peak 1.50  ·  Inference 4.75</a:t>
            </a:r>
            <a:endParaRPr sz="1300" b="1">
              <a:solidFill>
                <a:srgbClr val="BF4149"/>
              </a:solidFill>
              <a:latin typeface="Aptos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827010" y="1147445"/>
            <a:ext cx="3529330" cy="5652135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28432" y="844105"/>
            <a:ext cx="3127248" cy="254635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300" b="1">
                <a:solidFill>
                  <a:srgbClr val="1B8D60"/>
                </a:solidFill>
                <a:latin typeface="Aptos"/>
              </a:rPr>
              <a:t>4 BATCHES</a:t>
            </a:r>
            <a:r>
              <a:rPr lang="en-US" sz="1300" b="1">
                <a:solidFill>
                  <a:srgbClr val="1B8D60"/>
                </a:solidFill>
                <a:latin typeface="Aptos"/>
              </a:rPr>
              <a:t>(After)</a:t>
            </a:r>
            <a:endParaRPr lang="en-US" sz="1300" b="1">
              <a:solidFill>
                <a:srgbClr val="1B8D60"/>
              </a:solidFill>
              <a:latin typeface="Aptos"/>
            </a:endParaRP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1015" y="1195705"/>
            <a:ext cx="3032125" cy="54489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28432" y="6480810"/>
            <a:ext cx="3127248" cy="28346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300" b="1">
                <a:solidFill>
                  <a:srgbClr val="1B8D60"/>
                </a:solidFill>
                <a:latin typeface="Aptos"/>
              </a:rPr>
              <a:t>Peak 0.50  ·  Inference 2.25</a:t>
            </a:r>
            <a:endParaRPr sz="1300" b="1">
              <a:solidFill>
                <a:srgbClr val="1B8D60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00" b="1">
                <a:solidFill>
                  <a:srgbClr val="2D67A4"/>
                </a:solidFill>
                <a:latin typeface="Aptos"/>
              </a:rPr>
              <a:t>ONLINE DESIGN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Online Design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21207" y="932688"/>
            <a:ext cx="1097280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0">
                <a:solidFill>
                  <a:srgbClr val="5D6C7E"/>
                </a:solidFill>
                <a:latin typeface="Aptos"/>
              </a:rPr>
              <a:t>The offline model yields one deployable invariant: rank-disjoint batches</a:t>
            </a:r>
            <a:endParaRPr sz="1100" b="0">
              <a:solidFill>
                <a:srgbClr val="5D6C7E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0080" y="1664208"/>
            <a:ext cx="4754880" cy="3520440"/>
          </a:xfrm>
          <a:prstGeom prst="roundRect">
            <a:avLst/>
          </a:prstGeom>
          <a:solidFill>
            <a:srgbClr val="E1EDF8"/>
          </a:solidFill>
          <a:ln w="1905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08760" cy="25603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400" b="1">
                <a:solidFill>
                  <a:srgbClr val="2D67A4"/>
                </a:solidFill>
                <a:latin typeface="Aptos"/>
              </a:rPr>
              <a:t>OFFLINE ILP</a:t>
            </a:r>
            <a:endParaRPr sz="14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32688" y="2331720"/>
            <a:ext cx="3474720" cy="41148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Exact reference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32688" y="2926080"/>
            <a:ext cx="3794760" cy="71323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800" b="0">
                <a:solidFill>
                  <a:srgbClr val="1C2735"/>
                </a:solidFill>
                <a:latin typeface="Aptos"/>
              </a:rPr>
              <a:t>Explains the contention objective
and validates small instances</a:t>
            </a:r>
            <a:endParaRPr sz="18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32688" y="4187952"/>
            <a:ext cx="2331720" cy="34747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600" b="1">
                <a:solidFill>
                  <a:srgbClr val="BF4149"/>
                </a:solidFill>
                <a:latin typeface="Aptos"/>
              </a:rPr>
              <a:t>Not used in serving</a:t>
            </a:r>
            <a:endParaRPr sz="1600" b="1">
              <a:solidFill>
                <a:srgbClr val="BF4149"/>
              </a:solidFill>
              <a:latin typeface="Aptos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5623560" y="3401568"/>
            <a:ext cx="822960" cy="0"/>
          </a:xfrm>
          <a:prstGeom prst="line">
            <a:avLst/>
          </a:prstGeom>
          <a:ln w="50800">
            <a:solidFill>
              <a:srgbClr val="DD8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650992" y="2999232"/>
            <a:ext cx="777240" cy="2743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200" b="1">
                <a:solidFill>
                  <a:srgbClr val="DD852A"/>
                </a:solidFill>
                <a:latin typeface="Aptos"/>
              </a:rPr>
              <a:t>invariant</a:t>
            </a:r>
            <a:endParaRPr sz="12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675120" y="1664208"/>
            <a:ext cx="4846320" cy="3520440"/>
          </a:xfrm>
          <a:prstGeom prst="roundRect">
            <a:avLst/>
          </a:prstGeom>
          <a:solidFill>
            <a:srgbClr val="E5F5EE"/>
          </a:solidFill>
          <a:ln w="1905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1901952"/>
            <a:ext cx="1920240" cy="25603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400" b="1">
                <a:solidFill>
                  <a:srgbClr val="1B8D60"/>
                </a:solidFill>
                <a:latin typeface="Aptos"/>
              </a:rPr>
              <a:t>ONLINE SCHEDULER</a:t>
            </a:r>
            <a:endParaRPr sz="14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967728" y="2331720"/>
            <a:ext cx="3474720" cy="41148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Greedy first-fit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967728" y="2926080"/>
            <a:ext cx="3794760" cy="71323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800" b="0">
                <a:solidFill>
                  <a:srgbClr val="1C2735"/>
                </a:solidFill>
                <a:latin typeface="Aptos"/>
              </a:rPr>
              <a:t>Coalesce by rank pair
Group endpoint-disjoint flows</a:t>
            </a:r>
            <a:endParaRPr sz="18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967728" y="4187952"/>
            <a:ext cx="3749039" cy="34747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600" b="1">
                <a:solidFill>
                  <a:srgbClr val="1B8D60"/>
                </a:solidFill>
                <a:latin typeface="Aptos"/>
              </a:rPr>
              <a:t>Deterministic · lightweight · opt-in</a:t>
            </a:r>
            <a:endParaRPr sz="16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1828800" y="5513832"/>
            <a:ext cx="8549640" cy="4754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65960" y="5559552"/>
            <a:ext cx="8275320" cy="32918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500" b="1">
                <a:solidFill>
                  <a:srgbClr val="133052"/>
                </a:solidFill>
                <a:latin typeface="Aptos"/>
              </a:rPr>
              <a:t>Placement semantics remain unchanged; only migration order changes.</a:t>
            </a:r>
            <a:endParaRPr sz="1500" b="1">
              <a:solidFill>
                <a:srgbClr val="133052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00" b="1">
                <a:solidFill>
                  <a:srgbClr val="2D67A4"/>
                </a:solidFill>
                <a:latin typeface="Aptos"/>
              </a:rPr>
              <a:t>ALGORITHM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Scheduling Pipeline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21207" y="932688"/>
            <a:ext cx="1097280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0">
                <a:solidFill>
                  <a:srgbClr val="5D6C7E"/>
                </a:solidFill>
                <a:latin typeface="Aptos"/>
              </a:rPr>
              <a:t>The implementation preserves placement semantics and changes only transfer order</a:t>
            </a:r>
            <a:endParaRPr sz="1100" b="0">
              <a:solidFill>
                <a:srgbClr val="5D6C7E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30352" y="1664208"/>
            <a:ext cx="1993392" cy="2075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76656" y="1828800"/>
            <a:ext cx="438912" cy="438912"/>
          </a:xfrm>
          <a:prstGeom prst="ellipse">
            <a:avLst/>
          </a:prstGeom>
          <a:solidFill>
            <a:srgbClr val="2D67A4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1837943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88719" y="1792224"/>
            <a:ext cx="1170432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1">
                <a:solidFill>
                  <a:srgbClr val="133052"/>
                </a:solidFill>
                <a:latin typeface="Aptos"/>
              </a:rPr>
              <a:t>Compare placements</a:t>
            </a:r>
            <a:endParaRPr sz="13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94944" y="2450592"/>
            <a:ext cx="1664208" cy="7498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C2735"/>
                </a:solidFill>
                <a:latin typeface="Aptos"/>
              </a:rPr>
              <a:t>old/new local
expert sets</a:t>
            </a:r>
            <a:endParaRPr sz="1300" b="1">
              <a:solidFill>
                <a:srgbClr val="1C2735"/>
              </a:solidFill>
              <a:latin typeface="Aptos"/>
            </a:endParaRPr>
          </a:p>
        </p:txBody>
      </p:sp>
      <p:cxnSp>
        <p:nvCxnSpPr>
          <p:cNvPr id="14" name="Connector 13"/>
          <p:cNvCxnSpPr/>
          <p:nvPr/>
        </p:nvCxnSpPr>
        <p:spPr>
          <a:xfrm>
            <a:off x="2542032" y="2706624"/>
            <a:ext cx="237744" cy="0"/>
          </a:xfrm>
          <a:prstGeom prst="line">
            <a:avLst/>
          </a:prstGeom>
          <a:ln w="19050">
            <a:solidFill>
              <a:srgbClr val="5D6C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34640" y="1664208"/>
            <a:ext cx="1993392" cy="2075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8E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80944" y="1828800"/>
            <a:ext cx="438912" cy="438912"/>
          </a:xfrm>
          <a:prstGeom prst="ellipse">
            <a:avLst/>
          </a:prstGeom>
          <a:solidFill>
            <a:srgbClr val="158EA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80944" y="1837943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93008" y="1792224"/>
            <a:ext cx="1170432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1">
                <a:solidFill>
                  <a:srgbClr val="133052"/>
                </a:solidFill>
                <a:latin typeface="Aptos"/>
              </a:rPr>
              <a:t>Find remote gains</a:t>
            </a:r>
            <a:endParaRPr sz="13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999232" y="2450592"/>
            <a:ext cx="1664208" cy="7498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C2735"/>
                </a:solidFill>
                <a:latin typeface="Aptos"/>
              </a:rPr>
              <a:t>exclude experts
already local</a:t>
            </a:r>
            <a:endParaRPr sz="1300" b="1">
              <a:solidFill>
                <a:srgbClr val="1C2735"/>
              </a:solidFill>
              <a:latin typeface="Aptos"/>
            </a:endParaRPr>
          </a:p>
        </p:txBody>
      </p:sp>
      <p:cxnSp>
        <p:nvCxnSpPr>
          <p:cNvPr id="20" name="Connector 19"/>
          <p:cNvCxnSpPr/>
          <p:nvPr/>
        </p:nvCxnSpPr>
        <p:spPr>
          <a:xfrm>
            <a:off x="4846320" y="2706624"/>
            <a:ext cx="237744" cy="0"/>
          </a:xfrm>
          <a:prstGeom prst="line">
            <a:avLst/>
          </a:prstGeom>
          <a:ln w="19050">
            <a:solidFill>
              <a:srgbClr val="5D6C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38928" y="1664208"/>
            <a:ext cx="1993392" cy="2075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85232" y="1828800"/>
            <a:ext cx="438912" cy="438912"/>
          </a:xfrm>
          <a:prstGeom prst="ellipse">
            <a:avLst/>
          </a:prstGeom>
          <a:solidFill>
            <a:srgbClr val="8153A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85232" y="1837943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797296" y="1792224"/>
            <a:ext cx="1170432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1">
                <a:solidFill>
                  <a:srgbClr val="133052"/>
                </a:solidFill>
                <a:latin typeface="Aptos"/>
              </a:rPr>
              <a:t>Choose sources</a:t>
            </a:r>
            <a:endParaRPr sz="13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303520" y="2450592"/>
            <a:ext cx="1664208" cy="7498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C2735"/>
                </a:solidFill>
                <a:latin typeface="Aptos"/>
              </a:rPr>
              <a:t>balance destinations
over replicas</a:t>
            </a:r>
            <a:endParaRPr sz="1300" b="1">
              <a:solidFill>
                <a:srgbClr val="1C2735"/>
              </a:solidFill>
              <a:latin typeface="Aptos"/>
            </a:endParaRPr>
          </a:p>
        </p:txBody>
      </p:sp>
      <p:cxnSp>
        <p:nvCxnSpPr>
          <p:cNvPr id="26" name="Connector 25"/>
          <p:cNvCxnSpPr/>
          <p:nvPr/>
        </p:nvCxnSpPr>
        <p:spPr>
          <a:xfrm>
            <a:off x="7150608" y="2706624"/>
            <a:ext cx="237744" cy="0"/>
          </a:xfrm>
          <a:prstGeom prst="line">
            <a:avLst/>
          </a:prstGeom>
          <a:ln w="19050">
            <a:solidFill>
              <a:srgbClr val="5D6C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443216" y="1664208"/>
            <a:ext cx="1993392" cy="2075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89520" y="1828800"/>
            <a:ext cx="438912" cy="438912"/>
          </a:xfrm>
          <a:prstGeom prst="ellipse">
            <a:avLst/>
          </a:prstGeom>
          <a:solidFill>
            <a:srgbClr val="DD852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89520" y="1837943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101584" y="1792224"/>
            <a:ext cx="1170432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1">
                <a:solidFill>
                  <a:srgbClr val="133052"/>
                </a:solidFill>
                <a:latin typeface="Aptos"/>
              </a:rPr>
              <a:t>Coalesce flows</a:t>
            </a:r>
            <a:endParaRPr sz="13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607808" y="2450592"/>
            <a:ext cx="1664208" cy="7498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C2735"/>
                </a:solidFill>
                <a:latin typeface="Aptos"/>
              </a:rPr>
              <a:t>group experts by
directed (src,dst)</a:t>
            </a:r>
            <a:endParaRPr sz="1300" b="1">
              <a:solidFill>
                <a:srgbClr val="1C2735"/>
              </a:solidFill>
              <a:latin typeface="Aptos"/>
            </a:endParaRPr>
          </a:p>
        </p:txBody>
      </p:sp>
      <p:cxnSp>
        <p:nvCxnSpPr>
          <p:cNvPr id="32" name="Connector 31"/>
          <p:cNvCxnSpPr/>
          <p:nvPr/>
        </p:nvCxnSpPr>
        <p:spPr>
          <a:xfrm>
            <a:off x="9454896" y="2706624"/>
            <a:ext cx="237744" cy="0"/>
          </a:xfrm>
          <a:prstGeom prst="line">
            <a:avLst/>
          </a:prstGeom>
          <a:ln w="19050">
            <a:solidFill>
              <a:srgbClr val="5D6C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747504" y="1664208"/>
            <a:ext cx="1993392" cy="2075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893808" y="1828800"/>
            <a:ext cx="438912" cy="438912"/>
          </a:xfrm>
          <a:prstGeom prst="ellipse">
            <a:avLst/>
          </a:prstGeom>
          <a:solidFill>
            <a:srgbClr val="1B8D6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93808" y="1837943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0405872" y="1792224"/>
            <a:ext cx="1170432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1">
                <a:solidFill>
                  <a:srgbClr val="133052"/>
                </a:solidFill>
                <a:latin typeface="Aptos"/>
              </a:rPr>
              <a:t>First-fit grouping</a:t>
            </a:r>
            <a:endParaRPr sz="13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9912096" y="2450592"/>
            <a:ext cx="1664208" cy="7498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C2735"/>
                </a:solidFill>
                <a:latin typeface="Aptos"/>
              </a:rPr>
              <a:t>build rank-disjoint
migration batches</a:t>
            </a:r>
            <a:endParaRPr sz="13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749808" y="4087368"/>
            <a:ext cx="5257800" cy="1444752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251960"/>
            <a:ext cx="21488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1">
                <a:solidFill>
                  <a:srgbClr val="2D67A4"/>
                </a:solidFill>
                <a:latin typeface="Aptos"/>
              </a:rPr>
              <a:t>Example placement difference</a:t>
            </a:r>
            <a:endParaRPr sz="11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024128" y="4645152"/>
            <a:ext cx="448056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600" b="1">
                <a:solidFill>
                  <a:srgbClr val="133052"/>
                </a:solidFill>
                <a:latin typeface="Aptos"/>
              </a:rPr>
              <a:t>Rank 1: old {E₀,E₂}  →  new {E₀,E₃}</a:t>
            </a:r>
            <a:endParaRPr sz="16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024128" y="5020056"/>
            <a:ext cx="448056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0">
                <a:solidFill>
                  <a:srgbClr val="5D6C7E"/>
                </a:solidFill>
                <a:latin typeface="Aptos"/>
              </a:rPr>
              <a:t>E₀ is local; only E₃ becomes a remote migration</a:t>
            </a:r>
            <a:endParaRPr sz="12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6236208" y="4087368"/>
            <a:ext cx="5193792" cy="1444752"/>
          </a:xfrm>
          <a:prstGeom prst="roundRect">
            <a:avLst/>
          </a:prstGeom>
          <a:solidFill>
            <a:srgbClr val="FBEFDE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46520" y="4251960"/>
            <a:ext cx="132588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1">
                <a:solidFill>
                  <a:srgbClr val="DD852A"/>
                </a:solidFill>
                <a:latin typeface="Aptos"/>
              </a:rPr>
              <a:t>Why coalesce?</a:t>
            </a:r>
            <a:endParaRPr sz="11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6537960" y="4626864"/>
            <a:ext cx="118872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0" y="4681728"/>
            <a:ext cx="10972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133052"/>
                </a:solidFill>
                <a:latin typeface="Aptos"/>
              </a:rPr>
              <a:t>0→1 · E₃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7900416" y="4626864"/>
            <a:ext cx="118872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46136" y="4681728"/>
            <a:ext cx="10972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133052"/>
                </a:solidFill>
                <a:latin typeface="Aptos"/>
              </a:rPr>
              <a:t>0→1 · E₇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9162288" y="4617720"/>
            <a:ext cx="320040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DD852A"/>
                </a:solidFill>
                <a:latin typeface="Aptos"/>
              </a:rPr>
              <a:t>→</a:t>
            </a:r>
            <a:endParaRPr sz="18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9528048" y="4590288"/>
            <a:ext cx="1481328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82912" y="4663440"/>
            <a:ext cx="13716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133052"/>
                </a:solidFill>
                <a:latin typeface="Aptos"/>
              </a:rPr>
              <a:t>0→1 · {E₃,E₇}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6473952" y="5020056"/>
            <a:ext cx="46177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5D6C7E"/>
                </a:solidFill>
                <a:latin typeface="Aptos"/>
              </a:rPr>
              <a:t>One contention decision per directed rank pair</a:t>
            </a:r>
            <a:endParaRPr sz="1200" b="0">
              <a:solidFill>
                <a:srgbClr val="5D6C7E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00" b="1">
                <a:solidFill>
                  <a:srgbClr val="2D67A4"/>
                </a:solidFill>
                <a:latin typeface="Aptos"/>
              </a:rPr>
              <a:t>ALGORITHM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Greedy First-Fit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21207" y="932688"/>
            <a:ext cx="1097280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0">
                <a:solidFill>
                  <a:srgbClr val="5D6C7E"/>
                </a:solidFill>
                <a:latin typeface="Aptos"/>
              </a:rPr>
              <a:t>A batch is a matching in the rank communication graph</a:t>
            </a:r>
            <a:endParaRPr sz="1100" b="0">
              <a:solidFill>
                <a:srgbClr val="5D6C7E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66928" y="1572768"/>
            <a:ext cx="36576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764792"/>
            <a:ext cx="123444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2D67A4"/>
                </a:solidFill>
                <a:latin typeface="Aptos"/>
              </a:rPr>
              <a:t>INPUT ORDER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59536" y="2176272"/>
            <a:ext cx="3054096" cy="539496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276856"/>
            <a:ext cx="50292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2D67A4"/>
                </a:solidFill>
                <a:latin typeface="Aptos"/>
              </a:rPr>
              <a:t>F₀</a:t>
            </a:r>
            <a:endParaRPr sz="12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600200" y="2258568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33052"/>
                </a:solidFill>
                <a:latin typeface="Aptos"/>
              </a:rPr>
              <a:t>0 → 1</a:t>
            </a:r>
            <a:endParaRPr sz="15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487168" y="2267712"/>
            <a:ext cx="1170432" cy="2468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5D6C7E"/>
                </a:solidFill>
                <a:latin typeface="Aptos"/>
              </a:rPr>
              <a:t>{E₁,E₇}</a:t>
            </a:r>
            <a:endParaRPr sz="12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59536" y="2907791"/>
            <a:ext cx="3054096" cy="539496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3008375"/>
            <a:ext cx="50292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B8D60"/>
                </a:solidFill>
                <a:latin typeface="Aptos"/>
              </a:rPr>
              <a:t>F₁</a:t>
            </a:r>
            <a:endParaRPr sz="12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00200" y="2990087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33052"/>
                </a:solidFill>
                <a:latin typeface="Aptos"/>
              </a:rPr>
              <a:t>2 → 3</a:t>
            </a:r>
            <a:endParaRPr sz="15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487168" y="2999232"/>
            <a:ext cx="1170432" cy="2468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5D6C7E"/>
                </a:solidFill>
                <a:latin typeface="Aptos"/>
              </a:rPr>
              <a:t>{E₃}</a:t>
            </a:r>
            <a:endParaRPr sz="12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859536" y="3639312"/>
            <a:ext cx="3054096" cy="539496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3739896"/>
            <a:ext cx="50292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8153A0"/>
                </a:solidFill>
                <a:latin typeface="Aptos"/>
              </a:rPr>
              <a:t>F₂</a:t>
            </a:r>
            <a:endParaRPr sz="1200" b="1">
              <a:solidFill>
                <a:srgbClr val="8153A0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600200" y="3721608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33052"/>
                </a:solidFill>
                <a:latin typeface="Aptos"/>
              </a:rPr>
              <a:t>1 → 2</a:t>
            </a:r>
            <a:endParaRPr sz="15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487168" y="3730752"/>
            <a:ext cx="1170432" cy="2468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5D6C7E"/>
                </a:solidFill>
                <a:latin typeface="Aptos"/>
              </a:rPr>
              <a:t>{E₄}</a:t>
            </a:r>
            <a:endParaRPr sz="12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859536" y="4370832"/>
            <a:ext cx="3054096" cy="539496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4471416"/>
            <a:ext cx="50292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DD852A"/>
                </a:solidFill>
                <a:latin typeface="Aptos"/>
              </a:rPr>
              <a:t>F₃</a:t>
            </a:r>
            <a:endParaRPr sz="12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600200" y="4453128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33052"/>
                </a:solidFill>
                <a:latin typeface="Aptos"/>
              </a:rPr>
              <a:t>0 → 3</a:t>
            </a:r>
            <a:endParaRPr sz="15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487168" y="4462272"/>
            <a:ext cx="1170432" cy="2468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5D6C7E"/>
                </a:solidFill>
                <a:latin typeface="Aptos"/>
              </a:rPr>
              <a:t>{E₉}</a:t>
            </a:r>
            <a:endParaRPr sz="1200" b="0">
              <a:solidFill>
                <a:srgbClr val="5D6C7E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/>
              <p:cNvSpPr txBox="1"/>
              <p:nvPr/>
            </p:nvSpPr>
            <p:spPr>
              <a:xfrm>
                <a:off x="804672" y="5230368"/>
                <a:ext cx="3200400" cy="530352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1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𝑚</m:t>
                          </m:r>
                        </m:e>
                        <m:sub>
                          <m:r>
                            <a:rPr lang="en-US" sz="11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𝑠</m:t>
                          </m:r>
                          <m:r>
                            <a:rPr lang="en-US" sz="11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,</m:t>
                          </m:r>
                          <m:r>
                            <a:rPr lang="en-US" sz="11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𝑑</m:t>
                          </m:r>
                        </m:sub>
                      </m:sSub>
                      <m:r>
                        <a:rPr lang="en-US" sz="11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=</m:t>
                      </m:r>
                      <m:d>
                        <m:dPr>
                          <m:sepChr m:val=""/>
                          <m:ctrlPr>
                            <a:rPr/>
                          </m:ctrlPr>
                        </m:dPr>
                        <m:e>
                          <m:r>
                            <a:rPr lang="en-US" sz="11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1</m:t>
                          </m:r>
                          <m:r>
                            <a:rPr lang="en-US" sz="11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≪</m:t>
                          </m:r>
                          <m:r>
                            <a:rPr lang="en-US" sz="11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𝑠</m:t>
                          </m:r>
                        </m:e>
                      </m:d>
                      <m:r>
                        <a:rPr lang="en-US" sz="11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∨</m:t>
                      </m:r>
                      <m:d>
                        <m:dPr>
                          <m:sepChr m:val=""/>
                          <m:ctrlPr>
                            <a:rPr/>
                          </m:ctrlPr>
                        </m:dPr>
                        <m:e>
                          <m:r>
                            <a:rPr lang="en-US" sz="11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1</m:t>
                          </m:r>
                          <m:r>
                            <a:rPr lang="en-US" sz="11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≪</m:t>
                          </m:r>
                          <m:r>
                            <a:rPr lang="en-US" sz="11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𝑑</m:t>
                          </m:r>
                        </m:e>
                      </m:d>
                      <m:r>
                        <a:rPr lang="en-US" sz="11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1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  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1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𝑚</m:t>
                          </m:r>
                        </m:e>
                        <m:sub>
                          <m:r>
                            <a:rPr lang="en-US" sz="11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𝑠</m:t>
                          </m:r>
                          <m:r>
                            <a:rPr lang="en-US" sz="11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,</m:t>
                          </m:r>
                          <m:r>
                            <a:rPr lang="en-US" sz="11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𝑑</m:t>
                          </m:r>
                        </m:sub>
                      </m:sSub>
                      <m:r>
                        <a:rPr lang="en-US" sz="11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∧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1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𝑢</m:t>
                          </m:r>
                        </m:e>
                        <m:sub>
                          <m:r>
                            <a:rPr lang="en-US" sz="11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𝑏</m:t>
                          </m:r>
                        </m:sub>
                      </m:sSub>
                      <m:r>
                        <a:rPr lang="en-US" sz="11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=</m:t>
                      </m:r>
                      <m:r>
                        <a:rPr lang="en-US" sz="11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0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27" name="Text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672" y="5230368"/>
                <a:ext cx="3200400" cy="530352"/>
              </a:xfrm>
              <a:prstGeom prst="rect">
                <a:avLst/>
              </a:prstGeom>
              <a:blipFill rotWithShape="1">
                <a:blip r:embed="rId1"/>
                <a:stretch>
                  <a:fillRect l="-4" t="-96" r="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/>
          <p:cNvSpPr/>
          <p:nvPr/>
        </p:nvSpPr>
        <p:spPr>
          <a:xfrm>
            <a:off x="4498848" y="1572768"/>
            <a:ext cx="7114032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1764792"/>
            <a:ext cx="2011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1B8D60"/>
                </a:solidFill>
                <a:latin typeface="Aptos"/>
              </a:rPr>
              <a:t>FIRST-FIT DECISIONS</a:t>
            </a:r>
            <a:endParaRPr sz="10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30" name="Oval 29"/>
          <p:cNvSpPr/>
          <p:nvPr/>
        </p:nvSpPr>
        <p:spPr>
          <a:xfrm>
            <a:off x="4773168" y="2157984"/>
            <a:ext cx="438912" cy="438912"/>
          </a:xfrm>
          <a:prstGeom prst="ellipse">
            <a:avLst/>
          </a:prstGeom>
          <a:solidFill>
            <a:srgbClr val="2D67A4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圆角矩形 6"/>
          <p:cNvSpPr/>
          <p:nvPr/>
        </p:nvSpPr>
        <p:spPr>
          <a:xfrm>
            <a:off x="6502400" y="4471670"/>
            <a:ext cx="3562985" cy="59372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  <p:sp>
        <p:nvSpPr>
          <p:cNvPr id="31" name="TextBox 30"/>
          <p:cNvSpPr txBox="1"/>
          <p:nvPr/>
        </p:nvSpPr>
        <p:spPr>
          <a:xfrm>
            <a:off x="4773168" y="2167127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F₀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376672" y="2203703"/>
            <a:ext cx="9875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33052"/>
                </a:solidFill>
                <a:latin typeface="Aptos"/>
              </a:rPr>
              <a:t>Batch 0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419088" y="2185415"/>
            <a:ext cx="25603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0">
                <a:solidFill>
                  <a:srgbClr val="5D6C7E"/>
                </a:solidFill>
                <a:latin typeface="Aptos"/>
              </a:rPr>
              <a:t>uses ranks {0,1}</a:t>
            </a:r>
            <a:endParaRPr sz="11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34" name="Oval 33"/>
          <p:cNvSpPr/>
          <p:nvPr/>
        </p:nvSpPr>
        <p:spPr>
          <a:xfrm>
            <a:off x="4773168" y="2715768"/>
            <a:ext cx="438912" cy="438912"/>
          </a:xfrm>
          <a:prstGeom prst="ellipse">
            <a:avLst/>
          </a:prstGeom>
          <a:solidFill>
            <a:srgbClr val="1B8D6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73168" y="2724911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F₁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376672" y="2761487"/>
            <a:ext cx="9875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33052"/>
                </a:solidFill>
                <a:latin typeface="Aptos"/>
              </a:rPr>
              <a:t>Batch 0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419088" y="2743199"/>
            <a:ext cx="25603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0">
                <a:solidFill>
                  <a:srgbClr val="5D6C7E"/>
                </a:solidFill>
                <a:latin typeface="Aptos"/>
              </a:rPr>
              <a:t>disjoint ranks {2,3}</a:t>
            </a:r>
            <a:endParaRPr sz="11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38" name="Oval 37"/>
          <p:cNvSpPr/>
          <p:nvPr/>
        </p:nvSpPr>
        <p:spPr>
          <a:xfrm>
            <a:off x="4773168" y="3273552"/>
            <a:ext cx="438912" cy="438912"/>
          </a:xfrm>
          <a:prstGeom prst="ellipse">
            <a:avLst/>
          </a:prstGeom>
          <a:solidFill>
            <a:srgbClr val="8153A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73168" y="3282696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F₂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376672" y="3319272"/>
            <a:ext cx="9875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33052"/>
                </a:solidFill>
                <a:latin typeface="Aptos"/>
              </a:rPr>
              <a:t>Batch 1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419088" y="3300984"/>
            <a:ext cx="25603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0">
                <a:solidFill>
                  <a:srgbClr val="5D6C7E"/>
                </a:solidFill>
                <a:latin typeface="Aptos"/>
              </a:rPr>
              <a:t>conflicts with F₀ and F₁</a:t>
            </a:r>
            <a:endParaRPr sz="11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4773168" y="3831335"/>
            <a:ext cx="438912" cy="438912"/>
          </a:xfrm>
          <a:prstGeom prst="ellipse">
            <a:avLst/>
          </a:prstGeom>
          <a:solidFill>
            <a:srgbClr val="DD852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73168" y="3840479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F₃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5376672" y="3877055"/>
            <a:ext cx="9875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33052"/>
                </a:solidFill>
                <a:latin typeface="Aptos"/>
              </a:rPr>
              <a:t>Batch 1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419088" y="3858768"/>
            <a:ext cx="25603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0">
                <a:solidFill>
                  <a:srgbClr val="5D6C7E"/>
                </a:solidFill>
                <a:latin typeface="Aptos"/>
              </a:rPr>
              <a:t>disjoint from F₂</a:t>
            </a:r>
            <a:endParaRPr sz="11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647688" y="4645152"/>
            <a:ext cx="73152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2D67A4"/>
                </a:solidFill>
                <a:latin typeface="Aptos"/>
              </a:rPr>
              <a:t>Batch 0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7" name="Oval 46"/>
          <p:cNvSpPr/>
          <p:nvPr/>
        </p:nvSpPr>
        <p:spPr>
          <a:xfrm>
            <a:off x="7518654" y="4599432"/>
            <a:ext cx="347472" cy="347472"/>
          </a:xfrm>
          <a:prstGeom prst="ellipse">
            <a:avLst/>
          </a:prstGeom>
          <a:solidFill>
            <a:srgbClr val="2D67A4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01509" y="4608576"/>
            <a:ext cx="347472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49" name="Connector 48"/>
          <p:cNvCxnSpPr/>
          <p:nvPr/>
        </p:nvCxnSpPr>
        <p:spPr>
          <a:xfrm>
            <a:off x="7867269" y="4773168"/>
            <a:ext cx="210312" cy="0"/>
          </a:xfrm>
          <a:prstGeom prst="line">
            <a:avLst/>
          </a:prstGeom>
          <a:ln w="19050">
            <a:solidFill>
              <a:srgbClr val="2D67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8113014" y="4599432"/>
            <a:ext cx="347472" cy="347472"/>
          </a:xfrm>
          <a:prstGeom prst="ellipse">
            <a:avLst/>
          </a:prstGeom>
          <a:solidFill>
            <a:srgbClr val="2D67A4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95869" y="4608576"/>
            <a:ext cx="347472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2" name="Oval 51"/>
          <p:cNvSpPr/>
          <p:nvPr/>
        </p:nvSpPr>
        <p:spPr>
          <a:xfrm>
            <a:off x="9050274" y="4599432"/>
            <a:ext cx="347472" cy="347472"/>
          </a:xfrm>
          <a:prstGeom prst="ellipse">
            <a:avLst/>
          </a:prstGeom>
          <a:solidFill>
            <a:srgbClr val="2D67A4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圆角矩形 7"/>
          <p:cNvSpPr/>
          <p:nvPr/>
        </p:nvSpPr>
        <p:spPr>
          <a:xfrm>
            <a:off x="6502400" y="5123815"/>
            <a:ext cx="3562985" cy="59372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  <p:sp>
        <p:nvSpPr>
          <p:cNvPr id="53" name="TextBox 52"/>
          <p:cNvSpPr txBox="1"/>
          <p:nvPr/>
        </p:nvSpPr>
        <p:spPr>
          <a:xfrm>
            <a:off x="9050274" y="4608576"/>
            <a:ext cx="347472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54" name="Connector 53"/>
          <p:cNvCxnSpPr/>
          <p:nvPr/>
        </p:nvCxnSpPr>
        <p:spPr>
          <a:xfrm>
            <a:off x="9416034" y="4773168"/>
            <a:ext cx="210312" cy="0"/>
          </a:xfrm>
          <a:prstGeom prst="line">
            <a:avLst/>
          </a:prstGeom>
          <a:ln w="19050">
            <a:solidFill>
              <a:srgbClr val="2D67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9644634" y="4599432"/>
            <a:ext cx="347472" cy="347472"/>
          </a:xfrm>
          <a:prstGeom prst="ellipse">
            <a:avLst/>
          </a:prstGeom>
          <a:solidFill>
            <a:srgbClr val="2D67A4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44634" y="4608576"/>
            <a:ext cx="347472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6647688" y="5230368"/>
            <a:ext cx="73152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8153A0"/>
                </a:solidFill>
                <a:latin typeface="Aptos"/>
              </a:rPr>
              <a:t>Batch 1</a:t>
            </a:r>
            <a:endParaRPr sz="1000" b="1">
              <a:solidFill>
                <a:srgbClr val="8153A0"/>
              </a:solidFill>
              <a:latin typeface="Aptos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7518654" y="5184648"/>
            <a:ext cx="347472" cy="347472"/>
          </a:xfrm>
          <a:prstGeom prst="ellipse">
            <a:avLst/>
          </a:prstGeom>
          <a:solidFill>
            <a:srgbClr val="8153A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01509" y="5193792"/>
            <a:ext cx="347472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60" name="Connector 59"/>
          <p:cNvCxnSpPr/>
          <p:nvPr/>
        </p:nvCxnSpPr>
        <p:spPr>
          <a:xfrm>
            <a:off x="7867269" y="5358383"/>
            <a:ext cx="210312" cy="0"/>
          </a:xfrm>
          <a:prstGeom prst="line">
            <a:avLst/>
          </a:prstGeom>
          <a:ln w="19050">
            <a:solidFill>
              <a:srgbClr val="8153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8113014" y="5184648"/>
            <a:ext cx="347472" cy="347472"/>
          </a:xfrm>
          <a:prstGeom prst="ellipse">
            <a:avLst/>
          </a:prstGeom>
          <a:solidFill>
            <a:srgbClr val="8153A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95869" y="5193792"/>
            <a:ext cx="347472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63" name="Oval 62"/>
          <p:cNvSpPr/>
          <p:nvPr/>
        </p:nvSpPr>
        <p:spPr>
          <a:xfrm>
            <a:off x="9050274" y="5184648"/>
            <a:ext cx="347472" cy="347472"/>
          </a:xfrm>
          <a:prstGeom prst="ellipse">
            <a:avLst/>
          </a:prstGeom>
          <a:solidFill>
            <a:srgbClr val="8153A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050274" y="5193792"/>
            <a:ext cx="347472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65" name="Connector 64"/>
          <p:cNvCxnSpPr/>
          <p:nvPr/>
        </p:nvCxnSpPr>
        <p:spPr>
          <a:xfrm>
            <a:off x="9416034" y="5358383"/>
            <a:ext cx="210312" cy="0"/>
          </a:xfrm>
          <a:prstGeom prst="line">
            <a:avLst/>
          </a:prstGeom>
          <a:ln w="19050">
            <a:solidFill>
              <a:srgbClr val="8153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9644634" y="5184648"/>
            <a:ext cx="347472" cy="347472"/>
          </a:xfrm>
          <a:prstGeom prst="ellipse">
            <a:avLst/>
          </a:prstGeom>
          <a:solidFill>
            <a:srgbClr val="8153A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644634" y="5193792"/>
            <a:ext cx="347472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00" b="1">
                <a:solidFill>
                  <a:srgbClr val="2D67A4"/>
                </a:solidFill>
                <a:latin typeface="Aptos"/>
              </a:rPr>
              <a:t>SYSTEM IMPLEMENTATION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vLLM Integration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48640" y="1517904"/>
            <a:ext cx="3657600" cy="4553712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55648"/>
            <a:ext cx="224028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2D67A4"/>
                </a:solidFill>
                <a:latin typeface="Aptos"/>
              </a:rPr>
              <a:t>ONCE PER REBALANCE CYCLE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932688" y="2304288"/>
            <a:ext cx="2907792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95728"/>
            <a:ext cx="2578608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33052"/>
                </a:solidFill>
                <a:latin typeface="Aptos"/>
              </a:rPr>
              <a:t>old/new placement arrays
for all 48 MoE layers</a:t>
            </a:r>
            <a:endParaRPr sz="14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2386584" y="2999232"/>
            <a:ext cx="0" cy="338328"/>
          </a:xfrm>
          <a:prstGeom prst="line">
            <a:avLst/>
          </a:prstGeom>
          <a:ln w="25400">
            <a:solidFill>
              <a:srgbClr val="2D67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32688" y="3364992"/>
            <a:ext cx="2907792" cy="804672"/>
          </a:xfrm>
          <a:prstGeom prst="round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3474720"/>
            <a:ext cx="2633472" cy="51206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schedule_migration_batches_
for_layers(...)  × 1 call</a:t>
            </a:r>
            <a:endParaRPr sz="14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2386584" y="4187952"/>
            <a:ext cx="0" cy="338328"/>
          </a:xfrm>
          <a:prstGeom prst="line">
            <a:avLst/>
          </a:prstGeom>
          <a:ln w="25400">
            <a:solidFill>
              <a:srgbClr val="2D67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344168" y="4553712"/>
            <a:ext cx="2103120" cy="42062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2D67A4"/>
                </a:solidFill>
                <a:latin typeface="Aptos"/>
              </a:rPr>
              <a:t>48 independent schedules</a:t>
            </a:r>
            <a:endParaRPr sz="14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14400" y="5138928"/>
            <a:ext cx="2926080" cy="42062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C2735"/>
                </a:solidFill>
                <a:latin typeface="Aptos"/>
              </a:rPr>
              <a:t>CPU work is aggregated; expert payloads are not.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4480560" y="1517904"/>
            <a:ext cx="7150608" cy="4553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0" y="1755648"/>
            <a:ext cx="228600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1B8D60"/>
                </a:solidFill>
                <a:latin typeface="Aptos"/>
              </a:rPr>
              <a:t>LAYER-WISE NIXL EXECUTION</a:t>
            </a:r>
            <a:endParaRPr sz="10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36592" y="2304288"/>
            <a:ext cx="6583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133052"/>
                </a:solidFill>
                <a:latin typeface="Aptos"/>
              </a:rPr>
              <a:t>Layer 0</a:t>
            </a:r>
            <a:endParaRPr sz="10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468112" y="2212848"/>
            <a:ext cx="1115568" cy="448056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04688" y="2286000"/>
            <a:ext cx="1042415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set context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6583680" y="2441448"/>
            <a:ext cx="146304" cy="0"/>
          </a:xfrm>
          <a:prstGeom prst="line">
            <a:avLst/>
          </a:prstGeom>
          <a:ln w="12700">
            <a:solidFill>
              <a:srgbClr val="5D6C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6748272" y="2212848"/>
            <a:ext cx="1371600" cy="448056"/>
          </a:xfrm>
          <a:prstGeom prst="rect">
            <a:avLst/>
          </a:prstGeom>
          <a:solidFill>
            <a:srgbClr val="DD852A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84848" y="2286000"/>
            <a:ext cx="129844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add send/recv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26" name="Connector 25"/>
          <p:cNvCxnSpPr/>
          <p:nvPr/>
        </p:nvCxnSpPr>
        <p:spPr>
          <a:xfrm>
            <a:off x="8119872" y="2441448"/>
            <a:ext cx="146304" cy="0"/>
          </a:xfrm>
          <a:prstGeom prst="line">
            <a:avLst/>
          </a:prstGeom>
          <a:ln w="12700">
            <a:solidFill>
              <a:srgbClr val="5D6C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8284464" y="2212848"/>
            <a:ext cx="1243584" cy="448056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2286000"/>
            <a:ext cx="1170432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execute batch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29" name="Connector 28"/>
          <p:cNvCxnSpPr/>
          <p:nvPr/>
        </p:nvCxnSpPr>
        <p:spPr>
          <a:xfrm>
            <a:off x="9528048" y="2441448"/>
            <a:ext cx="146304" cy="0"/>
          </a:xfrm>
          <a:prstGeom prst="line">
            <a:avLst/>
          </a:prstGeom>
          <a:ln w="12700">
            <a:solidFill>
              <a:srgbClr val="5D6C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9692640" y="2212848"/>
            <a:ext cx="960120" cy="448056"/>
          </a:xfrm>
          <a:prstGeom prst="rect">
            <a:avLst/>
          </a:prstGeom>
          <a:solidFill>
            <a:srgbClr val="8153A0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29216" y="2286000"/>
            <a:ext cx="8869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activate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36592" y="3108960"/>
            <a:ext cx="6583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133052"/>
                </a:solidFill>
                <a:latin typeface="Aptos"/>
              </a:rPr>
              <a:t>Layer 1</a:t>
            </a:r>
            <a:endParaRPr sz="10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468112" y="3017520"/>
            <a:ext cx="1115568" cy="448056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04688" y="3090672"/>
            <a:ext cx="1042415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set context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35" name="Connector 34"/>
          <p:cNvCxnSpPr/>
          <p:nvPr/>
        </p:nvCxnSpPr>
        <p:spPr>
          <a:xfrm>
            <a:off x="6583680" y="3246120"/>
            <a:ext cx="146304" cy="0"/>
          </a:xfrm>
          <a:prstGeom prst="line">
            <a:avLst/>
          </a:prstGeom>
          <a:ln w="12700">
            <a:solidFill>
              <a:srgbClr val="5D6C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748272" y="3017520"/>
            <a:ext cx="1371600" cy="448056"/>
          </a:xfrm>
          <a:prstGeom prst="rect">
            <a:avLst/>
          </a:prstGeom>
          <a:solidFill>
            <a:srgbClr val="DD852A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84848" y="3090672"/>
            <a:ext cx="129844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add send/recv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38" name="Connector 37"/>
          <p:cNvCxnSpPr/>
          <p:nvPr/>
        </p:nvCxnSpPr>
        <p:spPr>
          <a:xfrm>
            <a:off x="8119872" y="3246120"/>
            <a:ext cx="146304" cy="0"/>
          </a:xfrm>
          <a:prstGeom prst="line">
            <a:avLst/>
          </a:prstGeom>
          <a:ln w="12700">
            <a:solidFill>
              <a:srgbClr val="5D6C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8284464" y="3017520"/>
            <a:ext cx="1243584" cy="448056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1040" y="3090672"/>
            <a:ext cx="1170432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execute batch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41" name="Connector 40"/>
          <p:cNvCxnSpPr/>
          <p:nvPr/>
        </p:nvCxnSpPr>
        <p:spPr>
          <a:xfrm>
            <a:off x="9528048" y="3246120"/>
            <a:ext cx="146304" cy="0"/>
          </a:xfrm>
          <a:prstGeom prst="line">
            <a:avLst/>
          </a:prstGeom>
          <a:ln w="12700">
            <a:solidFill>
              <a:srgbClr val="5D6C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9692640" y="3017520"/>
            <a:ext cx="960120" cy="448056"/>
          </a:xfrm>
          <a:prstGeom prst="rect">
            <a:avLst/>
          </a:prstGeom>
          <a:solidFill>
            <a:srgbClr val="8153A0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29216" y="3090672"/>
            <a:ext cx="8869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activate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736592" y="3913631"/>
            <a:ext cx="6583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133052"/>
                </a:solidFill>
                <a:latin typeface="Aptos"/>
              </a:rPr>
              <a:t>Layer 2</a:t>
            </a:r>
            <a:endParaRPr sz="10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5468112" y="3822191"/>
            <a:ext cx="1115568" cy="448056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504688" y="3895344"/>
            <a:ext cx="1042415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set context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47" name="Connector 46"/>
          <p:cNvCxnSpPr/>
          <p:nvPr/>
        </p:nvCxnSpPr>
        <p:spPr>
          <a:xfrm>
            <a:off x="6583680" y="4050791"/>
            <a:ext cx="146304" cy="0"/>
          </a:xfrm>
          <a:prstGeom prst="line">
            <a:avLst/>
          </a:prstGeom>
          <a:ln w="12700">
            <a:solidFill>
              <a:srgbClr val="5D6C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6748272" y="3822191"/>
            <a:ext cx="1371600" cy="448056"/>
          </a:xfrm>
          <a:prstGeom prst="rect">
            <a:avLst/>
          </a:prstGeom>
          <a:solidFill>
            <a:srgbClr val="DD852A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84848" y="3895344"/>
            <a:ext cx="129844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add send/recv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50" name="Connector 49"/>
          <p:cNvCxnSpPr/>
          <p:nvPr/>
        </p:nvCxnSpPr>
        <p:spPr>
          <a:xfrm>
            <a:off x="8119872" y="4050791"/>
            <a:ext cx="146304" cy="0"/>
          </a:xfrm>
          <a:prstGeom prst="line">
            <a:avLst/>
          </a:prstGeom>
          <a:ln w="12700">
            <a:solidFill>
              <a:srgbClr val="5D6C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8284464" y="3822191"/>
            <a:ext cx="1243584" cy="448056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21040" y="3895344"/>
            <a:ext cx="1170432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execute batch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53" name="Connector 52"/>
          <p:cNvCxnSpPr/>
          <p:nvPr/>
        </p:nvCxnSpPr>
        <p:spPr>
          <a:xfrm>
            <a:off x="9528048" y="4050791"/>
            <a:ext cx="146304" cy="0"/>
          </a:xfrm>
          <a:prstGeom prst="line">
            <a:avLst/>
          </a:prstGeom>
          <a:ln w="12700">
            <a:solidFill>
              <a:srgbClr val="5D6C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9692640" y="3822191"/>
            <a:ext cx="960120" cy="448056"/>
          </a:xfrm>
          <a:prstGeom prst="rect">
            <a:avLst/>
          </a:prstGeom>
          <a:solidFill>
            <a:srgbClr val="8153A0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29216" y="3895344"/>
            <a:ext cx="8869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activate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736592" y="4718304"/>
            <a:ext cx="6583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133052"/>
                </a:solidFill>
                <a:latin typeface="Aptos"/>
              </a:rPr>
              <a:t>Layer 47</a:t>
            </a:r>
            <a:endParaRPr sz="10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5468112" y="4626864"/>
            <a:ext cx="1115568" cy="448056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504688" y="4700016"/>
            <a:ext cx="1042415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set context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59" name="Connector 58"/>
          <p:cNvCxnSpPr/>
          <p:nvPr/>
        </p:nvCxnSpPr>
        <p:spPr>
          <a:xfrm>
            <a:off x="6583680" y="4855464"/>
            <a:ext cx="146304" cy="0"/>
          </a:xfrm>
          <a:prstGeom prst="line">
            <a:avLst/>
          </a:prstGeom>
          <a:ln w="12700">
            <a:solidFill>
              <a:srgbClr val="5D6C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6748272" y="4626864"/>
            <a:ext cx="1371600" cy="448056"/>
          </a:xfrm>
          <a:prstGeom prst="rect">
            <a:avLst/>
          </a:prstGeom>
          <a:solidFill>
            <a:srgbClr val="DD852A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784848" y="4700016"/>
            <a:ext cx="129844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add send/recv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62" name="Connector 61"/>
          <p:cNvCxnSpPr/>
          <p:nvPr/>
        </p:nvCxnSpPr>
        <p:spPr>
          <a:xfrm>
            <a:off x="8119872" y="4855464"/>
            <a:ext cx="146304" cy="0"/>
          </a:xfrm>
          <a:prstGeom prst="line">
            <a:avLst/>
          </a:prstGeom>
          <a:ln w="12700">
            <a:solidFill>
              <a:srgbClr val="5D6C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8284464" y="4626864"/>
            <a:ext cx="1243584" cy="448056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21040" y="4700016"/>
            <a:ext cx="1170432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execute batch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65" name="Connector 64"/>
          <p:cNvCxnSpPr/>
          <p:nvPr/>
        </p:nvCxnSpPr>
        <p:spPr>
          <a:xfrm>
            <a:off x="9528048" y="4855464"/>
            <a:ext cx="146304" cy="0"/>
          </a:xfrm>
          <a:prstGeom prst="line">
            <a:avLst/>
          </a:prstGeom>
          <a:ln w="12700">
            <a:solidFill>
              <a:srgbClr val="5D6C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9692640" y="4626864"/>
            <a:ext cx="960120" cy="448056"/>
          </a:xfrm>
          <a:prstGeom prst="rect">
            <a:avLst/>
          </a:prstGeom>
          <a:solidFill>
            <a:srgbClr val="8153A0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729216" y="4700016"/>
            <a:ext cx="8869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activate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4754880" y="5449824"/>
            <a:ext cx="6510528" cy="393192"/>
          </a:xfrm>
          <a:prstGeom prst="roundRect">
            <a:avLst/>
          </a:prstGeom>
          <a:solidFill>
            <a:srgbClr val="FBEFDE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882896" y="5522976"/>
            <a:ext cx="6254496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1C2735"/>
                </a:solidFill>
                <a:latin typeface="Aptos"/>
              </a:rPr>
              <a:t>NIXL execute() drains the batch and clears context → restore context per batch</a:t>
            </a:r>
            <a:endParaRPr sz="1000" b="1">
              <a:solidFill>
                <a:srgbClr val="1C2735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00" b="1">
                <a:solidFill>
                  <a:srgbClr val="2D67A4"/>
                </a:solidFill>
                <a:latin typeface="Aptos"/>
              </a:rPr>
              <a:t>EVALUATION METHODOLOGY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Experimental Setup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21207" y="932688"/>
            <a:ext cx="1097280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0">
                <a:solidFill>
                  <a:srgbClr val="5D6C7E"/>
                </a:solidFill>
                <a:latin typeface="Aptos"/>
              </a:rPr>
              <a:t>Fresh server per condition; batching is the only changed switch</a:t>
            </a:r>
            <a:endParaRPr sz="1100" b="0">
              <a:solidFill>
                <a:srgbClr val="5D6C7E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66928" y="1554480"/>
            <a:ext cx="6537960" cy="4453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86968" y="1965960"/>
            <a:ext cx="1161288" cy="1051560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75688"/>
            <a:ext cx="1014984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2D67A4"/>
                </a:solidFill>
                <a:latin typeface="Aptos"/>
              </a:rPr>
              <a:t>Node 0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60120" y="2350008"/>
            <a:ext cx="101498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33052"/>
                </a:solidFill>
                <a:latin typeface="Aptos"/>
              </a:rPr>
              <a:t>RTX 6000
24 GB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1472184" y="3026664"/>
            <a:ext cx="0" cy="512064"/>
          </a:xfrm>
          <a:prstGeom prst="line">
            <a:avLst/>
          </a:prstGeom>
          <a:ln w="38100">
            <a:solidFill>
              <a:srgbClr val="1B8D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395728" y="1965960"/>
            <a:ext cx="1161288" cy="1051560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68880" y="2075688"/>
            <a:ext cx="1014984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2D67A4"/>
                </a:solidFill>
                <a:latin typeface="Aptos"/>
              </a:rPr>
              <a:t>Node 1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468880" y="2350008"/>
            <a:ext cx="101498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33052"/>
                </a:solidFill>
                <a:latin typeface="Aptos"/>
              </a:rPr>
              <a:t>RTX 6000
24 GB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2980944" y="3026664"/>
            <a:ext cx="0" cy="512064"/>
          </a:xfrm>
          <a:prstGeom prst="line">
            <a:avLst/>
          </a:prstGeom>
          <a:ln w="38100">
            <a:solidFill>
              <a:srgbClr val="1B8D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904487" y="1965960"/>
            <a:ext cx="1161288" cy="1051560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2075688"/>
            <a:ext cx="1014984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2D67A4"/>
                </a:solidFill>
                <a:latin typeface="Aptos"/>
              </a:rPr>
              <a:t>Node 2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977639" y="2350008"/>
            <a:ext cx="101498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33052"/>
                </a:solidFill>
                <a:latin typeface="Aptos"/>
              </a:rPr>
              <a:t>RTX 6000
24 GB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4489703" y="3026664"/>
            <a:ext cx="0" cy="512064"/>
          </a:xfrm>
          <a:prstGeom prst="line">
            <a:avLst/>
          </a:prstGeom>
          <a:ln w="38100">
            <a:solidFill>
              <a:srgbClr val="1B8D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413247" y="1965960"/>
            <a:ext cx="1161288" cy="1051560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399" y="2075688"/>
            <a:ext cx="1014984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2D67A4"/>
                </a:solidFill>
                <a:latin typeface="Aptos"/>
              </a:rPr>
              <a:t>Node 3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86399" y="2350008"/>
            <a:ext cx="101498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33052"/>
                </a:solidFill>
                <a:latin typeface="Aptos"/>
              </a:rPr>
              <a:t>RTX 6000
24 GB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25" name="Connector 24"/>
          <p:cNvCxnSpPr/>
          <p:nvPr/>
        </p:nvCxnSpPr>
        <p:spPr>
          <a:xfrm>
            <a:off x="5998463" y="3026664"/>
            <a:ext cx="0" cy="512064"/>
          </a:xfrm>
          <a:prstGeom prst="line">
            <a:avLst/>
          </a:prstGeom>
          <a:ln w="38100">
            <a:solidFill>
              <a:srgbClr val="1B8D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463040" y="3538728"/>
            <a:ext cx="4526280" cy="0"/>
          </a:xfrm>
          <a:prstGeom prst="line">
            <a:avLst/>
          </a:prstGeom>
          <a:ln w="50800">
            <a:solidFill>
              <a:srgbClr val="1B8D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143000" y="3703320"/>
            <a:ext cx="525780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B8D60"/>
                </a:solidFill>
                <a:latin typeface="Aptos"/>
              </a:rPr>
              <a:t>10 GbE · NIXL 1.3.2 over UCX/TCP · no RDMA</a:t>
            </a:r>
            <a:endParaRPr sz="13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78992" y="4224528"/>
            <a:ext cx="539496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33052"/>
                </a:solidFill>
                <a:latin typeface="Aptos"/>
              </a:rPr>
              <a:t>Qwen3-30B-A3B-Instruct-2507 · FP16 · TP=EP=4</a:t>
            </a:r>
            <a:endParaRPr sz="13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05840" y="4663440"/>
            <a:ext cx="55321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5D6C7E"/>
                </a:solidFill>
                <a:latin typeface="Aptos"/>
              </a:rPr>
              <a:t>Async EPLB · window 50 · step interval 50 · 16 redundant experts</a:t>
            </a:r>
            <a:endParaRPr sz="11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1024128" y="5102352"/>
            <a:ext cx="5486400" cy="493776"/>
          </a:xfrm>
          <a:prstGeom prst="roundRect">
            <a:avLst/>
          </a:prstGeom>
          <a:solidFill>
            <a:srgbClr val="E5F5EE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3856" y="5193792"/>
            <a:ext cx="525780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1B8D60"/>
                </a:solidFill>
                <a:latin typeface="Aptos"/>
              </a:rPr>
              <a:t>Prefix cache enabled · eager execution · 500/500 requests completed</a:t>
            </a:r>
            <a:endParaRPr sz="11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7360920" y="1554480"/>
            <a:ext cx="4251960" cy="4453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35240" y="1773936"/>
            <a:ext cx="109728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8153A0"/>
                </a:solidFill>
                <a:latin typeface="Aptos"/>
              </a:rPr>
              <a:t>WORKLOAD</a:t>
            </a:r>
            <a:endParaRPr sz="1000" b="1">
              <a:solidFill>
                <a:srgbClr val="8153A0"/>
              </a:solidFill>
              <a:latin typeface="Apto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653527" y="2212848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5D6C7E"/>
                </a:solidFill>
                <a:latin typeface="Aptos"/>
              </a:rPr>
              <a:t>Dataset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833104" y="2194560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random · seed 0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653527" y="2706624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5D6C7E"/>
                </a:solidFill>
                <a:latin typeface="Aptos"/>
              </a:rPr>
              <a:t>Prompts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8833104" y="2688336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500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7653527" y="3200400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5D6C7E"/>
                </a:solidFill>
                <a:latin typeface="Aptos"/>
              </a:rPr>
              <a:t>Concurrency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8833104" y="3182112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32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653527" y="3694176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5D6C7E"/>
                </a:solidFill>
                <a:latin typeface="Aptos"/>
              </a:rPr>
              <a:t>Prefix / input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8833104" y="3675888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300 / 200 tokens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653527" y="4187952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5D6C7E"/>
                </a:solidFill>
                <a:latin typeface="Aptos"/>
              </a:rPr>
              <a:t>Output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833104" y="4169664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300 tokens · ignore EOS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653527" y="4681728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5D6C7E"/>
                </a:solidFill>
                <a:latin typeface="Aptos"/>
              </a:rPr>
              <a:t>Reported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833104" y="4663440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P50 and P99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7635240" y="5276088"/>
            <a:ext cx="3703320" cy="438912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0" y="5358384"/>
            <a:ext cx="342900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133052"/>
                </a:solidFill>
                <a:latin typeface="Aptos"/>
              </a:rPr>
              <a:t>OFF vs ON · same request stream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694944" y="5852160"/>
            <a:ext cx="2642616" cy="384048"/>
          </a:xfrm>
          <a:prstGeom prst="rect">
            <a:avLst/>
          </a:prstGeom>
          <a:solidFill>
            <a:srgbClr val="D2DCE7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5916168"/>
            <a:ext cx="2587752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800" b="0">
                <a:solidFill>
                  <a:srgbClr val="5D6C7E"/>
                </a:solidFill>
                <a:latin typeface="Aptos"/>
              </a:rPr>
              <a:t>Background</a:t>
            </a:r>
            <a:endParaRPr sz="8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3410712" y="5852160"/>
            <a:ext cx="2642616" cy="384048"/>
          </a:xfrm>
          <a:prstGeom prst="rect">
            <a:avLst/>
          </a:prstGeom>
          <a:solidFill>
            <a:srgbClr val="D2DCE7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38144" y="5916168"/>
            <a:ext cx="2587752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800" b="0">
                <a:solidFill>
                  <a:srgbClr val="5D6C7E"/>
                </a:solidFill>
                <a:latin typeface="Aptos"/>
              </a:rPr>
              <a:t>Model</a:t>
            </a:r>
            <a:endParaRPr sz="8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6126480" y="5852160"/>
            <a:ext cx="2642616" cy="384048"/>
          </a:xfrm>
          <a:prstGeom prst="rect">
            <a:avLst/>
          </a:prstGeom>
          <a:solidFill>
            <a:srgbClr val="D2DCE7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53912" y="5916168"/>
            <a:ext cx="2587752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800" b="0">
                <a:solidFill>
                  <a:srgbClr val="5D6C7E"/>
                </a:solidFill>
                <a:latin typeface="Aptos"/>
              </a:rPr>
              <a:t>Algorithm</a:t>
            </a:r>
            <a:endParaRPr sz="8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8842248" y="5852160"/>
            <a:ext cx="2642616" cy="384048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69680" y="5916168"/>
            <a:ext cx="2587752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Evaluation</a:t>
            </a:r>
            <a:endParaRPr sz="800" b="1">
              <a:solidFill>
                <a:srgbClr val="FFFFFF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00" b="1">
                <a:solidFill>
                  <a:srgbClr val="2D67A4"/>
                </a:solidFill>
                <a:latin typeface="Aptos"/>
              </a:rPr>
              <a:t>EVALUATION RESULTS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E2E Results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21207" y="932688"/>
            <a:ext cx="1097280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0">
                <a:solidFill>
                  <a:srgbClr val="5D6C7E"/>
                </a:solidFill>
                <a:latin typeface="Aptos"/>
              </a:rPr>
              <a:t>Positive improvement means higher throughput or lower latency</a:t>
            </a:r>
            <a:endParaRPr sz="1100" b="0">
              <a:solidFill>
                <a:srgbClr val="5D6C7E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749808" y="1572768"/>
            <a:ext cx="2148840" cy="512064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609344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Metric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898648" y="1572768"/>
            <a:ext cx="2331720" cy="512064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35224" y="1609344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Batching off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230368" y="1572768"/>
            <a:ext cx="2331720" cy="512064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66944" y="1609344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Batching on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562088" y="1572768"/>
            <a:ext cx="1600200" cy="512064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98663" y="1609344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Improvement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49808" y="2084832"/>
            <a:ext cx="21488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2121408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1C2735"/>
                </a:solidFill>
                <a:latin typeface="Aptos"/>
              </a:rPr>
              <a:t>Output throughput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898648" y="2084832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35224" y="2121408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C2735"/>
                </a:solidFill>
                <a:latin typeface="Aptos"/>
              </a:rPr>
              <a:t>31.54 tok/s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230368" y="2084832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6944" y="2121408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C2735"/>
                </a:solidFill>
                <a:latin typeface="Aptos"/>
              </a:rPr>
              <a:t>32.26 tok/s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562088" y="2084832"/>
            <a:ext cx="1600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98663" y="2121408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C2735"/>
                </a:solidFill>
                <a:latin typeface="Aptos"/>
              </a:rPr>
              <a:t>+2.28%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49808" y="2596896"/>
            <a:ext cx="214884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2633472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1C2735"/>
                </a:solidFill>
                <a:latin typeface="Aptos"/>
              </a:rPr>
              <a:t>TTFT P50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898648" y="2596896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35224" y="2633472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C2735"/>
                </a:solidFill>
                <a:latin typeface="Aptos"/>
              </a:rPr>
              <a:t>49,180.71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230368" y="2596896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66944" y="2633472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C2735"/>
                </a:solidFill>
                <a:latin typeface="Aptos"/>
              </a:rPr>
              <a:t>48,599.04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562088" y="2596896"/>
            <a:ext cx="160020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98663" y="2633472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C2735"/>
                </a:solidFill>
                <a:latin typeface="Aptos"/>
              </a:rPr>
              <a:t>+1.18%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749808" y="3108960"/>
            <a:ext cx="21488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" y="3145536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1C2735"/>
                </a:solidFill>
                <a:latin typeface="Aptos"/>
              </a:rPr>
              <a:t>TTFT P99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898648" y="3108960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35224" y="3145536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C2735"/>
                </a:solidFill>
                <a:latin typeface="Aptos"/>
              </a:rPr>
              <a:t>75,740.25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5230368" y="3108960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66944" y="3145536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C2735"/>
                </a:solidFill>
                <a:latin typeface="Aptos"/>
              </a:rPr>
              <a:t>74,756.17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7562088" y="3108960"/>
            <a:ext cx="1600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98663" y="3145536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C2735"/>
                </a:solidFill>
                <a:latin typeface="Aptos"/>
              </a:rPr>
              <a:t>+1.30%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749808" y="3621024"/>
            <a:ext cx="214884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6384" y="3657600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1C2735"/>
                </a:solidFill>
                <a:latin typeface="Aptos"/>
              </a:rPr>
              <a:t>TPOT P50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898648" y="3621024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35224" y="3657600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C2735"/>
                </a:solidFill>
                <a:latin typeface="Aptos"/>
              </a:rPr>
              <a:t>828.53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5230368" y="3621024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266944" y="3657600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C2735"/>
                </a:solidFill>
                <a:latin typeface="Aptos"/>
              </a:rPr>
              <a:t>812.44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7562088" y="3621024"/>
            <a:ext cx="160020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98663" y="3657600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C2735"/>
                </a:solidFill>
                <a:latin typeface="Aptos"/>
              </a:rPr>
              <a:t>+1.94%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749808" y="4133088"/>
            <a:ext cx="21488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6384" y="4169664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1C2735"/>
                </a:solidFill>
                <a:latin typeface="Aptos"/>
              </a:rPr>
              <a:t>TPOT P99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2898648" y="4133088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35224" y="4169664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C2735"/>
                </a:solidFill>
                <a:latin typeface="Aptos"/>
              </a:rPr>
              <a:t>1,007.82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5230368" y="4133088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266944" y="4169664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C2735"/>
                </a:solidFill>
                <a:latin typeface="Aptos"/>
              </a:rPr>
              <a:t>999.01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7562088" y="4133088"/>
            <a:ext cx="1600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98663" y="4169664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C2735"/>
                </a:solidFill>
                <a:latin typeface="Aptos"/>
              </a:rPr>
              <a:t>+0.87%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749808" y="4645152"/>
            <a:ext cx="214884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86384" y="4681728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1C2735"/>
                </a:solidFill>
                <a:latin typeface="Aptos"/>
              </a:rPr>
              <a:t>E2EL P50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2898648" y="4645152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935224" y="4681728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C2735"/>
                </a:solidFill>
                <a:latin typeface="Aptos"/>
              </a:rPr>
              <a:t>303,462.69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5230368" y="4645152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6944" y="4681728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C2735"/>
                </a:solidFill>
                <a:latin typeface="Aptos"/>
              </a:rPr>
              <a:t>293,821.76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562088" y="4645152"/>
            <a:ext cx="160020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598663" y="4681728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C2735"/>
                </a:solidFill>
                <a:latin typeface="Aptos"/>
              </a:rPr>
              <a:t>+3.18%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749808" y="5157216"/>
            <a:ext cx="21488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86384" y="5193792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1C2735"/>
                </a:solidFill>
                <a:latin typeface="Aptos"/>
              </a:rPr>
              <a:t>E2EL P99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2898648" y="5157216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935224" y="5193792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C2735"/>
                </a:solidFill>
                <a:latin typeface="Aptos"/>
              </a:rPr>
              <a:t>322,184.88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5230368" y="5157216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66944" y="5193792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C2735"/>
                </a:solidFill>
                <a:latin typeface="Aptos"/>
              </a:rPr>
              <a:t>317,351.61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7562088" y="5157216"/>
            <a:ext cx="1600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598663" y="5193792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C2735"/>
                </a:solidFill>
                <a:latin typeface="Aptos"/>
              </a:rPr>
              <a:t>+1.50%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9464040" y="1572768"/>
            <a:ext cx="2084831" cy="4096512"/>
          </a:xfrm>
          <a:prstGeom prst="roundRect">
            <a:avLst/>
          </a:prstGeom>
          <a:solidFill>
            <a:srgbClr val="E5F5EE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720072" y="1828800"/>
            <a:ext cx="1572768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1B8D60"/>
                </a:solidFill>
                <a:latin typeface="Aptos"/>
              </a:rPr>
              <a:t>MAIN RESULT</a:t>
            </a:r>
            <a:endParaRPr sz="10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9646920" y="2340864"/>
            <a:ext cx="1719072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1B8D60"/>
                </a:solidFill>
                <a:latin typeface="Aptos"/>
              </a:rPr>
              <a:t>+2.28%</a:t>
            </a:r>
            <a:endParaRPr sz="28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9710928" y="2816352"/>
            <a:ext cx="160020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5D6C7E"/>
                </a:solidFill>
                <a:latin typeface="Aptos"/>
              </a:rPr>
              <a:t>output throughput</a:t>
            </a:r>
            <a:endParaRPr sz="10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9646920" y="3438144"/>
            <a:ext cx="1719072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2D67A4"/>
                </a:solidFill>
                <a:latin typeface="Aptos"/>
              </a:rPr>
              <a:t>−3.18%</a:t>
            </a:r>
            <a:endParaRPr sz="28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9710928" y="3913632"/>
            <a:ext cx="160020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5D6C7E"/>
                </a:solidFill>
                <a:latin typeface="Aptos"/>
              </a:rPr>
              <a:t>E2EL P50</a:t>
            </a:r>
            <a:endParaRPr sz="10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9646920" y="4727448"/>
            <a:ext cx="1719072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33052"/>
                </a:solidFill>
                <a:latin typeface="Aptos"/>
              </a:rPr>
              <a:t>No regression</a:t>
            </a:r>
            <a:endParaRPr sz="15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9674352" y="5056632"/>
            <a:ext cx="1664208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0">
                <a:solidFill>
                  <a:srgbClr val="5D6C7E"/>
                </a:solidFill>
                <a:latin typeface="Aptos"/>
              </a:rPr>
              <a:t>in the reported async metrics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749808" y="5824728"/>
            <a:ext cx="10789920" cy="384048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7552" y="5897880"/>
            <a:ext cx="10314432" cy="2103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133052"/>
                </a:solidFill>
                <a:latin typeface="Aptos"/>
              </a:rPr>
              <a:t>Interpretation: throttling migration reduces shared-resource interference during active serving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00" b="1">
                <a:solidFill>
                  <a:srgbClr val="2D67A4"/>
                </a:solidFill>
                <a:latin typeface="Aptos"/>
              </a:rPr>
              <a:t>EVALUATION RESULTS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Serving Improvements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30352" y="1536192"/>
            <a:ext cx="8458200" cy="4553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2e_improvemen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10832"/>
            <a:ext cx="8156448" cy="340443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281160" y="1737360"/>
            <a:ext cx="2103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72600" y="1828800"/>
            <a:ext cx="1920239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1B8D60"/>
                </a:solidFill>
                <a:latin typeface="Aptos"/>
              </a:rPr>
              <a:t>+2.28%</a:t>
            </a:r>
            <a:endParaRPr sz="22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372600" y="2240280"/>
            <a:ext cx="1920239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0">
                <a:solidFill>
                  <a:srgbClr val="5D6C7E"/>
                </a:solidFill>
                <a:latin typeface="Aptos"/>
              </a:rPr>
              <a:t>throughput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9281160" y="2852928"/>
            <a:ext cx="2103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944368"/>
            <a:ext cx="1920239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600" b="1">
                <a:solidFill>
                  <a:srgbClr val="2D67A4"/>
                </a:solidFill>
                <a:latin typeface="Aptos"/>
              </a:rPr>
              <a:t>+1.18 / +1.30%</a:t>
            </a:r>
            <a:endParaRPr sz="16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372600" y="3355848"/>
            <a:ext cx="1920239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0">
                <a:solidFill>
                  <a:srgbClr val="5D6C7E"/>
                </a:solidFill>
                <a:latin typeface="Aptos"/>
              </a:rPr>
              <a:t>TTFT P50 / P99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9281160" y="3968496"/>
            <a:ext cx="2103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72600" y="4059935"/>
            <a:ext cx="1920239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600" b="1">
                <a:solidFill>
                  <a:srgbClr val="8153A0"/>
                </a:solidFill>
                <a:latin typeface="Aptos"/>
              </a:rPr>
              <a:t>+1.94 / +0.87%</a:t>
            </a:r>
            <a:endParaRPr sz="1600" b="1">
              <a:solidFill>
                <a:srgbClr val="8153A0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372600" y="4471416"/>
            <a:ext cx="1920239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0">
                <a:solidFill>
                  <a:srgbClr val="5D6C7E"/>
                </a:solidFill>
                <a:latin typeface="Aptos"/>
              </a:rPr>
              <a:t>TPOT P50 / P99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9281160" y="5084064"/>
            <a:ext cx="2103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58E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5175503"/>
            <a:ext cx="1920239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600" b="1">
                <a:solidFill>
                  <a:srgbClr val="158EA6"/>
                </a:solidFill>
                <a:latin typeface="Aptos"/>
              </a:rPr>
              <a:t>+3.18 / +1.50%</a:t>
            </a:r>
            <a:endParaRPr sz="1600" b="1">
              <a:solidFill>
                <a:srgbClr val="158EA6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372600" y="5586983"/>
            <a:ext cx="1920239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0">
                <a:solidFill>
                  <a:srgbClr val="5D6C7E"/>
                </a:solidFill>
                <a:latin typeface="Aptos"/>
              </a:rPr>
              <a:t>E2EL P50 / P99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00" b="1">
                <a:solidFill>
                  <a:srgbClr val="2D67A4"/>
                </a:solidFill>
                <a:latin typeface="Aptos"/>
              </a:rPr>
              <a:t>NETWORK EVIDENCE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NIC Traffic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21207" y="932688"/>
            <a:ext cx="1097280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0">
                <a:solidFill>
                  <a:srgbClr val="5D6C7E"/>
                </a:solidFill>
                <a:latin typeface="Aptos"/>
              </a:rPr>
              <a:t>One-second RX+TX samples on the head-node eno2 interface</a:t>
            </a:r>
            <a:endParaRPr sz="1100" b="0">
              <a:solidFill>
                <a:srgbClr val="5D6C7E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1481328"/>
            <a:ext cx="9162288" cy="4700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58E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ic_timeserie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449" y="1636776"/>
            <a:ext cx="8069228" cy="437083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893808" y="1737360"/>
            <a:ext cx="175564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85248" y="1828800"/>
            <a:ext cx="1572768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BF4149"/>
                </a:solidFill>
                <a:latin typeface="Aptos"/>
              </a:rPr>
              <a:t>599.81</a:t>
            </a:r>
            <a:endParaRPr sz="2200" b="1">
              <a:solidFill>
                <a:srgbClr val="BF4149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985248" y="2240280"/>
            <a:ext cx="15727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0">
                <a:solidFill>
                  <a:srgbClr val="5D6C7E"/>
                </a:solidFill>
                <a:latin typeface="Aptos"/>
              </a:rPr>
              <a:t>MB/s P99 · off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893808" y="2971800"/>
            <a:ext cx="175564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85248" y="3063240"/>
            <a:ext cx="1572768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1B8D60"/>
                </a:solidFill>
                <a:latin typeface="Aptos"/>
              </a:rPr>
              <a:t>538.40</a:t>
            </a:r>
            <a:endParaRPr sz="22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985248" y="3474720"/>
            <a:ext cx="15727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0">
                <a:solidFill>
                  <a:srgbClr val="5D6C7E"/>
                </a:solidFill>
                <a:latin typeface="Aptos"/>
              </a:rPr>
              <a:t>MB/s P99 · on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9893808" y="4206240"/>
            <a:ext cx="175564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58E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85248" y="4297679"/>
            <a:ext cx="1572768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158EA6"/>
                </a:solidFill>
                <a:latin typeface="Aptos"/>
              </a:rPr>
              <a:t>−10.24%</a:t>
            </a:r>
            <a:endParaRPr sz="2200" b="1">
              <a:solidFill>
                <a:srgbClr val="158EA6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985248" y="4709159"/>
            <a:ext cx="15727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0">
                <a:solidFill>
                  <a:srgbClr val="5D6C7E"/>
                </a:solidFill>
                <a:latin typeface="Aptos"/>
              </a:rPr>
              <a:t>NIC P99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912096" y="5349240"/>
            <a:ext cx="1719072" cy="56692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133052"/>
                </a:solidFill>
                <a:latin typeface="Aptos"/>
              </a:rPr>
              <a:t>Tail bursts are lower, leaving more headroom for inference traffic.</a:t>
            </a:r>
            <a:endParaRPr sz="1000" b="1">
              <a:solidFill>
                <a:srgbClr val="133052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00" b="1">
                <a:solidFill>
                  <a:srgbClr val="2D67A4"/>
                </a:solidFill>
                <a:latin typeface="Aptos"/>
              </a:rPr>
              <a:t>SCHEDULER PROFILING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Profiling Method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21207" y="932688"/>
            <a:ext cx="1097280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0">
                <a:solidFill>
                  <a:srgbClr val="5D6C7E"/>
                </a:solidFill>
                <a:latin typeface="Aptos"/>
              </a:rPr>
              <a:t>Clean E2E and profiling are separate runs to avoid contaminating the A/B result</a:t>
            </a:r>
            <a:endParaRPr sz="1100" b="0">
              <a:solidFill>
                <a:srgbClr val="5D6C7E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40080" y="1600200"/>
            <a:ext cx="109728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828800"/>
            <a:ext cx="1417320" cy="1828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800" b="1">
                <a:solidFill>
                  <a:srgbClr val="5D6C7E"/>
                </a:solidFill>
                <a:latin typeface="Aptos"/>
              </a:rPr>
              <a:t>Inference</a:t>
            </a:r>
            <a:endParaRPr sz="8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359152" y="1819656"/>
            <a:ext cx="6978700" cy="182880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112264"/>
            <a:ext cx="1417320" cy="1828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800" b="1">
                <a:solidFill>
                  <a:srgbClr val="5D6C7E"/>
                </a:solidFill>
                <a:latin typeface="Aptos"/>
              </a:rPr>
              <a:t>Async EPLB worker</a:t>
            </a:r>
            <a:endParaRPr sz="8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116275" y="2103120"/>
            <a:ext cx="1086307" cy="182880"/>
          </a:xfrm>
          <a:prstGeom prst="rect">
            <a:avLst/>
          </a:prstGeom>
          <a:solidFill>
            <a:srgbClr val="8153A0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2395728"/>
            <a:ext cx="1417320" cy="1828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800" b="1">
                <a:solidFill>
                  <a:srgbClr val="5D6C7E"/>
                </a:solidFill>
                <a:latin typeface="Aptos"/>
              </a:rPr>
              <a:t>Layer-wise NIXL transfers</a:t>
            </a:r>
            <a:endParaRPr sz="8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498848" y="2386584"/>
            <a:ext cx="3226003" cy="182880"/>
          </a:xfrm>
          <a:prstGeom prst="rect">
            <a:avLst/>
          </a:prstGeom>
          <a:solidFill>
            <a:srgbClr val="DD852A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68625" y="2112645"/>
            <a:ext cx="1416685" cy="19177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no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NVTX scheduler range</a:t>
            </a:r>
            <a:endParaRPr sz="7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40080" y="3218688"/>
            <a:ext cx="5230368" cy="2240280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3429000"/>
            <a:ext cx="9144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2D67A4"/>
                </a:solidFill>
                <a:latin typeface="Aptos"/>
              </a:rPr>
              <a:t>CAPTURE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14400" y="3767328"/>
            <a:ext cx="4617720" cy="1417320"/>
          </a:xfrm>
          <a:prstGeom prst="rect">
            <a:avLst/>
          </a:prstGeom>
          <a:noFill/>
        </p:spPr>
        <p:txBody>
          <a:bodyPr wrap="square" lIns="54864" tIns="27432" rIns="27432" bIns="27432">
            <a:spAutoFit/>
          </a:bodyPr>
          <a:lstStyle/>
          <a:p>
            <a:pPr>
              <a:spcAft>
                <a:spcPts val="600"/>
              </a:spcAft>
              <a:buChar char="•"/>
              <a:defRPr sz="1200">
                <a:solidFill>
                  <a:srgbClr val="1C2735"/>
                </a:solidFill>
                <a:latin typeface="Aptos"/>
              </a:defRPr>
            </a:pPr>
            <a:r>
              <a:t>NVTX-only Nsight Systems on all four Ray workers</a:t>
            </a:r>
          </a:p>
          <a:p>
            <a:pPr>
              <a:spcAft>
                <a:spcPts val="600"/>
              </a:spcAft>
              <a:buChar char="•"/>
              <a:defRPr sz="1200">
                <a:solidFill>
                  <a:srgbClr val="1C2735"/>
                </a:solidFill>
                <a:latin typeface="Aptos"/>
              </a:defRPr>
            </a:pPr>
            <a:r>
              <a:t>Same model, EPLB settings, workload lengths and 500 prompts</a:t>
            </a:r>
          </a:p>
          <a:p>
            <a:pPr>
              <a:spcAft>
                <a:spcPts val="600"/>
              </a:spcAft>
              <a:buChar char="•"/>
              <a:defRPr sz="1200">
                <a:solidFill>
                  <a:srgbClr val="1C2735"/>
                </a:solidFill>
                <a:latin typeface="Aptos"/>
              </a:defRPr>
            </a:pPr>
            <a:r>
              <a:t>CPU sampling and context-switch tracing disabled</a:t>
            </a:r>
          </a:p>
          <a:p>
            <a:pPr>
              <a:spcAft>
                <a:spcPts val="600"/>
              </a:spcAft>
              <a:buChar char="•"/>
              <a:defRPr sz="1200">
                <a:solidFill>
                  <a:srgbClr val="1C2735"/>
                </a:solidFill>
                <a:latin typeface="Aptos"/>
              </a:defRPr>
            </a:pPr>
            <a:r>
              <a:t>34 cycle-wide scheduler calls captured per rank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4768" y="3218688"/>
            <a:ext cx="5468112" cy="2240280"/>
          </a:xfrm>
          <a:prstGeom prst="roundRect">
            <a:avLst/>
          </a:prstGeom>
          <a:solidFill>
            <a:srgbClr val="FBEFDE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429000"/>
            <a:ext cx="233172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DD852A"/>
                </a:solidFill>
                <a:latin typeface="Aptos"/>
              </a:rPr>
              <a:t>TEMPORARY INSTRUMENTATION</a:t>
            </a:r>
            <a:endParaRPr sz="10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419088" y="3767328"/>
            <a:ext cx="4828032" cy="1417320"/>
          </a:xfrm>
          <a:prstGeom prst="rect">
            <a:avLst/>
          </a:prstGeom>
          <a:noFill/>
        </p:spPr>
        <p:txBody>
          <a:bodyPr wrap="square" lIns="54864" tIns="27432" rIns="27432" bIns="27432">
            <a:spAutoFit/>
          </a:bodyPr>
          <a:lstStyle/>
          <a:p>
            <a:pPr>
              <a:spcAft>
                <a:spcPts val="600"/>
              </a:spcAft>
              <a:buChar char="•"/>
              <a:defRPr sz="1200">
                <a:solidFill>
                  <a:srgbClr val="1C2735"/>
                </a:solidFill>
                <a:latin typeface="Aptos"/>
              </a:defRPr>
            </a:pPr>
            <a:r>
              <a:t>An explicit CUDA NVTX range exposes the background thread</a:t>
            </a:r>
          </a:p>
          <a:p>
            <a:pPr>
              <a:spcAft>
                <a:spcPts val="600"/>
              </a:spcAft>
              <a:buChar char="•"/>
              <a:defRPr sz="1200">
                <a:solidFill>
                  <a:srgbClr val="1C2735"/>
                </a:solidFill>
                <a:latin typeface="Aptos"/>
              </a:defRPr>
            </a:pPr>
            <a:r>
              <a:t>The range was absent from the clean E2E A/B experiment</a:t>
            </a:r>
          </a:p>
          <a:p>
            <a:pPr>
              <a:spcAft>
                <a:spcPts val="600"/>
              </a:spcAft>
              <a:buChar char="•"/>
              <a:defRPr sz="1200">
                <a:solidFill>
                  <a:srgbClr val="1C2735"/>
                </a:solidFill>
                <a:latin typeface="Aptos"/>
              </a:defRPr>
            </a:pPr>
            <a:r>
              <a:t>It was removed from the final production patch</a:t>
            </a:r>
          </a:p>
          <a:p>
            <a:pPr>
              <a:spcAft>
                <a:spcPts val="600"/>
              </a:spcAft>
              <a:buChar char="•"/>
              <a:defRPr sz="1200">
                <a:solidFill>
                  <a:srgbClr val="1C2735"/>
                </a:solidFill>
                <a:latin typeface="Aptos"/>
              </a:defRPr>
            </a:pPr>
            <a:r>
              <a:t>Only scheduler elapsed time—not transfer time—is attributed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00" b="1">
                <a:solidFill>
                  <a:srgbClr val="2D67A4"/>
                </a:solidFill>
                <a:latin typeface="Aptos"/>
              </a:rPr>
              <a:t>SCHEDULER PROFILING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Profiling Results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40080" y="1591056"/>
            <a:ext cx="658368" cy="521207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" y="1627632"/>
            <a:ext cx="585216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Rank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298448" y="1591056"/>
            <a:ext cx="713232" cy="521207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35024" y="1627632"/>
            <a:ext cx="640080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Calls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011680" y="1591056"/>
            <a:ext cx="1243584" cy="521207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8256" y="1627632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P50/call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255264" y="1591056"/>
            <a:ext cx="1243584" cy="521207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0" y="1627632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P99/call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498848" y="1591056"/>
            <a:ext cx="1417320" cy="521207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1627632"/>
            <a:ext cx="1344168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Cumulative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40080" y="2112264"/>
            <a:ext cx="658368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148840"/>
            <a:ext cx="585216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1C2735"/>
                </a:solidFill>
                <a:latin typeface="Aptos"/>
              </a:rPr>
              <a:t>0</a:t>
            </a:r>
            <a:endParaRPr sz="10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298448" y="2112264"/>
            <a:ext cx="713232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35024" y="2148840"/>
            <a:ext cx="640080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C2735"/>
                </a:solidFill>
                <a:latin typeface="Aptos"/>
              </a:rPr>
              <a:t>34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2011680" y="2112264"/>
            <a:ext cx="1243584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48256" y="2148840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C2735"/>
                </a:solidFill>
                <a:latin typeface="Aptos"/>
              </a:rPr>
              <a:t>7.819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3255264" y="2112264"/>
            <a:ext cx="1243584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0" y="2148840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C2735"/>
                </a:solidFill>
                <a:latin typeface="Aptos"/>
              </a:rPr>
              <a:t>17.536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498848" y="2112264"/>
            <a:ext cx="1417320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35424" y="2148840"/>
            <a:ext cx="1344168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C2735"/>
                </a:solidFill>
                <a:latin typeface="Aptos"/>
              </a:rPr>
              <a:t>302.081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40080" y="2633472"/>
            <a:ext cx="658368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6656" y="2670048"/>
            <a:ext cx="585216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1C2735"/>
                </a:solidFill>
                <a:latin typeface="Aptos"/>
              </a:rPr>
              <a:t>1</a:t>
            </a:r>
            <a:endParaRPr sz="10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1298448" y="2633472"/>
            <a:ext cx="713232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35024" y="2670048"/>
            <a:ext cx="640080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C2735"/>
                </a:solidFill>
                <a:latin typeface="Aptos"/>
              </a:rPr>
              <a:t>34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2011680" y="2633472"/>
            <a:ext cx="1243584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48256" y="2670048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C2735"/>
                </a:solidFill>
                <a:latin typeface="Aptos"/>
              </a:rPr>
              <a:t>7.090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3255264" y="2633472"/>
            <a:ext cx="1243584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91840" y="2670048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C2735"/>
                </a:solidFill>
                <a:latin typeface="Aptos"/>
              </a:rPr>
              <a:t>12.357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4498848" y="2633472"/>
            <a:ext cx="1417320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5424" y="2670048"/>
            <a:ext cx="1344168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C2735"/>
                </a:solidFill>
                <a:latin typeface="Aptos"/>
              </a:rPr>
              <a:t>253.152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640080" y="3154679"/>
            <a:ext cx="658368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" y="3191256"/>
            <a:ext cx="585216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1C2735"/>
                </a:solidFill>
                <a:latin typeface="Aptos"/>
              </a:rPr>
              <a:t>2</a:t>
            </a:r>
            <a:endParaRPr sz="10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1298448" y="3154679"/>
            <a:ext cx="713232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35024" y="3191256"/>
            <a:ext cx="640080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C2735"/>
                </a:solidFill>
                <a:latin typeface="Aptos"/>
              </a:rPr>
              <a:t>34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011680" y="3154679"/>
            <a:ext cx="1243584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48256" y="3191256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C2735"/>
                </a:solidFill>
                <a:latin typeface="Aptos"/>
              </a:rPr>
              <a:t>7.035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3255264" y="3154679"/>
            <a:ext cx="1243584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91840" y="3191256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C2735"/>
                </a:solidFill>
                <a:latin typeface="Aptos"/>
              </a:rPr>
              <a:t>16.104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498848" y="3154679"/>
            <a:ext cx="1417320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35424" y="3191256"/>
            <a:ext cx="1344168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C2735"/>
                </a:solidFill>
                <a:latin typeface="Aptos"/>
              </a:rPr>
              <a:t>255.239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640080" y="3675887"/>
            <a:ext cx="658368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6656" y="3712463"/>
            <a:ext cx="585216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1C2735"/>
                </a:solidFill>
                <a:latin typeface="Aptos"/>
              </a:rPr>
              <a:t>3</a:t>
            </a:r>
            <a:endParaRPr sz="10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1298448" y="3675887"/>
            <a:ext cx="713232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35024" y="3712463"/>
            <a:ext cx="640080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C2735"/>
                </a:solidFill>
                <a:latin typeface="Aptos"/>
              </a:rPr>
              <a:t>34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2011680" y="3675887"/>
            <a:ext cx="1243584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048256" y="3712463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C2735"/>
                </a:solidFill>
                <a:latin typeface="Aptos"/>
              </a:rPr>
              <a:t>7.005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3255264" y="3675887"/>
            <a:ext cx="1243584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91840" y="3712463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C2735"/>
                </a:solidFill>
                <a:latin typeface="Aptos"/>
              </a:rPr>
              <a:t>8.103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4498848" y="3675887"/>
            <a:ext cx="1417320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35424" y="3712463"/>
            <a:ext cx="1344168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C2735"/>
                </a:solidFill>
                <a:latin typeface="Aptos"/>
              </a:rPr>
              <a:t>241.190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868680" y="4462272"/>
            <a:ext cx="466344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33052"/>
                </a:solidFill>
                <a:latin typeface="Aptos"/>
              </a:rPr>
              <a:t>One call builds schedules for all 48 MoE layers</a:t>
            </a:r>
            <a:endParaRPr sz="14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868680" y="4901184"/>
            <a:ext cx="4663440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5D6C7E"/>
                </a:solidFill>
                <a:latin typeface="Aptos"/>
              </a:rPr>
              <a:t>Ranks schedule concurrently → use the largest cumulative rank cost</a:t>
            </a:r>
            <a:endParaRPr sz="11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6272784" y="1591056"/>
            <a:ext cx="5285232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47104" y="1810512"/>
            <a:ext cx="239572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1B8D60"/>
                </a:solidFill>
                <a:latin typeface="Aptos"/>
              </a:rPr>
              <a:t>COST / SAVED COMPARISON</a:t>
            </a:r>
            <a:endParaRPr sz="1000" b="1">
              <a:solidFill>
                <a:srgbClr val="1B8D60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/>
              <p:cNvSpPr txBox="1"/>
              <p:nvPr/>
            </p:nvSpPr>
            <p:spPr>
              <a:xfrm>
                <a:off x="6510528" y="2185416"/>
                <a:ext cx="4800600" cy="713232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𝑅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=</m:t>
                      </m:r>
                      <m:f>
                        <m:fPr>
                          <m:ctrlPr>
                            <a:rPr/>
                          </m:ctrlPr>
                        </m:fPr>
                        <m:num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max</m:t>
                              </m:r>
                            </m:sub>
                          </m:sSub>
                          <m:r>
                            <a:rPr lang="en-US" sz="15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/</m:t>
                          </m:r>
                          <m:r>
                            <a:rPr lang="en-US" sz="15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1000</m:t>
                          </m:r>
                        </m:num>
                        <m:den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o</m:t>
                              </m:r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f</m:t>
                              </m:r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f</m:t>
                              </m:r>
                            </m:sub>
                          </m:sSub>
                          <m:r>
                            <a:rPr lang="en-US" sz="15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−</m:t>
                          </m:r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o</m:t>
                              </m:r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n</m:t>
                              </m:r>
                            </m:sub>
                          </m:sSub>
                        </m:den>
                      </m:f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×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100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%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=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0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.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285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%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62" name="TextBox 6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0528" y="2185416"/>
                <a:ext cx="4800600" cy="713232"/>
              </a:xfrm>
              <a:prstGeom prst="rect">
                <a:avLst/>
              </a:prstGeom>
              <a:blipFill rotWithShape="1">
                <a:blip r:embed="rId1"/>
                <a:stretch>
                  <a:fillRect l="-11" t="-53" r="11" b="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Rounded Rectangle 62"/>
          <p:cNvSpPr/>
          <p:nvPr/>
        </p:nvSpPr>
        <p:spPr>
          <a:xfrm>
            <a:off x="6601968" y="3182112"/>
            <a:ext cx="212140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693407" y="3273552"/>
            <a:ext cx="1938527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DD852A"/>
                </a:solidFill>
                <a:latin typeface="Aptos"/>
              </a:rPr>
              <a:t>302.081 ms</a:t>
            </a:r>
            <a:endParaRPr sz="22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6693407" y="3685032"/>
            <a:ext cx="1938527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0">
                <a:solidFill>
                  <a:srgbClr val="5D6C7E"/>
                </a:solidFill>
                <a:latin typeface="Aptos"/>
              </a:rPr>
              <a:t>largest cumulative scheduler cost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9070848" y="3182112"/>
            <a:ext cx="212140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162288" y="3273552"/>
            <a:ext cx="1938527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1B8D60"/>
                </a:solidFill>
                <a:latin typeface="Aptos"/>
              </a:rPr>
              <a:t>105.932 s</a:t>
            </a:r>
            <a:endParaRPr sz="22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9162288" y="3685032"/>
            <a:ext cx="1938527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0">
                <a:solidFill>
                  <a:srgbClr val="5D6C7E"/>
                </a:solidFill>
                <a:latin typeface="Aptos"/>
              </a:rPr>
              <a:t>clean E2E serving time saved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6601968" y="4416552"/>
            <a:ext cx="4590288" cy="1051560"/>
          </a:xfrm>
          <a:prstGeom prst="roundRect">
            <a:avLst/>
          </a:prstGeom>
          <a:solidFill>
            <a:srgbClr val="E5F5EE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39712" y="4535424"/>
            <a:ext cx="150876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700" b="1">
                <a:solidFill>
                  <a:srgbClr val="1B8D60"/>
                </a:solidFill>
                <a:latin typeface="Aptos"/>
              </a:rPr>
              <a:t>0.285%</a:t>
            </a:r>
            <a:endParaRPr sz="27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8275320" y="4590288"/>
            <a:ext cx="2651760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33052"/>
                </a:solidFill>
                <a:latin typeface="Aptos"/>
              </a:rPr>
              <a:t>scheduler cost / serving time saved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6656832" y="5586984"/>
            <a:ext cx="4443984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00" b="0">
                <a:solidFill>
                  <a:srgbClr val="5D6C7E"/>
                </a:solidFill>
                <a:latin typeface="Aptos"/>
              </a:rPr>
              <a:t>This is a conservative cost comparison, not a causal decomposition.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11880" cy="6858000"/>
          </a:xfrm>
          <a:prstGeom prst="rect">
            <a:avLst/>
          </a:prstGeom>
          <a:solidFill>
            <a:srgbClr val="133052"/>
          </a:solidFill>
          <a:ln w="12700">
            <a:solidFill>
              <a:srgbClr val="13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94360"/>
            <a:ext cx="201168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A3CBE8"/>
                </a:solidFill>
                <a:latin typeface="Aptos"/>
              </a:rPr>
              <a:t>CONCLUSION</a:t>
            </a:r>
            <a:endParaRPr sz="1200" b="1">
              <a:solidFill>
                <a:srgbClr val="A3CBE8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1143000"/>
            <a:ext cx="2697480" cy="2926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ptos"/>
              </a:rPr>
              <a:t>Schedule migration
as part of serving—
not as an isolated
copy task.</a:t>
            </a:r>
            <a:endParaRPr sz="25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5166360"/>
            <a:ext cx="2377440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Questions?</a:t>
            </a:r>
            <a:endParaRPr sz="28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76072" y="5925312"/>
            <a:ext cx="21488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1">
                <a:solidFill>
                  <a:srgbClr val="E1EDF8"/>
                </a:solidFill>
                <a:latin typeface="Aptos"/>
                <a:hlinkClick r:id="rId1"/>
              </a:rPr>
              <a:t>vLLM PR #52641</a:t>
            </a:r>
            <a:endParaRPr sz="1100" b="1">
              <a:solidFill>
                <a:srgbClr val="E1EDF8"/>
              </a:solidFill>
              <a:latin typeface="Aptos"/>
              <a:hlinkClick r:id="rId1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886200" y="530352"/>
            <a:ext cx="320040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500" b="1">
                <a:solidFill>
                  <a:srgbClr val="133052"/>
                </a:solidFill>
                <a:latin typeface="Aptos"/>
              </a:rPr>
              <a:t>Thesis contributions</a:t>
            </a:r>
            <a:endParaRPr sz="25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886200" y="1243584"/>
            <a:ext cx="5166360" cy="795528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158E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69080" y="1380744"/>
            <a:ext cx="10058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1">
                <a:solidFill>
                  <a:srgbClr val="158EA6"/>
                </a:solidFill>
                <a:latin typeface="Aptos"/>
              </a:rPr>
              <a:t>Model</a:t>
            </a:r>
            <a:endParaRPr sz="1300" b="1">
              <a:solidFill>
                <a:srgbClr val="158EA6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102352" y="1316736"/>
            <a:ext cx="3703320" cy="5303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1C2735"/>
                </a:solidFill>
                <a:latin typeface="Aptos"/>
              </a:rPr>
              <a:t>Separates foreground interference
from migration completion time</a:t>
            </a:r>
            <a:endParaRPr sz="10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3886200" y="2249424"/>
            <a:ext cx="5166360" cy="795528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69080" y="2386584"/>
            <a:ext cx="10058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1">
                <a:solidFill>
                  <a:srgbClr val="2D67A4"/>
                </a:solidFill>
                <a:latin typeface="Aptos"/>
              </a:rPr>
              <a:t>Algorithm</a:t>
            </a:r>
            <a:endParaRPr sz="13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102352" y="2322576"/>
            <a:ext cx="3703320" cy="5303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1C2735"/>
                </a:solidFill>
                <a:latin typeface="Aptos"/>
              </a:rPr>
              <a:t>Rank-disjoint flow batching
with explicit invariants</a:t>
            </a:r>
            <a:endParaRPr sz="10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886200" y="3255264"/>
            <a:ext cx="5166360" cy="795528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69080" y="3392424"/>
            <a:ext cx="10058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1">
                <a:solidFill>
                  <a:srgbClr val="8153A0"/>
                </a:solidFill>
                <a:latin typeface="Aptos"/>
              </a:rPr>
              <a:t>System</a:t>
            </a:r>
            <a:endParaRPr sz="1300" b="1">
              <a:solidFill>
                <a:srgbClr val="8153A0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102352" y="3328416"/>
            <a:ext cx="3703320" cy="5303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1C2735"/>
                </a:solidFill>
                <a:latin typeface="Aptos"/>
              </a:rPr>
              <a:t>Async vLLM integration: cycle-wide
scheduling, layer-wise transfer</a:t>
            </a:r>
            <a:endParaRPr sz="10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3886200" y="4261104"/>
            <a:ext cx="5166360" cy="795528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69080" y="4398264"/>
            <a:ext cx="10058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1">
                <a:solidFill>
                  <a:srgbClr val="1B8D60"/>
                </a:solidFill>
                <a:latin typeface="Aptos"/>
              </a:rPr>
              <a:t>Evidence</a:t>
            </a:r>
            <a:endParaRPr sz="13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102352" y="4334256"/>
            <a:ext cx="3703320" cy="5303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1C2735"/>
                </a:solidFill>
                <a:latin typeface="Aptos"/>
              </a:rPr>
              <a:t>Throughput +2.28% · E2EL P50 −3.18%
NIC P99 −10.24%</a:t>
            </a:r>
            <a:endParaRPr sz="10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9345168" y="1243584"/>
            <a:ext cx="2359152" cy="3813048"/>
          </a:xfrm>
          <a:prstGeom prst="roundRect">
            <a:avLst/>
          </a:prstGeom>
          <a:solidFill>
            <a:srgbClr val="FBEFDE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19488" y="1481328"/>
            <a:ext cx="1810512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DD852A"/>
                </a:solidFill>
                <a:latin typeface="Aptos"/>
              </a:rPr>
              <a:t>LIMITATIONS</a:t>
            </a:r>
            <a:endParaRPr sz="10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628632" y="1965960"/>
            <a:ext cx="1783080" cy="23317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• one four-node cluster
• one model and NIXL backend
• one A/B pair per condition
• synthetic fixed-length workload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886200" y="5559552"/>
            <a:ext cx="7818120" cy="621792"/>
          </a:xfrm>
          <a:prstGeom prst="roundRect">
            <a:avLst/>
          </a:prstGeom>
          <a:solidFill>
            <a:srgbClr val="E5F5EE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33087" y="5687568"/>
            <a:ext cx="7315200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700" b="1">
                <a:solidFill>
                  <a:srgbClr val="133052"/>
                </a:solidFill>
                <a:latin typeface="Aptos"/>
              </a:rPr>
              <a:t>Result: a measured, opt-in optimization merged into upstream vLLM</a:t>
            </a:r>
            <a:endParaRPr sz="1700" b="1">
              <a:solidFill>
                <a:srgbClr val="133052"/>
              </a:solidFill>
              <a:latin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7607</Words>
  <Application>WPS 演示</Application>
  <PresentationFormat>On-screen Show (4:3)</PresentationFormat>
  <Paragraphs>832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33" baseType="lpstr">
      <vt:lpstr>Arial</vt:lpstr>
      <vt:lpstr>宋体</vt:lpstr>
      <vt:lpstr>Wingdings</vt:lpstr>
      <vt:lpstr>Arial</vt:lpstr>
      <vt:lpstr>Aptos</vt:lpstr>
      <vt:lpstr>Segoe UI</vt:lpstr>
      <vt:lpstr>Cambria Math</vt:lpstr>
      <vt:lpstr>Cambria Math</vt:lpstr>
      <vt:lpstr>Calibri</vt:lpstr>
      <vt:lpstr>微软雅黑</vt:lpstr>
      <vt:lpstr>Arial Unicode MS</vt:lpstr>
      <vt:lpstr>Aptos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Contention-Aware Expert Migration for MoE Serving — MSc Thesis Defense</dc:title>
  <dc:creator>WU CAO</dc:creator>
  <cp:keywords>MoE, expert parallelism, EPLB, migration batching, vLLM, NIXL</cp:keywords>
  <dc:description>generated using python-pptx</dc:description>
  <dc:subject>ILP formulation, online scheduling, vLLM integration, and evaluation</dc:subject>
  <cp:lastModifiedBy>别开枪，是我</cp:lastModifiedBy>
  <cp:revision>13</cp:revision>
  <dcterms:created xsi:type="dcterms:W3CDTF">2013-01-27T09:14:00Z</dcterms:created>
  <dcterms:modified xsi:type="dcterms:W3CDTF">2026-10-18T14:50:18Z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378BB7B7367D4CA79ABCC313ABBF015C_12</vt:lpwstr>
  </property>
  <property fmtid="{D5CDD505-2E9C-101B-9397-08002B2CF9AE}" pid="3" name="KSOProductBuildVer">
    <vt:lpwstr>2052-12.1.0.28505</vt:lpwstr>
  </property>
</Properties>
</file>