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8"/>
  </p:notesMasterIdLst>
  <p:sldIdLst>
    <p:sldId id="256" r:id="rId3"/>
    <p:sldId id="257" r:id="rId4"/>
    <p:sldId id="258" r:id="rId5"/>
    <p:sldId id="276" r:id="rId6"/>
    <p:sldId id="260" r:id="rId7"/>
    <p:sldId id="262" r:id="rId8"/>
    <p:sldId id="263" r:id="rId9"/>
    <p:sldId id="264" r:id="rId10"/>
    <p:sldId id="266" r:id="rId11"/>
    <p:sldId id="269" r:id="rId12"/>
    <p:sldId id="270" r:id="rId13"/>
    <p:sldId id="271" r:id="rId14"/>
    <p:sldId id="272" r:id="rId15"/>
    <p:sldId id="273" r:id="rId16"/>
    <p:sldId id="274" r:id="rId17"/>
    <p:sldId id="275" r:id="rId19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43" userDrawn="1">
          <p15:clr>
            <a:srgbClr val="A4A3A4"/>
          </p15:clr>
        </p15:guide>
        <p15:guide id="2" pos="29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43"/>
        <p:guide pos="290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1" Type="http://schemas.openxmlformats.org/officeDocument/2006/relationships/hyperlink" Target="https://github.com/vllm-project/vllm/pull/52641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hyperlink" Target="https://github.com/vllm-project/vllm/pull/52641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3977639" cy="6858000"/>
          </a:xfrm>
          <a:prstGeom prst="rect">
            <a:avLst/>
          </a:prstGeom>
          <a:solidFill>
            <a:srgbClr val="133052"/>
          </a:solidFill>
          <a:ln w="12700">
            <a:solidFill>
              <a:srgbClr val="13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1097280"/>
            <a:ext cx="3273552" cy="21945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Contention-Aware
Expert Migration
for MoE Serving</a:t>
            </a:r>
            <a:endParaRPr sz="27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3504" y="5230368"/>
            <a:ext cx="274320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WU CAO · 11036000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03504" y="5614416"/>
            <a:ext cx="288036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0">
                <a:solidFill>
                  <a:srgbClr val="E1EDF8"/>
                </a:solidFill>
                <a:latin typeface="Aptos"/>
              </a:rPr>
              <a:t>MSc High Performance Computing Engineering
A.Y. 2026–2027</a:t>
            </a:r>
            <a:endParaRPr sz="1100" b="0">
              <a:solidFill>
                <a:srgbClr val="E1EDF8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572000" y="2194560"/>
            <a:ext cx="6903720" cy="2240280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E1E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64608" y="2432304"/>
            <a:ext cx="10058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BF4149"/>
                </a:solidFill>
                <a:latin typeface="Aptos"/>
              </a:rPr>
              <a:t>Unbatched</a:t>
            </a:r>
            <a:endParaRPr sz="10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4919472" y="2770632"/>
            <a:ext cx="438912" cy="438912"/>
          </a:xfrm>
          <a:prstGeom prst="ellipse">
            <a:avLst/>
          </a:prstGeom>
          <a:solidFill>
            <a:srgbClr val="2D67A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9472" y="2779775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R0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907024" y="2770632"/>
            <a:ext cx="438912" cy="438912"/>
          </a:xfrm>
          <a:prstGeom prst="ellipse">
            <a:avLst/>
          </a:prstGeom>
          <a:solidFill>
            <a:srgbClr val="158E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7024" y="2779775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R1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4919472" y="3538727"/>
            <a:ext cx="438912" cy="438912"/>
          </a:xfrm>
          <a:prstGeom prst="ellipse">
            <a:avLst/>
          </a:prstGeom>
          <a:solidFill>
            <a:srgbClr val="8153A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9472" y="3547871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R2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5907024" y="3538727"/>
            <a:ext cx="438912" cy="438912"/>
          </a:xfrm>
          <a:prstGeom prst="ellipse">
            <a:avLst/>
          </a:prstGeom>
          <a:solidFill>
            <a:srgbClr val="DD852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07024" y="3547871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R3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784848" y="3099816"/>
            <a:ext cx="50292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600" b="1">
                <a:solidFill>
                  <a:srgbClr val="5D6C7E"/>
                </a:solidFill>
                <a:latin typeface="Aptos"/>
              </a:rPr>
              <a:t>→</a:t>
            </a:r>
            <a:endParaRPr sz="26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342631" y="2432304"/>
            <a:ext cx="21488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1B8D60"/>
                </a:solidFill>
                <a:latin typeface="Aptos"/>
              </a:rPr>
              <a:t>Rank-disjoint batches</a:t>
            </a:r>
            <a:endParaRPr sz="10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7342631" y="2834640"/>
            <a:ext cx="34015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79792" y="2926080"/>
            <a:ext cx="6583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00"/>
            </a:pPr>
            <a:r>
              <a:rPr sz="1100" b="1">
                <a:solidFill>
                  <a:srgbClr val="2D67A4"/>
                </a:solidFill>
                <a:latin typeface="Aptos"/>
              </a:rPr>
              <a:t>Batch 0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229600" y="2907792"/>
            <a:ext cx="230428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33052"/>
                </a:solidFill>
                <a:latin typeface="Aptos"/>
              </a:rPr>
              <a:t>R0→R1    R2→R3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342631" y="3520440"/>
            <a:ext cx="34015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79792" y="3611880"/>
            <a:ext cx="6583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00"/>
            </a:pPr>
            <a:r>
              <a:rPr sz="1100" b="1">
                <a:solidFill>
                  <a:srgbClr val="8153A0"/>
                </a:solidFill>
                <a:latin typeface="Aptos"/>
              </a:rPr>
              <a:t>Batch 1</a:t>
            </a:r>
            <a:endParaRPr sz="9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229600" y="3593592"/>
            <a:ext cx="230428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33052"/>
                </a:solidFill>
                <a:latin typeface="Aptos"/>
              </a:rPr>
              <a:t>R1→R2    R0→R3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590288" y="4983480"/>
            <a:ext cx="10058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00"/>
            </a:pPr>
            <a:r>
              <a:rPr sz="1100" b="1">
                <a:solidFill>
                  <a:srgbClr val="2D67A4"/>
                </a:solidFill>
                <a:latin typeface="Aptos"/>
              </a:rPr>
              <a:t>Advisor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669280" y="4946904"/>
            <a:ext cx="265176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1">
                <a:solidFill>
                  <a:srgbClr val="1C2735"/>
                </a:solidFill>
                <a:latin typeface="Aptos"/>
              </a:rPr>
              <a:t>Prof. Massimo Tornatore</a:t>
            </a:r>
            <a:endParaRPr sz="13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590288" y="5394960"/>
            <a:ext cx="10058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00"/>
            </a:pPr>
            <a:r>
              <a:rPr sz="1100" b="1">
                <a:solidFill>
                  <a:srgbClr val="2D67A4"/>
                </a:solidFill>
                <a:latin typeface="Aptos"/>
              </a:rPr>
              <a:t>Co-advisor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669280" y="5358384"/>
            <a:ext cx="310896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1">
                <a:solidFill>
                  <a:srgbClr val="1C2735"/>
                </a:solidFill>
                <a:latin typeface="Aptos"/>
              </a:rPr>
              <a:t>Assistant Prof. Qiaolun Zhang</a:t>
            </a:r>
            <a:endParaRPr sz="13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522208" y="6053328"/>
            <a:ext cx="27889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1100" b="1">
                <a:solidFill>
                  <a:srgbClr val="1B8D60"/>
                </a:solidFill>
                <a:latin typeface="Aptos"/>
                <a:hlinkClick r:id="rId1"/>
              </a:rPr>
              <a:t>Merged into vLLM · PR #52641</a:t>
            </a:r>
            <a:endParaRPr sz="1100" b="1">
              <a:solidFill>
                <a:srgbClr val="1B8D60"/>
              </a:solidFill>
              <a:latin typeface="Aptos"/>
              <a:hlinkClick r:id="rId1"/>
            </a:endParaRPr>
          </a:p>
        </p:txBody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7865" y="257810"/>
            <a:ext cx="3175635" cy="894080"/>
          </a:xfrm>
          <a:prstGeom prst="rect">
            <a:avLst/>
          </a:prstGeom>
        </p:spPr>
      </p:pic>
      <p:cxnSp>
        <p:nvCxnSpPr>
          <p:cNvPr id="38" name="直接箭头连接符 37"/>
          <p:cNvCxnSpPr>
            <a:stCxn id="13" idx="3"/>
            <a:endCxn id="15" idx="1"/>
          </p:cNvCxnSpPr>
          <p:nvPr/>
        </p:nvCxnSpPr>
        <p:spPr>
          <a:xfrm>
            <a:off x="5358130" y="2990215"/>
            <a:ext cx="54864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/>
          <p:cNvCxnSpPr>
            <a:stCxn id="17" idx="3"/>
            <a:endCxn id="19" idx="1"/>
          </p:cNvCxnSpPr>
          <p:nvPr/>
        </p:nvCxnSpPr>
        <p:spPr>
          <a:xfrm>
            <a:off x="5358130" y="3757930"/>
            <a:ext cx="54864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>
            <a:stCxn id="15" idx="2"/>
            <a:endCxn id="17" idx="0"/>
          </p:cNvCxnSpPr>
          <p:nvPr/>
        </p:nvCxnSpPr>
        <p:spPr>
          <a:xfrm flipH="1">
            <a:off x="5139055" y="3200400"/>
            <a:ext cx="987425" cy="34734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/>
          <p:cNvCxnSpPr>
            <a:stCxn id="13" idx="2"/>
            <a:endCxn id="19" idx="0"/>
          </p:cNvCxnSpPr>
          <p:nvPr/>
        </p:nvCxnSpPr>
        <p:spPr>
          <a:xfrm>
            <a:off x="5139055" y="3200400"/>
            <a:ext cx="987425" cy="34734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OVERVIEW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Outline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1691640"/>
            <a:ext cx="5074920" cy="141732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5" y="1947672"/>
            <a:ext cx="713232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2D67A4"/>
                </a:solidFill>
                <a:latin typeface="Aptos"/>
              </a:rPr>
              <a:t>01</a:t>
            </a:r>
            <a:endParaRPr sz="27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783080" y="1874520"/>
            <a:ext cx="3566160" cy="42062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Aptos"/>
              </a:rPr>
              <a:t>Background</a:t>
            </a:r>
            <a:endParaRPr sz="2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783080" y="2350008"/>
            <a:ext cx="3657600" cy="45720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500" b="0">
                <a:solidFill>
                  <a:srgbClr val="5D6C7E"/>
                </a:solidFill>
                <a:latin typeface="Aptos"/>
              </a:rPr>
              <a:t>MoE, EP, and asynchronous EPLB</a:t>
            </a:r>
            <a:endParaRPr sz="15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63640" y="1691640"/>
            <a:ext cx="5074920" cy="141732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1947672"/>
            <a:ext cx="713232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8153A0"/>
                </a:solidFill>
                <a:latin typeface="Aptos"/>
              </a:rPr>
              <a:t>02</a:t>
            </a:r>
            <a:endParaRPr sz="27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269479" y="1874520"/>
            <a:ext cx="3566160" cy="42062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Aptos"/>
              </a:rPr>
              <a:t>Model</a:t>
            </a:r>
            <a:endParaRPr sz="2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269479" y="2350008"/>
            <a:ext cx="3657600" cy="45720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500" b="0">
                <a:solidFill>
                  <a:srgbClr val="5D6C7E"/>
                </a:solidFill>
                <a:latin typeface="Aptos"/>
              </a:rPr>
              <a:t>Contention objective and offline ILP</a:t>
            </a:r>
            <a:endParaRPr sz="15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77240" y="3657600"/>
            <a:ext cx="5074920" cy="141732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5" y="3913632"/>
            <a:ext cx="713232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DD852A"/>
                </a:solidFill>
                <a:latin typeface="Aptos"/>
              </a:rPr>
              <a:t>03</a:t>
            </a:r>
            <a:endParaRPr sz="27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783080" y="3840480"/>
            <a:ext cx="3566160" cy="42062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Aptos"/>
              </a:rPr>
              <a:t>Design</a:t>
            </a:r>
            <a:endParaRPr sz="2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783080" y="4315968"/>
            <a:ext cx="3657600" cy="45720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500" b="0">
                <a:solidFill>
                  <a:srgbClr val="5D6C7E"/>
                </a:solidFill>
                <a:latin typeface="Aptos"/>
              </a:rPr>
              <a:t>Rank-disjoint migration batching</a:t>
            </a:r>
            <a:endParaRPr sz="15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263640" y="3657600"/>
            <a:ext cx="5074920" cy="141732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3913632"/>
            <a:ext cx="713232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1B8D60"/>
                </a:solidFill>
                <a:latin typeface="Aptos"/>
              </a:rPr>
              <a:t>04</a:t>
            </a:r>
            <a:endParaRPr sz="27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269479" y="3840480"/>
            <a:ext cx="3566160" cy="42062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Aptos"/>
              </a:rPr>
              <a:t>Evaluation</a:t>
            </a:r>
            <a:endParaRPr sz="2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269479" y="4315968"/>
            <a:ext cx="3657600" cy="45720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500" b="0">
                <a:solidFill>
                  <a:srgbClr val="5D6C7E"/>
                </a:solidFill>
                <a:latin typeface="Aptos"/>
              </a:rPr>
              <a:t>E2E serving, NIC traffic, and profiling</a:t>
            </a:r>
            <a:endParaRPr sz="1500" b="0">
              <a:solidFill>
                <a:srgbClr val="5D6C7E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BACKGROUND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54152"/>
            <a:ext cx="11064240" cy="4724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MoE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 and 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EP</a:t>
            </a:r>
            <a:endParaRPr lang="en-US"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66928" y="1572768"/>
            <a:ext cx="3657600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73936"/>
            <a:ext cx="164592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TOKEN ROUTING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868680" y="2286000"/>
            <a:ext cx="475488" cy="475488"/>
          </a:xfrm>
          <a:prstGeom prst="ellipse">
            <a:avLst/>
          </a:prstGeom>
          <a:solidFill>
            <a:srgbClr val="158E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95144"/>
            <a:ext cx="475488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t₁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868680" y="2971800"/>
            <a:ext cx="475488" cy="475488"/>
          </a:xfrm>
          <a:prstGeom prst="ellipse">
            <a:avLst/>
          </a:prstGeom>
          <a:solidFill>
            <a:srgbClr val="158E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980944"/>
            <a:ext cx="475488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t₂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868680" y="3657600"/>
            <a:ext cx="475488" cy="475488"/>
          </a:xfrm>
          <a:prstGeom prst="ellipse">
            <a:avLst/>
          </a:prstGeom>
          <a:solidFill>
            <a:srgbClr val="158E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66744"/>
            <a:ext cx="475488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t₃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868680" y="4343400"/>
            <a:ext cx="475488" cy="475488"/>
          </a:xfrm>
          <a:prstGeom prst="ellipse">
            <a:avLst/>
          </a:prstGeom>
          <a:solidFill>
            <a:srgbClr val="158E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352544"/>
            <a:ext cx="475488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t₄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1920240" y="2834640"/>
            <a:ext cx="1325880" cy="987552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65960" y="2971800"/>
            <a:ext cx="1234440" cy="5669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133052"/>
                </a:solidFill>
                <a:latin typeface="Aptos"/>
              </a:rPr>
              <a:t>Router
Top-k</a:t>
            </a:r>
            <a:endParaRPr sz="1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1344168" y="2523744"/>
            <a:ext cx="576072" cy="603504"/>
          </a:xfrm>
          <a:prstGeom prst="line">
            <a:avLst/>
          </a:prstGeom>
          <a:ln w="1524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344168" y="3209544"/>
            <a:ext cx="576072" cy="137160"/>
          </a:xfrm>
          <a:prstGeom prst="line">
            <a:avLst/>
          </a:prstGeom>
          <a:ln w="1524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344168" y="3127248"/>
            <a:ext cx="576072" cy="768096"/>
          </a:xfrm>
          <a:prstGeom prst="line">
            <a:avLst/>
          </a:prstGeom>
          <a:ln w="1524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344168" y="3346704"/>
            <a:ext cx="576072" cy="1234440"/>
          </a:xfrm>
          <a:prstGeom prst="line">
            <a:avLst/>
          </a:prstGeom>
          <a:ln w="1524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401568" y="2240280"/>
            <a:ext cx="585216" cy="585216"/>
          </a:xfrm>
          <a:prstGeom prst="ellipse">
            <a:avLst/>
          </a:prstGeom>
          <a:solidFill>
            <a:srgbClr val="2D67A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01568" y="2249424"/>
            <a:ext cx="585216" cy="5669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E₀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27" name="Connector 26"/>
          <p:cNvCxnSpPr/>
          <p:nvPr/>
        </p:nvCxnSpPr>
        <p:spPr>
          <a:xfrm flipV="1">
            <a:off x="3246120" y="2532888"/>
            <a:ext cx="155448" cy="649224"/>
          </a:xfrm>
          <a:prstGeom prst="line">
            <a:avLst/>
          </a:prstGeom>
          <a:ln w="15240">
            <a:solidFill>
              <a:srgbClr val="2D67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3401568" y="3300984"/>
            <a:ext cx="585216" cy="585216"/>
          </a:xfrm>
          <a:prstGeom prst="ellipse">
            <a:avLst/>
          </a:prstGeom>
          <a:solidFill>
            <a:srgbClr val="1B8D6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1568" y="3310128"/>
            <a:ext cx="585216" cy="5669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E₁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3246120" y="3182112"/>
            <a:ext cx="155448" cy="411479"/>
          </a:xfrm>
          <a:prstGeom prst="line">
            <a:avLst/>
          </a:prstGeom>
          <a:ln w="1524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3401568" y="4361688"/>
            <a:ext cx="585216" cy="585216"/>
          </a:xfrm>
          <a:prstGeom prst="ellipse">
            <a:avLst/>
          </a:prstGeom>
          <a:solidFill>
            <a:srgbClr val="DD852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01568" y="4370831"/>
            <a:ext cx="585216" cy="5669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E₂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33" name="Connector 32"/>
          <p:cNvCxnSpPr/>
          <p:nvPr/>
        </p:nvCxnSpPr>
        <p:spPr>
          <a:xfrm>
            <a:off x="3246120" y="3182112"/>
            <a:ext cx="155448" cy="1472184"/>
          </a:xfrm>
          <a:prstGeom prst="line">
            <a:avLst/>
          </a:prstGeom>
          <a:ln w="15240">
            <a:solidFill>
              <a:srgbClr val="DD8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41248" y="5230368"/>
            <a:ext cx="3063240" cy="42062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C2735"/>
                </a:solidFill>
                <a:latin typeface="Aptos"/>
              </a:rPr>
              <a:t>Only a subset of experts runs for each token</a:t>
            </a:r>
            <a:endParaRPr sz="13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4498848" y="1572768"/>
            <a:ext cx="7132320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73168" y="1773936"/>
            <a:ext cx="246888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1B8D60"/>
                </a:solidFill>
                <a:latin typeface="Aptos"/>
              </a:rPr>
              <a:t>EXPERT PARALLEL PLACEMENT</a:t>
            </a:r>
            <a:endParaRPr sz="10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4800600" y="2231136"/>
            <a:ext cx="1307592" cy="230428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73752" y="2350008"/>
            <a:ext cx="116128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Rank 0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5020056" y="2761488"/>
            <a:ext cx="868680" cy="365760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0056" y="2807208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E0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5020056" y="3273552"/>
            <a:ext cx="868680" cy="365760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0056" y="3319272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E1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020056" y="3785616"/>
            <a:ext cx="868680" cy="365760"/>
          </a:xfrm>
          <a:prstGeom prst="rect">
            <a:avLst/>
          </a:prstGeom>
          <a:solidFill>
            <a:srgbClr val="DD852A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0056" y="3831335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E2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6446520" y="2231136"/>
            <a:ext cx="1307592" cy="230428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19672" y="2350008"/>
            <a:ext cx="116128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Rank 1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6665976" y="2761488"/>
            <a:ext cx="868680" cy="365760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65976" y="2807208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E3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6665976" y="3273552"/>
            <a:ext cx="868680" cy="365760"/>
          </a:xfrm>
          <a:prstGeom prst="rect">
            <a:avLst/>
          </a:prstGeom>
          <a:solidFill>
            <a:srgbClr val="DD852A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65976" y="3319272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E4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6665976" y="3785616"/>
            <a:ext cx="868680" cy="365760"/>
          </a:xfrm>
          <a:prstGeom prst="rect">
            <a:avLst/>
          </a:prstGeom>
          <a:solidFill>
            <a:srgbClr val="8153A0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65976" y="3831335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E5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8092440" y="2231136"/>
            <a:ext cx="1307592" cy="230428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65592" y="2350008"/>
            <a:ext cx="116128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Rank 2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8311896" y="2761488"/>
            <a:ext cx="868680" cy="365760"/>
          </a:xfrm>
          <a:prstGeom prst="rect">
            <a:avLst/>
          </a:prstGeom>
          <a:solidFill>
            <a:srgbClr val="DD852A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11896" y="2807208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E6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8311896" y="3273552"/>
            <a:ext cx="868680" cy="365760"/>
          </a:xfrm>
          <a:prstGeom prst="rect">
            <a:avLst/>
          </a:prstGeom>
          <a:solidFill>
            <a:srgbClr val="8153A0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11896" y="3319272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E7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8311896" y="3785616"/>
            <a:ext cx="868680" cy="365760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11896" y="3831335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E0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9738360" y="2231136"/>
            <a:ext cx="1307592" cy="230428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11512" y="2350008"/>
            <a:ext cx="116128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Rank 3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9957816" y="2761488"/>
            <a:ext cx="868680" cy="365760"/>
          </a:xfrm>
          <a:prstGeom prst="rect">
            <a:avLst/>
          </a:prstGeom>
          <a:solidFill>
            <a:srgbClr val="8153A0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957816" y="2807208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E1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9957816" y="3273552"/>
            <a:ext cx="868680" cy="365760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957816" y="3319272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E2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9957816" y="3785616"/>
            <a:ext cx="868680" cy="365760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957816" y="3831335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E3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4892040" y="4892040"/>
            <a:ext cx="2468880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400" b="1">
                <a:solidFill>
                  <a:srgbClr val="BF4149"/>
                </a:solidFill>
                <a:latin typeface="Aptos"/>
              </a:rPr>
              <a:t>Routing is input-dependent</a:t>
            </a:r>
            <a:endParaRPr sz="14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7315200" y="4754880"/>
            <a:ext cx="388620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400" b="0">
                <a:solidFill>
                  <a:srgbClr val="1C2735"/>
                </a:solidFill>
                <a:latin typeface="Aptos"/>
              </a:rPr>
              <a:t>→ expert popularity changes over time
→ some ranks become overloaded</a:t>
            </a:r>
            <a:endParaRPr sz="1400" b="0">
              <a:solidFill>
                <a:srgbClr val="1C273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100" b="1">
                <a:solidFill>
                  <a:srgbClr val="2D67A4"/>
                </a:solidFill>
                <a:latin typeface="Aptos"/>
              </a:rPr>
              <a:t>BACKGROUND</a:t>
            </a:r>
            <a:endParaRPr sz="11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133052"/>
                </a:solidFill>
                <a:latin typeface="Aptos"/>
              </a:rPr>
              <a:t>Qwen3 MoE Architecture</a:t>
            </a:r>
            <a:endParaRPr sz="27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905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qwen3_moe_architect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2955" y="1444752"/>
            <a:ext cx="8372184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PROBLEM MOTIVATION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54152"/>
            <a:ext cx="11064240" cy="4724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lang="en-US" sz="2600" b="1">
                <a:solidFill>
                  <a:srgbClr val="133052"/>
                </a:solidFill>
                <a:latin typeface="Aptos"/>
              </a:rPr>
              <a:t>Sync and Async 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EPLB</a:t>
            </a:r>
            <a:endParaRPr lang="en-US"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58368" y="1600200"/>
            <a:ext cx="5303520" cy="43159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47088"/>
            <a:ext cx="237744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DD852A"/>
                </a:solidFill>
                <a:latin typeface="Aptos"/>
              </a:rPr>
              <a:t>SYNCHRONOUS EPLB</a:t>
            </a:r>
            <a:endParaRPr sz="12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60120" y="2450592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Inference</a:t>
            </a:r>
            <a:endParaRPr sz="11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176272" y="2395728"/>
            <a:ext cx="1097280" cy="402336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3552" y="2395728"/>
            <a:ext cx="1481328" cy="402336"/>
          </a:xfrm>
          <a:prstGeom prst="rect">
            <a:avLst/>
          </a:prstGeom>
          <a:solidFill>
            <a:srgbClr val="FAE6E8"/>
          </a:solidFill>
          <a:ln w="12700">
            <a:solidFill>
              <a:srgbClr val="BF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54880" y="2395728"/>
            <a:ext cx="685800" cy="402336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441448"/>
            <a:ext cx="123444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BF4149"/>
                </a:solidFill>
                <a:latin typeface="Aptos"/>
              </a:rPr>
              <a:t>paused</a:t>
            </a:r>
            <a:endParaRPr sz="9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60120" y="3127248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Migration</a:t>
            </a:r>
            <a:endParaRPr sz="11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273552" y="3081528"/>
            <a:ext cx="1481328" cy="402336"/>
          </a:xfrm>
          <a:prstGeom prst="rect">
            <a:avLst/>
          </a:prstGeom>
          <a:solidFill>
            <a:srgbClr val="DD852A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166360"/>
            <a:ext cx="452628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DD852A"/>
                </a:solidFill>
                <a:latin typeface="Aptos"/>
              </a:rPr>
              <a:t>Batching is disabled in the implementation</a:t>
            </a:r>
            <a:endParaRPr sz="12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236208" y="1600200"/>
            <a:ext cx="5303520" cy="43159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847088"/>
            <a:ext cx="2468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B8D60"/>
                </a:solidFill>
                <a:latin typeface="Aptos"/>
              </a:rPr>
              <a:t>ASYNCHRONOUS EPLB</a:t>
            </a:r>
            <a:endParaRPr sz="1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537960" y="2450592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Inference</a:t>
            </a:r>
            <a:endParaRPr sz="11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754112" y="2395728"/>
            <a:ext cx="3273552" cy="402336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14232" y="2441448"/>
            <a:ext cx="128016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continues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37960" y="3127248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Migration</a:t>
            </a:r>
            <a:endParaRPr sz="11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7754112" y="3081528"/>
            <a:ext cx="832104" cy="402336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51392" y="3081528"/>
            <a:ext cx="832104" cy="402336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948672" y="3081528"/>
            <a:ext cx="832104" cy="402336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3913632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1B8D60"/>
                </a:solidFill>
                <a:latin typeface="Aptos"/>
              </a:rPr>
              <a:t>Objective</a:t>
            </a:r>
            <a:endParaRPr sz="11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754112" y="3749039"/>
            <a:ext cx="315468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700" b="1">
                <a:solidFill>
                  <a:srgbClr val="1C2735"/>
                </a:solidFill>
                <a:latin typeface="Aptos"/>
              </a:rPr>
              <a:t>Reduce interference with active requests</a:t>
            </a:r>
            <a:endParaRPr sz="17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629400" y="5166360"/>
            <a:ext cx="452628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B8D60"/>
                </a:solidFill>
                <a:latin typeface="Aptos"/>
              </a:rPr>
              <a:t>Opt-in batching trades migration speed for serving headroom</a:t>
            </a:r>
            <a:endParaRPr sz="1200" b="1">
              <a:solidFill>
                <a:srgbClr val="1B8D60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OFFLINE MODEL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ILP Formulation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66928" y="1536192"/>
            <a:ext cx="2907792" cy="4453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55648"/>
            <a:ext cx="237744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200"/>
            </a:pPr>
            <a:r>
              <a:rPr sz="1200" b="1">
                <a:solidFill>
                  <a:srgbClr val="2D67A4"/>
                </a:solidFill>
                <a:latin typeface="Aptos"/>
              </a:rPr>
              <a:t>DECISION VARIABLES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68680" y="2221992"/>
            <a:ext cx="777240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Cambria Math" panose="02040503050406030204"/>
              </a:rPr>
              <a:t>xₚ,ᵦ</a:t>
            </a:r>
            <a:endParaRPr sz="2400" b="1">
              <a:solidFill>
                <a:srgbClr val="133052"/>
              </a:solidFill>
              <a:latin typeface="Cambria Math" panose="02040503050406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682496" y="2212848"/>
            <a:ext cx="1508760" cy="40233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0">
                <a:solidFill>
                  <a:srgbClr val="1C2735"/>
                </a:solidFill>
                <a:latin typeface="Aptos"/>
              </a:rPr>
              <a:t>flow p assigned to batch b</a:t>
            </a:r>
            <a:endParaRPr sz="12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68680" y="2935224"/>
            <a:ext cx="777240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Cambria Math" panose="02040503050406030204"/>
              </a:rPr>
              <a:t>yᵦ</a:t>
            </a:r>
            <a:endParaRPr sz="2400" b="1">
              <a:solidFill>
                <a:srgbClr val="133052"/>
              </a:solidFill>
              <a:latin typeface="Cambria Math" panose="02040503050406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82496" y="2926080"/>
            <a:ext cx="1508760" cy="40233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0">
                <a:solidFill>
                  <a:srgbClr val="1C2735"/>
                </a:solidFill>
                <a:latin typeface="Aptos"/>
              </a:rPr>
              <a:t>batch b is active</a:t>
            </a:r>
            <a:endParaRPr sz="12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68680" y="3648456"/>
            <a:ext cx="777240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Cambria Math" panose="02040503050406030204"/>
              </a:rPr>
              <a:t>Qₗ,ᵦ</a:t>
            </a:r>
            <a:endParaRPr sz="2400" b="1">
              <a:solidFill>
                <a:srgbClr val="133052"/>
              </a:solidFill>
              <a:latin typeface="Cambria Math" panose="02040503050406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682496" y="3639312"/>
            <a:ext cx="1508760" cy="40233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0">
                <a:solidFill>
                  <a:srgbClr val="1C2735"/>
                </a:solidFill>
                <a:latin typeface="Aptos"/>
              </a:rPr>
              <a:t>migration load on link l</a:t>
            </a:r>
            <a:endParaRPr sz="12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" y="4407408"/>
            <a:ext cx="2395728" cy="960120"/>
          </a:xfrm>
          <a:prstGeom prst="roundRect">
            <a:avLst/>
          </a:prstGeom>
          <a:solidFill>
            <a:srgbClr val="FBEFDE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526280"/>
            <a:ext cx="210312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DD852A"/>
                </a:solidFill>
                <a:latin typeface="Aptos"/>
              </a:rPr>
              <a:t>Tie-break only</a:t>
            </a:r>
            <a:endParaRPr sz="10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60120" y="4791456"/>
            <a:ext cx="210312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C2735"/>
                </a:solidFill>
                <a:latin typeface="Aptos"/>
              </a:rPr>
              <a:t>After fixing the optimum,
minimize active batches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730752" y="1645920"/>
            <a:ext cx="777240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59352" y="1737360"/>
            <a:ext cx="283464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200"/>
            </a:pPr>
            <a:r>
              <a:rPr sz="1200" b="1">
                <a:solidFill>
                  <a:srgbClr val="2D67A4"/>
                </a:solidFill>
                <a:latin typeface="Aptos"/>
              </a:rPr>
              <a:t>1 · Every flow executes exactly once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/>
              <p:cNvSpPr txBox="1"/>
              <p:nvPr/>
            </p:nvSpPr>
            <p:spPr>
              <a:xfrm>
                <a:off x="5504688" y="1792224"/>
                <a:ext cx="5669280" cy="621792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/>
                          </m:ctrlPr>
                        </m:naryPr>
                        <m:sub>
                          <m:r>
                            <a:rPr lang="en-US" sz="16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𝑏</m:t>
                          </m:r>
                          <m:r>
                            <a:rPr lang="en-US" sz="16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∈</m:t>
                          </m:r>
                          <m:r>
                            <a:rPr lang="en-US" sz="16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𝐵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6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𝑝</m:t>
                              </m:r>
                              <m:r>
                                <a:rPr lang="en-US" sz="16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,</m:t>
                              </m:r>
                              <m:r>
                                <a:rPr lang="en-US" sz="16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𝑏</m:t>
                              </m:r>
                            </m:sub>
                          </m:sSub>
                        </m:e>
                      </m:nary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=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1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  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∀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𝑝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∈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𝑃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688" y="1792224"/>
                <a:ext cx="5669280" cy="621792"/>
              </a:xfrm>
              <a:prstGeom prst="rect">
                <a:avLst/>
              </a:prstGeom>
              <a:blipFill rotWithShape="1">
                <a:blip r:embed="rId1"/>
                <a:stretch>
                  <a:fillRect l="-9" t="-41" r="9" b="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ounded Rectangle 22"/>
          <p:cNvSpPr/>
          <p:nvPr/>
        </p:nvSpPr>
        <p:spPr>
          <a:xfrm>
            <a:off x="3730752" y="2816352"/>
            <a:ext cx="777240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59352" y="2907792"/>
            <a:ext cx="283464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200"/>
            </a:pPr>
            <a:r>
              <a:rPr sz="1200" b="1">
                <a:solidFill>
                  <a:srgbClr val="8153A0"/>
                </a:solidFill>
                <a:latin typeface="Aptos"/>
              </a:rPr>
              <a:t>2 · Rank-disjoint endpoint constraint</a:t>
            </a:r>
            <a:endParaRPr sz="1000" b="1">
              <a:solidFill>
                <a:srgbClr val="8153A0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/>
              <p:cNvSpPr txBox="1"/>
              <p:nvPr/>
            </p:nvSpPr>
            <p:spPr>
              <a:xfrm>
                <a:off x="5504688" y="2962656"/>
                <a:ext cx="5669280" cy="621792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/>
                          </m:ctrlPr>
                        </m:naryPr>
                        <m:sub>
                          <m:r>
                            <a:rPr lang="en-US" sz="16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𝑝</m:t>
                          </m:r>
                          <m:r>
                            <a:rPr lang="en-US" sz="16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:</m:t>
                          </m:r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6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6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𝑝</m:t>
                              </m:r>
                            </m:sub>
                          </m:sSub>
                          <m:r>
                            <a:rPr lang="en-US" sz="16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=</m:t>
                          </m:r>
                          <m:r>
                            <a:rPr lang="en-US" sz="16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𝑟</m:t>
                          </m:r>
                          <m:r>
                            <a:rPr lang="en-US" sz="16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 </m:t>
                          </m:r>
                          <m:r>
                            <a:rPr lang="en-US" sz="16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∨</m:t>
                          </m:r>
                          <m:r>
                            <a:rPr lang="en-US" sz="16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 </m:t>
                          </m:r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6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16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𝑝</m:t>
                              </m:r>
                            </m:sub>
                          </m:sSub>
                          <m:r>
                            <a:rPr lang="en-US" sz="16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=</m:t>
                          </m:r>
                          <m:r>
                            <a:rPr lang="en-US" sz="16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𝑟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6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𝑝</m:t>
                              </m:r>
                              <m:r>
                                <a:rPr lang="en-US" sz="16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,</m:t>
                              </m:r>
                              <m:r>
                                <a:rPr lang="en-US" sz="16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𝑏</m:t>
                              </m:r>
                            </m:sub>
                          </m:sSub>
                        </m:e>
                      </m:nary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≤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1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  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∀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𝑟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∈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𝑅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 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𝑏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∈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𝐵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688" y="2962656"/>
                <a:ext cx="5669280" cy="621792"/>
              </a:xfrm>
              <a:prstGeom prst="rect">
                <a:avLst/>
              </a:prstGeom>
              <a:blipFill rotWithShape="1">
                <a:blip r:embed="rId2"/>
                <a:stretch>
                  <a:fillRect l="-9" t="-2717" r="9" b="-26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Rounded Rectangle 25"/>
          <p:cNvSpPr/>
          <p:nvPr/>
        </p:nvSpPr>
        <p:spPr>
          <a:xfrm>
            <a:off x="3730752" y="3986784"/>
            <a:ext cx="777240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59352" y="4078224"/>
            <a:ext cx="283464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200"/>
            </a:pPr>
            <a:r>
              <a:rPr sz="1200" b="1">
                <a:solidFill>
                  <a:srgbClr val="1B8D60"/>
                </a:solidFill>
                <a:latin typeface="Aptos"/>
              </a:rPr>
              <a:t>3 · Worst-link serving objective</a:t>
            </a:r>
            <a:endParaRPr sz="1000" b="1">
              <a:solidFill>
                <a:srgbClr val="1B8D60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/>
              <p:cNvSpPr txBox="1"/>
              <p:nvPr/>
            </p:nvSpPr>
            <p:spPr>
              <a:xfrm>
                <a:off x="5504688" y="4133088"/>
                <a:ext cx="5669280" cy="621792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min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f</m:t>
                          </m:r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e</m:t>
                          </m:r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r</m:t>
                          </m:r>
                        </m:sub>
                      </m:sSub>
                      <m:r>
                        <a:rPr lang="en-US" sz="14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4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  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f</m:t>
                          </m:r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e</m:t>
                          </m:r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r</m:t>
                          </m:r>
                        </m:sub>
                      </m:sSub>
                      <m:r>
                        <a:rPr lang="en-US" sz="14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≥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𝑇</m:t>
                          </m:r>
                        </m:e>
                        <m:sub>
                          <m: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0</m:t>
                          </m:r>
                        </m:sub>
                      </m:sSub>
                      <m:d>
                        <m:dPr>
                          <m:sepChr m:val=""/>
                          <m:ctrlPr>
                            <a:rPr/>
                          </m:ctrlPr>
                        </m:dPr>
                        <m:e>
                          <m: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1</m:t>
                          </m:r>
                          <m: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+</m:t>
                          </m:r>
                          <m:f>
                            <m:fPr>
                              <m:ctrlPr>
                                <a:rPr/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/>
                                  </m:ctrlPr>
                                </m:sSubPr>
                                <m:e>
                                  <m:r>
                                    <a:rPr lang="en-US" sz="1400" dirty="0">
                                      <a:solidFill>
                                        <a:srgbClr val="1C2735"/>
                                      </a:solidFill>
                                      <a:latin typeface="Cambria Math" panose="02040503050406030204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US" sz="1400" dirty="0">
                                      <a:solidFill>
                                        <a:srgbClr val="1C2735"/>
                                      </a:solidFill>
                                      <a:latin typeface="Cambria Math" panose="02040503050406030204"/>
                                    </a:rPr>
                                    <m:t>𝑙</m:t>
                                  </m:r>
                                  <m:r>
                                    <a:rPr lang="en-US" sz="1400" dirty="0">
                                      <a:solidFill>
                                        <a:srgbClr val="1C2735"/>
                                      </a:solidFill>
                                      <a:latin typeface="Cambria Math" panose="02040503050406030204"/>
                                    </a:rPr>
                                    <m:t>,</m:t>
                                  </m:r>
                                  <m:r>
                                    <a:rPr lang="en-US" sz="1400" dirty="0">
                                      <a:solidFill>
                                        <a:srgbClr val="1C2735"/>
                                      </a:solidFill>
                                      <a:latin typeface="Cambria Math" panose="02040503050406030204"/>
                                    </a:rPr>
                                    <m:t>𝑏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/>
                                  </m:ctrlPr>
                                </m:sSubPr>
                                <m:e>
                                  <m:r>
                                    <a:rPr lang="en-US" sz="1400" dirty="0">
                                      <a:solidFill>
                                        <a:srgbClr val="1C2735"/>
                                      </a:solidFill>
                                      <a:latin typeface="Cambria Math" panose="02040503050406030204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1400" dirty="0">
                                      <a:solidFill>
                                        <a:srgbClr val="1C2735"/>
                                      </a:solidFill>
                                      <a:latin typeface="Cambria Math" panose="02040503050406030204"/>
                                    </a:rPr>
                                    <m:t>𝑙</m:t>
                                  </m:r>
                                </m:sub>
                              </m:sSub>
                              <m:d>
                                <m:dPr>
                                  <m:sepChr m:val=""/>
                                  <m:ctrlPr>
                                    <a:rPr/>
                                  </m:ctrlPr>
                                </m:dPr>
                                <m:e>
                                  <m:r>
                                    <a:rPr lang="en-US" sz="1400" dirty="0">
                                      <a:solidFill>
                                        <a:srgbClr val="1C2735"/>
                                      </a:solidFill>
                                      <a:latin typeface="Cambria Math" panose="02040503050406030204"/>
                                    </a:rPr>
                                    <m:t>1</m:t>
                                  </m:r>
                                  <m:r>
                                    <a:rPr lang="en-US" sz="1400" dirty="0">
                                      <a:solidFill>
                                        <a:srgbClr val="1C2735"/>
                                      </a:solidFill>
                                      <a:latin typeface="Cambria Math" panose="02040503050406030204"/>
                                    </a:rPr>
                                    <m:t>−</m:t>
                                  </m:r>
                                  <m:r>
                                    <a:rPr lang="en-US" sz="1400" dirty="0">
                                      <a:solidFill>
                                        <a:srgbClr val="1C2735"/>
                                      </a:solidFill>
                                      <a:latin typeface="Cambria Math" panose="02040503050406030204"/>
                                    </a:rPr>
                                    <m:t>𝜌</m:t>
                                  </m:r>
                                </m:e>
                              </m:d>
                            </m:den>
                          </m:f>
                        </m:e>
                      </m:d>
                      <m:r>
                        <a:rPr lang="en-US" sz="14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4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 </m:t>
                      </m:r>
                      <m:r>
                        <a:rPr lang="en-US" sz="14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∀</m:t>
                      </m:r>
                      <m:r>
                        <a:rPr lang="en-US" sz="14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𝑙</m:t>
                      </m:r>
                      <m:r>
                        <a:rPr lang="en-US" sz="14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4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𝑏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688" y="4133088"/>
                <a:ext cx="5669280" cy="621792"/>
              </a:xfrm>
              <a:prstGeom prst="rect">
                <a:avLst/>
              </a:prstGeom>
              <a:blipFill rotWithShape="1">
                <a:blip r:embed="rId3"/>
                <a:stretch>
                  <a:fillRect l="-9" t="-82" r="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/>
          <p:cNvSpPr txBox="1"/>
          <p:nvPr/>
        </p:nvSpPr>
        <p:spPr>
          <a:xfrm>
            <a:off x="3858768" y="5212080"/>
            <a:ext cx="7452360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33052"/>
                </a:solidFill>
                <a:latin typeface="Aptos"/>
              </a:rPr>
              <a:t>Primary objective: lower the maximum link pressure seen by concurrent inference</a:t>
            </a:r>
            <a:endParaRPr sz="1400" b="1">
              <a:solidFill>
                <a:srgbClr val="133052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OFFLINE MODEL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33604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ILP Hotspot Example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794385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6938" y="870077"/>
            <a:ext cx="3127248" cy="25603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300" b="1">
                <a:solidFill>
                  <a:srgbClr val="2D67A4"/>
                </a:solidFill>
                <a:latin typeface="Aptos"/>
              </a:rPr>
              <a:t>TWO-TIER LINKS</a:t>
            </a:r>
            <a:endParaRPr sz="1300" b="1">
              <a:solidFill>
                <a:srgbClr val="2D67A4"/>
              </a:solidFill>
              <a:latin typeface="Aptos"/>
            </a:endParaRP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225" y="1201420"/>
            <a:ext cx="3357245" cy="552005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97680" y="906335"/>
            <a:ext cx="3127248" cy="25463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300" b="1">
                <a:solidFill>
                  <a:srgbClr val="BF4149"/>
                </a:solidFill>
                <a:latin typeface="Aptos"/>
              </a:rPr>
              <a:t>UNBATCHED</a:t>
            </a:r>
            <a:r>
              <a:rPr lang="en-US" sz="1300" b="1">
                <a:solidFill>
                  <a:srgbClr val="BF4149"/>
                </a:solidFill>
                <a:latin typeface="Aptos"/>
              </a:rPr>
              <a:t>(Before)</a:t>
            </a:r>
            <a:endParaRPr lang="en-US" sz="1300" b="1">
              <a:solidFill>
                <a:srgbClr val="BF4149"/>
              </a:solidFill>
              <a:latin typeface="Aptos"/>
            </a:endParaRPr>
          </a:p>
        </p:txBody>
      </p:sp>
      <p:pic>
        <p:nvPicPr>
          <p:cNvPr id="14" name="Picture 13" descr="example_hotspot_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3590" y="1272540"/>
            <a:ext cx="2602230" cy="544449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31335" y="6502400"/>
            <a:ext cx="3127248" cy="28346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300" b="1">
                <a:solidFill>
                  <a:srgbClr val="BF4149"/>
                </a:solidFill>
                <a:latin typeface="Aptos"/>
              </a:rPr>
              <a:t>Peak 1.50  ·  Inference 4.75</a:t>
            </a:r>
            <a:endParaRPr sz="13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028432" y="844105"/>
            <a:ext cx="3127248" cy="25463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300" b="1">
                <a:solidFill>
                  <a:srgbClr val="1B8D60"/>
                </a:solidFill>
                <a:latin typeface="Aptos"/>
              </a:rPr>
              <a:t>4 BATCHES</a:t>
            </a:r>
            <a:r>
              <a:rPr lang="en-US" sz="1300" b="1">
                <a:solidFill>
                  <a:srgbClr val="1B8D60"/>
                </a:solidFill>
                <a:latin typeface="Aptos"/>
              </a:rPr>
              <a:t>(After)</a:t>
            </a:r>
            <a:endParaRPr lang="en-US" sz="1300" b="1">
              <a:solidFill>
                <a:srgbClr val="1B8D60"/>
              </a:solidFill>
              <a:latin typeface="Aptos"/>
            </a:endParaRP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1015" y="1195705"/>
            <a:ext cx="3032125" cy="54489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28432" y="6480810"/>
            <a:ext cx="3127248" cy="28346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300" b="1">
                <a:solidFill>
                  <a:srgbClr val="1B8D60"/>
                </a:solidFill>
                <a:latin typeface="Aptos"/>
              </a:rPr>
              <a:t>Peak 0.50  ·  Inference 2.25</a:t>
            </a:r>
            <a:endParaRPr sz="1300" b="1">
              <a:solidFill>
                <a:srgbClr val="1B8D60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ONLINE DESIGN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Online Design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664208"/>
            <a:ext cx="4754880" cy="3520440"/>
          </a:xfrm>
          <a:prstGeom prst="roundRect">
            <a:avLst/>
          </a:prstGeom>
          <a:solidFill>
            <a:srgbClr val="E1EDF8"/>
          </a:solidFill>
          <a:ln w="1905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08760" cy="25603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400" b="1">
                <a:solidFill>
                  <a:srgbClr val="2D67A4"/>
                </a:solidFill>
                <a:latin typeface="Aptos"/>
              </a:rPr>
              <a:t>OFFLINE ILP</a:t>
            </a:r>
            <a:endParaRPr sz="14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32688" y="2331720"/>
            <a:ext cx="3474720" cy="41148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Exact reference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32688" y="2926080"/>
            <a:ext cx="3794760" cy="71323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800" b="0">
                <a:solidFill>
                  <a:srgbClr val="1C2735"/>
                </a:solidFill>
                <a:latin typeface="Aptos"/>
              </a:rPr>
              <a:t>Explains the contention objective
and validates small instances</a:t>
            </a:r>
            <a:endParaRPr sz="18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32688" y="4187952"/>
            <a:ext cx="2331720" cy="34747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600" b="1">
                <a:solidFill>
                  <a:srgbClr val="BF4149"/>
                </a:solidFill>
                <a:latin typeface="Aptos"/>
              </a:rPr>
              <a:t>Not used in serving</a:t>
            </a:r>
            <a:endParaRPr sz="1600" b="1">
              <a:solidFill>
                <a:srgbClr val="BF4149"/>
              </a:solidFill>
              <a:latin typeface="Aptos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5623560" y="3401568"/>
            <a:ext cx="822960" cy="0"/>
          </a:xfrm>
          <a:prstGeom prst="line">
            <a:avLst/>
          </a:prstGeom>
          <a:ln w="50800">
            <a:solidFill>
              <a:srgbClr val="DD8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675120" y="1664208"/>
            <a:ext cx="4846320" cy="3520440"/>
          </a:xfrm>
          <a:prstGeom prst="roundRect">
            <a:avLst/>
          </a:prstGeom>
          <a:solidFill>
            <a:srgbClr val="E5F5EE"/>
          </a:solidFill>
          <a:ln w="1905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1901952"/>
            <a:ext cx="1920240" cy="25603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400" b="1">
                <a:solidFill>
                  <a:srgbClr val="1B8D60"/>
                </a:solidFill>
                <a:latin typeface="Aptos"/>
              </a:rPr>
              <a:t>ONLINE SCHEDULER</a:t>
            </a:r>
            <a:endParaRPr sz="14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967728" y="2331720"/>
            <a:ext cx="3474720" cy="41148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Greedy first-fit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967728" y="2926080"/>
            <a:ext cx="3794760" cy="71323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800" b="0">
                <a:solidFill>
                  <a:srgbClr val="1C2735"/>
                </a:solidFill>
                <a:latin typeface="Aptos"/>
              </a:rPr>
              <a:t>Coalesce by rank pair
Group endpoint-disjoint flows</a:t>
            </a:r>
            <a:endParaRPr sz="18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967728" y="4187952"/>
            <a:ext cx="3749039" cy="34747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600" b="1">
                <a:solidFill>
                  <a:srgbClr val="1B8D60"/>
                </a:solidFill>
                <a:latin typeface="Aptos"/>
              </a:rPr>
              <a:t>Deterministic · lightweight · opt-in</a:t>
            </a:r>
            <a:endParaRPr sz="16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1828800" y="5513832"/>
            <a:ext cx="8549640" cy="4754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65960" y="5559552"/>
            <a:ext cx="8275320" cy="32918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Placement semantics remain unchanged; only migration order changes.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ALGORITHM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54152"/>
            <a:ext cx="11064240" cy="4724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Greedy 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Algorithm</a:t>
            </a:r>
            <a:endParaRPr lang="en-US"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66928" y="1572768"/>
            <a:ext cx="36576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64792"/>
            <a:ext cx="123444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INPUT ORDER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59536" y="2176272"/>
            <a:ext cx="3054096" cy="539496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276856"/>
            <a:ext cx="50292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2D67A4"/>
                </a:solidFill>
                <a:latin typeface="Aptos"/>
              </a:rPr>
              <a:t>F₀</a:t>
            </a:r>
            <a:endParaRPr sz="12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600200" y="2258568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0 → 1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487168" y="2267712"/>
            <a:ext cx="1170432" cy="2468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5D6C7E"/>
                </a:solidFill>
                <a:latin typeface="Aptos"/>
              </a:rPr>
              <a:t>{E₁,E₇}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59536" y="2907791"/>
            <a:ext cx="3054096" cy="539496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008375"/>
            <a:ext cx="50292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B8D60"/>
                </a:solidFill>
                <a:latin typeface="Aptos"/>
              </a:rPr>
              <a:t>F₁</a:t>
            </a:r>
            <a:endParaRPr sz="1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00200" y="2990087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2 → 3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487168" y="2999232"/>
            <a:ext cx="1170432" cy="2468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5D6C7E"/>
                </a:solidFill>
                <a:latin typeface="Aptos"/>
              </a:rPr>
              <a:t>{E₃}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859536" y="3639312"/>
            <a:ext cx="3054096" cy="539496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3739896"/>
            <a:ext cx="50292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8153A0"/>
                </a:solidFill>
                <a:latin typeface="Aptos"/>
              </a:rPr>
              <a:t>F₂</a:t>
            </a:r>
            <a:endParaRPr sz="12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600200" y="3721608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1 → 2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487168" y="3730752"/>
            <a:ext cx="1170432" cy="2468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5D6C7E"/>
                </a:solidFill>
                <a:latin typeface="Aptos"/>
              </a:rPr>
              <a:t>{E₄}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59536" y="4370832"/>
            <a:ext cx="3054096" cy="539496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4471416"/>
            <a:ext cx="50292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DD852A"/>
                </a:solidFill>
                <a:latin typeface="Aptos"/>
              </a:rPr>
              <a:t>F₃</a:t>
            </a:r>
            <a:endParaRPr sz="12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600200" y="4453128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0 → 3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487168" y="4462272"/>
            <a:ext cx="1170432" cy="2468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5D6C7E"/>
                </a:solidFill>
                <a:latin typeface="Aptos"/>
              </a:rPr>
              <a:t>{E₉}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/>
              <p:cNvSpPr txBox="1"/>
              <p:nvPr/>
            </p:nvSpPr>
            <p:spPr>
              <a:xfrm>
                <a:off x="804672" y="5230368"/>
                <a:ext cx="3200400" cy="530352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𝑚</m:t>
                          </m:r>
                        </m:e>
                        <m:sub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𝑠</m:t>
                          </m:r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,</m:t>
                          </m:r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𝑑</m:t>
                          </m:r>
                        </m:sub>
                      </m:sSub>
                      <m:r>
                        <a:rPr lang="en-US" sz="11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=</m:t>
                      </m:r>
                      <m:d>
                        <m:dPr>
                          <m:sepChr m:val=""/>
                          <m:ctrlPr>
                            <a:rPr/>
                          </m:ctrlPr>
                        </m:dPr>
                        <m:e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1</m:t>
                          </m:r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≪</m:t>
                          </m:r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𝑠</m:t>
                          </m:r>
                        </m:e>
                      </m:d>
                      <m:r>
                        <a:rPr lang="en-US" sz="11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∨</m:t>
                      </m:r>
                      <m:d>
                        <m:dPr>
                          <m:sepChr m:val=""/>
                          <m:ctrlPr>
                            <a:rPr/>
                          </m:ctrlPr>
                        </m:dPr>
                        <m:e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1</m:t>
                          </m:r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≪</m:t>
                          </m:r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𝑑</m:t>
                          </m:r>
                        </m:e>
                      </m:d>
                      <m:r>
                        <a:rPr lang="en-US" sz="11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1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  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𝑚</m:t>
                          </m:r>
                        </m:e>
                        <m:sub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𝑠</m:t>
                          </m:r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,</m:t>
                          </m:r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𝑑</m:t>
                          </m:r>
                        </m:sub>
                      </m:sSub>
                      <m:r>
                        <a:rPr lang="en-US" sz="11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∧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𝑢</m:t>
                          </m:r>
                        </m:e>
                        <m:sub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𝑏</m:t>
                          </m:r>
                        </m:sub>
                      </m:sSub>
                      <m:r>
                        <a:rPr lang="en-US" sz="11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=</m:t>
                      </m:r>
                      <m:r>
                        <a:rPr lang="en-US" sz="11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0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" y="5230368"/>
                <a:ext cx="3200400" cy="530352"/>
              </a:xfrm>
              <a:prstGeom prst="rect">
                <a:avLst/>
              </a:prstGeom>
              <a:blipFill rotWithShape="1">
                <a:blip r:embed="rId1"/>
                <a:stretch>
                  <a:fillRect l="-4" t="-96" r="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/>
          <p:cNvSpPr/>
          <p:nvPr/>
        </p:nvSpPr>
        <p:spPr>
          <a:xfrm>
            <a:off x="4498848" y="1572768"/>
            <a:ext cx="711403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764792"/>
            <a:ext cx="2011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1B8D60"/>
                </a:solidFill>
                <a:latin typeface="Aptos"/>
              </a:rPr>
              <a:t>FIRST-FIT DECISIONS</a:t>
            </a:r>
            <a:endParaRPr sz="10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30" name="Oval 29"/>
          <p:cNvSpPr/>
          <p:nvPr/>
        </p:nvSpPr>
        <p:spPr>
          <a:xfrm>
            <a:off x="4773168" y="2157984"/>
            <a:ext cx="438912" cy="438912"/>
          </a:xfrm>
          <a:prstGeom prst="ellipse">
            <a:avLst/>
          </a:prstGeom>
          <a:solidFill>
            <a:srgbClr val="2D67A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圆角矩形 6"/>
          <p:cNvSpPr/>
          <p:nvPr/>
        </p:nvSpPr>
        <p:spPr>
          <a:xfrm>
            <a:off x="6502400" y="4471670"/>
            <a:ext cx="3562985" cy="59372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31" name="TextBox 30"/>
          <p:cNvSpPr txBox="1"/>
          <p:nvPr/>
        </p:nvSpPr>
        <p:spPr>
          <a:xfrm>
            <a:off x="4773168" y="2167127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F₀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376672" y="2203703"/>
            <a:ext cx="9875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33052"/>
                </a:solidFill>
                <a:latin typeface="Aptos"/>
              </a:rPr>
              <a:t>Batch 0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419088" y="2185415"/>
            <a:ext cx="25603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uses ranks {0,1}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34" name="Oval 33"/>
          <p:cNvSpPr/>
          <p:nvPr/>
        </p:nvSpPr>
        <p:spPr>
          <a:xfrm>
            <a:off x="4773168" y="2715768"/>
            <a:ext cx="438912" cy="438912"/>
          </a:xfrm>
          <a:prstGeom prst="ellipse">
            <a:avLst/>
          </a:prstGeom>
          <a:solidFill>
            <a:srgbClr val="1B8D6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73168" y="2724911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F₁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376672" y="2761487"/>
            <a:ext cx="9875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33052"/>
                </a:solidFill>
                <a:latin typeface="Aptos"/>
              </a:rPr>
              <a:t>Batch 0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419088" y="2743199"/>
            <a:ext cx="25603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disjoint ranks {2,3}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4773168" y="3273552"/>
            <a:ext cx="438912" cy="438912"/>
          </a:xfrm>
          <a:prstGeom prst="ellipse">
            <a:avLst/>
          </a:prstGeom>
          <a:solidFill>
            <a:srgbClr val="8153A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73168" y="3282696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F₂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376672" y="3319272"/>
            <a:ext cx="9875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33052"/>
                </a:solidFill>
                <a:latin typeface="Aptos"/>
              </a:rPr>
              <a:t>Batch 1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419088" y="3300984"/>
            <a:ext cx="25603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conflicts with F₀ and F₁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4773168" y="3831335"/>
            <a:ext cx="438912" cy="438912"/>
          </a:xfrm>
          <a:prstGeom prst="ellipse">
            <a:avLst/>
          </a:prstGeom>
          <a:solidFill>
            <a:srgbClr val="DD852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73168" y="3840479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F₃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376672" y="3877055"/>
            <a:ext cx="9875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33052"/>
                </a:solidFill>
                <a:latin typeface="Aptos"/>
              </a:rPr>
              <a:t>Batch 1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419088" y="3858768"/>
            <a:ext cx="25603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disjoint from F₂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647688" y="4645152"/>
            <a:ext cx="73152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Batch 0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7518654" y="4599432"/>
            <a:ext cx="347472" cy="347472"/>
          </a:xfrm>
          <a:prstGeom prst="ellipse">
            <a:avLst/>
          </a:prstGeom>
          <a:solidFill>
            <a:srgbClr val="2D67A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01509" y="4608576"/>
            <a:ext cx="347472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0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49" name="Connector 48"/>
          <p:cNvCxnSpPr/>
          <p:nvPr/>
        </p:nvCxnSpPr>
        <p:spPr>
          <a:xfrm>
            <a:off x="7867269" y="4773168"/>
            <a:ext cx="210312" cy="0"/>
          </a:xfrm>
          <a:prstGeom prst="line">
            <a:avLst/>
          </a:prstGeom>
          <a:ln w="19050">
            <a:solidFill>
              <a:srgbClr val="2D67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8113014" y="4599432"/>
            <a:ext cx="347472" cy="347472"/>
          </a:xfrm>
          <a:prstGeom prst="ellipse">
            <a:avLst/>
          </a:prstGeom>
          <a:solidFill>
            <a:srgbClr val="2D67A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95869" y="4608576"/>
            <a:ext cx="347472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1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9050274" y="4599432"/>
            <a:ext cx="347472" cy="347472"/>
          </a:xfrm>
          <a:prstGeom prst="ellipse">
            <a:avLst/>
          </a:prstGeom>
          <a:solidFill>
            <a:srgbClr val="2D67A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圆角矩形 7"/>
          <p:cNvSpPr/>
          <p:nvPr/>
        </p:nvSpPr>
        <p:spPr>
          <a:xfrm>
            <a:off x="6502400" y="5123815"/>
            <a:ext cx="3562985" cy="59372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53" name="TextBox 52"/>
          <p:cNvSpPr txBox="1"/>
          <p:nvPr/>
        </p:nvSpPr>
        <p:spPr>
          <a:xfrm>
            <a:off x="9050274" y="4608576"/>
            <a:ext cx="347472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2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54" name="Connector 53"/>
          <p:cNvCxnSpPr/>
          <p:nvPr/>
        </p:nvCxnSpPr>
        <p:spPr>
          <a:xfrm>
            <a:off x="9416034" y="4773168"/>
            <a:ext cx="210312" cy="0"/>
          </a:xfrm>
          <a:prstGeom prst="line">
            <a:avLst/>
          </a:prstGeom>
          <a:ln w="19050">
            <a:solidFill>
              <a:srgbClr val="2D67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9644634" y="4599432"/>
            <a:ext cx="347472" cy="347472"/>
          </a:xfrm>
          <a:prstGeom prst="ellipse">
            <a:avLst/>
          </a:prstGeom>
          <a:solidFill>
            <a:srgbClr val="2D67A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44634" y="4608576"/>
            <a:ext cx="347472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3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6647688" y="5230368"/>
            <a:ext cx="73152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8153A0"/>
                </a:solidFill>
                <a:latin typeface="Aptos"/>
              </a:rPr>
              <a:t>Batch 1</a:t>
            </a:r>
            <a:endParaRPr sz="10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7518654" y="5184648"/>
            <a:ext cx="347472" cy="347472"/>
          </a:xfrm>
          <a:prstGeom prst="ellipse">
            <a:avLst/>
          </a:prstGeom>
          <a:solidFill>
            <a:srgbClr val="8153A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01509" y="5193792"/>
            <a:ext cx="347472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1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60" name="Connector 59"/>
          <p:cNvCxnSpPr/>
          <p:nvPr/>
        </p:nvCxnSpPr>
        <p:spPr>
          <a:xfrm>
            <a:off x="7867269" y="5358383"/>
            <a:ext cx="210312" cy="0"/>
          </a:xfrm>
          <a:prstGeom prst="line">
            <a:avLst/>
          </a:prstGeom>
          <a:ln w="19050">
            <a:solidFill>
              <a:srgbClr val="8153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8113014" y="5184648"/>
            <a:ext cx="347472" cy="347472"/>
          </a:xfrm>
          <a:prstGeom prst="ellipse">
            <a:avLst/>
          </a:prstGeom>
          <a:solidFill>
            <a:srgbClr val="8153A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95869" y="5193792"/>
            <a:ext cx="347472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2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3" name="Oval 62"/>
          <p:cNvSpPr/>
          <p:nvPr/>
        </p:nvSpPr>
        <p:spPr>
          <a:xfrm>
            <a:off x="9050274" y="5184648"/>
            <a:ext cx="347472" cy="347472"/>
          </a:xfrm>
          <a:prstGeom prst="ellipse">
            <a:avLst/>
          </a:prstGeom>
          <a:solidFill>
            <a:srgbClr val="8153A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50274" y="5193792"/>
            <a:ext cx="347472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0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65" name="Connector 64"/>
          <p:cNvCxnSpPr/>
          <p:nvPr/>
        </p:nvCxnSpPr>
        <p:spPr>
          <a:xfrm>
            <a:off x="9416034" y="5358383"/>
            <a:ext cx="210312" cy="0"/>
          </a:xfrm>
          <a:prstGeom prst="line">
            <a:avLst/>
          </a:prstGeom>
          <a:ln w="19050">
            <a:solidFill>
              <a:srgbClr val="8153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9644634" y="5184648"/>
            <a:ext cx="347472" cy="347472"/>
          </a:xfrm>
          <a:prstGeom prst="ellipse">
            <a:avLst/>
          </a:prstGeom>
          <a:solidFill>
            <a:srgbClr val="8153A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44634" y="5193792"/>
            <a:ext cx="347472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3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EVALUATION METHODOLOGY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Experimental Setup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66928" y="1554480"/>
            <a:ext cx="6537960" cy="4453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86968" y="1965960"/>
            <a:ext cx="1161288" cy="1051560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75688"/>
            <a:ext cx="1014984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Node 0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60120" y="2350008"/>
            <a:ext cx="1014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33052"/>
                </a:solidFill>
                <a:latin typeface="Aptos"/>
              </a:rPr>
              <a:t>RTX 6000
24 GB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1472184" y="3026664"/>
            <a:ext cx="0" cy="512064"/>
          </a:xfrm>
          <a:prstGeom prst="line">
            <a:avLst/>
          </a:prstGeom>
          <a:ln w="381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395728" y="1965960"/>
            <a:ext cx="1161288" cy="1051560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8880" y="2075688"/>
            <a:ext cx="1014984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Node 1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468880" y="2350008"/>
            <a:ext cx="1014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33052"/>
                </a:solidFill>
                <a:latin typeface="Aptos"/>
              </a:rPr>
              <a:t>RTX 6000
24 GB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2980944" y="3026664"/>
            <a:ext cx="0" cy="512064"/>
          </a:xfrm>
          <a:prstGeom prst="line">
            <a:avLst/>
          </a:prstGeom>
          <a:ln w="381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904487" y="1965960"/>
            <a:ext cx="1161288" cy="1051560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2075688"/>
            <a:ext cx="1014984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Node 2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977639" y="2350008"/>
            <a:ext cx="1014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33052"/>
                </a:solidFill>
                <a:latin typeface="Aptos"/>
              </a:rPr>
              <a:t>RTX 6000
24 GB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4489703" y="3026664"/>
            <a:ext cx="0" cy="512064"/>
          </a:xfrm>
          <a:prstGeom prst="line">
            <a:avLst/>
          </a:prstGeom>
          <a:ln w="381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413247" y="1965960"/>
            <a:ext cx="1161288" cy="1051560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399" y="2075688"/>
            <a:ext cx="1014984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Node 3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86399" y="2350008"/>
            <a:ext cx="1014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33052"/>
                </a:solidFill>
                <a:latin typeface="Aptos"/>
              </a:rPr>
              <a:t>RTX 6000
24 GB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5998463" y="3026664"/>
            <a:ext cx="0" cy="512064"/>
          </a:xfrm>
          <a:prstGeom prst="line">
            <a:avLst/>
          </a:prstGeom>
          <a:ln w="381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463040" y="3538728"/>
            <a:ext cx="4526280" cy="0"/>
          </a:xfrm>
          <a:prstGeom prst="line">
            <a:avLst/>
          </a:prstGeom>
          <a:ln w="508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143000" y="3703320"/>
            <a:ext cx="525780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B8D60"/>
                </a:solidFill>
                <a:latin typeface="Aptos"/>
              </a:rPr>
              <a:t>10 GbE · NIXL 1.3.2 over UCX/TCP · no RDMA</a:t>
            </a:r>
            <a:endParaRPr sz="13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78992" y="4224528"/>
            <a:ext cx="539496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33052"/>
                </a:solidFill>
                <a:latin typeface="Aptos"/>
              </a:rPr>
              <a:t>Qwen3-30B-A3B-Instruct-2507 · FP16 · TP=EP=4</a:t>
            </a:r>
            <a:endParaRPr sz="13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05840" y="4663440"/>
            <a:ext cx="55321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Async EPLB · window 50 · step interval 50 · 16 redundant experts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1024128" y="5102352"/>
            <a:ext cx="5486400" cy="493776"/>
          </a:xfrm>
          <a:prstGeom prst="roundRect">
            <a:avLst/>
          </a:prstGeom>
          <a:solidFill>
            <a:srgbClr val="E5F5EE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3856" y="5193792"/>
            <a:ext cx="525780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B8D60"/>
                </a:solidFill>
                <a:latin typeface="Aptos"/>
              </a:rPr>
              <a:t>Prefix cache enabled · eager execution · 500/500 requests completed</a:t>
            </a:r>
            <a:endParaRPr sz="11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7360920" y="1554480"/>
            <a:ext cx="4251960" cy="4453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5240" y="1773936"/>
            <a:ext cx="109728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8153A0"/>
                </a:solidFill>
                <a:latin typeface="Aptos"/>
              </a:rPr>
              <a:t>WORKLOAD</a:t>
            </a:r>
            <a:endParaRPr sz="10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653527" y="2212848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Dataset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833104" y="2194560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random · seed 0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653527" y="2706624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Prompts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8833104" y="2688336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500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653527" y="3200400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Concurrency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833104" y="3182112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32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653527" y="3694176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Prefix / input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8833104" y="3675888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300 / 200 tokens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653527" y="4187952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Output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833104" y="4169664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300 tokens · ignore EOS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653527" y="4681728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Reported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833104" y="4663440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P50 and P99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7635240" y="5276088"/>
            <a:ext cx="3703320" cy="438912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0" y="5358384"/>
            <a:ext cx="342900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OFF vs ON · same request stream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694944" y="5852160"/>
            <a:ext cx="2642616" cy="384048"/>
          </a:xfrm>
          <a:prstGeom prst="rect">
            <a:avLst/>
          </a:prstGeom>
          <a:solidFill>
            <a:srgbClr val="D2DCE7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5916168"/>
            <a:ext cx="2587752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900"/>
            </a:pPr>
            <a:r>
              <a:rPr sz="900" b="0">
                <a:solidFill>
                  <a:srgbClr val="5D6C7E"/>
                </a:solidFill>
                <a:latin typeface="Aptos"/>
              </a:rPr>
              <a:t>Background</a:t>
            </a:r>
            <a:endParaRPr sz="8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3410712" y="5852160"/>
            <a:ext cx="2642616" cy="384048"/>
          </a:xfrm>
          <a:prstGeom prst="rect">
            <a:avLst/>
          </a:prstGeom>
          <a:solidFill>
            <a:srgbClr val="D2DCE7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38144" y="5916168"/>
            <a:ext cx="2587752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900"/>
            </a:pPr>
            <a:r>
              <a:rPr sz="900" b="0">
                <a:solidFill>
                  <a:srgbClr val="5D6C7E"/>
                </a:solidFill>
                <a:latin typeface="Aptos"/>
              </a:rPr>
              <a:t>Model</a:t>
            </a:r>
            <a:endParaRPr sz="8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126480" y="5852160"/>
            <a:ext cx="2642616" cy="384048"/>
          </a:xfrm>
          <a:prstGeom prst="rect">
            <a:avLst/>
          </a:prstGeom>
          <a:solidFill>
            <a:srgbClr val="D2DCE7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53912" y="5916168"/>
            <a:ext cx="2587752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900"/>
            </a:pPr>
            <a:r>
              <a:rPr sz="900" b="0">
                <a:solidFill>
                  <a:srgbClr val="5D6C7E"/>
                </a:solidFill>
                <a:latin typeface="Aptos"/>
              </a:rPr>
              <a:t>Algorithm</a:t>
            </a:r>
            <a:endParaRPr sz="8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8842248" y="5852160"/>
            <a:ext cx="2642616" cy="384048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69680" y="5916168"/>
            <a:ext cx="2587752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900"/>
            </a:pPr>
            <a:r>
              <a:rPr sz="900" b="1">
                <a:solidFill>
                  <a:srgbClr val="FFFFFF"/>
                </a:solidFill>
                <a:latin typeface="Aptos"/>
              </a:rPr>
              <a:t>Evaluation</a:t>
            </a:r>
            <a:endParaRPr sz="800" b="1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EVALUATION RESULTS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E2E Results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749808" y="1572768"/>
            <a:ext cx="2148840" cy="512064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609344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Metric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898648" y="1572768"/>
            <a:ext cx="2331720" cy="512064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35224" y="1609344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Batching off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230368" y="1572768"/>
            <a:ext cx="2331720" cy="512064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66944" y="1609344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Batching on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562088" y="1572768"/>
            <a:ext cx="1600200" cy="512064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98663" y="1609344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Improvement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49808" y="2084832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121408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Output throughput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898648" y="2084832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35224" y="2121408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31.54 tok/s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230368" y="2084832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6944" y="2121408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32.26 tok/s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562088" y="2084832"/>
            <a:ext cx="1600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98663" y="2121408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+2.28%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49808" y="2596896"/>
            <a:ext cx="214884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2633472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TTFT P50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898648" y="2596896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35224" y="2633472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49,180.71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230368" y="2596896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66944" y="2633472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48,599.04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562088" y="2596896"/>
            <a:ext cx="160020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98663" y="2633472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+1.18%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749808" y="3108960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3145536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TTFT P99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898648" y="3108960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35224" y="3145536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75,740.25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5230368" y="3108960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66944" y="3145536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74,756.17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562088" y="3108960"/>
            <a:ext cx="1600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98663" y="3145536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+1.30%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749808" y="3621024"/>
            <a:ext cx="214884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6384" y="3657600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TPOT P50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898648" y="3621024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35224" y="3657600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828.53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5230368" y="3621024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66944" y="3657600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812.44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7562088" y="3621024"/>
            <a:ext cx="160020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98663" y="3657600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+1.94%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749808" y="4133088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6384" y="4169664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TPOT P99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898648" y="4133088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35224" y="4169664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1,007.82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5230368" y="4133088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66944" y="4169664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999.01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7562088" y="4133088"/>
            <a:ext cx="1600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98663" y="4169664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+0.87%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749808" y="4645152"/>
            <a:ext cx="214884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86384" y="4681728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E2EL P50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898648" y="4645152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935224" y="4681728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303,462.69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5230368" y="4645152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6944" y="4681728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293,821.76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562088" y="4645152"/>
            <a:ext cx="160020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98663" y="4681728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+3.18%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749808" y="5157216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86384" y="5193792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E2EL P99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2898648" y="5157216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35224" y="5193792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322,184.88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5230368" y="5157216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66944" y="5193792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317,351.61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7562088" y="5157216"/>
            <a:ext cx="1600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598663" y="5193792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+1.50%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9464040" y="1572768"/>
            <a:ext cx="2084831" cy="4096512"/>
          </a:xfrm>
          <a:prstGeom prst="roundRect">
            <a:avLst/>
          </a:prstGeom>
          <a:solidFill>
            <a:srgbClr val="E5F5EE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720072" y="1828800"/>
            <a:ext cx="157276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B8D60"/>
                </a:solidFill>
                <a:latin typeface="Aptos"/>
              </a:rPr>
              <a:t>MAIN RESULT</a:t>
            </a:r>
            <a:endParaRPr sz="10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9646920" y="2340864"/>
            <a:ext cx="1719072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1B8D60"/>
                </a:solidFill>
                <a:latin typeface="Aptos"/>
              </a:rPr>
              <a:t>+2.28%</a:t>
            </a:r>
            <a:endParaRPr sz="28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9710928" y="2816352"/>
            <a:ext cx="160020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output throughput</a:t>
            </a:r>
            <a:endParaRPr sz="10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9646920" y="3438144"/>
            <a:ext cx="1719072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2D67A4"/>
                </a:solidFill>
                <a:latin typeface="Aptos"/>
              </a:rPr>
              <a:t>−3.18%</a:t>
            </a:r>
            <a:endParaRPr sz="28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9710928" y="3913632"/>
            <a:ext cx="160020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E2EL P50</a:t>
            </a:r>
            <a:endParaRPr sz="10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9646920" y="4727448"/>
            <a:ext cx="1719072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No regression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9674352" y="5056632"/>
            <a:ext cx="1664208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in the reported async metrics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749808" y="5824728"/>
            <a:ext cx="10789920" cy="384048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7552" y="5897880"/>
            <a:ext cx="10314432" cy="2103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Interpretation: throttling migration reduces shared-resource interference during active serving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EVALUATION RESULTS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Serving Improvements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30352" y="1536192"/>
            <a:ext cx="8458200" cy="4553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2e_improvemen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10832"/>
            <a:ext cx="8156448" cy="340443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281160" y="1737360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1828800"/>
            <a:ext cx="1920239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1B8D60"/>
                </a:solidFill>
                <a:latin typeface="Aptos"/>
              </a:rPr>
              <a:t>+2.28%</a:t>
            </a:r>
            <a:endParaRPr sz="2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372600" y="2240280"/>
            <a:ext cx="1920239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throughput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9281160" y="2852928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944368"/>
            <a:ext cx="1920239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2D67A4"/>
                </a:solidFill>
                <a:latin typeface="Aptos"/>
              </a:rPr>
              <a:t>+1.18 / +1.30%</a:t>
            </a:r>
            <a:endParaRPr sz="16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372600" y="3355848"/>
            <a:ext cx="1920239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TTFT P50 / P99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281160" y="3968496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72600" y="4059935"/>
            <a:ext cx="1920239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8153A0"/>
                </a:solidFill>
                <a:latin typeface="Aptos"/>
              </a:rPr>
              <a:t>+1.94 / +0.87%</a:t>
            </a:r>
            <a:endParaRPr sz="16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372600" y="4471416"/>
            <a:ext cx="1920239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TPOT P50 / P99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9281160" y="5084064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58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5175503"/>
            <a:ext cx="1920239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158EA6"/>
                </a:solidFill>
                <a:latin typeface="Aptos"/>
              </a:rPr>
              <a:t>+3.18 / +1.50%</a:t>
            </a:r>
            <a:endParaRPr sz="1600" b="1">
              <a:solidFill>
                <a:srgbClr val="158EA6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372600" y="5586983"/>
            <a:ext cx="1920239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E2EL P50 / P99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NETWORK EVIDENCE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NIC Traffic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481328"/>
            <a:ext cx="9162288" cy="4700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58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ic_timeseri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449" y="1636776"/>
            <a:ext cx="8069228" cy="437083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893808" y="1737360"/>
            <a:ext cx="175564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85248" y="1828800"/>
            <a:ext cx="1572768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BF4149"/>
                </a:solidFill>
                <a:latin typeface="Aptos"/>
              </a:rPr>
              <a:t>599.81</a:t>
            </a:r>
            <a:endParaRPr sz="22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985248" y="2240280"/>
            <a:ext cx="15727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MB/s P99 · off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893808" y="2971800"/>
            <a:ext cx="175564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85248" y="3063240"/>
            <a:ext cx="1572768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1B8D60"/>
                </a:solidFill>
                <a:latin typeface="Aptos"/>
              </a:rPr>
              <a:t>538.40</a:t>
            </a:r>
            <a:endParaRPr sz="2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985248" y="3474720"/>
            <a:ext cx="15727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MB/s P99 · on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9893808" y="4206240"/>
            <a:ext cx="175564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58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85248" y="4297679"/>
            <a:ext cx="1572768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158EA6"/>
                </a:solidFill>
                <a:latin typeface="Aptos"/>
              </a:rPr>
              <a:t>−10.24%</a:t>
            </a:r>
            <a:endParaRPr sz="2200" b="1">
              <a:solidFill>
                <a:srgbClr val="158EA6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985248" y="4709159"/>
            <a:ext cx="15727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NIC P99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912096" y="5349240"/>
            <a:ext cx="1719072" cy="5669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133052"/>
                </a:solidFill>
                <a:latin typeface="Aptos"/>
              </a:rPr>
              <a:t>Tail bursts are lower, leaving more headroom for inference traffic.</a:t>
            </a:r>
            <a:endParaRPr sz="1000" b="1">
              <a:solidFill>
                <a:srgbClr val="133052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SCHEDULER PROFILING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Profiling Method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536192"/>
            <a:ext cx="10972800" cy="658368"/>
          </a:xfrm>
          <a:prstGeom prst="roundRect">
            <a:avLst/>
          </a:prstGeom>
          <a:solidFill>
            <a:srgbClr val="E8F1FA"/>
          </a:solidFill>
          <a:ln w="1778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54864" rtlCol="0" anchor="ctr"/>
          <a:lstStyle/>
          <a:p>
            <a:pPr algn="ctr"/>
            <a:r>
              <a:rPr sz="1700" b="1">
                <a:solidFill>
                  <a:srgbClr val="14345B"/>
                </a:solidFill>
                <a:latin typeface="Arial" panose="020B0604020202020204"/>
              </a:rPr>
              <a:t>PURPOSE   Is the added scheduler cost small compared with the serving time saved?</a:t>
            </a:r>
            <a:endParaRPr sz="1700" b="1">
              <a:solidFill>
                <a:srgbClr val="14345B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3154680" cy="2240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7D48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697480"/>
            <a:ext cx="2743200" cy="384048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500" b="1">
                <a:solidFill>
                  <a:srgbClr val="7D48A1"/>
                </a:solidFill>
                <a:latin typeface="Arial" panose="020B0604020202020204"/>
              </a:rPr>
              <a:t>1   PROFILE COST</a:t>
            </a:r>
            <a:endParaRPr sz="1500" b="1">
              <a:solidFill>
                <a:srgbClr val="7D48A1"/>
              </a:solidFill>
              <a:latin typeface="Arial" panose="020B060402020202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41247" y="3127248"/>
            <a:ext cx="2743200" cy="1353312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350" b="0">
                <a:solidFill>
                  <a:srgbClr val="1F3046"/>
                </a:solidFill>
                <a:latin typeface="Arial" panose="020B0604020202020204"/>
              </a:rPr>
              <a:t>Add an NVTX range around the cycle-wide greedy scheduler.
Nsight Systems records every call on all four Ray workers.</a:t>
            </a:r>
            <a:endParaRPr sz="1350" b="0">
              <a:solidFill>
                <a:srgbClr val="1F3046"/>
              </a:solidFill>
              <a:latin typeface="Arial" panose="020B060402020202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517136" y="2514600"/>
            <a:ext cx="3154680" cy="2240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18304" y="2697480"/>
            <a:ext cx="2743200" cy="384048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500" b="1">
                <a:solidFill>
                  <a:srgbClr val="E67E22"/>
                </a:solidFill>
                <a:latin typeface="Arial" panose="020B0604020202020204"/>
              </a:rPr>
              <a:t>2   AGGREGATE</a:t>
            </a:r>
            <a:endParaRPr sz="1500" b="1">
              <a:solidFill>
                <a:srgbClr val="E67E22"/>
              </a:solidFill>
              <a:latin typeface="Arial" panose="020B060402020202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718304" y="3127248"/>
            <a:ext cx="2743200" cy="1353312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350" b="0">
                <a:solidFill>
                  <a:srgbClr val="1F3046"/>
                </a:solidFill>
                <a:latin typeface="Arial" panose="020B0604020202020204"/>
              </a:rPr>
              <a:t>Each call builds schedules for all 48 MoE layers.
Sum call time per rank and use the largest rank total.</a:t>
            </a:r>
            <a:endParaRPr sz="1350" b="0">
              <a:solidFill>
                <a:srgbClr val="1F3046"/>
              </a:solidFill>
              <a:latin typeface="Arial" panose="020B0604020202020204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394192" y="2514600"/>
            <a:ext cx="3154680" cy="2240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38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0" y="2697480"/>
            <a:ext cx="2743200" cy="384048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500" b="1">
                <a:solidFill>
                  <a:srgbClr val="138F5F"/>
                </a:solidFill>
                <a:latin typeface="Arial" panose="020B0604020202020204"/>
              </a:rPr>
              <a:t>3   MEASURE BENEFIT</a:t>
            </a:r>
            <a:endParaRPr sz="1500" b="1">
              <a:solidFill>
                <a:srgbClr val="138F5F"/>
              </a:solidFill>
              <a:latin typeface="Arial" panose="020B060402020202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595360" y="3127248"/>
            <a:ext cx="2743200" cy="1353312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350" b="0">
                <a:solidFill>
                  <a:srgbClr val="1F3046"/>
                </a:solidFill>
                <a:latin typeface="Arial" panose="020B0604020202020204"/>
              </a:rPr>
              <a:t>Run a clean async E2E A/B with identical settings and no profiler.
Saved time = batching OFF − batching ON.</a:t>
            </a:r>
            <a:endParaRPr sz="1350" b="0">
              <a:solidFill>
                <a:srgbClr val="1F3046"/>
              </a:solidFill>
              <a:latin typeface="Arial" panose="020B0604020202020204"/>
            </a:endParaRPr>
          </a:p>
        </p:txBody>
      </p:sp>
      <p:sp>
        <p:nvSpPr>
          <p:cNvPr id="17" name="Chevron 16"/>
          <p:cNvSpPr/>
          <p:nvPr/>
        </p:nvSpPr>
        <p:spPr>
          <a:xfrm>
            <a:off x="3950208" y="3310128"/>
            <a:ext cx="384048" cy="502920"/>
          </a:xfrm>
          <a:prstGeom prst="chevron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7827264" y="3310128"/>
            <a:ext cx="384048" cy="502920"/>
          </a:xfrm>
          <a:prstGeom prst="chevron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5120640"/>
            <a:ext cx="10515600" cy="694944"/>
          </a:xfrm>
          <a:prstGeom prst="roundRect">
            <a:avLst/>
          </a:prstGeom>
          <a:solidFill>
            <a:srgbClr val="EEF7F2"/>
          </a:solidFill>
          <a:ln w="16510">
            <a:solidFill>
              <a:srgbClr val="138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54864" rtlCol="0" anchor="ctr"/>
          <a:lstStyle/>
          <a:p>
            <a:pPr algn="ctr"/>
            <a:r>
              <a:rPr sz="1500" b="1">
                <a:solidFill>
                  <a:srgbClr val="14345B"/>
                </a:solidFill>
                <a:latin typeface="Arial" panose="020B0604020202020204"/>
              </a:rPr>
              <a:t> compare scheduler cost / serving time saved</a:t>
            </a:r>
            <a:endParaRPr sz="1500" b="1">
              <a:solidFill>
                <a:srgbClr val="14345B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SCHEDULER PROFILING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Profiling Results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17170" y="1591056"/>
            <a:ext cx="658368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3746" y="1627632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FFFFFF"/>
                </a:solidFill>
                <a:latin typeface="Aptos"/>
              </a:rPr>
              <a:t>Rank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75538" y="1591056"/>
            <a:ext cx="713232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2114" y="1627632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FFFFFF"/>
                </a:solidFill>
                <a:latin typeface="Aptos"/>
              </a:rPr>
              <a:t>Calls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588770" y="1591056"/>
            <a:ext cx="1243584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5346" y="1627632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FFFFFF"/>
                </a:solidFill>
                <a:latin typeface="Aptos"/>
              </a:rPr>
              <a:t>P50/call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832354" y="1591056"/>
            <a:ext cx="1243584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68930" y="1627632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FFFFFF"/>
                </a:solidFill>
                <a:latin typeface="Aptos"/>
              </a:rPr>
              <a:t>P99/call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075938" y="1591056"/>
            <a:ext cx="1417320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2514" y="1627632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FFFFFF"/>
                </a:solidFill>
                <a:latin typeface="Aptos"/>
              </a:rPr>
              <a:t>Cumulative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17170" y="2112264"/>
            <a:ext cx="658368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3746" y="2148840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1C2735"/>
                </a:solidFill>
                <a:latin typeface="Aptos"/>
              </a:rPr>
              <a:t>0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75538" y="2112264"/>
            <a:ext cx="713232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2114" y="2148840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34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588770" y="2112264"/>
            <a:ext cx="1243584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25346" y="2148840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7.819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832354" y="2112264"/>
            <a:ext cx="1243584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68930" y="2148840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17.536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075938" y="2112264"/>
            <a:ext cx="1417320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2514" y="2148840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302.081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217170" y="2633472"/>
            <a:ext cx="658368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3746" y="2670048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1C2735"/>
                </a:solidFill>
                <a:latin typeface="Aptos"/>
              </a:rPr>
              <a:t>1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875538" y="2633472"/>
            <a:ext cx="713232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2114" y="2670048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34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1588770" y="2633472"/>
            <a:ext cx="1243584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25346" y="2670048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7.090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2832354" y="2633472"/>
            <a:ext cx="1243584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68930" y="2670048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12.357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4075938" y="2633472"/>
            <a:ext cx="1417320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2514" y="2670048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253.152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17170" y="3154679"/>
            <a:ext cx="658368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3746" y="3191256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1C2735"/>
                </a:solidFill>
                <a:latin typeface="Aptos"/>
              </a:rPr>
              <a:t>2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875538" y="3154679"/>
            <a:ext cx="713232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2114" y="3191256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34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1588770" y="3154679"/>
            <a:ext cx="1243584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25346" y="3191256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7.035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2832354" y="3154679"/>
            <a:ext cx="1243584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68930" y="3191256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16.104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075938" y="3154679"/>
            <a:ext cx="1417320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2514" y="3191256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255.239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217170" y="3675887"/>
            <a:ext cx="658368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3746" y="3712463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1C2735"/>
                </a:solidFill>
                <a:latin typeface="Aptos"/>
              </a:rPr>
              <a:t>3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875538" y="3675887"/>
            <a:ext cx="713232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2114" y="3712463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34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1588770" y="3675887"/>
            <a:ext cx="1243584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25346" y="3712463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7.005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2832354" y="3675887"/>
            <a:ext cx="1243584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868930" y="3712463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8.103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4075938" y="3675887"/>
            <a:ext cx="1417320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12514" y="3712463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1C2735"/>
                </a:solidFill>
                <a:latin typeface="Aptos"/>
              </a:rPr>
              <a:t>241.190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45770" y="4301617"/>
            <a:ext cx="46634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33052"/>
                </a:solidFill>
                <a:latin typeface="Aptos"/>
              </a:rPr>
              <a:t>One call builds schedules for all 48 MoE layers</a:t>
            </a:r>
            <a:endParaRPr sz="1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210185" y="4629150"/>
            <a:ext cx="5285105" cy="20440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/>
              <p:cNvSpPr txBox="1"/>
              <p:nvPr/>
            </p:nvSpPr>
            <p:spPr>
              <a:xfrm>
                <a:off x="438658" y="4628896"/>
                <a:ext cx="4800600" cy="713232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𝑅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=</m:t>
                      </m:r>
                      <m:f>
                        <m:fPr>
                          <m:ctrlPr>
                            <a:rPr/>
                          </m:ctrlPr>
                        </m:fPr>
                        <m:num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max</m:t>
                              </m:r>
                            </m:sub>
                          </m:sSub>
                          <m:r>
                            <a:rPr lang="en-US" sz="15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/</m:t>
                          </m:r>
                          <m:r>
                            <a:rPr lang="en-US" sz="15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1000</m:t>
                          </m:r>
                        </m:num>
                        <m:den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o</m:t>
                              </m:r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f</m:t>
                              </m:r>
                            </m:sub>
                          </m:sSub>
                          <m:r>
                            <a:rPr lang="en-US" sz="15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−</m:t>
                          </m:r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o</m:t>
                              </m:r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n</m:t>
                              </m:r>
                            </m:sub>
                          </m:sSub>
                        </m:den>
                      </m:f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×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100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%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=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0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.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285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%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62" name="TextBox 6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658" y="4628896"/>
                <a:ext cx="4800600" cy="713232"/>
              </a:xfrm>
              <a:prstGeom prst="rect">
                <a:avLst/>
              </a:prstGeom>
              <a:blipFill rotWithShape="1">
                <a:blip r:embed="rId1"/>
                <a:stretch>
                  <a:fillRect l="-11" t="-53" r="11" b="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Rounded Rectangle 62"/>
          <p:cNvSpPr/>
          <p:nvPr/>
        </p:nvSpPr>
        <p:spPr>
          <a:xfrm>
            <a:off x="530098" y="5625592"/>
            <a:ext cx="212140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537" y="5717032"/>
            <a:ext cx="1938527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DD852A"/>
                </a:solidFill>
                <a:latin typeface="Aptos"/>
              </a:rPr>
              <a:t>302.081 ms</a:t>
            </a:r>
            <a:endParaRPr sz="22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621537" y="6128512"/>
            <a:ext cx="1938527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largest cumulative scheduler cost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2998978" y="5625592"/>
            <a:ext cx="212140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090418" y="5717032"/>
            <a:ext cx="1938527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1B8D60"/>
                </a:solidFill>
                <a:latin typeface="Aptos"/>
              </a:rPr>
              <a:t>105.932 s</a:t>
            </a:r>
            <a:endParaRPr sz="2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3090418" y="6128512"/>
            <a:ext cx="1938527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clean E2E serving time saved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8490" y="2075815"/>
            <a:ext cx="6287770" cy="419925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TextBox 5"/>
          <p:cNvSpPr txBox="1"/>
          <p:nvPr/>
        </p:nvSpPr>
        <p:spPr>
          <a:xfrm>
            <a:off x="7621143" y="4084320"/>
            <a:ext cx="2377440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Questions?</a:t>
            </a:r>
            <a:endParaRPr sz="28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671175" y="6401435"/>
            <a:ext cx="1384300" cy="34925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noAutofit/>
          </a:bodyPr>
          <a:lstStyle/>
          <a:p>
            <a:pPr algn="l">
              <a:defRPr sz="1200"/>
            </a:pPr>
            <a:r>
              <a:rPr sz="1200" b="1">
                <a:solidFill>
                  <a:srgbClr val="E1EDF8"/>
                </a:solidFill>
                <a:latin typeface="Aptos"/>
                <a:hlinkClick r:id="rId1"/>
              </a:rPr>
              <a:t>vLLM PR #52641</a:t>
            </a:r>
            <a:endParaRPr sz="1100" b="1">
              <a:solidFill>
                <a:srgbClr val="E1EDF8"/>
              </a:solidFill>
              <a:latin typeface="Aptos"/>
              <a:hlinkClick r:id="rId1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2234565" y="5056632"/>
            <a:ext cx="7818120" cy="621792"/>
          </a:xfrm>
          <a:prstGeom prst="roundRect">
            <a:avLst/>
          </a:prstGeom>
          <a:solidFill>
            <a:srgbClr val="E5F5EE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81452" y="5184648"/>
            <a:ext cx="731520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700" b="1">
                <a:solidFill>
                  <a:srgbClr val="133052"/>
                </a:solidFill>
                <a:latin typeface="Aptos"/>
              </a:rPr>
              <a:t>Result: a measured, opt-in optimization merged into upstream vLLM</a:t>
            </a:r>
            <a:endParaRPr sz="17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4063365" y="2159635"/>
            <a:ext cx="4064000" cy="14452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88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THANKS</a:t>
            </a:r>
            <a:endParaRPr lang="en-US" altLang="zh-CN" sz="88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5284470" y="3545205"/>
            <a:ext cx="162242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480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Q&amp;A</a:t>
            </a:r>
            <a:endParaRPr lang="en-US" altLang="zh-CN" sz="480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4671</Words>
  <Application>WPS 演示</Application>
  <PresentationFormat>On-screen Show (4:3)</PresentationFormat>
  <Paragraphs>592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8" baseType="lpstr">
      <vt:lpstr>Arial</vt:lpstr>
      <vt:lpstr>宋体</vt:lpstr>
      <vt:lpstr>Wingdings</vt:lpstr>
      <vt:lpstr>Arial</vt:lpstr>
      <vt:lpstr>Aptos</vt:lpstr>
      <vt:lpstr>Segoe UI</vt:lpstr>
      <vt:lpstr>Cambria Math</vt:lpstr>
      <vt:lpstr>Cambria Math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Contention-Aware Expert Migration for MoE Serving — MSc Thesis Defense</dc:title>
  <dc:creator>WU CAO</dc:creator>
  <cp:keywords>MoE, expert parallelism, EPLB, migration batching, vLLM, NIXL</cp:keywords>
  <dc:description>generated using python-pptx</dc:description>
  <dc:subject>ILP formulation, online scheduling, vLLM integration, and evaluation</dc:subject>
  <cp:lastModifiedBy>别开枪，是我</cp:lastModifiedBy>
  <cp:revision>18</cp:revision>
  <dcterms:created xsi:type="dcterms:W3CDTF">2013-01-27T09:14:00Z</dcterms:created>
  <dcterms:modified xsi:type="dcterms:W3CDTF">2026-10-19T15:40:26Z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378BB7B7367D4CA79ABCC313ABBF015C_12</vt:lpwstr>
  </property>
  <property fmtid="{D5CDD505-2E9C-101B-9397-08002B2CF9AE}" pid="3" name="KSOProductBuildVer">
    <vt:lpwstr>2052-12.1.0.28505</vt:lpwstr>
  </property>
</Properties>
</file>