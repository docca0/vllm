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258" r:id="rId5"/>
    <p:sldId id="276" r:id="rId6"/>
    <p:sldId id="260" r:id="rId7"/>
    <p:sldId id="262" r:id="rId8"/>
    <p:sldId id="263" r:id="rId9"/>
    <p:sldId id="264" r:id="rId10"/>
    <p:sldId id="266" r:id="rId11"/>
    <p:sldId id="269" r:id="rId12"/>
    <p:sldId id="270" r:id="rId13"/>
    <p:sldId id="271" r:id="rId14"/>
    <p:sldId id="272" r:id="rId15"/>
    <p:sldId id="273" r:id="rId16"/>
    <p:sldId id="274" r:id="rId17"/>
    <p:sldId id="275" r:id="rId1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28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3"/>
        <p:guide pos="289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hyperlink" Target="https://github.com/vllm-project/vllm/pull/52641" TargetMode="Externa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slideLayout" Target="../slideLayouts/slideLayout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image" Target="../media/image3.png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0" Type="http://schemas.openxmlformats.org/officeDocument/2006/relationships/slideLayout" Target="../slideLayouts/slideLayout7.xml"/><Relationship Id="rId2" Type="http://schemas.openxmlformats.org/officeDocument/2006/relationships/tags" Target="../tags/tag18.xml"/><Relationship Id="rId19" Type="http://schemas.openxmlformats.org/officeDocument/2006/relationships/image" Target="../media/image9.png"/><Relationship Id="rId18" Type="http://schemas.openxmlformats.org/officeDocument/2006/relationships/image" Target="../media/image8.png"/><Relationship Id="rId17" Type="http://schemas.openxmlformats.org/officeDocument/2006/relationships/image" Target="../media/image7.png"/><Relationship Id="rId16" Type="http://schemas.openxmlformats.org/officeDocument/2006/relationships/tags" Target="../tags/tag28.xml"/><Relationship Id="rId15" Type="http://schemas.openxmlformats.org/officeDocument/2006/relationships/image" Target="../media/image6.png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image" Target="../media/image5.png"/><Relationship Id="rId11" Type="http://schemas.openxmlformats.org/officeDocument/2006/relationships/tags" Target="../tags/tag25.xml"/><Relationship Id="rId10" Type="http://schemas.openxmlformats.org/officeDocument/2006/relationships/tags" Target="../tags/tag24.xml"/><Relationship Id="rId1" Type="http://schemas.openxmlformats.org/officeDocument/2006/relationships/tags" Target="../tags/tag17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tags" Target="../tags/tag2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tags" Target="../tags/tag40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github.com/vllm-project/vllm/pull/5264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3052"/>
          </a:solidFill>
          <a:ln w="12700">
            <a:solidFill>
              <a:srgbClr val="13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097280"/>
            <a:ext cx="3273552" cy="173418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Contention-Aware
Expert Migration
for MoE Serving</a:t>
            </a:r>
            <a:endParaRPr sz="2700" b="1">
              <a:solidFill>
                <a:srgbClr val="FFFFFF"/>
              </a:solidFill>
              <a:latin typeface="Aptos"/>
            </a:endParaRPr>
          </a:p>
          <a:p>
            <a:pPr algn="l"/>
            <a:r>
              <a:rPr lang="en-US" sz="2700" b="1">
                <a:solidFill>
                  <a:srgbClr val="FFFFFF"/>
                </a:solidFill>
                <a:latin typeface="Aptos"/>
              </a:rPr>
              <a:t>in </a:t>
            </a:r>
            <a:r>
              <a:rPr lang="en-US" sz="2700" b="1">
                <a:solidFill>
                  <a:srgbClr val="FFFFFF"/>
                </a:solidFill>
                <a:latin typeface="Aptos"/>
              </a:rPr>
              <a:t>vLLM</a:t>
            </a:r>
            <a:endParaRPr lang="en-US"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3504" y="5230368"/>
            <a:ext cx="27432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WU CAO · 11036000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" y="5614416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E1EDF8"/>
                </a:solidFill>
                <a:latin typeface="Aptos"/>
              </a:rPr>
              <a:t>MSc High Performance Computing Engineering
A.Y. 2026–2027</a:t>
            </a:r>
            <a:endParaRPr sz="1100" b="0">
              <a:solidFill>
                <a:srgbClr val="E1EDF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0" y="1295400"/>
            <a:ext cx="6903720" cy="224028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E1E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533144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BF4149"/>
                </a:solidFill>
                <a:latin typeface="Aptos"/>
              </a:rPr>
              <a:t>Unbatched</a:t>
            </a:r>
            <a:endParaRPr sz="10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919472" y="1871472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907024" y="1871472"/>
            <a:ext cx="438912" cy="438912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919472" y="2639567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07024" y="2639567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84848" y="2200656"/>
            <a:ext cx="50292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600" b="1">
                <a:solidFill>
                  <a:srgbClr val="5D6C7E"/>
                </a:solidFill>
                <a:latin typeface="Aptos"/>
              </a:rPr>
              <a:t>→</a:t>
            </a:r>
            <a:endParaRPr sz="26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42631" y="1533144"/>
            <a:ext cx="2148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B8D60"/>
                </a:solidFill>
                <a:latin typeface="Aptos"/>
              </a:rPr>
              <a:t>Rank-disjoint batches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342631" y="19354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9792" y="20269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Batch 0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20086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R0→R1    R2→R3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342631" y="26212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27127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8153A0"/>
                </a:solidFill>
                <a:latin typeface="Aptos"/>
              </a:rPr>
              <a:t>Batch 1</a:t>
            </a:r>
            <a:endParaRPr sz="9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29600" y="26944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R1→R2    R0→R3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522732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69280" y="5190744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Prof. Massimo Tornatore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90288" y="563880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Co-advisor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5602224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Assistant Prof. Qiaolun Zhang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6053328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>
                <a:solidFill>
                  <a:srgbClr val="1B8D60"/>
                </a:solidFill>
                <a:latin typeface="Aptos"/>
                <a:hlinkClick r:id="rId1"/>
              </a:rPr>
              <a:t>Merged into vLLM · PR #52641</a:t>
            </a:r>
            <a:endParaRPr sz="1100" b="1">
              <a:solidFill>
                <a:srgbClr val="1B8D60"/>
              </a:solidFill>
              <a:latin typeface="Aptos"/>
              <a:hlinkClick r:id="rId1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865" y="257810"/>
            <a:ext cx="3175635" cy="894080"/>
          </a:xfrm>
          <a:prstGeom prst="rect">
            <a:avLst/>
          </a:prstGeom>
        </p:spPr>
      </p:pic>
      <p:cxnSp>
        <p:nvCxnSpPr>
          <p:cNvPr id="38" name="直接箭头连接符 37"/>
          <p:cNvCxnSpPr>
            <a:stCxn id="13" idx="3"/>
            <a:endCxn id="15" idx="1"/>
          </p:cNvCxnSpPr>
          <p:nvPr/>
        </p:nvCxnSpPr>
        <p:spPr>
          <a:xfrm>
            <a:off x="5358130" y="2091055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>
            <a:stCxn id="17" idx="3"/>
            <a:endCxn id="19" idx="1"/>
          </p:cNvCxnSpPr>
          <p:nvPr/>
        </p:nvCxnSpPr>
        <p:spPr>
          <a:xfrm>
            <a:off x="5358130" y="2858770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15" idx="2"/>
            <a:endCxn id="17" idx="0"/>
          </p:cNvCxnSpPr>
          <p:nvPr/>
        </p:nvCxnSpPr>
        <p:spPr>
          <a:xfrm flipH="1"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>
            <a:stCxn id="13" idx="2"/>
            <a:endCxn id="19" idx="0"/>
          </p:cNvCxnSpPr>
          <p:nvPr/>
        </p:nvCxnSpPr>
        <p:spPr>
          <a:xfrm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4410075" y="3703955"/>
            <a:ext cx="707517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Main idea: </a:t>
            </a:r>
            <a:endParaRPr lang="en-US" altLang="zh-CN" sz="24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Conflicting transfers are separated. 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Independent transfers can still run together.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OVERVIEW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Outline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772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996695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2D67A4"/>
                </a:solidFill>
                <a:latin typeface="Aptos"/>
              </a:rPr>
              <a:t>01</a:t>
            </a:r>
            <a:endParaRPr sz="27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783080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Background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1783080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MoE, EP, and asynchronous EPLB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>
            <p:custDataLst>
              <p:tags r:id="rId5"/>
            </p:custDataLst>
          </p:nvPr>
        </p:nvSpPr>
        <p:spPr>
          <a:xfrm>
            <a:off x="62636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483096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8153A0"/>
                </a:solidFill>
                <a:latin typeface="Aptos"/>
              </a:rPr>
              <a:t>02</a:t>
            </a:r>
            <a:endParaRPr sz="27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7269479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Model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7269479" y="243605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Contention </a:t>
            </a:r>
            <a:r>
              <a:rPr lang="en-US" sz="1500" b="0">
                <a:solidFill>
                  <a:srgbClr val="5D6C7E"/>
                </a:solidFill>
                <a:latin typeface="Aptos"/>
              </a:rPr>
              <a:t>model </a:t>
            </a:r>
            <a:r>
              <a:rPr sz="1500" b="0">
                <a:solidFill>
                  <a:srgbClr val="5D6C7E"/>
                </a:solidFill>
                <a:latin typeface="Aptos"/>
              </a:rPr>
              <a:t>and offline ILP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9"/>
            </p:custDataLst>
          </p:nvPr>
        </p:nvSpPr>
        <p:spPr>
          <a:xfrm>
            <a:off x="7772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0"/>
            </p:custDataLst>
          </p:nvPr>
        </p:nvSpPr>
        <p:spPr>
          <a:xfrm>
            <a:off x="996695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DD852A"/>
                </a:solidFill>
                <a:latin typeface="Aptos"/>
              </a:rPr>
              <a:t>03</a:t>
            </a:r>
            <a:endParaRPr sz="27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1783080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Design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1783080" y="440201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altLang="zh-CN" sz="1500" b="0">
                <a:solidFill>
                  <a:srgbClr val="5D6C7E"/>
                </a:solidFill>
                <a:latin typeface="Aptos"/>
              </a:rPr>
              <a:t>online greedy scheduler</a:t>
            </a:r>
            <a:endParaRPr lang="en-US" altLang="zh-CN"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>
            <p:custDataLst>
              <p:tags r:id="rId13"/>
            </p:custDataLst>
          </p:nvPr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4"/>
            </p:custDataLst>
          </p:nvPr>
        </p:nvSpPr>
        <p:spPr>
          <a:xfrm>
            <a:off x="6483096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B8D60"/>
                </a:solidFill>
                <a:latin typeface="Aptos"/>
              </a:rPr>
              <a:t>04</a:t>
            </a:r>
            <a:endParaRPr sz="27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>
            <p:custDataLst>
              <p:tags r:id="rId15"/>
            </p:custDataLst>
          </p:nvPr>
        </p:nvSpPr>
        <p:spPr>
          <a:xfrm>
            <a:off x="7269479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Evaluation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>
            <p:custDataLst>
              <p:tags r:id="rId16"/>
            </p:custDataLst>
          </p:nvPr>
        </p:nvSpPr>
        <p:spPr>
          <a:xfrm>
            <a:off x="7269479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E2E serving, NIC traffic, and profiling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MoE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(</a:t>
            </a:r>
            <a:r>
              <a:rPr lang="en-US" altLang="zh-CN" sz="2600" b="1">
                <a:solidFill>
                  <a:srgbClr val="133052"/>
                </a:solidFill>
                <a:latin typeface="Aptos"/>
              </a:rPr>
              <a:t>Mixture-of-Experts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) and EP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LB(Expert Parallel Load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Balance)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72768"/>
            <a:ext cx="365760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63776"/>
            <a:ext cx="164592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2D67A4"/>
                </a:solidFill>
                <a:latin typeface="Aptos"/>
              </a:rPr>
              <a:t>MoE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68680" y="22860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951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868680" y="29718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809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868680" y="36576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667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t₃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868680" y="43434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525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t₄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920240" y="2834640"/>
            <a:ext cx="1325880" cy="987552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2971800"/>
            <a:ext cx="1234440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33052"/>
                </a:solidFill>
                <a:latin typeface="Aptos"/>
              </a:rPr>
              <a:t>Router
Top-k</a:t>
            </a:r>
            <a:endParaRPr sz="1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1344168" y="2523744"/>
            <a:ext cx="576072" cy="603504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44168" y="3209544"/>
            <a:ext cx="576072" cy="137160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344168" y="3127248"/>
            <a:ext cx="576072" cy="768096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344168" y="3346704"/>
            <a:ext cx="576072" cy="1234440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401568" y="2240280"/>
            <a:ext cx="585216" cy="585216"/>
          </a:xfrm>
          <a:prstGeom prst="ellipse">
            <a:avLst/>
          </a:prstGeom>
          <a:solidFill>
            <a:srgbClr val="2D67A4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2249424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E₀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6120" y="2532888"/>
            <a:ext cx="155448" cy="649224"/>
          </a:xfrm>
          <a:prstGeom prst="line">
            <a:avLst/>
          </a:prstGeom>
          <a:ln w="1524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401568" y="3300984"/>
            <a:ext cx="585216" cy="585216"/>
          </a:xfrm>
          <a:prstGeom prst="ellipse">
            <a:avLst/>
          </a:prstGeom>
          <a:solidFill>
            <a:srgbClr val="1B8D60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1568" y="3310128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3246120" y="3182112"/>
            <a:ext cx="155448" cy="411479"/>
          </a:xfrm>
          <a:prstGeom prst="line">
            <a:avLst/>
          </a:prstGeom>
          <a:ln w="1524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401568" y="4361688"/>
            <a:ext cx="585216" cy="585216"/>
          </a:xfrm>
          <a:prstGeom prst="ellipse">
            <a:avLst/>
          </a:prstGeom>
          <a:solidFill>
            <a:srgbClr val="DD852A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01568" y="4370831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3246120" y="3182112"/>
            <a:ext cx="155448" cy="1472184"/>
          </a:xfrm>
          <a:prstGeom prst="line">
            <a:avLst/>
          </a:prstGeom>
          <a:ln w="1524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41248" y="5230368"/>
            <a:ext cx="306324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Only a subset of experts runs for each token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498848" y="1572768"/>
            <a:ext cx="713232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73168" y="1763776"/>
            <a:ext cx="246888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1B8D60"/>
                </a:solidFill>
                <a:latin typeface="Aptos"/>
              </a:rPr>
              <a:t>EPLB</a:t>
            </a:r>
            <a:endParaRPr lang="en-US" sz="115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80060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375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0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20056" y="2761488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005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020056" y="3273552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02005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020056" y="3785616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005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44652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967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1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665976" y="2761488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6597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665976" y="3273552"/>
            <a:ext cx="86868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597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E4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665976" y="3785616"/>
            <a:ext cx="86868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6597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E5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09244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6559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2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8311896" y="2761488"/>
            <a:ext cx="868680" cy="365760"/>
          </a:xfrm>
          <a:prstGeom prst="rect">
            <a:avLst/>
          </a:prstGeom>
          <a:solidFill>
            <a:schemeClr val="accent5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1189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E6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311896" y="3273552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1189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E7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8311896" y="3785616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189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73836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1151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957816" y="2761488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5781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957816" y="3273552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5781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957816" y="3785616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5781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892040" y="4921949"/>
            <a:ext cx="2468880" cy="2876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1400" b="1">
                <a:solidFill>
                  <a:srgbClr val="BF4149"/>
                </a:solidFill>
                <a:latin typeface="Aptos"/>
              </a:rPr>
              <a:t>EP</a:t>
            </a:r>
            <a:r>
              <a:rPr lang="en-US" sz="1400" b="1">
                <a:solidFill>
                  <a:srgbClr val="BF4149"/>
                </a:solidFill>
                <a:latin typeface="Aptos"/>
              </a:rPr>
              <a:t>LB</a:t>
            </a:r>
            <a:endParaRPr lang="en-US" sz="14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5471160" y="4814316"/>
            <a:ext cx="388620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C2735"/>
                </a:solidFill>
                <a:latin typeface="Aptos"/>
              </a:rPr>
              <a:t>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Copy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overloaded experts)</a:t>
            </a:r>
            <a:r>
              <a:rPr sz="1400" b="0">
                <a:solidFill>
                  <a:srgbClr val="1C2735"/>
                </a:solidFill>
                <a:latin typeface="Aptos"/>
              </a:rPr>
              <a:t>
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rank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Migrate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experts)</a:t>
            </a:r>
            <a:endParaRPr lang="en-US" sz="1400" b="0">
              <a:solidFill>
                <a:srgbClr val="1C273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100" b="1">
                <a:solidFill>
                  <a:srgbClr val="2D67A4"/>
                </a:solidFill>
                <a:latin typeface="Aptos"/>
              </a:rPr>
              <a:t>BACKGROUND</a:t>
            </a:r>
            <a:endParaRPr sz="11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33052"/>
                </a:solidFill>
                <a:latin typeface="Aptos"/>
              </a:rPr>
              <a:t>Qwen3 MoE Architecture</a:t>
            </a:r>
            <a:endParaRPr sz="27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905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qwen3_moe_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2955" y="1444752"/>
            <a:ext cx="837218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5862"/>
            <a:ext cx="4206240" cy="2260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  <a:sym typeface="+mn-ea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Sync and Async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EPLB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47088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SYNCHRONOUS EPLB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76272" y="2395728"/>
            <a:ext cx="109728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2395728"/>
            <a:ext cx="1481328" cy="402336"/>
          </a:xfrm>
          <a:prstGeom prst="rect">
            <a:avLst/>
          </a:prstGeom>
          <a:solidFill>
            <a:srgbClr val="FAE6E8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2395728"/>
            <a:ext cx="68580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BF4149"/>
                </a:solidFill>
                <a:latin typeface="Aptos"/>
              </a:rPr>
              <a:t>paused</a:t>
            </a:r>
            <a:endParaRPr sz="9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73552" y="3081528"/>
            <a:ext cx="1481328" cy="40233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DD852A"/>
                </a:solidFill>
                <a:latin typeface="Aptos"/>
              </a:rPr>
              <a:t>Batching is disabled in the implementation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3620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84708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ASYNCHRONOUS EPLB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3796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754112" y="2395728"/>
            <a:ext cx="3273552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14232" y="2441448"/>
            <a:ext cx="12801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continues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3796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75411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4867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91363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Objective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54112" y="3893248"/>
            <a:ext cx="315468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C2735"/>
                </a:solidFill>
                <a:latin typeface="Aptos"/>
              </a:rPr>
              <a:t>Reduce interference</a:t>
            </a:r>
            <a:r>
              <a:rPr lang="en-US" sz="1700" b="1">
                <a:solidFill>
                  <a:srgbClr val="1C2735"/>
                </a:solidFill>
                <a:latin typeface="Aptos"/>
              </a:rPr>
              <a:t> time</a:t>
            </a:r>
            <a:endParaRPr lang="en-US" sz="17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B8D60"/>
                </a:solidFill>
                <a:latin typeface="Aptos"/>
              </a:rPr>
              <a:t>Opt-in batching trades migration speed for serving headroom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Formulation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567055" y="2955925"/>
            <a:ext cx="2907665" cy="27254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804672" y="3269742"/>
            <a:ext cx="2423160" cy="27432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Arial" panose="020B0604020202020204"/>
              </a:rPr>
              <a:t>VARIABLES &amp; INPUTS</a:t>
            </a:r>
            <a:endParaRPr sz="1200" b="1">
              <a:solidFill>
                <a:srgbClr val="2F6FAE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1572895" y="3777298"/>
            <a:ext cx="1873885" cy="319405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250" b="0">
                <a:solidFill>
                  <a:srgbClr val="1F3046"/>
                </a:solidFill>
                <a:latin typeface="Arial" panose="020B0604020202020204"/>
              </a:rPr>
              <a:t>experts</a:t>
            </a:r>
            <a:r>
              <a:rPr lang="en-US" sz="1250" b="0">
                <a:solidFill>
                  <a:srgbClr val="1F3046"/>
                </a:solidFill>
                <a:latin typeface="Arial" panose="020B0604020202020204"/>
              </a:rPr>
              <a:t> num</a:t>
            </a:r>
            <a:r>
              <a:rPr sz="1250" b="0">
                <a:solidFill>
                  <a:srgbClr val="1F3046"/>
                </a:solidFill>
                <a:latin typeface="Arial" panose="020B0604020202020204"/>
              </a:rPr>
              <a:t> in flow p</a:t>
            </a:r>
            <a:endParaRPr sz="125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4"/>
            </p:custDataLst>
          </p:nvPr>
        </p:nvSpPr>
        <p:spPr>
          <a:xfrm>
            <a:off x="1572895" y="4929505"/>
            <a:ext cx="1698625" cy="290195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noAutofit/>
          </a:bodyPr>
          <a:lstStyle/>
          <a:p>
            <a:pPr algn="l"/>
            <a:r>
              <a:rPr sz="1250" b="0">
                <a:solidFill>
                  <a:srgbClr val="1F3046"/>
                </a:solidFill>
                <a:latin typeface="Arial" panose="020B0604020202020204"/>
              </a:rPr>
              <a:t>flow p assigned to batch b</a:t>
            </a:r>
            <a:r>
              <a:rPr lang="en-US" sz="1250" b="0">
                <a:solidFill>
                  <a:srgbClr val="1F3046"/>
                </a:solidFill>
                <a:latin typeface="Arial" panose="020B0604020202020204"/>
              </a:rPr>
              <a:t>. (0 or 1)</a:t>
            </a:r>
            <a:endParaRPr lang="en-US" sz="125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1481455"/>
            <a:ext cx="11000105" cy="1298575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0745" y="1581912"/>
            <a:ext cx="1965960" cy="27432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138F5F"/>
                </a:solidFill>
                <a:latin typeface="Arial" panose="020B0604020202020204"/>
              </a:rPr>
              <a:t>PRIMARY OBJECTIVE</a:t>
            </a:r>
            <a:endParaRPr sz="1200" b="1">
              <a:solidFill>
                <a:srgbClr val="138F5F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3293745" y="1581912"/>
                <a:ext cx="6144768" cy="59436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min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0</m:t>
                          </m:r>
                        </m:sub>
                      </m:sSub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+</m:t>
                          </m:r>
                          <m:f>
                            <m:fPr>
                              <m:ctrlPr>
                                <a:rPr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𝑒</m:t>
                                  </m:r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,</m:t>
                                  </m:r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𝑏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sepChr m:val=""/>
                                  <m:ctrlPr>
                                    <a:rPr/>
                                  </m:ctrlPr>
                                </m:dPr>
                                <m:e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1</m:t>
                                  </m:r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−</m:t>
                                  </m:r>
                                  <m:r>
                                    <a:rPr lang="en-US" sz="14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𝜌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𝑒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3745" y="1581912"/>
                <a:ext cx="6144768" cy="594360"/>
              </a:xfrm>
              <a:prstGeom prst="rect">
                <a:avLst/>
              </a:prstGeom>
              <a:blipFill rotWithShape="1">
                <a:blip r:embed="rId5"/>
                <a:stretch>
                  <a:fillRect t="-21" r="8" b="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>
            <p:custDataLst>
              <p:tags r:id="rId6"/>
            </p:custDataLst>
          </p:nvPr>
        </p:nvSpPr>
        <p:spPr>
          <a:xfrm>
            <a:off x="2159888" y="2286000"/>
            <a:ext cx="726948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F3046"/>
                </a:solidFill>
                <a:latin typeface="Arial" panose="020B0604020202020204"/>
              </a:rPr>
              <a:t>T₀: baseline inference time   ·   Cₑ: link capacity   ·   Lₑ,ᵦ: migration load   ·   ρ: inference traffic ratio</a:t>
            </a:r>
            <a:endParaRPr sz="120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20" name="Rounded Rectangle 19"/>
          <p:cNvSpPr/>
          <p:nvPr>
            <p:custDataLst>
              <p:tags r:id="rId7"/>
            </p:custDataLst>
          </p:nvPr>
        </p:nvSpPr>
        <p:spPr>
          <a:xfrm>
            <a:off x="3730752" y="2962656"/>
            <a:ext cx="7772400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8"/>
            </p:custDataLst>
          </p:nvPr>
        </p:nvSpPr>
        <p:spPr>
          <a:xfrm>
            <a:off x="3931920" y="3054096"/>
            <a:ext cx="2606040" cy="56692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2F6FAE"/>
                </a:solidFill>
                <a:latin typeface="Arial" panose="020B0604020202020204"/>
              </a:rPr>
              <a:t>1   Every flow runs exactly once</a:t>
            </a:r>
            <a:endParaRPr sz="1200" b="1">
              <a:solidFill>
                <a:srgbClr val="2F6FAE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6327648" y="3081528"/>
                <a:ext cx="4846320" cy="53035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𝐵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5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5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5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𝑝</m:t>
                      </m:r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𝑃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7648" y="3081528"/>
                <a:ext cx="4846320" cy="530352"/>
              </a:xfrm>
              <a:prstGeom prst="rect">
                <a:avLst/>
              </a:prstGeom>
              <a:blipFill rotWithShape="1">
                <a:blip r:embed="rId9"/>
                <a:stretch>
                  <a:fillRect l="-10" t="-5843" r="10" b="-58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22"/>
          <p:cNvSpPr/>
          <p:nvPr>
            <p:custDataLst>
              <p:tags r:id="rId10"/>
            </p:custDataLst>
          </p:nvPr>
        </p:nvSpPr>
        <p:spPr>
          <a:xfrm>
            <a:off x="3730752" y="3913632"/>
            <a:ext cx="7772400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D4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>
            <p:custDataLst>
              <p:tags r:id="rId11"/>
            </p:custDataLst>
          </p:nvPr>
        </p:nvSpPr>
        <p:spPr>
          <a:xfrm>
            <a:off x="3931920" y="4005072"/>
            <a:ext cx="2606040" cy="56692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7D48A1"/>
                </a:solidFill>
                <a:latin typeface="Arial" panose="020B0604020202020204"/>
              </a:rPr>
              <a:t>2   At most one peer per rank and batch</a:t>
            </a:r>
            <a:endParaRPr sz="1200" b="1">
              <a:solidFill>
                <a:srgbClr val="7D48A1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6327648" y="4032504"/>
                <a:ext cx="4846320" cy="53035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: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𝑟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≤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𝑟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7648" y="4032504"/>
                <a:ext cx="4846320" cy="530352"/>
              </a:xfrm>
              <a:prstGeom prst="rect">
                <a:avLst/>
              </a:prstGeom>
              <a:blipFill rotWithShape="1">
                <a:blip r:embed="rId12"/>
                <a:stretch>
                  <a:fillRect l="-10" t="-6394" r="10" b="-63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le 25"/>
          <p:cNvSpPr/>
          <p:nvPr>
            <p:custDataLst>
              <p:tags r:id="rId13"/>
            </p:custDataLst>
          </p:nvPr>
        </p:nvSpPr>
        <p:spPr>
          <a:xfrm>
            <a:off x="3730752" y="4864608"/>
            <a:ext cx="7772400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14"/>
            </p:custDataLst>
          </p:nvPr>
        </p:nvSpPr>
        <p:spPr>
          <a:xfrm>
            <a:off x="3931920" y="4956048"/>
            <a:ext cx="2606040" cy="56692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E67E22"/>
                </a:solidFill>
                <a:latin typeface="Arial" panose="020B0604020202020204"/>
              </a:rPr>
              <a:t>3   Migration load on each link</a:t>
            </a:r>
            <a:endParaRPr sz="1200" b="1">
              <a:solidFill>
                <a:srgbClr val="E67E22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6327648" y="4983480"/>
                <a:ext cx="4846320" cy="53035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𝐿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5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5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𝑓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5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7648" y="4983480"/>
                <a:ext cx="4846320" cy="530352"/>
              </a:xfrm>
              <a:prstGeom prst="rect">
                <a:avLst/>
              </a:prstGeom>
              <a:blipFill rotWithShape="1">
                <a:blip r:embed="rId15"/>
                <a:stretch>
                  <a:fillRect l="-10" t="-7902" r="10" b="-8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11"/>
          <p:cNvSpPr txBox="1"/>
          <p:nvPr>
            <p:custDataLst>
              <p:tags r:id="rId16"/>
            </p:custDataLst>
          </p:nvPr>
        </p:nvSpPr>
        <p:spPr>
          <a:xfrm>
            <a:off x="1588135" y="4287520"/>
            <a:ext cx="1834515" cy="3048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noAutofit/>
          </a:bodyPr>
          <a:lstStyle/>
          <a:p>
            <a:pPr algn="l"/>
            <a:r>
              <a:rPr lang="en-US" altLang="zh-CN" sz="1250" b="0">
                <a:solidFill>
                  <a:srgbClr val="1F3046"/>
                </a:solidFill>
                <a:latin typeface="Arial" panose="020B0604020202020204"/>
              </a:rPr>
              <a:t>flow p routed through link e. (0 or 1)</a:t>
            </a:r>
            <a:endParaRPr lang="en-US" altLang="zh-CN" sz="125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本框 38"/>
              <p:cNvSpPr txBox="1"/>
              <p:nvPr/>
            </p:nvSpPr>
            <p:spPr>
              <a:xfrm>
                <a:off x="952754" y="3777869"/>
                <a:ext cx="620395" cy="35242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9" name="文本框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754" y="3777869"/>
                <a:ext cx="620395" cy="352425"/>
              </a:xfrm>
              <a:prstGeom prst="rect">
                <a:avLst/>
              </a:prstGeom>
              <a:blipFill rotWithShape="1">
                <a:blip r:embed="rId17"/>
                <a:stretch>
                  <a:fillRect l="-41" t="-72" r="41" b="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本框 39"/>
              <p:cNvSpPr txBox="1"/>
              <p:nvPr/>
            </p:nvSpPr>
            <p:spPr>
              <a:xfrm>
                <a:off x="933704" y="4878959"/>
                <a:ext cx="622300" cy="37846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0" name="文本框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704" y="4878959"/>
                <a:ext cx="622300" cy="378460"/>
              </a:xfrm>
              <a:prstGeom prst="rect">
                <a:avLst/>
              </a:prstGeom>
              <a:blipFill rotWithShape="1">
                <a:blip r:embed="rId18"/>
                <a:stretch>
                  <a:fillRect l="-41" t="-67" r="41" b="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本框 41"/>
              <p:cNvSpPr txBox="1"/>
              <p:nvPr/>
            </p:nvSpPr>
            <p:spPr>
              <a:xfrm>
                <a:off x="882904" y="4242054"/>
                <a:ext cx="720725" cy="36068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2" name="文本框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04" y="4242054"/>
                <a:ext cx="720725" cy="360680"/>
              </a:xfrm>
              <a:prstGeom prst="rect">
                <a:avLst/>
              </a:prstGeom>
              <a:blipFill rotWithShape="1">
                <a:blip r:embed="rId19"/>
                <a:stretch>
                  <a:fillRect l="-35" t="-70" r="35" b="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33604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Hotspot Example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794385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6938" y="870077"/>
            <a:ext cx="3127248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2D67A4"/>
                </a:solidFill>
                <a:latin typeface="Aptos"/>
              </a:rPr>
              <a:t>TWO-TIER LINKS</a:t>
            </a:r>
            <a:endParaRPr sz="1300" b="1">
              <a:solidFill>
                <a:srgbClr val="2D67A4"/>
              </a:solidFill>
              <a:latin typeface="Aptos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225" y="1201420"/>
            <a:ext cx="3357245" cy="55200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90633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UNBATCHED</a:t>
            </a:r>
            <a:r>
              <a:rPr lang="en-US" sz="1300" b="1">
                <a:solidFill>
                  <a:srgbClr val="BF4149"/>
                </a:solidFill>
                <a:latin typeface="Aptos"/>
              </a:rPr>
              <a:t>(Before)</a:t>
            </a:r>
            <a:endParaRPr lang="en-US" sz="1300" b="1">
              <a:solidFill>
                <a:srgbClr val="BF4149"/>
              </a:solidFill>
              <a:latin typeface="Aptos"/>
            </a:endParaRPr>
          </a:p>
        </p:txBody>
      </p:sp>
      <p:pic>
        <p:nvPicPr>
          <p:cNvPr id="14" name="Picture 13" descr="example_hotspo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590" y="1272540"/>
            <a:ext cx="2602230" cy="54444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1335" y="651681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Inference </a:t>
            </a:r>
            <a:r>
              <a:rPr lang="en-US" sz="1300" b="1">
                <a:solidFill>
                  <a:srgbClr val="BF4149"/>
                </a:solidFill>
                <a:latin typeface="Aptos"/>
              </a:rPr>
              <a:t>time </a:t>
            </a:r>
            <a:r>
              <a:rPr sz="1300" b="1">
                <a:solidFill>
                  <a:srgbClr val="BF4149"/>
                </a:solidFill>
                <a:latin typeface="Aptos"/>
              </a:rPr>
              <a:t>4.75</a:t>
            </a:r>
            <a:endParaRPr sz="13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28432" y="84410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4 BATCHES</a:t>
            </a:r>
            <a:r>
              <a:rPr lang="en-US" sz="1300" b="1">
                <a:solidFill>
                  <a:srgbClr val="1B8D60"/>
                </a:solidFill>
                <a:latin typeface="Aptos"/>
              </a:rPr>
              <a:t>(After)</a:t>
            </a:r>
            <a:endParaRPr lang="en-US" sz="1300" b="1">
              <a:solidFill>
                <a:srgbClr val="1B8D60"/>
              </a:solidFill>
              <a:latin typeface="Apto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1015" y="1195705"/>
            <a:ext cx="3032125" cy="5448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8432" y="649522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Inference</a:t>
            </a:r>
            <a:r>
              <a:rPr lang="en-US" sz="1300" b="1">
                <a:solidFill>
                  <a:srgbClr val="1B8D60"/>
                </a:solidFill>
                <a:latin typeface="Aptos"/>
              </a:rPr>
              <a:t> time </a:t>
            </a:r>
            <a:r>
              <a:rPr sz="1300" b="1">
                <a:solidFill>
                  <a:srgbClr val="1B8D60"/>
                </a:solidFill>
                <a:latin typeface="Aptos"/>
              </a:rPr>
              <a:t> 2.25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ONLINE DESIGN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Online Design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640080" y="1664208"/>
            <a:ext cx="4754880" cy="3520440"/>
          </a:xfrm>
          <a:prstGeom prst="roundRect">
            <a:avLst/>
          </a:prstGeom>
          <a:solidFill>
            <a:srgbClr val="E1EDF8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932688" y="1901952"/>
            <a:ext cx="150876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2D67A4"/>
                </a:solidFill>
                <a:latin typeface="Aptos"/>
              </a:rPr>
              <a:t>OFFLINE ILP</a:t>
            </a:r>
            <a:endParaRPr sz="14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93268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Exact reference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932688" y="2926080"/>
            <a:ext cx="3794760" cy="7132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Explains the contention objective
and validates small instances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32688" y="4187952"/>
            <a:ext cx="23317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BF4149"/>
                </a:solidFill>
                <a:latin typeface="Aptos"/>
              </a:rPr>
              <a:t>Not used in serving</a:t>
            </a:r>
            <a:endParaRPr sz="1600" b="1">
              <a:solidFill>
                <a:srgbClr val="BF4149"/>
              </a:solidFill>
              <a:latin typeface="Aptos"/>
            </a:endParaRPr>
          </a:p>
        </p:txBody>
      </p:sp>
      <p:cxnSp>
        <p:nvCxnSpPr>
          <p:cNvPr id="12" name="Connector 11"/>
          <p:cNvCxnSpPr/>
          <p:nvPr>
            <p:custDataLst>
              <p:tags r:id="rId6"/>
            </p:custDataLst>
          </p:nvPr>
        </p:nvCxnSpPr>
        <p:spPr>
          <a:xfrm>
            <a:off x="5623560" y="3401568"/>
            <a:ext cx="822960" cy="0"/>
          </a:xfrm>
          <a:prstGeom prst="line">
            <a:avLst/>
          </a:prstGeom>
          <a:ln w="5080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>
            <p:custDataLst>
              <p:tags r:id="rId7"/>
            </p:custDataLst>
          </p:nvPr>
        </p:nvSpPr>
        <p:spPr>
          <a:xfrm>
            <a:off x="6675120" y="1664208"/>
            <a:ext cx="4846320" cy="3520440"/>
          </a:xfrm>
          <a:prstGeom prst="roundRect">
            <a:avLst/>
          </a:prstGeom>
          <a:solidFill>
            <a:srgbClr val="E5F5EE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8"/>
            </p:custDataLst>
          </p:nvPr>
        </p:nvSpPr>
        <p:spPr>
          <a:xfrm>
            <a:off x="6967728" y="1901952"/>
            <a:ext cx="192024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1B8D60"/>
                </a:solidFill>
                <a:latin typeface="Aptos"/>
              </a:rPr>
              <a:t>ONLINE SCHEDULER</a:t>
            </a:r>
            <a:endParaRPr sz="14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6967728" y="2310130"/>
            <a:ext cx="3474720" cy="45466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0"/>
            </p:custDataLst>
          </p:nvPr>
        </p:nvSpPr>
        <p:spPr>
          <a:xfrm>
            <a:off x="6967728" y="2978531"/>
            <a:ext cx="3794760" cy="60833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altLang="zh-CN" sz="1800" b="0">
                <a:solidFill>
                  <a:srgbClr val="1C2735"/>
                </a:solidFill>
                <a:latin typeface="Aptos"/>
              </a:rPr>
              <a:t>flows in one batch should</a:t>
            </a:r>
            <a:endParaRPr lang="en-US" altLang="zh-CN" sz="1800" b="0">
              <a:solidFill>
                <a:srgbClr val="1C2735"/>
              </a:solidFill>
              <a:latin typeface="Aptos"/>
            </a:endParaRPr>
          </a:p>
          <a:p>
            <a:pPr algn="l"/>
            <a:r>
              <a:rPr lang="en-US" altLang="zh-CN" sz="1800" b="0">
                <a:solidFill>
                  <a:srgbClr val="1C2735"/>
                </a:solidFill>
                <a:latin typeface="Aptos"/>
              </a:rPr>
              <a:t>not share a rank.</a:t>
            </a:r>
            <a:endParaRPr lang="en-US" altLang="zh-CN"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6967728" y="4211511"/>
            <a:ext cx="3749039" cy="30035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sz="1600" b="1">
                <a:solidFill>
                  <a:srgbClr val="1B8D60"/>
                </a:solidFill>
                <a:latin typeface="Aptos"/>
              </a:rPr>
              <a:t>Used in serving</a:t>
            </a:r>
            <a:endParaRPr lang="en-US" sz="16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828800" y="5513832"/>
            <a:ext cx="854964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5581587"/>
            <a:ext cx="827532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lang="en-US" sz="1500" b="1">
                <a:solidFill>
                  <a:srgbClr val="133052"/>
                </a:solidFill>
                <a:latin typeface="Aptos"/>
              </a:rPr>
              <a:t>We can not use ILP in vllm because ILP is expensive</a:t>
            </a:r>
            <a:endParaRPr lang="en-US" sz="15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ALGORITHM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72768"/>
            <a:ext cx="3657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64792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59536" y="217627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27685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2D67A4"/>
                </a:solidFill>
                <a:latin typeface="Aptos"/>
              </a:rPr>
              <a:t>F₀</a:t>
            </a:r>
            <a:endParaRPr sz="12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00200" y="225856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1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87168" y="226771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{E₁,E₇}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59536" y="2907791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008375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F₁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00200" y="2990087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2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87168" y="299923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{E₃}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59536" y="363931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73989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8153A0"/>
                </a:solidFill>
                <a:latin typeface="Aptos"/>
              </a:rPr>
              <a:t>F₂</a:t>
            </a:r>
            <a:endParaRPr sz="12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00200" y="372160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1 → 2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487168" y="373075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{E₄}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59536" y="437083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47141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F₃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600200" y="445312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87168" y="446227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{E₉}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498848" y="1572768"/>
            <a:ext cx="7114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764792"/>
            <a:ext cx="2011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FIRST-FIT DECISIONS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773168" y="2157984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圆角矩形 6"/>
          <p:cNvSpPr/>
          <p:nvPr/>
        </p:nvSpPr>
        <p:spPr>
          <a:xfrm>
            <a:off x="6502400" y="4471670"/>
            <a:ext cx="3562985" cy="593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4773168" y="2167127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F₀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376672" y="2203703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0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419088" y="2185415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uses ranks {0,1}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4773168" y="2715768"/>
            <a:ext cx="438912" cy="438912"/>
          </a:xfrm>
          <a:prstGeom prst="ellipse">
            <a:avLst/>
          </a:prstGeom>
          <a:solidFill>
            <a:srgbClr val="1B8D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73168" y="27249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376672" y="2761487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0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19088" y="2743199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disjoint ranks {2,3}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4773168" y="3273552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73168" y="3282696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376672" y="3319272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1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419088" y="3300984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conflicts with F₀ and F₁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4773168" y="3831335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840479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F₃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376672" y="3877055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1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419088" y="3858768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disjoint from F₂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47688" y="4645152"/>
            <a:ext cx="7315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Batch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51865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01509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49" name="Connector 48"/>
          <p:cNvCxnSpPr/>
          <p:nvPr/>
        </p:nvCxnSpPr>
        <p:spPr>
          <a:xfrm>
            <a:off x="7867269" y="4773168"/>
            <a:ext cx="210312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11301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5869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905027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圆角矩形 7"/>
          <p:cNvSpPr/>
          <p:nvPr/>
        </p:nvSpPr>
        <p:spPr>
          <a:xfrm>
            <a:off x="6502400" y="5123815"/>
            <a:ext cx="3562985" cy="593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53" name="TextBox 52"/>
          <p:cNvSpPr txBox="1"/>
          <p:nvPr/>
        </p:nvSpPr>
        <p:spPr>
          <a:xfrm>
            <a:off x="9050274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416034" y="4773168"/>
            <a:ext cx="210312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64463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44634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647688" y="5230368"/>
            <a:ext cx="7315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8153A0"/>
                </a:solidFill>
                <a:latin typeface="Aptos"/>
              </a:rPr>
              <a:t>Batch 1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751865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01509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867269" y="5358383"/>
            <a:ext cx="210312" cy="0"/>
          </a:xfrm>
          <a:prstGeom prst="line">
            <a:avLst/>
          </a:prstGeom>
          <a:ln w="19050">
            <a:solidFill>
              <a:srgbClr val="8153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811301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95869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905027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50274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9416034" y="5358383"/>
            <a:ext cx="210312" cy="0"/>
          </a:xfrm>
          <a:prstGeom prst="line">
            <a:avLst/>
          </a:prstGeom>
          <a:ln w="19050">
            <a:solidFill>
              <a:srgbClr val="8153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964463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44634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METHODOLOGY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Experimental Setup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54480"/>
            <a:ext cx="6537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47218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9572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1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0448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2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7763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448970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41324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39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3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39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99846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63040" y="3538728"/>
            <a:ext cx="4526280" cy="0"/>
          </a:xfrm>
          <a:prstGeom prst="line">
            <a:avLst/>
          </a:prstGeom>
          <a:ln w="508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43000" y="3713417"/>
            <a:ext cx="5257800" cy="27241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10 GbE  · no RDMA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8992" y="4224528"/>
            <a:ext cx="5394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33052"/>
                </a:solidFill>
                <a:latin typeface="Aptos"/>
              </a:rPr>
              <a:t>Qwen3-30B-A3B-Instruct-2507 · FP16 · TP=EP=4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05840" y="4663440"/>
            <a:ext cx="55321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Async EPLB · window 50 · step interval 50 · 16 redundant experts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24128" y="5102352"/>
            <a:ext cx="5486400" cy="493776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5193792"/>
            <a:ext cx="52578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Prefix cache enabled · eager execution · 500/500 requests completed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60920" y="1554480"/>
            <a:ext cx="4251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773936"/>
            <a:ext cx="10972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8153A0"/>
                </a:solidFill>
                <a:latin typeface="Aptos"/>
              </a:rPr>
              <a:t>WORKLOAD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53527" y="221284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Dataset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33104" y="219456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random · seed 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53527" y="2706624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Prompts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833104" y="2688336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500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53527" y="3200400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Concurrency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33104" y="3182112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32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53527" y="3694176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Prefix / input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33104" y="3675888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/ 200 tokens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53527" y="4187952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Output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833104" y="4169664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tokens · ignore EOS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53527" y="468172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Reported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33104" y="466344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P50 and P99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635240" y="5276088"/>
            <a:ext cx="3703320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358384"/>
            <a:ext cx="342900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OFF vs ON · same request stream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94944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0">
                <a:solidFill>
                  <a:srgbClr val="5D6C7E"/>
                </a:solidFill>
                <a:latin typeface="Aptos"/>
              </a:rPr>
              <a:t>Background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410712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38144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0">
                <a:solidFill>
                  <a:srgbClr val="5D6C7E"/>
                </a:solidFill>
                <a:latin typeface="Aptos"/>
              </a:rPr>
              <a:t>Model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126480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3912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0">
                <a:solidFill>
                  <a:srgbClr val="5D6C7E"/>
                </a:solidFill>
                <a:latin typeface="Aptos"/>
              </a:rPr>
              <a:t>Algorithm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842248" y="5852160"/>
            <a:ext cx="2642616" cy="384048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0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1">
                <a:solidFill>
                  <a:srgbClr val="FFFFFF"/>
                </a:solidFill>
                <a:latin typeface="Aptos"/>
              </a:rPr>
              <a:t>Evaluation</a:t>
            </a:r>
            <a:endParaRPr sz="8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E2E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49808" y="1572768"/>
            <a:ext cx="214884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0934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Metric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864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off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3036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on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62088" y="1572768"/>
            <a:ext cx="160020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98663" y="160934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Improvement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9808" y="2084832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12140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Output throughput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864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31.54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23036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32.26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562088" y="2084832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3" y="212140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+2.28%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9808" y="2596896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263347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89864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49,180.71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3036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694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48,599.04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562088" y="2596896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98663" y="263347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49808" y="3108960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145536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89864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3522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75,740.25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23036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74,756.17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62088" y="3108960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98663" y="3145536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+1.30%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9808" y="3621024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" y="3657600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89864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828.53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23036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694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812.44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562088" y="3621024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8663" y="3657600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+1.94%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49808" y="4133088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" y="416966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89864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3522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1,007.82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23036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694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999.01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562088" y="4133088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8663" y="416966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+0.87%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49808" y="4645152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6384" y="468172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89864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3522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303,462.69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23036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694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293,821.76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562088" y="4645152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98663" y="468172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+3.18%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49808" y="5157216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" y="519379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289864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322,184.88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523036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694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317,351.61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562088" y="5157216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98663" y="519379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+1.50%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464040" y="1572768"/>
            <a:ext cx="2084831" cy="409651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72" y="1828800"/>
            <a:ext cx="157276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MAIN RESULT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646920" y="234086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1B8D60"/>
                </a:solidFill>
                <a:latin typeface="Aptos"/>
              </a:rPr>
              <a:t>+2.28%</a:t>
            </a:r>
            <a:endParaRPr sz="28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710928" y="281635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output throughput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646920" y="343814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2D67A4"/>
                </a:solidFill>
                <a:latin typeface="Aptos"/>
              </a:rPr>
              <a:t>−3.18%</a:t>
            </a:r>
            <a:endParaRPr sz="28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710928" y="391363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E2EL P50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646920" y="4727448"/>
            <a:ext cx="17190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No regression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674352" y="5056632"/>
            <a:ext cx="166420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in the reported async metrics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49808" y="5824728"/>
            <a:ext cx="10789920" cy="384048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" y="5878576"/>
            <a:ext cx="10314432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lang="en-US" sz="1150" b="1">
                <a:solidFill>
                  <a:srgbClr val="133052"/>
                </a:solidFill>
                <a:latin typeface="Aptos"/>
              </a:rPr>
              <a:t>All metrics </a:t>
            </a:r>
            <a:r>
              <a:rPr lang="en-US" sz="1150" b="1">
                <a:solidFill>
                  <a:srgbClr val="133052"/>
                </a:solidFill>
                <a:latin typeface="Aptos"/>
              </a:rPr>
              <a:t>improved</a:t>
            </a:r>
            <a:endParaRPr lang="en-US" sz="115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Serving Improvements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0352" y="1536192"/>
            <a:ext cx="8458200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10832"/>
            <a:ext cx="8156448" cy="34044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81160" y="17373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828800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+2.28%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72600" y="2240280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throughput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281160" y="2852928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944368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2D67A4"/>
                </a:solidFill>
                <a:latin typeface="Aptos"/>
              </a:rPr>
              <a:t>+1.18 / +1.30%</a:t>
            </a:r>
            <a:endParaRPr sz="16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72600" y="3355848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TTFT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281160" y="3968496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4059935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8153A0"/>
                </a:solidFill>
                <a:latin typeface="Aptos"/>
              </a:rPr>
              <a:t>+1.94 / +0.87%</a:t>
            </a:r>
            <a:endParaRPr sz="16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72600" y="4471416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TPOT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281160" y="5084064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175503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58EA6"/>
                </a:solidFill>
                <a:latin typeface="Aptos"/>
              </a:rPr>
              <a:t>+3.18 / +1.50%</a:t>
            </a:r>
            <a:endParaRPr sz="16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72600" y="5586983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E2EL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NETWORK EVIDENCE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NIC Traffic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481328"/>
            <a:ext cx="9162288" cy="4700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449" y="1636776"/>
            <a:ext cx="8069228" cy="437083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93808" y="173736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85248" y="182880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BF4149"/>
                </a:solidFill>
                <a:latin typeface="Aptos"/>
              </a:rPr>
              <a:t>599.81</a:t>
            </a:r>
            <a:endParaRPr sz="22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85248" y="224028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off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893808" y="297180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85248" y="306324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538.40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85248" y="347472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on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893808" y="420624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4297679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58EA6"/>
                </a:solidFill>
                <a:latin typeface="Aptos"/>
              </a:rPr>
              <a:t>−10.24%</a:t>
            </a:r>
            <a:endParaRPr sz="22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985248" y="4709159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NIC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912096" y="5227257"/>
            <a:ext cx="1719072" cy="81089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lang="en-US" altLang="zh-CN" sz="1600" b="1">
                <a:solidFill>
                  <a:srgbClr val="133052"/>
                </a:solidFill>
                <a:latin typeface="Aptos"/>
              </a:rPr>
              <a:t>My feature can smooth the large traffic bursts. </a:t>
            </a:r>
            <a:endParaRPr lang="en-US" altLang="zh-CN" sz="16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Method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36192"/>
            <a:ext cx="10972800" cy="658368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700" b="1">
                <a:solidFill>
                  <a:srgbClr val="14345B"/>
                </a:solidFill>
                <a:latin typeface="Arial" panose="020B0604020202020204"/>
              </a:rPr>
              <a:t>PURPOSE   Is the added scheduler cost </a:t>
            </a:r>
            <a:r>
              <a:rPr lang="en-US" sz="1700" b="1">
                <a:solidFill>
                  <a:srgbClr val="14345B"/>
                </a:solidFill>
                <a:latin typeface="Arial" panose="020B0604020202020204"/>
              </a:rPr>
              <a:t>less than</a:t>
            </a:r>
            <a:r>
              <a:rPr sz="1700" b="1">
                <a:solidFill>
                  <a:srgbClr val="14345B"/>
                </a:solidFill>
                <a:latin typeface="Arial" panose="020B0604020202020204"/>
              </a:rPr>
              <a:t> the serving time saved?</a:t>
            </a:r>
            <a:endParaRPr sz="17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1"/>
            </p:custDataLst>
          </p:nvPr>
        </p:nvSpPr>
        <p:spPr>
          <a:xfrm>
            <a:off x="640080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7D4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2"/>
            </p:custDataLst>
          </p:nvPr>
        </p:nvSpPr>
        <p:spPr>
          <a:xfrm>
            <a:off x="841247" y="2697480"/>
            <a:ext cx="2743200" cy="38404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500" b="1">
                <a:solidFill>
                  <a:srgbClr val="7D48A1"/>
                </a:solidFill>
                <a:latin typeface="Arial" panose="020B0604020202020204"/>
              </a:rPr>
              <a:t>1   PROFILE COST</a:t>
            </a:r>
            <a:endParaRPr sz="1500" b="1">
              <a:solidFill>
                <a:srgbClr val="7D48A1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841247" y="3127248"/>
            <a:ext cx="2743200" cy="1353312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 panose="020B0604020202020204"/>
              </a:rPr>
              <a:t>Add an NVTX range around the cycle-wide greedy scheduler.
Nsight Systems records every call on all four Ray workers.</a:t>
            </a:r>
            <a:endParaRPr sz="135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>
            <p:custDataLst>
              <p:tags r:id="rId4"/>
            </p:custDataLst>
          </p:nvPr>
        </p:nvSpPr>
        <p:spPr>
          <a:xfrm>
            <a:off x="4517136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5"/>
            </p:custDataLst>
          </p:nvPr>
        </p:nvSpPr>
        <p:spPr>
          <a:xfrm>
            <a:off x="4718304" y="2697480"/>
            <a:ext cx="2743200" cy="38404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Arial" panose="020B0604020202020204"/>
              </a:rPr>
              <a:t>2   AGGREGATE</a:t>
            </a:r>
            <a:endParaRPr sz="1500" b="1">
              <a:solidFill>
                <a:srgbClr val="E67E22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>
            <p:custDataLst>
              <p:tags r:id="rId6"/>
            </p:custDataLst>
          </p:nvPr>
        </p:nvSpPr>
        <p:spPr>
          <a:xfrm>
            <a:off x="4718304" y="3127248"/>
            <a:ext cx="2743200" cy="1353312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 panose="020B0604020202020204"/>
              </a:rPr>
              <a:t>Each call builds schedules for all 48 MoE layers.
Sum call time per rank and use the largest rank total.</a:t>
            </a:r>
            <a:endParaRPr sz="135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7"/>
            </p:custDataLst>
          </p:nvPr>
        </p:nvSpPr>
        <p:spPr>
          <a:xfrm>
            <a:off x="8394192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8"/>
            </p:custDataLst>
          </p:nvPr>
        </p:nvSpPr>
        <p:spPr>
          <a:xfrm>
            <a:off x="8595360" y="2697480"/>
            <a:ext cx="2743200" cy="38404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500" b="1">
                <a:solidFill>
                  <a:srgbClr val="138F5F"/>
                </a:solidFill>
                <a:latin typeface="Arial" panose="020B0604020202020204"/>
              </a:rPr>
              <a:t>3   MEASURE BENEFIT</a:t>
            </a:r>
            <a:endParaRPr sz="1500" b="1">
              <a:solidFill>
                <a:srgbClr val="138F5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8595360" y="3220720"/>
            <a:ext cx="2964815" cy="116586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 panose="020B0604020202020204"/>
              </a:rPr>
              <a:t>Saved time = batching OFF − batching ON.</a:t>
            </a:r>
            <a:endParaRPr sz="1350" b="0">
              <a:solidFill>
                <a:srgbClr val="1F3046"/>
              </a:solidFill>
              <a:latin typeface="Arial" panose="020B0604020202020204"/>
            </a:endParaRPr>
          </a:p>
          <a:p>
            <a:pPr algn="l"/>
            <a:endParaRPr sz="1350" b="0">
              <a:solidFill>
                <a:srgbClr val="1F3046"/>
              </a:solidFill>
              <a:latin typeface="Arial" panose="020B0604020202020204"/>
            </a:endParaRPr>
          </a:p>
          <a:p>
            <a:pPr algn="l"/>
            <a:r>
              <a:rPr lang="en-US" sz="1350" b="0">
                <a:solidFill>
                  <a:srgbClr val="1F3046"/>
                </a:solidFill>
                <a:latin typeface="Arial" panose="020B0604020202020204"/>
              </a:rPr>
              <a:t>Compare </a:t>
            </a:r>
            <a:r>
              <a:rPr lang="en-US" sz="1350" b="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/>
              </a:rPr>
              <a:t>added cost </a:t>
            </a:r>
            <a:r>
              <a:rPr lang="en-US" sz="1350" b="0">
                <a:solidFill>
                  <a:srgbClr val="1F3046"/>
                </a:solidFill>
                <a:latin typeface="Arial" panose="020B0604020202020204"/>
              </a:rPr>
              <a:t>and </a:t>
            </a:r>
            <a:r>
              <a:rPr lang="en-US" sz="1350" b="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/>
              </a:rPr>
              <a:t>saved time</a:t>
            </a:r>
            <a:endParaRPr lang="en-US" sz="1350" b="0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/>
            </a:endParaRPr>
          </a:p>
        </p:txBody>
      </p:sp>
      <p:sp>
        <p:nvSpPr>
          <p:cNvPr id="17" name="Chevron 16"/>
          <p:cNvSpPr/>
          <p:nvPr>
            <p:custDataLst>
              <p:tags r:id="rId10"/>
            </p:custDataLst>
          </p:nvPr>
        </p:nvSpPr>
        <p:spPr>
          <a:xfrm>
            <a:off x="3950208" y="3310128"/>
            <a:ext cx="384048" cy="502920"/>
          </a:xfrm>
          <a:prstGeom prst="chevron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>
            <p:custDataLst>
              <p:tags r:id="rId11"/>
            </p:custDataLst>
          </p:nvPr>
        </p:nvSpPr>
        <p:spPr>
          <a:xfrm>
            <a:off x="7827264" y="3310128"/>
            <a:ext cx="384048" cy="502920"/>
          </a:xfrm>
          <a:prstGeom prst="chevron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5120640"/>
            <a:ext cx="10515600" cy="694944"/>
          </a:xfrm>
          <a:prstGeom prst="roundRect">
            <a:avLst/>
          </a:prstGeom>
          <a:solidFill>
            <a:srgbClr val="EEF7F2"/>
          </a:solidFill>
          <a:ln w="1651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500" b="1">
                <a:solidFill>
                  <a:srgbClr val="14345B"/>
                </a:solidFill>
                <a:latin typeface="Arial" panose="020B0604020202020204"/>
              </a:rPr>
              <a:t>SEARCH IN TRACE   "eplb: schedule migration batches"   →   compare scheduler cost / serving time saved</a:t>
            </a:r>
            <a:endParaRPr sz="1500" b="1">
              <a:solidFill>
                <a:srgbClr val="14345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7170" y="1591056"/>
            <a:ext cx="658368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746" y="1627632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Rank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75538" y="1591056"/>
            <a:ext cx="713232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114" y="1627632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Calls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588770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5346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P50/call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832354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8930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P99/call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75938" y="1591056"/>
            <a:ext cx="1417320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2514" y="1627632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Cumulative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17170" y="2112264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746" y="2148840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0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5538" y="2112264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114" y="2148840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588770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5346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7.819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832354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68930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17.536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075938" y="2112264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2514" y="2148840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302.081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17170" y="2633472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3746" y="2670048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1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75538" y="2633472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114" y="2670048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588770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25346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7.090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832354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68930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12.357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075938" y="2633472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2514" y="2670048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253.152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17170" y="3154679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746" y="3191256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2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5538" y="3154679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2114" y="3191256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588770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5346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7.035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832354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8930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16.104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075938" y="3154679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2514" y="3191256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255.239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17170" y="3675887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" y="3712463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3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75538" y="3675887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" y="3712463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88770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5346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7.005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832354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8930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8.103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075938" y="3675887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2514" y="3712463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241.190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45770" y="4301617"/>
            <a:ext cx="46634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One call builds schedules for all 48 MoE layers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10185" y="4629150"/>
            <a:ext cx="5285105" cy="20440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−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n</m:t>
                              </m:r>
                            </m:sub>
                          </m:sSub>
                        </m:den>
                      </m:f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×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100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285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blipFill rotWithShape="1">
                <a:blip r:embed="rId1"/>
                <a:stretch>
                  <a:fillRect l="-17" t="-79" r="17" b="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ounded Rectangle 62"/>
          <p:cNvSpPr/>
          <p:nvPr/>
        </p:nvSpPr>
        <p:spPr>
          <a:xfrm>
            <a:off x="53009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537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DD852A"/>
                </a:solidFill>
                <a:latin typeface="Aptos"/>
              </a:rPr>
              <a:t>302.081 ms</a:t>
            </a:r>
            <a:endParaRPr sz="2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1537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largest cumulative scheduler cost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9897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418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105.932 s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090418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clean E2E serving time saved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490" y="1824355"/>
            <a:ext cx="6287770" cy="419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260465" y="1416050"/>
            <a:ext cx="54667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Cumulative: Total extra schedule time of  each rank</a:t>
            </a:r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9" name="直接箭头连接符 58"/>
          <p:cNvCxnSpPr/>
          <p:nvPr/>
        </p:nvCxnSpPr>
        <p:spPr>
          <a:xfrm flipV="1">
            <a:off x="5598795" y="1591310"/>
            <a:ext cx="661670" cy="812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18"/>
          <p:cNvSpPr/>
          <p:nvPr/>
        </p:nvSpPr>
        <p:spPr>
          <a:xfrm>
            <a:off x="5980430" y="6156325"/>
            <a:ext cx="6000115" cy="559435"/>
          </a:xfrm>
          <a:prstGeom prst="roundRect">
            <a:avLst/>
          </a:prstGeom>
          <a:solidFill>
            <a:srgbClr val="EEF7F2"/>
          </a:solidFill>
          <a:ln w="1651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lang="en-US" altLang="zh-CN" sz="1500" b="1">
                <a:solidFill>
                  <a:srgbClr val="14345B"/>
                </a:solidFill>
                <a:latin typeface="Arial" panose="020B0604020202020204"/>
              </a:rPr>
              <a:t>This is a positive optimization!</a:t>
            </a:r>
            <a:endParaRPr lang="zh-CN" altLang="en-US" sz="1500" b="1">
              <a:solidFill>
                <a:srgbClr val="14345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extBox 5"/>
          <p:cNvSpPr txBox="1"/>
          <p:nvPr/>
        </p:nvSpPr>
        <p:spPr>
          <a:xfrm>
            <a:off x="7621143" y="4084320"/>
            <a:ext cx="2377440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Questions?</a:t>
            </a:r>
            <a:endParaRPr sz="2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71175" y="6401435"/>
            <a:ext cx="1384300" cy="34925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noAutofit/>
          </a:bodyPr>
          <a:lstStyle/>
          <a:p>
            <a:pPr algn="l">
              <a:defRPr sz="1200"/>
            </a:pPr>
            <a:r>
              <a:rPr sz="1200" b="1">
                <a:solidFill>
                  <a:srgbClr val="E1EDF8"/>
                </a:solidFill>
                <a:latin typeface="Aptos"/>
                <a:hlinkClick r:id="rId1"/>
              </a:rPr>
              <a:t>vLLM PR #52641</a:t>
            </a:r>
            <a:endParaRPr sz="1100" b="1">
              <a:solidFill>
                <a:srgbClr val="E1EDF8"/>
              </a:solidFill>
              <a:latin typeface="Aptos"/>
              <a:hlinkClick r:id="rId1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234565" y="5056632"/>
            <a:ext cx="7818120" cy="62179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1452" y="5173409"/>
            <a:ext cx="731520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133052"/>
                </a:solidFill>
                <a:latin typeface="Aptos"/>
              </a:rPr>
              <a:t>Result: a </a:t>
            </a:r>
            <a:r>
              <a:rPr lang="en-US" sz="1700" b="1">
                <a:solidFill>
                  <a:srgbClr val="133052"/>
                </a:solidFill>
                <a:latin typeface="Aptos"/>
              </a:rPr>
              <a:t>positive</a:t>
            </a:r>
            <a:r>
              <a:rPr sz="1700" b="1">
                <a:solidFill>
                  <a:srgbClr val="133052"/>
                </a:solidFill>
                <a:latin typeface="Aptos"/>
              </a:rPr>
              <a:t> optimization merged into vLLM</a:t>
            </a:r>
            <a:endParaRPr sz="17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063365" y="2159635"/>
            <a:ext cx="406400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</a:t>
            </a:r>
            <a:endParaRPr lang="en-US" altLang="zh-CN" sz="8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284470" y="3545205"/>
            <a:ext cx="162242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80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Q&amp;A</a:t>
            </a:r>
            <a:endParaRPr lang="en-US" altLang="zh-CN" sz="480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7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8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9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0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7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18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19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0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1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2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3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4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5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6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7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8.xml><?xml version="1.0" encoding="utf-8"?>
<p:tagLst xmlns:p="http://schemas.openxmlformats.org/presentationml/2006/main">
  <p:tag name="KSO_WM_DIAGRAM_VIRTUALLY_FRAME" val="{&quot;height&quot;:269.28000000000003,&quot;left&quot;:44.65,&quot;top&quot;:180,&quot;width&quot;:861.11}"/>
</p:tagLst>
</file>

<file path=ppt/tags/tag29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0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1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2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3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4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5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6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7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8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9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40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1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2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3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4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5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6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7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8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49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ags/tag50.xml><?xml version="1.0" encoding="utf-8"?>
<p:tagLst xmlns:p="http://schemas.openxmlformats.org/presentationml/2006/main">
  <p:tag name="KSO_WM_DIAGRAM_VIRTUALLY_FRAME" val="{&quot;height&quot;:176.4,&quot;left&quot;:50.4,&quot;top&quot;:198,&quot;width&quot;:859.8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4654</Words>
  <Application>WPS 演示</Application>
  <PresentationFormat>On-screen Show (4:3)</PresentationFormat>
  <Paragraphs>602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0" baseType="lpstr">
      <vt:lpstr>Arial</vt:lpstr>
      <vt:lpstr>宋体</vt:lpstr>
      <vt:lpstr>Wingdings</vt:lpstr>
      <vt:lpstr>Arial</vt:lpstr>
      <vt:lpstr>Aptos</vt:lpstr>
      <vt:lpstr>Segoe UI</vt:lpstr>
      <vt:lpstr>Cambria Math</vt:lpstr>
      <vt:lpstr>Calibri</vt:lpstr>
      <vt:lpstr>微软雅黑</vt:lpstr>
      <vt:lpstr>Arial Unicode MS</vt:lpstr>
      <vt:lpstr>Cambria Math</vt:lpstr>
      <vt:lpstr>MS Mincho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Migration for MoE Serving — MSc Thesis Defense</dc:title>
  <dc:creator>WU CAO</dc:creator>
  <cp:keywords>MoE, expert parallelism, EPLB, migration batching, vLLM, NIXL</cp:keywords>
  <dc:description>generated using python-pptx</dc:description>
  <dc:subject>ILP formulation, online scheduling, vLLM integration, and evaluation</dc:subject>
  <cp:lastModifiedBy>别开枪，是我</cp:lastModifiedBy>
  <cp:revision>43</cp:revision>
  <dcterms:created xsi:type="dcterms:W3CDTF">2013-01-27T09:14:00Z</dcterms:created>
  <dcterms:modified xsi:type="dcterms:W3CDTF">2026-10-23T16:28:43Z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378BB7B7367D4CA79ABCC313ABBF015C_12</vt:lpwstr>
  </property>
  <property fmtid="{D5CDD505-2E9C-101B-9397-08002B2CF9AE}" pid="3" name="KSOProductBuildVer">
    <vt:lpwstr>2052-12.1.0.28505</vt:lpwstr>
  </property>
</Properties>
</file>