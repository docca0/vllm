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74" r:id="rId6"/>
    <p:sldId id="273" r:id="rId7"/>
    <p:sldId id="275" r:id="rId8"/>
    <p:sldId id="261" r:id="rId9"/>
    <p:sldId id="263" r:id="rId10"/>
    <p:sldId id="259" r:id="rId11"/>
    <p:sldId id="264" r:id="rId12"/>
    <p:sldId id="271" r:id="rId13"/>
    <p:sldId id="265" r:id="rId14"/>
    <p:sldId id="266" r:id="rId15"/>
    <p:sldId id="269" r:id="rId16"/>
    <p:sldId id="272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29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15"/>
        <p:guide pos="291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slideLayout" Target="../slideLayouts/slideLayout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image" Target="../media/image1.png"/><Relationship Id="rId1" Type="http://schemas.openxmlformats.org/officeDocument/2006/relationships/hyperlink" Target="https://github.com/vllm-project/vllm/pull/52641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5.png"/><Relationship Id="rId10" Type="http://schemas.openxmlformats.org/officeDocument/2006/relationships/image" Target="../media/image14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6.xml"/><Relationship Id="rId8" Type="http://schemas.openxmlformats.org/officeDocument/2006/relationships/tags" Target="../tags/tag25.xml"/><Relationship Id="rId7" Type="http://schemas.openxmlformats.org/officeDocument/2006/relationships/tags" Target="../tags/tag24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27.xml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github.com/vllm-project/vllm/pull/5264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6496050" cy="6858000"/>
          </a:xfrm>
          <a:prstGeom prst="rect">
            <a:avLst/>
          </a:prstGeom>
          <a:solidFill>
            <a:srgbClr val="EDF3FA"/>
          </a:solidFill>
          <a:ln w="12700">
            <a:solidFill>
              <a:srgbClr val="ED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94360"/>
            <a:ext cx="310896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0D8AA6"/>
                </a:solidFill>
                <a:latin typeface="Aptos"/>
              </a:rPr>
              <a:t>vLLM · EPLB</a:t>
            </a:r>
            <a:endParaRPr sz="13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343400" cy="247269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/>
            <a:r>
              <a:rPr lang="en-US" sz="3900" b="1">
                <a:solidFill>
                  <a:srgbClr val="162236"/>
                </a:solidFill>
                <a:latin typeface="Aptos"/>
              </a:rPr>
              <a:t>vllm EPLB:</a:t>
            </a:r>
            <a:endParaRPr lang="en-US" sz="3900" b="1">
              <a:solidFill>
                <a:srgbClr val="162236"/>
              </a:solidFill>
              <a:latin typeface="Aptos"/>
            </a:endParaRPr>
          </a:p>
          <a:p>
            <a:pPr algn="l"/>
            <a:r>
              <a:rPr sz="3900" b="1">
                <a:solidFill>
                  <a:srgbClr val="162236"/>
                </a:solidFill>
                <a:latin typeface="Aptos"/>
              </a:rPr>
              <a:t>Contention-Aware
Expert Migration
Batching</a:t>
            </a:r>
            <a:endParaRPr sz="39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345045" y="506666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WU CAO</a:t>
            </a:r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r"/>
            <a:r>
              <a:rPr lang="en-US" altLang="zh-CN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HPC</a:t>
            </a:r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r"/>
            <a:r>
              <a:rPr lang="en-US" altLang="zh-CN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Oct.2026</a:t>
            </a:r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515112"/>
            <a:ext cx="126047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altLang="zh-CN" sz="2700" b="1">
                <a:solidFill>
                  <a:srgbClr val="162236"/>
                </a:solidFill>
                <a:latin typeface="Aptos"/>
              </a:rPr>
              <a:t>Outline</a:t>
            </a:r>
            <a:endParaRPr lang="en-US" altLang="zh-CN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3075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85800" y="166420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914400" y="184708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39B67"/>
                </a:solidFill>
                <a:latin typeface="Aptos"/>
              </a:rPr>
              <a:t>01</a:t>
            </a:r>
            <a:endParaRPr sz="17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673352" y="1676972"/>
            <a:ext cx="2930525" cy="687705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altLang="zh-CN" sz="2000" b="1">
                <a:solidFill>
                  <a:srgbClr val="162236"/>
                </a:solidFill>
                <a:latin typeface="Aptos"/>
              </a:rPr>
              <a:t>Research achievement&amp;</a:t>
            </a:r>
            <a:endParaRPr lang="en-US" altLang="zh-CN" sz="2000" b="1">
              <a:solidFill>
                <a:srgbClr val="162236"/>
              </a:solidFill>
              <a:latin typeface="Aptos"/>
            </a:endParaRPr>
          </a:p>
          <a:p>
            <a:pPr algn="l"/>
            <a:r>
              <a:rPr lang="en-US" altLang="zh-CN" sz="2000" b="1">
                <a:solidFill>
                  <a:srgbClr val="162236"/>
                </a:solidFill>
                <a:latin typeface="Aptos"/>
              </a:rPr>
              <a:t>background</a:t>
            </a:r>
            <a:endParaRPr lang="en-US" altLang="zh-CN"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1673352" y="2322576"/>
            <a:ext cx="3886200" cy="34747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The merged vLLM contribution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>
            <p:custDataLst>
              <p:tags r:id="rId5"/>
            </p:custDataLst>
          </p:nvPr>
        </p:nvSpPr>
        <p:spPr>
          <a:xfrm>
            <a:off x="6355080" y="166420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583680" y="184708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0D8AA6"/>
                </a:solidFill>
                <a:latin typeface="Aptos"/>
              </a:rPr>
              <a:t>02</a:t>
            </a:r>
            <a:endParaRPr sz="17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7342632" y="1828800"/>
            <a:ext cx="3886200" cy="38404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2236"/>
                </a:solidFill>
                <a:latin typeface="Aptos"/>
              </a:rPr>
              <a:t>ILP model</a:t>
            </a:r>
            <a:endParaRPr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7342632" y="2368042"/>
            <a:ext cx="1511935" cy="2565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Theoretical optimum 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9"/>
            </p:custDataLst>
          </p:nvPr>
        </p:nvSpPr>
        <p:spPr>
          <a:xfrm>
            <a:off x="685800" y="353872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0"/>
            </p:custDataLst>
          </p:nvPr>
        </p:nvSpPr>
        <p:spPr>
          <a:xfrm>
            <a:off x="914400" y="372160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3366D6"/>
                </a:solidFill>
                <a:latin typeface="Aptos"/>
              </a:rPr>
              <a:t>03</a:t>
            </a:r>
            <a:endParaRPr sz="1700" b="1">
              <a:solidFill>
                <a:srgbClr val="3366D6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1673352" y="3703320"/>
            <a:ext cx="3886200" cy="38404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2236"/>
                </a:solidFill>
                <a:latin typeface="Aptos"/>
              </a:rPr>
              <a:t>E2E experiment</a:t>
            </a:r>
            <a:endParaRPr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1673352" y="4197096"/>
            <a:ext cx="3886200" cy="34747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Serving quality and NIC traffic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>
            <p:custDataLst>
              <p:tags r:id="rId13"/>
            </p:custDataLst>
          </p:nvPr>
        </p:nvSpPr>
        <p:spPr>
          <a:xfrm>
            <a:off x="6355080" y="353872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2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4"/>
            </p:custDataLst>
          </p:nvPr>
        </p:nvSpPr>
        <p:spPr>
          <a:xfrm>
            <a:off x="6583680" y="372160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A24BC4"/>
                </a:solidFill>
                <a:latin typeface="Aptos"/>
              </a:rPr>
              <a:t>04</a:t>
            </a:r>
            <a:endParaRPr sz="1700" b="1">
              <a:solidFill>
                <a:srgbClr val="A24BC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>
            <p:custDataLst>
              <p:tags r:id="rId15"/>
            </p:custDataLst>
          </p:nvPr>
        </p:nvSpPr>
        <p:spPr>
          <a:xfrm>
            <a:off x="7342632" y="3703320"/>
            <a:ext cx="3886200" cy="38404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2236"/>
                </a:solidFill>
                <a:latin typeface="Aptos"/>
              </a:rPr>
              <a:t>Profiling</a:t>
            </a:r>
            <a:endParaRPr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>
            <p:custDataLst>
              <p:tags r:id="rId16"/>
            </p:custDataLst>
          </p:nvPr>
        </p:nvSpPr>
        <p:spPr>
          <a:xfrm>
            <a:off x="7342632" y="4197096"/>
            <a:ext cx="3886200" cy="34747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Scheduler cost versus time saved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700" b="1">
                <a:solidFill>
                  <a:srgbClr val="162236"/>
                </a:solidFill>
                <a:latin typeface="Aptos"/>
              </a:rPr>
              <a:t>The work is now part of vLLM</a:t>
            </a:r>
            <a:endParaRPr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804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github_pr_52641.png">
            <a:hlinkClick r:id="rId1"/>
          </p:cNvPr>
          <p:cNvPicPr>
            <a:picLocks noChangeAspect="1"/>
          </p:cNvPicPr>
          <p:nvPr/>
        </p:nvPicPr>
        <p:blipFill>
          <a:blip r:embed="rId2"/>
          <a:srcRect t="7880" b="7880"/>
          <a:stretch>
            <a:fillRect/>
          </a:stretch>
        </p:blipFill>
        <p:spPr>
          <a:xfrm>
            <a:off x="73660" y="1572260"/>
            <a:ext cx="9119870" cy="4801870"/>
          </a:xfrm>
          <a:prstGeom prst="rect">
            <a:avLst/>
          </a:prstGeom>
        </p:spPr>
      </p:pic>
      <p:sp>
        <p:nvSpPr>
          <p:cNvPr id="8" name="Rounded Rectangle 7"/>
          <p:cNvSpPr/>
          <p:nvPr>
            <p:custDataLst>
              <p:tags r:id="rId3"/>
            </p:custDataLst>
          </p:nvPr>
        </p:nvSpPr>
        <p:spPr>
          <a:xfrm>
            <a:off x="6528435" y="5579745"/>
            <a:ext cx="2331720" cy="7327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6638163" y="5731383"/>
            <a:ext cx="2112263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139B67"/>
                </a:solidFill>
                <a:latin typeface="Aptos"/>
              </a:rPr>
              <a:t>MERGED</a:t>
            </a:r>
            <a:endParaRPr sz="25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414383" y="6374003"/>
            <a:ext cx="2578608" cy="31089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0D8AA6"/>
                </a:solidFill>
                <a:latin typeface="Aptos"/>
                <a:hlinkClick r:id="rId1"/>
              </a:rPr>
              <a:t>github.com/vllm-project/vllm/pull/52641</a:t>
            </a:r>
            <a:endParaRPr sz="900" b="0">
              <a:solidFill>
                <a:srgbClr val="0D8AA6"/>
              </a:solidFill>
              <a:latin typeface="Aptos"/>
              <a:hlinkClick r:id="rId1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9358630" y="2706370"/>
            <a:ext cx="25787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What problem did I solve?</a:t>
            </a:r>
            <a:endParaRPr lang="en-US" altLang="zh-CN" b="1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en-US" altLang="zh-CN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Accelerated inference by reducing network contention during expert migration.</a:t>
            </a:r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altLang="zh-CN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515112"/>
            <a:ext cx="2870200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Background-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MoE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804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335" y="1247775"/>
            <a:ext cx="9254490" cy="56102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515112"/>
            <a:ext cx="842962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Background-EPLB(</a:t>
            </a:r>
            <a:r>
              <a:rPr lang="en-US" altLang="zh-CN" sz="2700" b="1">
                <a:solidFill>
                  <a:srgbClr val="162236"/>
                </a:solidFill>
                <a:latin typeface="Aptos"/>
              </a:rPr>
              <a:t>Expert Parallelism Load Balancer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)</a:t>
            </a:r>
            <a:endParaRPr lang="zh-CN" alt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804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29995"/>
            <a:ext cx="7940675" cy="5362575"/>
          </a:xfrm>
          <a:prstGeom prst="rect">
            <a:avLst/>
          </a:prstGeom>
        </p:spPr>
      </p:pic>
      <p:graphicFrame>
        <p:nvGraphicFramePr>
          <p:cNvPr id="6" name="表格 5"/>
          <p:cNvGraphicFramePr/>
          <p:nvPr/>
        </p:nvGraphicFramePr>
        <p:xfrm>
          <a:off x="8622665" y="3009900"/>
          <a:ext cx="3507105" cy="1781175"/>
        </p:xfrm>
        <a:graphic>
          <a:graphicData uri="http://schemas.openxmlformats.org/drawingml/2006/table">
            <a:tbl>
              <a:tblPr/>
              <a:tblGrid>
                <a:gridCol w="591185"/>
                <a:gridCol w="1769110"/>
                <a:gridCol w="1146810"/>
              </a:tblGrid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Physical placement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Traffic sum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0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Node0 GPU0-1 = </a:t>
                      </a:r>
                      <a:r>
                        <a:rPr lang="en-US" altLang="zh-CN" sz="1100" b="1"/>
                        <a:t>[5,6,5,7]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165 + 39 + 165 + 4 = 373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1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Node0 GPU2-3 = </a:t>
                      </a:r>
                      <a:r>
                        <a:rPr lang="en-US" altLang="zh-CN" sz="1100" b="1"/>
                        <a:t>[8,4,3,4]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73 + 104 + 61 + 104 = 342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2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Node1 GPU0-1 = </a:t>
                      </a:r>
                      <a:r>
                        <a:rPr lang="en-US" altLang="zh-CN" sz="1100" b="1"/>
                        <a:t>[10,9,10,2]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183 + 56 + 183 + 40 = 462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3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Node1 GPU2-3 = </a:t>
                      </a:r>
                      <a:r>
                        <a:rPr lang="en-US" altLang="zh-CN" sz="1100" b="1"/>
                        <a:t>[0,1,11,1]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90 + 132 + 86 + 132 = 440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" name="Picture 9" descr="example_hotspot_link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7945" y="1176020"/>
            <a:ext cx="4436110" cy="5535930"/>
          </a:xfrm>
          <a:prstGeom prst="rect">
            <a:avLst/>
          </a:prstGeom>
        </p:spPr>
      </p:pic>
      <p:sp>
        <p:nvSpPr>
          <p:cNvPr id="21" name="TextBox 3"/>
          <p:cNvSpPr txBox="1"/>
          <p:nvPr/>
        </p:nvSpPr>
        <p:spPr>
          <a:xfrm>
            <a:off x="502920" y="480187"/>
            <a:ext cx="3749040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ILP-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Network Modeling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22" name="Connector 5"/>
          <p:cNvCxnSpPr/>
          <p:nvPr/>
        </p:nvCxnSpPr>
        <p:spPr>
          <a:xfrm>
            <a:off x="576072" y="101676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 · ILP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15112"/>
            <a:ext cx="5553710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ILP-Before and After 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optimization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6072" y="1051687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example_hotspot_aft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50" y="46990"/>
            <a:ext cx="3684270" cy="6621780"/>
          </a:xfrm>
          <a:prstGeom prst="rect">
            <a:avLst/>
          </a:prstGeom>
        </p:spPr>
      </p:pic>
      <p:pic>
        <p:nvPicPr>
          <p:cNvPr id="26" name="Picture 6" descr="example_hotspo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25" y="1277620"/>
            <a:ext cx="7173595" cy="1866900"/>
          </a:xfrm>
          <a:prstGeom prst="rect">
            <a:avLst/>
          </a:prstGeom>
        </p:spPr>
      </p:pic>
      <p:sp>
        <p:nvSpPr>
          <p:cNvPr id="27" name="右箭头 26"/>
          <p:cNvSpPr/>
          <p:nvPr/>
        </p:nvSpPr>
        <p:spPr>
          <a:xfrm>
            <a:off x="7348220" y="1884680"/>
            <a:ext cx="807085" cy="6521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174625" y="3875405"/>
                <a:ext cx="1236345" cy="35242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𝑚𝑖𝑛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𝑇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infer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​ 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625" y="3875405"/>
                <a:ext cx="1236345" cy="352425"/>
              </a:xfrm>
              <a:prstGeom prst="rect">
                <a:avLst/>
              </a:prstGeom>
              <a:blipFill rotWithShape="1">
                <a:blip r:embed="rId3"/>
                <a:stretch>
                  <a:fillRect r="-4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0" y="4227830"/>
                <a:ext cx="3394710" cy="728980"/>
              </a:xfrm>
              <a:prstGeom prst="rect">
                <a:avLst/>
              </a:prstGeom>
              <a:noFill/>
            </p:spPr>
            <p:txBody>
              <a:bodyPr wrap="none" rtlCol="0" anchor="t">
                <a:no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borderBoxPr>
                        <m:e>
                          <m:func>
                            <m:fun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altLang="zh-CN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en-US" altLang="zh-CN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min</m:t>
                                  </m:r>
                                </m:e>
                                <m:lim/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ea typeface="MS Mincho" charset="0"/>
                                      <a:cs typeface="Cambria Math" panose="02040503050406030204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func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1+</m:t>
                              </m:r>
                              <m:func>
                                <m:fun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ea typeface="MS Mincho" charset="0"/>
                                          <a:cs typeface="Cambria Math" panose="02040503050406030204" charset="0"/>
                                        </a:rPr>
                                        <m:t>,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𝑏</m:t>
                                      </m:r>
                                    </m:lim>
                                  </m:limLow>
                                </m:fName>
                                <m:e>
                                  <m:f>
                                    <m:f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ea typeface="MS Mincho" charset="0"/>
                                              <a:cs typeface="Cambria Math" panose="0204050305040603020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𝑒</m:t>
                                          </m:r>
                                        </m:sub>
                                      </m:s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ea typeface="MS Mincho" charset="0"/>
                                          <a:cs typeface="Cambria Math" panose="02040503050406030204" charset="0"/>
                                        </a:rPr>
                                        <m:t>(1−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ea typeface="MS Mincho" charset="0"/>
                                          <a:cs typeface="Cambria Math" panose="02040503050406030204" charset="0"/>
                                        </a:rPr>
                                        <m:t>𝜌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ea typeface="MS Mincho" charset="0"/>
                                          <a:cs typeface="Cambria Math" panose="02040503050406030204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d>
                        </m:e>
                      </m:borderBox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227830"/>
                <a:ext cx="3394710" cy="72898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0" y="5090160"/>
                <a:ext cx="3256280" cy="606425"/>
              </a:xfrm>
              <a:prstGeom prst="rect">
                <a:avLst/>
              </a:prstGeom>
              <a:noFill/>
            </p:spPr>
            <p:txBody>
              <a:bodyPr wrap="none" rtlCol="0" anchor="t">
                <a:no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∈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090160"/>
                <a:ext cx="3256280" cy="60642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/>
              <p:cNvSpPr txBox="1"/>
              <p:nvPr/>
            </p:nvSpPr>
            <p:spPr>
              <a:xfrm>
                <a:off x="3217164" y="3424809"/>
                <a:ext cx="4714875" cy="35242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):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𝑚𝑖𝑔𝑟𝑎𝑡𝑖𝑜𝑛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𝑙𝑜𝑎𝑑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𝑜𝑛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𝑙𝑖𝑛𝑘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𝑖𝑛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𝑏𝑎𝑡𝑐ℎ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𝑏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).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2" name="文本框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164" y="3424809"/>
                <a:ext cx="4714875" cy="352425"/>
              </a:xfrm>
              <a:prstGeom prst="rect">
                <a:avLst/>
              </a:prstGeom>
              <a:blipFill rotWithShape="1">
                <a:blip r:embed="rId6"/>
                <a:stretch>
                  <a:fillRect l="-5" t="-72" r="5" b="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/>
              <p:cNvSpPr txBox="1"/>
              <p:nvPr/>
            </p:nvSpPr>
            <p:spPr>
              <a:xfrm>
                <a:off x="3186684" y="3808984"/>
                <a:ext cx="277812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):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𝑐𝑎𝑝𝑎𝑐𝑖𝑡𝑦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𝑜𝑓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𝑙𝑖𝑛𝑘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).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684" y="3808984"/>
                <a:ext cx="2778125" cy="368300"/>
              </a:xfrm>
              <a:prstGeom prst="rect">
                <a:avLst/>
              </a:prstGeom>
              <a:blipFill rotWithShape="1">
                <a:blip r:embed="rId7"/>
                <a:stretch>
                  <a:fillRect l="-9" t="-69" r="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3239389" y="4524629"/>
                <a:ext cx="5172710" cy="36195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𝜌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):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𝑓𝑟𝑎𝑐𝑡𝑖𝑜𝑛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𝑜𝑓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𝑐𝑎𝑝𝑎𝑐𝑖𝑡𝑦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𝑢𝑠𝑒𝑑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𝑏𝑦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𝑖𝑛𝑓𝑒𝑟𝑒𝑛𝑐𝑒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.(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9389" y="4524629"/>
                <a:ext cx="5172710" cy="361950"/>
              </a:xfrm>
              <a:prstGeom prst="rect">
                <a:avLst/>
              </a:prstGeom>
              <a:blipFill rotWithShape="1">
                <a:blip r:embed="rId8"/>
                <a:stretch>
                  <a:fillRect l="-5" t="-70" r="5" b="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/>
              <p:cNvSpPr txBox="1"/>
              <p:nvPr/>
            </p:nvSpPr>
            <p:spPr>
              <a:xfrm>
                <a:off x="3231515" y="4157980"/>
                <a:ext cx="3611880" cy="366395"/>
              </a:xfrm>
              <a:prstGeom prst="rect">
                <a:avLst/>
              </a:prstGeom>
              <a:noFill/>
            </p:spPr>
            <p:txBody>
              <a:bodyPr wrap="none" rtlCol="0" anchor="t">
                <a:no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):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𝑛𝑢𝑚𝑏𝑒𝑟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𝑜𝑓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𝑒𝑥𝑝𝑒𝑟𝑡𝑠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𝑖𝑛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𝑓𝑙𝑜𝑤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𝑝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).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9" name="文本框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1515" y="4157980"/>
                <a:ext cx="3611880" cy="366395"/>
              </a:xfrm>
              <a:prstGeom prst="rect">
                <a:avLst/>
              </a:prstGeom>
              <a:blipFill rotWithShape="1">
                <a:blip r:embed="rId9"/>
                <a:stretch>
                  <a:fillRect r="-552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/>
              <p:cNvSpPr txBox="1"/>
              <p:nvPr/>
            </p:nvSpPr>
            <p:spPr>
              <a:xfrm>
                <a:off x="3232404" y="4890389"/>
                <a:ext cx="5357495" cy="37401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):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𝑓𝑟𝑎𝑐𝑡𝑖𝑜𝑛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𝑜𝑓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𝑓𝑙𝑜𝑤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𝑝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𝑟𝑜𝑢𝑡𝑒𝑑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𝑡ℎ𝑟𝑜𝑢𝑔ℎ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𝑙𝑖𝑛𝑘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).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1" name="文本框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404" y="4890389"/>
                <a:ext cx="5357495" cy="374015"/>
              </a:xfrm>
              <a:prstGeom prst="rect">
                <a:avLst/>
              </a:prstGeom>
              <a:blipFill rotWithShape="1">
                <a:blip r:embed="rId10"/>
                <a:stretch>
                  <a:fillRect l="-5" t="-68" r="5" b="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本框 31"/>
              <p:cNvSpPr txBox="1"/>
              <p:nvPr/>
            </p:nvSpPr>
            <p:spPr>
              <a:xfrm>
                <a:off x="2708910" y="5295900"/>
                <a:ext cx="4436110" cy="687070"/>
              </a:xfrm>
              <a:prstGeom prst="rect">
                <a:avLst/>
              </a:prstGeom>
              <a:noFill/>
            </p:spPr>
            <p:txBody>
              <a:bodyPr wrap="none" rtlCol="0" anchor="t">
                <a:no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,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):1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𝑖𝑓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𝑓𝑙𝑜𝑤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𝑝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𝑖𝑠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𝑎𝑠𝑠𝑖𝑔𝑛𝑒𝑑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𝑡𝑜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𝑏𝑎𝑡𝑐ℎ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𝑏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),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𝑜𝑡ℎ𝑒𝑟𝑤𝑖𝑠𝑒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0.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2" name="文本框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8910" y="5295900"/>
                <a:ext cx="4436110" cy="687070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85800" y="1417320"/>
            <a:ext cx="10607040" cy="114300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4200" b="1">
                <a:solidFill>
                  <a:srgbClr val="162236"/>
                </a:solidFill>
                <a:latin typeface="Aptos"/>
              </a:rPr>
              <a:t>Real-system experiments</a:t>
            </a:r>
            <a:endParaRPr sz="42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2788920"/>
            <a:ext cx="8961120" cy="68580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800" b="0">
                <a:solidFill>
                  <a:srgbClr val="596C85"/>
                </a:solidFill>
                <a:latin typeface="Aptos"/>
              </a:rPr>
              <a:t>E2E serving validates the benefit; Nsight profiling measures the cost.</a:t>
            </a:r>
            <a:endParaRPr sz="1800" b="0">
              <a:solidFill>
                <a:srgbClr val="596C85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731647" y="3886200"/>
            <a:ext cx="10030968" cy="0"/>
          </a:xfrm>
          <a:prstGeom prst="line">
            <a:avLst/>
          </a:prstGeom>
          <a:ln w="508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1" name="TextBox 3"/>
          <p:cNvSpPr txBox="1"/>
          <p:nvPr/>
        </p:nvSpPr>
        <p:spPr>
          <a:xfrm>
            <a:off x="502920" y="480187"/>
            <a:ext cx="172148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Algorithm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22" name="Connector 5"/>
          <p:cNvCxnSpPr/>
          <p:nvPr/>
        </p:nvCxnSpPr>
        <p:spPr>
          <a:xfrm>
            <a:off x="576072" y="101676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1609090" y="2887345"/>
            <a:ext cx="9499600" cy="1082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5400">
                <a:ln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</a:rPr>
              <a:t>Shown by an HTML animation...</a:t>
            </a:r>
            <a:endParaRPr lang="en-US" altLang="zh-CN" sz="5400">
              <a:ln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II · E2E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15112"/>
            <a:ext cx="305371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Experiment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s 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setup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5171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7055" y="1572895"/>
            <a:ext cx="11102975" cy="49879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02052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5204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0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75204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3323844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66260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9412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1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39412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4988052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30468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3620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2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03620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6652260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94676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67828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3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67828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8316468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6412" y="4378960"/>
            <a:ext cx="5010912" cy="0"/>
          </a:xfrm>
          <a:prstGeom prst="line">
            <a:avLst/>
          </a:prstGeom>
          <a:ln w="635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811780" y="5311648"/>
            <a:ext cx="274320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Qwen3-30B-A3B-Instruct-2507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646420" y="5311648"/>
            <a:ext cx="128016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TP = EP = 4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92340" y="5311648"/>
            <a:ext cx="128016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async EPLB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502920" y="512064"/>
            <a:ext cx="10972800" cy="484632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62236"/>
                </a:solidFill>
                <a:latin typeface="Aptos"/>
              </a:rPr>
              <a:t>Benchmark Command</a:t>
            </a:r>
            <a:endParaRPr sz="27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1307592"/>
            <a:ext cx="11128248" cy="10972"/>
          </a:xfrm>
          <a:prstGeom prst="rect">
            <a:avLst/>
          </a:prstGeom>
          <a:solidFill>
            <a:srgbClr val="D8E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572768"/>
            <a:ext cx="10954512" cy="4507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76705" y="2338705"/>
            <a:ext cx="8352155" cy="2445385"/>
          </a:xfrm>
          <a:prstGeom prst="rect">
            <a:avLst/>
          </a:prstGeom>
          <a:noFill/>
        </p:spPr>
        <p:txBody>
          <a:bodyPr wrap="none" lIns="36576" tIns="27432" rIns="36576" bIns="27432" anchor="t">
            <a:noAutofit/>
          </a:bodyPr>
          <a:lstStyle/>
          <a:p>
            <a:pPr algn="l"/>
            <a:r>
              <a:rPr sz="2000" b="0">
                <a:solidFill>
                  <a:srgbClr val="FF0000"/>
                </a:solidFill>
                <a:latin typeface="Consolas" panose="020B0609020204030204"/>
              </a:rPr>
              <a:t>vllm bench</a:t>
            </a:r>
            <a:r>
              <a:rPr sz="2000" b="0">
                <a:solidFill>
                  <a:srgbClr val="162236"/>
                </a:solidFill>
                <a:latin typeface="Consolas" panose="020B0609020204030204"/>
              </a:rPr>
              <a:t> serve --backend vllm --model "$MODEL" --port 8000 \
  --dataset-name random --random-prefix-len 300 \
  --random-input-len 200 --random-output-len 300 \
  --</a:t>
            </a:r>
            <a:r>
              <a:rPr sz="2000" b="1">
                <a:solidFill>
                  <a:srgbClr val="FF0000"/>
                </a:solidFill>
                <a:latin typeface="Consolas" panose="020B0609020204030204"/>
              </a:rPr>
              <a:t>num-prompts 500 --max-concurrency 32</a:t>
            </a:r>
            <a:r>
              <a:rPr sz="2000" b="0">
                <a:solidFill>
                  <a:srgbClr val="162236"/>
                </a:solidFill>
                <a:latin typeface="Consolas" panose="020B0609020204030204"/>
              </a:rPr>
              <a:t> --seed 0 --temperature 0 \
  --percentile-metrics </a:t>
            </a:r>
            <a:r>
              <a:rPr sz="2000" b="1">
                <a:solidFill>
                  <a:srgbClr val="FF0000"/>
                </a:solidFill>
                <a:latin typeface="Consolas" panose="020B0609020204030204"/>
              </a:rPr>
              <a:t>ttft,tpot,e2el --metric-percentiles 50,99</a:t>
            </a:r>
            <a:r>
              <a:rPr sz="2000" b="0">
                <a:solidFill>
                  <a:srgbClr val="162236"/>
                </a:solidFill>
                <a:latin typeface="Consolas" panose="020B0609020204030204"/>
              </a:rPr>
              <a:t> \
  --ignore-eos --disable-tqdm --save-result \
  --result-dir "$RESULTS" --result-filename bench.json</a:t>
            </a:r>
            <a:endParaRPr sz="2000" b="0">
              <a:solidFill>
                <a:srgbClr val="162236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502920" y="515112"/>
            <a:ext cx="2354580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Metric Result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s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0789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11810" y="1398905"/>
            <a:ext cx="11155680" cy="34886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990" y="1470660"/>
            <a:ext cx="7887970" cy="3293745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65430" y="4970780"/>
          <a:ext cx="117487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8195"/>
                <a:gridCol w="1127760"/>
                <a:gridCol w="1023620"/>
                <a:gridCol w="1075055"/>
                <a:gridCol w="2438400"/>
                <a:gridCol w="2376805"/>
                <a:gridCol w="2908935"/>
              </a:tblGrid>
              <a:tr h="561975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Batching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Duration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(s)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Request/s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Output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tok/s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TTFT P50 / P99 (ms)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TPOT P50 / P99 (ms)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E2EL P50 / P99 (ms)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</a:tr>
              <a:tr h="6337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2236"/>
                          </a:solidFill>
                          <a:latin typeface="Aptos"/>
                        </a:rPr>
                        <a:t>off</a:t>
                      </a:r>
                      <a:endParaRPr sz="9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4,756.10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0.1051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31.54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49,180.71 / 75,740.25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828.53 / 1,007.82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303,462.69 / 322,184.88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63309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39B67"/>
                          </a:solidFill>
                          <a:latin typeface="Aptos"/>
                        </a:rPr>
                        <a:t>on</a:t>
                      </a:r>
                      <a:endParaRPr sz="900" b="1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4,650.17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0.1075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32.26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48,599.04 / 74,756.17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812.44 / 999.01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293,821.76 / 317,351.61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502920" y="515112"/>
            <a:ext cx="273240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NIC 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Observation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01803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12064" y="1508760"/>
            <a:ext cx="9281160" cy="4828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145" y="1609344"/>
            <a:ext cx="8508140" cy="4608576"/>
          </a:xfrm>
          <a:prstGeom prst="rect">
            <a:avLst/>
          </a:prstGeom>
        </p:spPr>
      </p:pic>
      <p:sp>
        <p:nvSpPr>
          <p:cNvPr id="9" name="Rounded Rectangle 8"/>
          <p:cNvSpPr/>
          <p:nvPr>
            <p:custDataLst>
              <p:tags r:id="rId2"/>
            </p:custDataLst>
          </p:nvPr>
        </p:nvSpPr>
        <p:spPr>
          <a:xfrm>
            <a:off x="10012680" y="1755648"/>
            <a:ext cx="17647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10122407" y="1865376"/>
            <a:ext cx="15453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C53D4A"/>
                </a:solidFill>
                <a:latin typeface="Aptos"/>
              </a:rPr>
              <a:t>599.81</a:t>
            </a:r>
            <a:endParaRPr sz="2500" b="1">
              <a:solidFill>
                <a:srgbClr val="C53D4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>
            <p:custDataLst>
              <p:tags r:id="rId4"/>
            </p:custDataLst>
          </p:nvPr>
        </p:nvSpPr>
        <p:spPr>
          <a:xfrm>
            <a:off x="10122407" y="2331720"/>
            <a:ext cx="15453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MB/s P99 · batching off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>
            <p:custDataLst>
              <p:tags r:id="rId5"/>
            </p:custDataLst>
          </p:nvPr>
        </p:nvSpPr>
        <p:spPr>
          <a:xfrm>
            <a:off x="10012680" y="3127248"/>
            <a:ext cx="17647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6"/>
            </p:custDataLst>
          </p:nvPr>
        </p:nvSpPr>
        <p:spPr>
          <a:xfrm>
            <a:off x="10122407" y="3236976"/>
            <a:ext cx="15453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139B67"/>
                </a:solidFill>
                <a:latin typeface="Aptos"/>
              </a:rPr>
              <a:t>538.40</a:t>
            </a:r>
            <a:endParaRPr sz="25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>
            <p:custDataLst>
              <p:tags r:id="rId7"/>
            </p:custDataLst>
          </p:nvPr>
        </p:nvSpPr>
        <p:spPr>
          <a:xfrm>
            <a:off x="10122407" y="3703320"/>
            <a:ext cx="15453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MB/s P99 · batching on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>
            <p:custDataLst>
              <p:tags r:id="rId8"/>
            </p:custDataLst>
          </p:nvPr>
        </p:nvSpPr>
        <p:spPr>
          <a:xfrm>
            <a:off x="10012680" y="4498848"/>
            <a:ext cx="17647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10122407" y="4608576"/>
            <a:ext cx="15453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0D8AA6"/>
                </a:solidFill>
                <a:latin typeface="Aptos"/>
              </a:rPr>
              <a:t>−10.24%</a:t>
            </a:r>
            <a:endParaRPr sz="25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0"/>
            </p:custDataLst>
          </p:nvPr>
        </p:nvSpPr>
        <p:spPr>
          <a:xfrm>
            <a:off x="10122407" y="5074920"/>
            <a:ext cx="15453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head-node NIC P99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700" b="1">
                <a:solidFill>
                  <a:srgbClr val="162236"/>
                </a:solidFill>
                <a:latin typeface="Aptos"/>
              </a:rPr>
              <a:t>The optimization pays for itself by a wide margin</a:t>
            </a:r>
            <a:endParaRPr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3075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1536192"/>
            <a:ext cx="8549640" cy="4736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heduler_cost_vs_sav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3" y="1673352"/>
            <a:ext cx="6693408" cy="44622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18320" y="1810512"/>
            <a:ext cx="22219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1920240"/>
            <a:ext cx="20025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D77A0B"/>
                </a:solidFill>
                <a:latin typeface="Aptos"/>
              </a:rPr>
              <a:t>302.081 ms</a:t>
            </a:r>
            <a:endParaRPr sz="2500" b="1">
              <a:solidFill>
                <a:srgbClr val="D77A0B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528048" y="2386584"/>
            <a:ext cx="20025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worst-rank total scheduler cost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418320" y="3218688"/>
            <a:ext cx="22219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8048" y="3328416"/>
            <a:ext cx="20025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139B67"/>
                </a:solidFill>
                <a:latin typeface="Aptos"/>
              </a:rPr>
              <a:t>105.932 s</a:t>
            </a:r>
            <a:endParaRPr sz="25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28048" y="3794760"/>
            <a:ext cx="20025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serving time saved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418320" y="4626864"/>
            <a:ext cx="22219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4736592"/>
            <a:ext cx="20025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0D8AA6"/>
                </a:solidFill>
                <a:latin typeface="Aptos"/>
              </a:rPr>
              <a:t>0.285%</a:t>
            </a:r>
            <a:endParaRPr sz="25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528048" y="5202936"/>
            <a:ext cx="20025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cost / saved time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658368"/>
            <a:ext cx="2926080" cy="32004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1300" b="1">
                <a:solidFill>
                  <a:srgbClr val="0D8AA6"/>
                </a:solidFill>
                <a:latin typeface="Aptos"/>
              </a:rPr>
              <a:t>vLLM · EPLB</a:t>
            </a:r>
            <a:endParaRPr sz="13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508760"/>
            <a:ext cx="10881360" cy="96012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4800" b="1">
                <a:solidFill>
                  <a:srgbClr val="162236"/>
                </a:solidFill>
                <a:latin typeface="Aptos"/>
              </a:rPr>
              <a:t>Thank you</a:t>
            </a:r>
            <a:endParaRPr sz="48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10881360" cy="530352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200" b="0">
                <a:solidFill>
                  <a:srgbClr val="596C85"/>
                </a:solidFill>
                <a:latin typeface="Aptos"/>
              </a:rPr>
              <a:t>Questions &amp; Discussion</a:t>
            </a:r>
            <a:endParaRPr sz="2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907792" y="3703320"/>
            <a:ext cx="6382512" cy="658368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90672" y="3840480"/>
            <a:ext cx="6016752" cy="310896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1400" b="1">
                <a:solidFill>
                  <a:srgbClr val="0D8AA6"/>
                </a:solidFill>
                <a:latin typeface="Aptos"/>
                <a:hlinkClick r:id="rId1"/>
              </a:rPr>
              <a:t>github.com/vllm-project/vllm/pull/52641</a:t>
            </a:r>
            <a:endParaRPr sz="1400" b="1">
              <a:solidFill>
                <a:srgbClr val="0D8AA6"/>
              </a:solidFill>
              <a:latin typeface="Aptos"/>
              <a:hlinkClick r:id="rId1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2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3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4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5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6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7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8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9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0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1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2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3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4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5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6.xml><?xml version="1.0" encoding="utf-8"?>
<p:tagLst xmlns:p="http://schemas.openxmlformats.org/presentationml/2006/main">
  <p:tag name="KSO_WM_DIAGRAM_VIRTUALLY_FRAME" val="{&quot;height&quot;:259.20000000000005,&quot;left&quot;:54,&quot;top&quot;:131.04000000000002,&quot;width&quot;:856.8}"/>
</p:tagLst>
</file>

<file path=ppt/tags/tag17.xml><?xml version="1.0" encoding="utf-8"?>
<p:tagLst xmlns:p="http://schemas.openxmlformats.org/presentationml/2006/main">
  <p:tag name="KSO_WM_DIAGRAM_VIRTUALLY_FRAME" val="{&quot;height&quot;:284.4,&quot;left&quot;:723.6,&quot;top&quot;:133.2,&quot;width&quot;:183.6}"/>
</p:tagLst>
</file>

<file path=ppt/tags/tag18.xml><?xml version="1.0" encoding="utf-8"?>
<p:tagLst xmlns:p="http://schemas.openxmlformats.org/presentationml/2006/main">
  <p:tag name="KSO_WM_DIAGRAM_VIRTUALLY_FRAME" val="{&quot;height&quot;:284.4,&quot;left&quot;:723.6,&quot;top&quot;:133.2,&quot;width&quot;:183.6}"/>
</p:tagLst>
</file>

<file path=ppt/tags/tag19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0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1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2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3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4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5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6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27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2704</Words>
  <Application>WPS 演示</Application>
  <PresentationFormat>On-screen Show (4:3)</PresentationFormat>
  <Paragraphs>227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5" baseType="lpstr">
      <vt:lpstr>Arial</vt:lpstr>
      <vt:lpstr>宋体</vt:lpstr>
      <vt:lpstr>Wingdings</vt:lpstr>
      <vt:lpstr>Arial</vt:lpstr>
      <vt:lpstr>Aptos</vt:lpstr>
      <vt:lpstr>Segoe UI</vt:lpstr>
      <vt:lpstr>Consolas</vt:lpstr>
      <vt:lpstr>Calibri</vt:lpstr>
      <vt:lpstr>微软雅黑</vt:lpstr>
      <vt:lpstr>Arial Unicode MS</vt:lpstr>
      <vt:lpstr>Aptos</vt:lpstr>
      <vt:lpstr>Consolas</vt:lpstr>
      <vt:lpstr>Cambria Math</vt:lpstr>
      <vt:lpstr>KaTeX_Math</vt:lpstr>
      <vt:lpstr>KaTeX_Main</vt:lpstr>
      <vt:lpstr>KaTeX_Size3</vt:lpstr>
      <vt:lpstr>Segoe Print</vt:lpstr>
      <vt:lpstr>MS PGothic</vt:lpstr>
      <vt:lpstr>MS Mincho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Migration Batching</dc:title>
  <dc:creator>DOCCA0</dc:creator>
  <cp:keywords>vLLM, EPLB, expert migration, ILP, NIXL, profiling</cp:keywords>
  <dc:description>generated using python-pptx</dc:description>
  <dc:subject>ILP modeling and real-system experiments for vLLM PR #52641</dc:subject>
  <cp:lastModifiedBy>别开枪，是我</cp:lastModifiedBy>
  <cp:revision>30</cp:revision>
  <dcterms:created xsi:type="dcterms:W3CDTF">2013-01-27T09:14:00Z</dcterms:created>
  <dcterms:modified xsi:type="dcterms:W3CDTF">2026-10-17T13:02:42Z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515833AD8ECF425FB8946443C6CFB46D_12</vt:lpwstr>
  </property>
  <property fmtid="{D5CDD505-2E9C-101B-9397-08002B2CF9AE}" pid="3" name="KSOProductBuildVer">
    <vt:lpwstr>2052-12.1.0.28505</vt:lpwstr>
  </property>
</Properties>
</file>